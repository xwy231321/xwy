
<file path=[Content_Types].xml><?xml version="1.0" encoding="utf-8"?>
<Types xmlns="http://schemas.openxmlformats.org/package/2006/content-types">
  <Override PartName="/ppt/slides/slide6.xml" ContentType="application/vnd.openxmlformats-officedocument.presentationml.slide+xml"/>
  <Override PartName="/ppt/slides/slide29.xml" ContentType="application/vnd.openxmlformats-officedocument.presentationml.slide+xml"/>
  <Override PartName="/ppt/slides/slide38.xml" ContentType="application/vnd.openxmlformats-officedocument.presentationml.slide+xml"/>
  <Override PartName="/ppt/slides/slide47.xml" ContentType="application/vnd.openxmlformats-officedocument.presentationml.slide+xml"/>
  <Override PartName="/ppt/slides/slide56.xml" ContentType="application/vnd.openxmlformats-officedocument.presentationml.slide+xml"/>
  <Override PartName="/ppt/slides/slide58.xml" ContentType="application/vnd.openxmlformats-officedocument.presentationml.slide+xml"/>
  <Override PartName="/ppt/slideLayouts/slideLayout8.xml" ContentType="application/vnd.openxmlformats-officedocument.presentationml.slideLayout+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s/slide27.xml" ContentType="application/vnd.openxmlformats-officedocument.presentationml.slide+xml"/>
  <Override PartName="/ppt/slides/slide36.xml" ContentType="application/vnd.openxmlformats-officedocument.presentationml.slide+xml"/>
  <Override PartName="/ppt/slides/slide45.xml" ContentType="application/vnd.openxmlformats-officedocument.presentationml.slide+xml"/>
  <Override PartName="/ppt/slides/slide54.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slides/slide34.xml" ContentType="application/vnd.openxmlformats-officedocument.presentationml.slide+xml"/>
  <Override PartName="/ppt/slides/slide43.xml" ContentType="application/vnd.openxmlformats-officedocument.presentationml.slide+xml"/>
  <Override PartName="/ppt/slides/slide52.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Default Extension="wmf" ContentType="image/x-wmf"/>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slides/slide32.xml" ContentType="application/vnd.openxmlformats-officedocument.presentationml.slide+xml"/>
  <Override PartName="/ppt/slides/slide41.xml" ContentType="application/vnd.openxmlformats-officedocument.presentationml.slide+xml"/>
  <Override PartName="/ppt/slides/slide50.xml" ContentType="application/vnd.openxmlformats-officedocument.presentationml.slide+xml"/>
  <Override PartName="/ppt/notesMasters/notesMaster1.xml" ContentType="application/vnd.openxmlformats-officedocument.presentationml.notesMaster+xml"/>
  <Override PartName="/ppt/slides/slide10.xml" ContentType="application/vnd.openxmlformats-officedocument.presentationml.slide+xml"/>
  <Override PartName="/ppt/slides/slide12.xml" ContentType="application/vnd.openxmlformats-officedocument.presentationml.slide+xml"/>
  <Override PartName="/ppt/slides/slide21.xml" ContentType="application/vnd.openxmlformats-officedocument.presentationml.slide+xml"/>
  <Override PartName="/ppt/slides/slide3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49.xml" ContentType="application/vnd.openxmlformats-officedocument.presentationml.slide+xml"/>
  <Override PartName="/ppt/slides/slide5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s/slide28.xml" ContentType="application/vnd.openxmlformats-officedocument.presentationml.slide+xml"/>
  <Override PartName="/ppt/slides/slide39.xml" ContentType="application/vnd.openxmlformats-officedocument.presentationml.slide+xml"/>
  <Override PartName="/ppt/slides/slide48.xml" ContentType="application/vnd.openxmlformats-officedocument.presentationml.slide+xml"/>
  <Override PartName="/ppt/slides/slide57.xml" ContentType="application/vnd.openxmlformats-officedocument.presentationml.slide+xml"/>
  <Override PartName="/ppt/slideLayouts/slideLayout7.xml" ContentType="application/vnd.openxmlformats-officedocument.presentationml.slideLayout+xml"/>
  <Default Extension="bin" ContentType="application/vnd.openxmlformats-officedocument.oleObject"/>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slides/slide26.xml" ContentType="application/vnd.openxmlformats-officedocument.presentationml.slide+xml"/>
  <Override PartName="/ppt/slides/slide37.xml" ContentType="application/vnd.openxmlformats-officedocument.presentationml.slide+xml"/>
  <Override PartName="/ppt/slides/slide46.xml" ContentType="application/vnd.openxmlformats-officedocument.presentationml.slide+xml"/>
  <Override PartName="/ppt/slides/slide55.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Override PartName="/ppt/slides/slide33.xml" ContentType="application/vnd.openxmlformats-officedocument.presentationml.slide+xml"/>
  <Override PartName="/ppt/slides/slide35.xml" ContentType="application/vnd.openxmlformats-officedocument.presentationml.slide+xml"/>
  <Override PartName="/ppt/slides/slide44.xml" ContentType="application/vnd.openxmlformats-officedocument.presentationml.slide+xml"/>
  <Override PartName="/ppt/slides/slide53.xml" ContentType="application/vnd.openxmlformats-officedocument.presentationml.slide+xml"/>
  <Override PartName="/ppt/slideLayouts/slideLayout3.xml" ContentType="application/vnd.openxmlformats-officedocument.presentationml.slideLayout+xml"/>
  <Default Extension="jpeg" ContentType="image/jpeg"/>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s/slide31.xml" ContentType="application/vnd.openxmlformats-officedocument.presentationml.slide+xml"/>
  <Override PartName="/ppt/slides/slide42.xml" ContentType="application/vnd.openxmlformats-officedocument.presentationml.slide+xml"/>
  <Override PartName="/ppt/slides/slide51.xml" ContentType="application/vnd.openxmlformats-officedocument.presentationml.slide+xml"/>
  <Override PartName="/ppt/slideLayouts/slideLayout1.xml" ContentType="application/vnd.openxmlformats-officedocument.presentationml.slideLayout+xml"/>
  <Default Extension="wav" ContentType="audio/wav"/>
  <Override PartName="/docProps/app.xml" ContentType="application/vnd.openxmlformats-officedocument.extended-properties+xml"/>
  <Override PartName="/ppt/slides/slide11.xml" ContentType="application/vnd.openxmlformats-officedocument.presentationml.slide+xml"/>
  <Override PartName="/ppt/slides/slide20.xml" ContentType="application/vnd.openxmlformats-officedocument.presentationml.slide+xml"/>
  <Override PartName="/ppt/slides/slide40.xml" ContentType="application/vnd.openxmlformats-officedocument.presentationml.slide+xml"/>
  <Override PartName="/ppt/slideLayouts/slideLayout10.xml" ContentType="application/vnd.openxmlformats-officedocument.presentationml.slideLayout+xml"/>
  <Default Extension="gif" ContentType="image/gif"/>
  <Default Extension="vml" ContentType="application/vnd.openxmlformats-officedocument.vmlDrawing"/>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61"/>
  </p:notesMasterIdLst>
  <p:sldIdLst>
    <p:sldId id="343" r:id="rId2"/>
    <p:sldId id="259" r:id="rId3"/>
    <p:sldId id="275" r:id="rId4"/>
    <p:sldId id="276" r:id="rId5"/>
    <p:sldId id="277" r:id="rId6"/>
    <p:sldId id="270" r:id="rId7"/>
    <p:sldId id="260" r:id="rId8"/>
    <p:sldId id="346" r:id="rId9"/>
    <p:sldId id="271" r:id="rId10"/>
    <p:sldId id="264" r:id="rId11"/>
    <p:sldId id="347" r:id="rId12"/>
    <p:sldId id="348" r:id="rId13"/>
    <p:sldId id="349" r:id="rId14"/>
    <p:sldId id="350" r:id="rId15"/>
    <p:sldId id="326" r:id="rId16"/>
    <p:sldId id="354" r:id="rId17"/>
    <p:sldId id="273" r:id="rId18"/>
    <p:sldId id="274" r:id="rId19"/>
    <p:sldId id="279" r:id="rId20"/>
    <p:sldId id="352" r:id="rId21"/>
    <p:sldId id="281" r:id="rId22"/>
    <p:sldId id="283" r:id="rId23"/>
    <p:sldId id="351" r:id="rId24"/>
    <p:sldId id="289" r:id="rId25"/>
    <p:sldId id="290" r:id="rId26"/>
    <p:sldId id="292" r:id="rId27"/>
    <p:sldId id="293" r:id="rId28"/>
    <p:sldId id="357" r:id="rId29"/>
    <p:sldId id="358" r:id="rId30"/>
    <p:sldId id="294" r:id="rId31"/>
    <p:sldId id="295" r:id="rId32"/>
    <p:sldId id="296" r:id="rId33"/>
    <p:sldId id="300" r:id="rId34"/>
    <p:sldId id="303" r:id="rId35"/>
    <p:sldId id="360" r:id="rId36"/>
    <p:sldId id="304" r:id="rId37"/>
    <p:sldId id="306" r:id="rId38"/>
    <p:sldId id="307" r:id="rId39"/>
    <p:sldId id="308" r:id="rId40"/>
    <p:sldId id="331" r:id="rId41"/>
    <p:sldId id="310" r:id="rId42"/>
    <p:sldId id="333" r:id="rId43"/>
    <p:sldId id="311" r:id="rId44"/>
    <p:sldId id="361" r:id="rId45"/>
    <p:sldId id="362" r:id="rId46"/>
    <p:sldId id="363" r:id="rId47"/>
    <p:sldId id="316" r:id="rId48"/>
    <p:sldId id="317" r:id="rId49"/>
    <p:sldId id="318" r:id="rId50"/>
    <p:sldId id="322" r:id="rId51"/>
    <p:sldId id="365" r:id="rId52"/>
    <p:sldId id="366" r:id="rId53"/>
    <p:sldId id="367" r:id="rId54"/>
    <p:sldId id="368" r:id="rId55"/>
    <p:sldId id="377" r:id="rId56"/>
    <p:sldId id="369" r:id="rId57"/>
    <p:sldId id="370" r:id="rId58"/>
    <p:sldId id="371" r:id="rId59"/>
    <p:sldId id="372" r:id="rId60"/>
  </p:sldIdLst>
  <p:sldSz cx="9144000" cy="5143500" type="screen16x9"/>
  <p:notesSz cx="6761163" cy="9942513"/>
  <p:defaultTextStyle>
    <a:defPPr>
      <a:defRPr lang="zh-CN"/>
    </a:defPPr>
    <a:lvl1pPr algn="l" rtl="0" fontAlgn="base">
      <a:spcBef>
        <a:spcPct val="0"/>
      </a:spcBef>
      <a:spcAft>
        <a:spcPct val="0"/>
      </a:spcAft>
      <a:defRPr kumimoji="1" sz="2400" kern="1200">
        <a:solidFill>
          <a:schemeClr val="tx1"/>
        </a:solidFill>
        <a:latin typeface="Times New Roman" pitchFamily="18" charset="0"/>
        <a:ea typeface="黑体" pitchFamily="49" charset="-122"/>
        <a:cs typeface="+mn-cs"/>
      </a:defRPr>
    </a:lvl1pPr>
    <a:lvl2pPr marL="457200" algn="l" rtl="0" fontAlgn="base">
      <a:spcBef>
        <a:spcPct val="0"/>
      </a:spcBef>
      <a:spcAft>
        <a:spcPct val="0"/>
      </a:spcAft>
      <a:defRPr kumimoji="1" sz="2400" kern="1200">
        <a:solidFill>
          <a:schemeClr val="tx1"/>
        </a:solidFill>
        <a:latin typeface="Times New Roman" pitchFamily="18" charset="0"/>
        <a:ea typeface="黑体" pitchFamily="49" charset="-122"/>
        <a:cs typeface="+mn-cs"/>
      </a:defRPr>
    </a:lvl2pPr>
    <a:lvl3pPr marL="914400" algn="l" rtl="0" fontAlgn="base">
      <a:spcBef>
        <a:spcPct val="0"/>
      </a:spcBef>
      <a:spcAft>
        <a:spcPct val="0"/>
      </a:spcAft>
      <a:defRPr kumimoji="1" sz="2400" kern="1200">
        <a:solidFill>
          <a:schemeClr val="tx1"/>
        </a:solidFill>
        <a:latin typeface="Times New Roman" pitchFamily="18" charset="0"/>
        <a:ea typeface="黑体" pitchFamily="49" charset="-122"/>
        <a:cs typeface="+mn-cs"/>
      </a:defRPr>
    </a:lvl3pPr>
    <a:lvl4pPr marL="1371600" algn="l" rtl="0" fontAlgn="base">
      <a:spcBef>
        <a:spcPct val="0"/>
      </a:spcBef>
      <a:spcAft>
        <a:spcPct val="0"/>
      </a:spcAft>
      <a:defRPr kumimoji="1" sz="2400" kern="1200">
        <a:solidFill>
          <a:schemeClr val="tx1"/>
        </a:solidFill>
        <a:latin typeface="Times New Roman" pitchFamily="18" charset="0"/>
        <a:ea typeface="黑体" pitchFamily="49" charset="-122"/>
        <a:cs typeface="+mn-cs"/>
      </a:defRPr>
    </a:lvl4pPr>
    <a:lvl5pPr marL="1828800" algn="l" rtl="0" fontAlgn="base">
      <a:spcBef>
        <a:spcPct val="0"/>
      </a:spcBef>
      <a:spcAft>
        <a:spcPct val="0"/>
      </a:spcAft>
      <a:defRPr kumimoji="1" sz="2400" kern="1200">
        <a:solidFill>
          <a:schemeClr val="tx1"/>
        </a:solidFill>
        <a:latin typeface="Times New Roman" pitchFamily="18" charset="0"/>
        <a:ea typeface="黑体" pitchFamily="49" charset="-122"/>
        <a:cs typeface="+mn-cs"/>
      </a:defRPr>
    </a:lvl5pPr>
    <a:lvl6pPr marL="2286000" algn="l" defTabSz="914400" rtl="0" eaLnBrk="1" latinLnBrk="0" hangingPunct="1">
      <a:defRPr kumimoji="1" sz="2400" kern="1200">
        <a:solidFill>
          <a:schemeClr val="tx1"/>
        </a:solidFill>
        <a:latin typeface="Times New Roman" pitchFamily="18" charset="0"/>
        <a:ea typeface="黑体" pitchFamily="49" charset="-122"/>
        <a:cs typeface="+mn-cs"/>
      </a:defRPr>
    </a:lvl6pPr>
    <a:lvl7pPr marL="2743200" algn="l" defTabSz="914400" rtl="0" eaLnBrk="1" latinLnBrk="0" hangingPunct="1">
      <a:defRPr kumimoji="1" sz="2400" kern="1200">
        <a:solidFill>
          <a:schemeClr val="tx1"/>
        </a:solidFill>
        <a:latin typeface="Times New Roman" pitchFamily="18" charset="0"/>
        <a:ea typeface="黑体" pitchFamily="49" charset="-122"/>
        <a:cs typeface="+mn-cs"/>
      </a:defRPr>
    </a:lvl7pPr>
    <a:lvl8pPr marL="3200400" algn="l" defTabSz="914400" rtl="0" eaLnBrk="1" latinLnBrk="0" hangingPunct="1">
      <a:defRPr kumimoji="1" sz="2400" kern="1200">
        <a:solidFill>
          <a:schemeClr val="tx1"/>
        </a:solidFill>
        <a:latin typeface="Times New Roman" pitchFamily="18" charset="0"/>
        <a:ea typeface="黑体" pitchFamily="49" charset="-122"/>
        <a:cs typeface="+mn-cs"/>
      </a:defRPr>
    </a:lvl8pPr>
    <a:lvl9pPr marL="3657600" algn="l" defTabSz="914400" rtl="0" eaLnBrk="1" latinLnBrk="0" hangingPunct="1">
      <a:defRPr kumimoji="1" sz="2400" kern="1200">
        <a:solidFill>
          <a:schemeClr val="tx1"/>
        </a:solidFill>
        <a:latin typeface="Times New Roman" pitchFamily="18" charset="0"/>
        <a:ea typeface="黑体" pitchFamily="49" charset="-122"/>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browse/>
    <p:sldAll/>
    <p:penClr>
      <a:srgbClr val="FF0000"/>
    </p:penClr>
  </p:showPr>
  <p:clrMru>
    <a:srgbClr val="CC00CC"/>
    <a:srgbClr val="FF0000"/>
    <a:srgbClr val="FFCCCC"/>
    <a:srgbClr val="FFCCFF"/>
    <a:srgbClr val="FF99FF"/>
    <a:srgbClr val="008000"/>
    <a:srgbClr val="CC6600"/>
    <a:srgbClr val="0000FF"/>
  </p:clrMru>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6054" autoAdjust="0"/>
    <p:restoredTop sz="94699" autoAdjust="0"/>
  </p:normalViewPr>
  <p:slideViewPr>
    <p:cSldViewPr>
      <p:cViewPr varScale="1">
        <p:scale>
          <a:sx n="76" d="100"/>
          <a:sy n="76" d="100"/>
        </p:scale>
        <p:origin x="-114" y="-96"/>
      </p:cViewPr>
      <p:guideLst>
        <p:guide orient="horz" pos="1620"/>
        <p:guide pos="2880"/>
      </p:guideLst>
    </p:cSldViewPr>
  </p:slideViewPr>
  <p:outlineViewPr>
    <p:cViewPr>
      <p:scale>
        <a:sx n="33" d="100"/>
        <a:sy n="33" d="100"/>
      </p:scale>
      <p:origin x="0" y="0"/>
    </p:cViewPr>
  </p:outlineViewPr>
  <p:notesTextViewPr>
    <p:cViewPr>
      <p:scale>
        <a:sx n="100" d="100"/>
        <a:sy n="100" d="100"/>
      </p:scale>
      <p:origin x="0" y="0"/>
    </p:cViewPr>
  </p:notesTextViewPr>
  <p:gridSpacing cx="73736200" cy="7373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slide" Target="slides/slide54.xml"/><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61" Type="http://schemas.openxmlformats.org/officeDocument/2006/relationships/notesMaster" Target="notesMasters/notes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s>
</file>

<file path=ppt/drawings/_rels/vmlDrawing1.vml.rels><?xml version="1.0" encoding="UTF-8" standalone="yes"?>
<Relationships xmlns="http://schemas.openxmlformats.org/package/2006/relationships"><Relationship Id="rId3" Type="http://schemas.openxmlformats.org/officeDocument/2006/relationships/image" Target="../media/image5.wmf"/><Relationship Id="rId2" Type="http://schemas.openxmlformats.org/officeDocument/2006/relationships/image" Target="../media/image4.wmf"/><Relationship Id="rId1" Type="http://schemas.openxmlformats.org/officeDocument/2006/relationships/image" Target="../media/image3.wmf"/><Relationship Id="rId6" Type="http://schemas.openxmlformats.org/officeDocument/2006/relationships/image" Target="../media/image8.wmf"/><Relationship Id="rId5" Type="http://schemas.openxmlformats.org/officeDocument/2006/relationships/image" Target="../media/image7.wmf"/><Relationship Id="rId4" Type="http://schemas.openxmlformats.org/officeDocument/2006/relationships/image" Target="../media/image6.wmf"/></Relationships>
</file>

<file path=ppt/drawings/_rels/vmlDrawing2.vml.rels><?xml version="1.0" encoding="UTF-8" standalone="yes"?>
<Relationships xmlns="http://schemas.openxmlformats.org/package/2006/relationships"><Relationship Id="rId3" Type="http://schemas.openxmlformats.org/officeDocument/2006/relationships/image" Target="../media/image11.wmf"/><Relationship Id="rId2" Type="http://schemas.openxmlformats.org/officeDocument/2006/relationships/image" Target="../media/image10.wmf"/><Relationship Id="rId1" Type="http://schemas.openxmlformats.org/officeDocument/2006/relationships/image" Target="../media/image9.wmf"/><Relationship Id="rId6" Type="http://schemas.openxmlformats.org/officeDocument/2006/relationships/image" Target="../media/image14.wmf"/><Relationship Id="rId5" Type="http://schemas.openxmlformats.org/officeDocument/2006/relationships/image" Target="../media/image13.wmf"/><Relationship Id="rId4" Type="http://schemas.openxmlformats.org/officeDocument/2006/relationships/image" Target="../media/image12.wmf"/></Relationships>
</file>

<file path=ppt/drawings/_rels/vmlDrawing3.vml.rels><?xml version="1.0" encoding="UTF-8" standalone="yes"?>
<Relationships xmlns="http://schemas.openxmlformats.org/package/2006/relationships"><Relationship Id="rId1" Type="http://schemas.openxmlformats.org/officeDocument/2006/relationships/image" Target="../media/image15.wmf"/></Relationships>
</file>

<file path=ppt/drawings/_rels/vmlDrawing4.vml.rels><?xml version="1.0" encoding="UTF-8" standalone="yes"?>
<Relationships xmlns="http://schemas.openxmlformats.org/package/2006/relationships"><Relationship Id="rId8" Type="http://schemas.openxmlformats.org/officeDocument/2006/relationships/image" Target="../media/image23.wmf"/><Relationship Id="rId13" Type="http://schemas.openxmlformats.org/officeDocument/2006/relationships/image" Target="../media/image28.wmf"/><Relationship Id="rId3" Type="http://schemas.openxmlformats.org/officeDocument/2006/relationships/image" Target="../media/image18.wmf"/><Relationship Id="rId7" Type="http://schemas.openxmlformats.org/officeDocument/2006/relationships/image" Target="../media/image22.wmf"/><Relationship Id="rId12" Type="http://schemas.openxmlformats.org/officeDocument/2006/relationships/image" Target="../media/image27.wmf"/><Relationship Id="rId2" Type="http://schemas.openxmlformats.org/officeDocument/2006/relationships/image" Target="../media/image17.wmf"/><Relationship Id="rId1" Type="http://schemas.openxmlformats.org/officeDocument/2006/relationships/image" Target="../media/image16.wmf"/><Relationship Id="rId6" Type="http://schemas.openxmlformats.org/officeDocument/2006/relationships/image" Target="../media/image21.wmf"/><Relationship Id="rId11" Type="http://schemas.openxmlformats.org/officeDocument/2006/relationships/image" Target="../media/image26.wmf"/><Relationship Id="rId5" Type="http://schemas.openxmlformats.org/officeDocument/2006/relationships/image" Target="../media/image20.wmf"/><Relationship Id="rId10" Type="http://schemas.openxmlformats.org/officeDocument/2006/relationships/image" Target="../media/image25.wmf"/><Relationship Id="rId4" Type="http://schemas.openxmlformats.org/officeDocument/2006/relationships/image" Target="../media/image19.wmf"/><Relationship Id="rId9" Type="http://schemas.openxmlformats.org/officeDocument/2006/relationships/image" Target="../media/image24.wmf"/></Relationships>
</file>

<file path=ppt/drawings/_rels/vmlDrawing5.vml.rels><?xml version="1.0" encoding="UTF-8" standalone="yes"?>
<Relationships xmlns="http://schemas.openxmlformats.org/package/2006/relationships"><Relationship Id="rId3" Type="http://schemas.openxmlformats.org/officeDocument/2006/relationships/image" Target="../media/image31.wmf"/><Relationship Id="rId2" Type="http://schemas.openxmlformats.org/officeDocument/2006/relationships/image" Target="../media/image30.wmf"/><Relationship Id="rId1" Type="http://schemas.openxmlformats.org/officeDocument/2006/relationships/image" Target="../media/image29.wmf"/><Relationship Id="rId5" Type="http://schemas.openxmlformats.org/officeDocument/2006/relationships/image" Target="../media/image33.wmf"/><Relationship Id="rId4" Type="http://schemas.openxmlformats.org/officeDocument/2006/relationships/image" Target="../media/image32.wmf"/></Relationships>
</file>

<file path=ppt/drawings/_rels/vmlDrawing6.vml.rels><?xml version="1.0" encoding="UTF-8" standalone="yes"?>
<Relationships xmlns="http://schemas.openxmlformats.org/package/2006/relationships"><Relationship Id="rId3" Type="http://schemas.openxmlformats.org/officeDocument/2006/relationships/image" Target="../media/image36.wmf"/><Relationship Id="rId2" Type="http://schemas.openxmlformats.org/officeDocument/2006/relationships/image" Target="../media/image35.wmf"/><Relationship Id="rId1" Type="http://schemas.openxmlformats.org/officeDocument/2006/relationships/image" Target="../media/image34.wmf"/><Relationship Id="rId4" Type="http://schemas.openxmlformats.org/officeDocument/2006/relationships/image" Target="../media/image37.wmf"/></Relationships>
</file>

<file path=ppt/drawings/_rels/vmlDrawing7.vml.rels><?xml version="1.0" encoding="UTF-8" standalone="yes"?>
<Relationships xmlns="http://schemas.openxmlformats.org/package/2006/relationships"><Relationship Id="rId3" Type="http://schemas.openxmlformats.org/officeDocument/2006/relationships/image" Target="../media/image40.wmf"/><Relationship Id="rId7" Type="http://schemas.openxmlformats.org/officeDocument/2006/relationships/image" Target="../media/image44.wmf"/><Relationship Id="rId2" Type="http://schemas.openxmlformats.org/officeDocument/2006/relationships/image" Target="../media/image39.wmf"/><Relationship Id="rId1" Type="http://schemas.openxmlformats.org/officeDocument/2006/relationships/image" Target="../media/image38.wmf"/><Relationship Id="rId6" Type="http://schemas.openxmlformats.org/officeDocument/2006/relationships/image" Target="../media/image43.wmf"/><Relationship Id="rId5" Type="http://schemas.openxmlformats.org/officeDocument/2006/relationships/image" Target="../media/image42.wmf"/><Relationship Id="rId4" Type="http://schemas.openxmlformats.org/officeDocument/2006/relationships/image" Target="../media/image41.wmf"/></Relationships>
</file>

<file path=ppt/drawings/_rels/vmlDrawing8.vml.rels><?xml version="1.0" encoding="UTF-8" standalone="yes"?>
<Relationships xmlns="http://schemas.openxmlformats.org/package/2006/relationships"><Relationship Id="rId1" Type="http://schemas.openxmlformats.org/officeDocument/2006/relationships/image" Target="../media/image45.wmf"/></Relationships>
</file>

<file path=ppt/drawings/_rels/vmlDrawing9.vml.rels><?xml version="1.0" encoding="UTF-8" standalone="yes"?>
<Relationships xmlns="http://schemas.openxmlformats.org/package/2006/relationships"><Relationship Id="rId3" Type="http://schemas.openxmlformats.org/officeDocument/2006/relationships/image" Target="../media/image48.wmf"/><Relationship Id="rId2" Type="http://schemas.openxmlformats.org/officeDocument/2006/relationships/image" Target="../media/image47.wmf"/><Relationship Id="rId1" Type="http://schemas.openxmlformats.org/officeDocument/2006/relationships/image" Target="../media/image46.wmf"/><Relationship Id="rId5" Type="http://schemas.openxmlformats.org/officeDocument/2006/relationships/image" Target="../media/image50.wmf"/><Relationship Id="rId4" Type="http://schemas.openxmlformats.org/officeDocument/2006/relationships/image" Target="../media/image49.wmf"/></Relationships>
</file>

<file path=ppt/drawings/_rels/vmlDrawing10.vml.rels><?xml version="1.0" encoding="UTF-8" standalone="yes"?>
<Relationships xmlns="http://schemas.openxmlformats.org/package/2006/relationships"><Relationship Id="rId3" Type="http://schemas.openxmlformats.org/officeDocument/2006/relationships/image" Target="../media/image53.wmf"/><Relationship Id="rId2" Type="http://schemas.openxmlformats.org/officeDocument/2006/relationships/image" Target="../media/image52.wmf"/><Relationship Id="rId1" Type="http://schemas.openxmlformats.org/officeDocument/2006/relationships/image" Target="../media/image51.wmf"/><Relationship Id="rId4" Type="http://schemas.openxmlformats.org/officeDocument/2006/relationships/image" Target="../media/image54.wmf"/></Relationships>
</file>

<file path=ppt/drawings/_rels/vmlDrawing11.vml.rels><?xml version="1.0" encoding="UTF-8" standalone="yes"?>
<Relationships xmlns="http://schemas.openxmlformats.org/package/2006/relationships"><Relationship Id="rId8" Type="http://schemas.openxmlformats.org/officeDocument/2006/relationships/image" Target="../media/image62.wmf"/><Relationship Id="rId3" Type="http://schemas.openxmlformats.org/officeDocument/2006/relationships/image" Target="../media/image57.wmf"/><Relationship Id="rId7" Type="http://schemas.openxmlformats.org/officeDocument/2006/relationships/image" Target="../media/image61.wmf"/><Relationship Id="rId2" Type="http://schemas.openxmlformats.org/officeDocument/2006/relationships/image" Target="../media/image56.wmf"/><Relationship Id="rId1" Type="http://schemas.openxmlformats.org/officeDocument/2006/relationships/image" Target="../media/image55.wmf"/><Relationship Id="rId6" Type="http://schemas.openxmlformats.org/officeDocument/2006/relationships/image" Target="../media/image60.wmf"/><Relationship Id="rId11" Type="http://schemas.openxmlformats.org/officeDocument/2006/relationships/image" Target="../media/image65.wmf"/><Relationship Id="rId5" Type="http://schemas.openxmlformats.org/officeDocument/2006/relationships/image" Target="../media/image59.wmf"/><Relationship Id="rId10" Type="http://schemas.openxmlformats.org/officeDocument/2006/relationships/image" Target="../media/image64.wmf"/><Relationship Id="rId4" Type="http://schemas.openxmlformats.org/officeDocument/2006/relationships/image" Target="../media/image58.wmf"/><Relationship Id="rId9" Type="http://schemas.openxmlformats.org/officeDocument/2006/relationships/image" Target="../media/image63.wmf"/></Relationships>
</file>

<file path=ppt/drawings/_rels/vmlDrawing12.vml.rels><?xml version="1.0" encoding="UTF-8" standalone="yes"?>
<Relationships xmlns="http://schemas.openxmlformats.org/package/2006/relationships"><Relationship Id="rId3" Type="http://schemas.openxmlformats.org/officeDocument/2006/relationships/image" Target="../media/image68.wmf"/><Relationship Id="rId2" Type="http://schemas.openxmlformats.org/officeDocument/2006/relationships/image" Target="../media/image67.wmf"/><Relationship Id="rId1" Type="http://schemas.openxmlformats.org/officeDocument/2006/relationships/image" Target="../media/image66.wmf"/><Relationship Id="rId4" Type="http://schemas.openxmlformats.org/officeDocument/2006/relationships/image" Target="../media/image65.wmf"/></Relationships>
</file>

<file path=ppt/drawings/_rels/vmlDrawing13.vml.rels><?xml version="1.0" encoding="UTF-8" standalone="yes"?>
<Relationships xmlns="http://schemas.openxmlformats.org/package/2006/relationships"><Relationship Id="rId3" Type="http://schemas.openxmlformats.org/officeDocument/2006/relationships/image" Target="../media/image71.wmf"/><Relationship Id="rId2" Type="http://schemas.openxmlformats.org/officeDocument/2006/relationships/image" Target="../media/image70.wmf"/><Relationship Id="rId1" Type="http://schemas.openxmlformats.org/officeDocument/2006/relationships/image" Target="../media/image69.wmf"/></Relationships>
</file>

<file path=ppt/drawings/_rels/vmlDrawing14.vml.rels><?xml version="1.0" encoding="UTF-8" standalone="yes"?>
<Relationships xmlns="http://schemas.openxmlformats.org/package/2006/relationships"><Relationship Id="rId8" Type="http://schemas.openxmlformats.org/officeDocument/2006/relationships/image" Target="../media/image79.wmf"/><Relationship Id="rId3" Type="http://schemas.openxmlformats.org/officeDocument/2006/relationships/image" Target="../media/image74.wmf"/><Relationship Id="rId7" Type="http://schemas.openxmlformats.org/officeDocument/2006/relationships/image" Target="../media/image78.wmf"/><Relationship Id="rId12" Type="http://schemas.openxmlformats.org/officeDocument/2006/relationships/image" Target="../media/image83.wmf"/><Relationship Id="rId2" Type="http://schemas.openxmlformats.org/officeDocument/2006/relationships/image" Target="../media/image73.wmf"/><Relationship Id="rId1" Type="http://schemas.openxmlformats.org/officeDocument/2006/relationships/image" Target="../media/image72.wmf"/><Relationship Id="rId6" Type="http://schemas.openxmlformats.org/officeDocument/2006/relationships/image" Target="../media/image77.wmf"/><Relationship Id="rId11" Type="http://schemas.openxmlformats.org/officeDocument/2006/relationships/image" Target="../media/image82.wmf"/><Relationship Id="rId5" Type="http://schemas.openxmlformats.org/officeDocument/2006/relationships/image" Target="../media/image76.wmf"/><Relationship Id="rId10" Type="http://schemas.openxmlformats.org/officeDocument/2006/relationships/image" Target="../media/image81.wmf"/><Relationship Id="rId4" Type="http://schemas.openxmlformats.org/officeDocument/2006/relationships/image" Target="../media/image75.wmf"/><Relationship Id="rId9" Type="http://schemas.openxmlformats.org/officeDocument/2006/relationships/image" Target="../media/image80.wmf"/></Relationships>
</file>

<file path=ppt/drawings/_rels/vmlDrawing15.vml.rels><?xml version="1.0" encoding="UTF-8" standalone="yes"?>
<Relationships xmlns="http://schemas.openxmlformats.org/package/2006/relationships"><Relationship Id="rId8" Type="http://schemas.openxmlformats.org/officeDocument/2006/relationships/image" Target="../media/image91.wmf"/><Relationship Id="rId3" Type="http://schemas.openxmlformats.org/officeDocument/2006/relationships/image" Target="../media/image86.wmf"/><Relationship Id="rId7" Type="http://schemas.openxmlformats.org/officeDocument/2006/relationships/image" Target="../media/image90.wmf"/><Relationship Id="rId2" Type="http://schemas.openxmlformats.org/officeDocument/2006/relationships/image" Target="../media/image85.wmf"/><Relationship Id="rId1" Type="http://schemas.openxmlformats.org/officeDocument/2006/relationships/image" Target="../media/image84.wmf"/><Relationship Id="rId6" Type="http://schemas.openxmlformats.org/officeDocument/2006/relationships/image" Target="../media/image89.wmf"/><Relationship Id="rId5" Type="http://schemas.openxmlformats.org/officeDocument/2006/relationships/image" Target="../media/image88.wmf"/><Relationship Id="rId10" Type="http://schemas.openxmlformats.org/officeDocument/2006/relationships/image" Target="../media/image93.wmf"/><Relationship Id="rId4" Type="http://schemas.openxmlformats.org/officeDocument/2006/relationships/image" Target="../media/image87.wmf"/><Relationship Id="rId9" Type="http://schemas.openxmlformats.org/officeDocument/2006/relationships/image" Target="../media/image92.wmf"/></Relationships>
</file>

<file path=ppt/drawings/_rels/vmlDrawing16.vml.rels><?xml version="1.0" encoding="UTF-8" standalone="yes"?>
<Relationships xmlns="http://schemas.openxmlformats.org/package/2006/relationships"><Relationship Id="rId3" Type="http://schemas.openxmlformats.org/officeDocument/2006/relationships/image" Target="../media/image97.wmf"/><Relationship Id="rId2" Type="http://schemas.openxmlformats.org/officeDocument/2006/relationships/image" Target="../media/image96.wmf"/><Relationship Id="rId1" Type="http://schemas.openxmlformats.org/officeDocument/2006/relationships/image" Target="../media/image95.wmf"/><Relationship Id="rId5" Type="http://schemas.openxmlformats.org/officeDocument/2006/relationships/image" Target="../media/image99.wmf"/><Relationship Id="rId4" Type="http://schemas.openxmlformats.org/officeDocument/2006/relationships/image" Target="../media/image98.wmf"/></Relationships>
</file>

<file path=ppt/drawings/_rels/vmlDrawing17.vml.rels><?xml version="1.0" encoding="UTF-8" standalone="yes"?>
<Relationships xmlns="http://schemas.openxmlformats.org/package/2006/relationships"><Relationship Id="rId3" Type="http://schemas.openxmlformats.org/officeDocument/2006/relationships/image" Target="../media/image102.wmf"/><Relationship Id="rId2" Type="http://schemas.openxmlformats.org/officeDocument/2006/relationships/image" Target="../media/image101.wmf"/><Relationship Id="rId1" Type="http://schemas.openxmlformats.org/officeDocument/2006/relationships/image" Target="../media/image100.wmf"/><Relationship Id="rId5" Type="http://schemas.openxmlformats.org/officeDocument/2006/relationships/image" Target="../media/image104.wmf"/><Relationship Id="rId4" Type="http://schemas.openxmlformats.org/officeDocument/2006/relationships/image" Target="../media/image103.wmf"/></Relationships>
</file>

<file path=ppt/drawings/_rels/vmlDrawing18.vml.rels><?xml version="1.0" encoding="UTF-8" standalone="yes"?>
<Relationships xmlns="http://schemas.openxmlformats.org/package/2006/relationships"><Relationship Id="rId8" Type="http://schemas.openxmlformats.org/officeDocument/2006/relationships/image" Target="../media/image112.wmf"/><Relationship Id="rId3" Type="http://schemas.openxmlformats.org/officeDocument/2006/relationships/image" Target="../media/image107.wmf"/><Relationship Id="rId7" Type="http://schemas.openxmlformats.org/officeDocument/2006/relationships/image" Target="../media/image111.wmf"/><Relationship Id="rId2" Type="http://schemas.openxmlformats.org/officeDocument/2006/relationships/image" Target="../media/image106.wmf"/><Relationship Id="rId1" Type="http://schemas.openxmlformats.org/officeDocument/2006/relationships/image" Target="../media/image105.wmf"/><Relationship Id="rId6" Type="http://schemas.openxmlformats.org/officeDocument/2006/relationships/image" Target="../media/image110.wmf"/><Relationship Id="rId5" Type="http://schemas.openxmlformats.org/officeDocument/2006/relationships/image" Target="../media/image109.wmf"/><Relationship Id="rId4" Type="http://schemas.openxmlformats.org/officeDocument/2006/relationships/image" Target="../media/image108.wmf"/></Relationships>
</file>

<file path=ppt/drawings/_rels/vmlDrawing19.vml.rels><?xml version="1.0" encoding="UTF-8" standalone="yes"?>
<Relationships xmlns="http://schemas.openxmlformats.org/package/2006/relationships"><Relationship Id="rId2" Type="http://schemas.openxmlformats.org/officeDocument/2006/relationships/image" Target="../media/image114.wmf"/><Relationship Id="rId1" Type="http://schemas.openxmlformats.org/officeDocument/2006/relationships/image" Target="../media/image113.wmf"/></Relationships>
</file>

<file path=ppt/drawings/_rels/vmlDrawing20.vml.rels><?xml version="1.0" encoding="UTF-8" standalone="yes"?>
<Relationships xmlns="http://schemas.openxmlformats.org/package/2006/relationships"><Relationship Id="rId3" Type="http://schemas.openxmlformats.org/officeDocument/2006/relationships/image" Target="../media/image117.wmf"/><Relationship Id="rId7" Type="http://schemas.openxmlformats.org/officeDocument/2006/relationships/image" Target="../media/image121.wmf"/><Relationship Id="rId2" Type="http://schemas.openxmlformats.org/officeDocument/2006/relationships/image" Target="../media/image116.wmf"/><Relationship Id="rId1" Type="http://schemas.openxmlformats.org/officeDocument/2006/relationships/image" Target="../media/image115.wmf"/><Relationship Id="rId6" Type="http://schemas.openxmlformats.org/officeDocument/2006/relationships/image" Target="../media/image120.wmf"/><Relationship Id="rId5" Type="http://schemas.openxmlformats.org/officeDocument/2006/relationships/image" Target="../media/image119.wmf"/><Relationship Id="rId4" Type="http://schemas.openxmlformats.org/officeDocument/2006/relationships/image" Target="../media/image118.wmf"/></Relationships>
</file>

<file path=ppt/drawings/_rels/vmlDrawing21.vml.rels><?xml version="1.0" encoding="UTF-8" standalone="yes"?>
<Relationships xmlns="http://schemas.openxmlformats.org/package/2006/relationships"><Relationship Id="rId3" Type="http://schemas.openxmlformats.org/officeDocument/2006/relationships/image" Target="../media/image124.wmf"/><Relationship Id="rId2" Type="http://schemas.openxmlformats.org/officeDocument/2006/relationships/image" Target="../media/image123.wmf"/><Relationship Id="rId1" Type="http://schemas.openxmlformats.org/officeDocument/2006/relationships/image" Target="../media/image122.wmf"/></Relationships>
</file>

<file path=ppt/drawings/_rels/vmlDrawing22.vml.rels><?xml version="1.0" encoding="UTF-8" standalone="yes"?>
<Relationships xmlns="http://schemas.openxmlformats.org/package/2006/relationships"><Relationship Id="rId3" Type="http://schemas.openxmlformats.org/officeDocument/2006/relationships/image" Target="../media/image127.wmf"/><Relationship Id="rId2" Type="http://schemas.openxmlformats.org/officeDocument/2006/relationships/image" Target="../media/image126.wmf"/><Relationship Id="rId1" Type="http://schemas.openxmlformats.org/officeDocument/2006/relationships/image" Target="../media/image125.wmf"/><Relationship Id="rId6" Type="http://schemas.openxmlformats.org/officeDocument/2006/relationships/image" Target="../media/image130.wmf"/><Relationship Id="rId5" Type="http://schemas.openxmlformats.org/officeDocument/2006/relationships/image" Target="../media/image129.wmf"/><Relationship Id="rId4" Type="http://schemas.openxmlformats.org/officeDocument/2006/relationships/image" Target="../media/image128.wmf"/></Relationships>
</file>

<file path=ppt/drawings/_rels/vmlDrawing23.vml.rels><?xml version="1.0" encoding="UTF-8" standalone="yes"?>
<Relationships xmlns="http://schemas.openxmlformats.org/package/2006/relationships"><Relationship Id="rId8" Type="http://schemas.openxmlformats.org/officeDocument/2006/relationships/image" Target="../media/image138.wmf"/><Relationship Id="rId3" Type="http://schemas.openxmlformats.org/officeDocument/2006/relationships/image" Target="../media/image133.wmf"/><Relationship Id="rId7" Type="http://schemas.openxmlformats.org/officeDocument/2006/relationships/image" Target="../media/image137.wmf"/><Relationship Id="rId2" Type="http://schemas.openxmlformats.org/officeDocument/2006/relationships/image" Target="../media/image132.wmf"/><Relationship Id="rId1" Type="http://schemas.openxmlformats.org/officeDocument/2006/relationships/image" Target="../media/image131.wmf"/><Relationship Id="rId6" Type="http://schemas.openxmlformats.org/officeDocument/2006/relationships/image" Target="../media/image136.wmf"/><Relationship Id="rId5" Type="http://schemas.openxmlformats.org/officeDocument/2006/relationships/image" Target="../media/image135.wmf"/><Relationship Id="rId4" Type="http://schemas.openxmlformats.org/officeDocument/2006/relationships/image" Target="../media/image134.wmf"/></Relationships>
</file>

<file path=ppt/drawings/_rels/vmlDrawing24.vml.rels><?xml version="1.0" encoding="UTF-8" standalone="yes"?>
<Relationships xmlns="http://schemas.openxmlformats.org/package/2006/relationships"><Relationship Id="rId8" Type="http://schemas.openxmlformats.org/officeDocument/2006/relationships/image" Target="../media/image146.wmf"/><Relationship Id="rId3" Type="http://schemas.openxmlformats.org/officeDocument/2006/relationships/image" Target="../media/image141.wmf"/><Relationship Id="rId7" Type="http://schemas.openxmlformats.org/officeDocument/2006/relationships/image" Target="../media/image145.wmf"/><Relationship Id="rId2" Type="http://schemas.openxmlformats.org/officeDocument/2006/relationships/image" Target="../media/image140.wmf"/><Relationship Id="rId1" Type="http://schemas.openxmlformats.org/officeDocument/2006/relationships/image" Target="../media/image139.wmf"/><Relationship Id="rId6" Type="http://schemas.openxmlformats.org/officeDocument/2006/relationships/image" Target="../media/image144.wmf"/><Relationship Id="rId5" Type="http://schemas.openxmlformats.org/officeDocument/2006/relationships/image" Target="../media/image143.wmf"/><Relationship Id="rId4" Type="http://schemas.openxmlformats.org/officeDocument/2006/relationships/image" Target="../media/image142.wmf"/><Relationship Id="rId9" Type="http://schemas.openxmlformats.org/officeDocument/2006/relationships/image" Target="../media/image147.wmf"/></Relationships>
</file>

<file path=ppt/drawings/_rels/vmlDrawing25.vml.rels><?xml version="1.0" encoding="UTF-8" standalone="yes"?>
<Relationships xmlns="http://schemas.openxmlformats.org/package/2006/relationships"><Relationship Id="rId8" Type="http://schemas.openxmlformats.org/officeDocument/2006/relationships/image" Target="../media/image155.wmf"/><Relationship Id="rId3" Type="http://schemas.openxmlformats.org/officeDocument/2006/relationships/image" Target="../media/image150.wmf"/><Relationship Id="rId7" Type="http://schemas.openxmlformats.org/officeDocument/2006/relationships/image" Target="../media/image154.wmf"/><Relationship Id="rId2" Type="http://schemas.openxmlformats.org/officeDocument/2006/relationships/image" Target="../media/image149.wmf"/><Relationship Id="rId1" Type="http://schemas.openxmlformats.org/officeDocument/2006/relationships/image" Target="../media/image148.wmf"/><Relationship Id="rId6" Type="http://schemas.openxmlformats.org/officeDocument/2006/relationships/image" Target="../media/image153.wmf"/><Relationship Id="rId5" Type="http://schemas.openxmlformats.org/officeDocument/2006/relationships/image" Target="../media/image152.wmf"/><Relationship Id="rId4" Type="http://schemas.openxmlformats.org/officeDocument/2006/relationships/image" Target="../media/image151.wmf"/><Relationship Id="rId9" Type="http://schemas.openxmlformats.org/officeDocument/2006/relationships/image" Target="../media/image156.wmf"/></Relationships>
</file>

<file path=ppt/drawings/_rels/vmlDrawing26.vml.rels><?xml version="1.0" encoding="UTF-8" standalone="yes"?>
<Relationships xmlns="http://schemas.openxmlformats.org/package/2006/relationships"><Relationship Id="rId8" Type="http://schemas.openxmlformats.org/officeDocument/2006/relationships/image" Target="../media/image164.wmf"/><Relationship Id="rId3" Type="http://schemas.openxmlformats.org/officeDocument/2006/relationships/image" Target="../media/image159.wmf"/><Relationship Id="rId7" Type="http://schemas.openxmlformats.org/officeDocument/2006/relationships/image" Target="../media/image163.wmf"/><Relationship Id="rId2" Type="http://schemas.openxmlformats.org/officeDocument/2006/relationships/image" Target="../media/image158.wmf"/><Relationship Id="rId1" Type="http://schemas.openxmlformats.org/officeDocument/2006/relationships/image" Target="../media/image157.wmf"/><Relationship Id="rId6" Type="http://schemas.openxmlformats.org/officeDocument/2006/relationships/image" Target="../media/image162.wmf"/><Relationship Id="rId5" Type="http://schemas.openxmlformats.org/officeDocument/2006/relationships/image" Target="../media/image161.wmf"/><Relationship Id="rId4" Type="http://schemas.openxmlformats.org/officeDocument/2006/relationships/image" Target="../media/image160.wmf"/></Relationships>
</file>

<file path=ppt/drawings/_rels/vmlDrawing27.vml.rels><?xml version="1.0" encoding="UTF-8" standalone="yes"?>
<Relationships xmlns="http://schemas.openxmlformats.org/package/2006/relationships"><Relationship Id="rId3" Type="http://schemas.openxmlformats.org/officeDocument/2006/relationships/image" Target="../media/image167.wmf"/><Relationship Id="rId2" Type="http://schemas.openxmlformats.org/officeDocument/2006/relationships/image" Target="../media/image166.wmf"/><Relationship Id="rId1" Type="http://schemas.openxmlformats.org/officeDocument/2006/relationships/image" Target="../media/image165.wmf"/></Relationships>
</file>

<file path=ppt/drawings/_rels/vmlDrawing28.vml.rels><?xml version="1.0" encoding="UTF-8" standalone="yes"?>
<Relationships xmlns="http://schemas.openxmlformats.org/package/2006/relationships"><Relationship Id="rId3" Type="http://schemas.openxmlformats.org/officeDocument/2006/relationships/image" Target="../media/image170.wmf"/><Relationship Id="rId2" Type="http://schemas.openxmlformats.org/officeDocument/2006/relationships/image" Target="../media/image169.wmf"/><Relationship Id="rId1" Type="http://schemas.openxmlformats.org/officeDocument/2006/relationships/image" Target="../media/image168.wmf"/><Relationship Id="rId4" Type="http://schemas.openxmlformats.org/officeDocument/2006/relationships/image" Target="../media/image171.wmf"/></Relationships>
</file>

<file path=ppt/drawings/_rels/vmlDrawing29.vml.rels><?xml version="1.0" encoding="UTF-8" standalone="yes"?>
<Relationships xmlns="http://schemas.openxmlformats.org/package/2006/relationships"><Relationship Id="rId3" Type="http://schemas.openxmlformats.org/officeDocument/2006/relationships/image" Target="../media/image174.wmf"/><Relationship Id="rId2" Type="http://schemas.openxmlformats.org/officeDocument/2006/relationships/image" Target="../media/image173.wmf"/><Relationship Id="rId1" Type="http://schemas.openxmlformats.org/officeDocument/2006/relationships/image" Target="../media/image172.wmf"/></Relationships>
</file>

<file path=ppt/drawings/_rels/vmlDrawing30.vml.rels><?xml version="1.0" encoding="UTF-8" standalone="yes"?>
<Relationships xmlns="http://schemas.openxmlformats.org/package/2006/relationships"><Relationship Id="rId3" Type="http://schemas.openxmlformats.org/officeDocument/2006/relationships/image" Target="../media/image174.wmf"/><Relationship Id="rId7" Type="http://schemas.openxmlformats.org/officeDocument/2006/relationships/image" Target="../media/image179.wmf"/><Relationship Id="rId2" Type="http://schemas.openxmlformats.org/officeDocument/2006/relationships/image" Target="../media/image173.wmf"/><Relationship Id="rId1" Type="http://schemas.openxmlformats.org/officeDocument/2006/relationships/image" Target="../media/image175.wmf"/><Relationship Id="rId6" Type="http://schemas.openxmlformats.org/officeDocument/2006/relationships/image" Target="../media/image178.wmf"/><Relationship Id="rId5" Type="http://schemas.openxmlformats.org/officeDocument/2006/relationships/image" Target="../media/image177.wmf"/><Relationship Id="rId4" Type="http://schemas.openxmlformats.org/officeDocument/2006/relationships/image" Target="../media/image176.wmf"/></Relationships>
</file>

<file path=ppt/drawings/_rels/vmlDrawing31.vml.rels><?xml version="1.0" encoding="UTF-8" standalone="yes"?>
<Relationships xmlns="http://schemas.openxmlformats.org/package/2006/relationships"><Relationship Id="rId8" Type="http://schemas.openxmlformats.org/officeDocument/2006/relationships/image" Target="../media/image187.wmf"/><Relationship Id="rId13" Type="http://schemas.openxmlformats.org/officeDocument/2006/relationships/image" Target="../media/image192.wmf"/><Relationship Id="rId3" Type="http://schemas.openxmlformats.org/officeDocument/2006/relationships/image" Target="../media/image182.wmf"/><Relationship Id="rId7" Type="http://schemas.openxmlformats.org/officeDocument/2006/relationships/image" Target="../media/image186.wmf"/><Relationship Id="rId12" Type="http://schemas.openxmlformats.org/officeDocument/2006/relationships/image" Target="../media/image191.wmf"/><Relationship Id="rId2" Type="http://schemas.openxmlformats.org/officeDocument/2006/relationships/image" Target="../media/image181.wmf"/><Relationship Id="rId1" Type="http://schemas.openxmlformats.org/officeDocument/2006/relationships/image" Target="../media/image180.wmf"/><Relationship Id="rId6" Type="http://schemas.openxmlformats.org/officeDocument/2006/relationships/image" Target="../media/image185.wmf"/><Relationship Id="rId11" Type="http://schemas.openxmlformats.org/officeDocument/2006/relationships/image" Target="../media/image190.wmf"/><Relationship Id="rId5" Type="http://schemas.openxmlformats.org/officeDocument/2006/relationships/image" Target="../media/image184.wmf"/><Relationship Id="rId10" Type="http://schemas.openxmlformats.org/officeDocument/2006/relationships/image" Target="../media/image189.wmf"/><Relationship Id="rId4" Type="http://schemas.openxmlformats.org/officeDocument/2006/relationships/image" Target="../media/image183.wmf"/><Relationship Id="rId9" Type="http://schemas.openxmlformats.org/officeDocument/2006/relationships/image" Target="../media/image188.wmf"/></Relationships>
</file>

<file path=ppt/drawings/_rels/vmlDrawing32.vml.rels><?xml version="1.0" encoding="UTF-8" standalone="yes"?>
<Relationships xmlns="http://schemas.openxmlformats.org/package/2006/relationships"><Relationship Id="rId3" Type="http://schemas.openxmlformats.org/officeDocument/2006/relationships/image" Target="../media/image195.wmf"/><Relationship Id="rId2" Type="http://schemas.openxmlformats.org/officeDocument/2006/relationships/image" Target="../media/image194.wmf"/><Relationship Id="rId1" Type="http://schemas.openxmlformats.org/officeDocument/2006/relationships/image" Target="../media/image193.wmf"/></Relationships>
</file>

<file path=ppt/drawings/_rels/vmlDrawing33.vml.rels><?xml version="1.0" encoding="UTF-8" standalone="yes"?>
<Relationships xmlns="http://schemas.openxmlformats.org/package/2006/relationships"><Relationship Id="rId8" Type="http://schemas.openxmlformats.org/officeDocument/2006/relationships/image" Target="../media/image203.wmf"/><Relationship Id="rId3" Type="http://schemas.openxmlformats.org/officeDocument/2006/relationships/image" Target="../media/image198.wmf"/><Relationship Id="rId7" Type="http://schemas.openxmlformats.org/officeDocument/2006/relationships/image" Target="../media/image202.wmf"/><Relationship Id="rId2" Type="http://schemas.openxmlformats.org/officeDocument/2006/relationships/image" Target="../media/image197.wmf"/><Relationship Id="rId1" Type="http://schemas.openxmlformats.org/officeDocument/2006/relationships/image" Target="../media/image196.wmf"/><Relationship Id="rId6" Type="http://schemas.openxmlformats.org/officeDocument/2006/relationships/image" Target="../media/image201.wmf"/><Relationship Id="rId5" Type="http://schemas.openxmlformats.org/officeDocument/2006/relationships/image" Target="../media/image200.wmf"/><Relationship Id="rId4" Type="http://schemas.openxmlformats.org/officeDocument/2006/relationships/image" Target="../media/image199.wmf"/><Relationship Id="rId9" Type="http://schemas.openxmlformats.org/officeDocument/2006/relationships/image" Target="../media/image204.wmf"/></Relationships>
</file>

<file path=ppt/drawings/_rels/vmlDrawing34.vml.rels><?xml version="1.0" encoding="UTF-8" standalone="yes"?>
<Relationships xmlns="http://schemas.openxmlformats.org/package/2006/relationships"><Relationship Id="rId3" Type="http://schemas.openxmlformats.org/officeDocument/2006/relationships/image" Target="../media/image199.wmf"/><Relationship Id="rId7" Type="http://schemas.openxmlformats.org/officeDocument/2006/relationships/image" Target="../media/image206.wmf"/><Relationship Id="rId2" Type="http://schemas.openxmlformats.org/officeDocument/2006/relationships/image" Target="../media/image198.wmf"/><Relationship Id="rId1" Type="http://schemas.openxmlformats.org/officeDocument/2006/relationships/image" Target="../media/image197.wmf"/><Relationship Id="rId6" Type="http://schemas.openxmlformats.org/officeDocument/2006/relationships/image" Target="../media/image205.wmf"/><Relationship Id="rId5" Type="http://schemas.openxmlformats.org/officeDocument/2006/relationships/image" Target="../media/image201.wmf"/><Relationship Id="rId4" Type="http://schemas.openxmlformats.org/officeDocument/2006/relationships/image" Target="../media/image200.wmf"/></Relationships>
</file>

<file path=ppt/drawings/_rels/vmlDrawing35.vml.rels><?xml version="1.0" encoding="UTF-8" standalone="yes"?>
<Relationships xmlns="http://schemas.openxmlformats.org/package/2006/relationships"><Relationship Id="rId3" Type="http://schemas.openxmlformats.org/officeDocument/2006/relationships/image" Target="../media/image209.wmf"/><Relationship Id="rId2" Type="http://schemas.openxmlformats.org/officeDocument/2006/relationships/image" Target="../media/image208.wmf"/><Relationship Id="rId1" Type="http://schemas.openxmlformats.org/officeDocument/2006/relationships/image" Target="../media/image207.wmf"/><Relationship Id="rId4" Type="http://schemas.openxmlformats.org/officeDocument/2006/relationships/image" Target="../media/image210.wmf"/></Relationships>
</file>

<file path=ppt/drawings/_rels/vmlDrawing36.vml.rels><?xml version="1.0" encoding="UTF-8" standalone="yes"?>
<Relationships xmlns="http://schemas.openxmlformats.org/package/2006/relationships"><Relationship Id="rId3" Type="http://schemas.openxmlformats.org/officeDocument/2006/relationships/image" Target="../media/image213.wmf"/><Relationship Id="rId7" Type="http://schemas.openxmlformats.org/officeDocument/2006/relationships/image" Target="../media/image217.wmf"/><Relationship Id="rId2" Type="http://schemas.openxmlformats.org/officeDocument/2006/relationships/image" Target="../media/image212.wmf"/><Relationship Id="rId1" Type="http://schemas.openxmlformats.org/officeDocument/2006/relationships/image" Target="../media/image211.wmf"/><Relationship Id="rId6" Type="http://schemas.openxmlformats.org/officeDocument/2006/relationships/image" Target="../media/image216.wmf"/><Relationship Id="rId5" Type="http://schemas.openxmlformats.org/officeDocument/2006/relationships/image" Target="../media/image215.wmf"/><Relationship Id="rId4" Type="http://schemas.openxmlformats.org/officeDocument/2006/relationships/image" Target="../media/image214.wmf"/></Relationships>
</file>

<file path=ppt/drawings/_rels/vmlDrawing37.vml.rels><?xml version="1.0" encoding="UTF-8" standalone="yes"?>
<Relationships xmlns="http://schemas.openxmlformats.org/package/2006/relationships"><Relationship Id="rId3" Type="http://schemas.openxmlformats.org/officeDocument/2006/relationships/image" Target="../media/image220.wmf"/><Relationship Id="rId2" Type="http://schemas.openxmlformats.org/officeDocument/2006/relationships/image" Target="../media/image219.wmf"/><Relationship Id="rId1" Type="http://schemas.openxmlformats.org/officeDocument/2006/relationships/image" Target="../media/image218.wmf"/><Relationship Id="rId6" Type="http://schemas.openxmlformats.org/officeDocument/2006/relationships/image" Target="../media/image223.wmf"/><Relationship Id="rId5" Type="http://schemas.openxmlformats.org/officeDocument/2006/relationships/image" Target="../media/image222.wmf"/><Relationship Id="rId4" Type="http://schemas.openxmlformats.org/officeDocument/2006/relationships/image" Target="../media/image221.wmf"/></Relationships>
</file>

<file path=ppt/drawings/_rels/vmlDrawing38.vml.rels><?xml version="1.0" encoding="UTF-8" standalone="yes"?>
<Relationships xmlns="http://schemas.openxmlformats.org/package/2006/relationships"><Relationship Id="rId3" Type="http://schemas.openxmlformats.org/officeDocument/2006/relationships/image" Target="../media/image226.wmf"/><Relationship Id="rId7" Type="http://schemas.openxmlformats.org/officeDocument/2006/relationships/image" Target="../media/image230.wmf"/><Relationship Id="rId2" Type="http://schemas.openxmlformats.org/officeDocument/2006/relationships/image" Target="../media/image225.wmf"/><Relationship Id="rId1" Type="http://schemas.openxmlformats.org/officeDocument/2006/relationships/image" Target="../media/image224.wmf"/><Relationship Id="rId6" Type="http://schemas.openxmlformats.org/officeDocument/2006/relationships/image" Target="../media/image229.wmf"/><Relationship Id="rId5" Type="http://schemas.openxmlformats.org/officeDocument/2006/relationships/image" Target="../media/image228.wmf"/><Relationship Id="rId4" Type="http://schemas.openxmlformats.org/officeDocument/2006/relationships/image" Target="../media/image227.wmf"/></Relationships>
</file>

<file path=ppt/drawings/_rels/vmlDrawing39.vml.rels><?xml version="1.0" encoding="UTF-8" standalone="yes"?>
<Relationships xmlns="http://schemas.openxmlformats.org/package/2006/relationships"><Relationship Id="rId2" Type="http://schemas.openxmlformats.org/officeDocument/2006/relationships/image" Target="../media/image232.wmf"/><Relationship Id="rId1" Type="http://schemas.openxmlformats.org/officeDocument/2006/relationships/image" Target="../media/image231.wmf"/></Relationships>
</file>

<file path=ppt/drawings/_rels/vmlDrawing40.vml.rels><?xml version="1.0" encoding="UTF-8" standalone="yes"?>
<Relationships xmlns="http://schemas.openxmlformats.org/package/2006/relationships"><Relationship Id="rId3" Type="http://schemas.openxmlformats.org/officeDocument/2006/relationships/image" Target="../media/image236.wmf"/><Relationship Id="rId2" Type="http://schemas.openxmlformats.org/officeDocument/2006/relationships/image" Target="../media/image235.wmf"/><Relationship Id="rId1" Type="http://schemas.openxmlformats.org/officeDocument/2006/relationships/image" Target="../media/image234.wmf"/><Relationship Id="rId6" Type="http://schemas.openxmlformats.org/officeDocument/2006/relationships/image" Target="../media/image239.wmf"/><Relationship Id="rId5" Type="http://schemas.openxmlformats.org/officeDocument/2006/relationships/image" Target="../media/image238.wmf"/><Relationship Id="rId4" Type="http://schemas.openxmlformats.org/officeDocument/2006/relationships/image" Target="../media/image237.wmf"/></Relationships>
</file>

<file path=ppt/drawings/_rels/vmlDrawing41.vml.rels><?xml version="1.0" encoding="UTF-8" standalone="yes"?>
<Relationships xmlns="http://schemas.openxmlformats.org/package/2006/relationships"><Relationship Id="rId2" Type="http://schemas.openxmlformats.org/officeDocument/2006/relationships/image" Target="../media/image241.wmf"/><Relationship Id="rId1" Type="http://schemas.openxmlformats.org/officeDocument/2006/relationships/image" Target="../media/image240.wmf"/></Relationships>
</file>

<file path=ppt/drawings/_rels/vmlDrawing42.vml.rels><?xml version="1.0" encoding="UTF-8" standalone="yes"?>
<Relationships xmlns="http://schemas.openxmlformats.org/package/2006/relationships"><Relationship Id="rId1" Type="http://schemas.openxmlformats.org/officeDocument/2006/relationships/image" Target="../media/image242.wmf"/></Relationships>
</file>

<file path=ppt/drawings/_rels/vmlDrawing43.vml.rels><?xml version="1.0" encoding="UTF-8" standalone="yes"?>
<Relationships xmlns="http://schemas.openxmlformats.org/package/2006/relationships"><Relationship Id="rId8" Type="http://schemas.openxmlformats.org/officeDocument/2006/relationships/image" Target="../media/image250.wmf"/><Relationship Id="rId3" Type="http://schemas.openxmlformats.org/officeDocument/2006/relationships/image" Target="../media/image245.wmf"/><Relationship Id="rId7" Type="http://schemas.openxmlformats.org/officeDocument/2006/relationships/image" Target="../media/image249.wmf"/><Relationship Id="rId2" Type="http://schemas.openxmlformats.org/officeDocument/2006/relationships/image" Target="../media/image244.wmf"/><Relationship Id="rId1" Type="http://schemas.openxmlformats.org/officeDocument/2006/relationships/image" Target="../media/image243.wmf"/><Relationship Id="rId6" Type="http://schemas.openxmlformats.org/officeDocument/2006/relationships/image" Target="../media/image248.wmf"/><Relationship Id="rId5" Type="http://schemas.openxmlformats.org/officeDocument/2006/relationships/image" Target="../media/image247.wmf"/><Relationship Id="rId4" Type="http://schemas.openxmlformats.org/officeDocument/2006/relationships/image" Target="../media/image246.wmf"/></Relationships>
</file>

<file path=ppt/drawings/_rels/vmlDrawing44.vml.rels><?xml version="1.0" encoding="UTF-8" standalone="yes"?>
<Relationships xmlns="http://schemas.openxmlformats.org/package/2006/relationships"><Relationship Id="rId8" Type="http://schemas.openxmlformats.org/officeDocument/2006/relationships/image" Target="../media/image257.wmf"/><Relationship Id="rId13" Type="http://schemas.openxmlformats.org/officeDocument/2006/relationships/image" Target="../media/image262.wmf"/><Relationship Id="rId3" Type="http://schemas.openxmlformats.org/officeDocument/2006/relationships/image" Target="../media/image252.wmf"/><Relationship Id="rId7" Type="http://schemas.openxmlformats.org/officeDocument/2006/relationships/image" Target="../media/image256.wmf"/><Relationship Id="rId12" Type="http://schemas.openxmlformats.org/officeDocument/2006/relationships/image" Target="../media/image261.wmf"/><Relationship Id="rId2" Type="http://schemas.openxmlformats.org/officeDocument/2006/relationships/image" Target="../media/image251.wmf"/><Relationship Id="rId1" Type="http://schemas.openxmlformats.org/officeDocument/2006/relationships/image" Target="../media/image245.wmf"/><Relationship Id="rId6" Type="http://schemas.openxmlformats.org/officeDocument/2006/relationships/image" Target="../media/image255.wmf"/><Relationship Id="rId11" Type="http://schemas.openxmlformats.org/officeDocument/2006/relationships/image" Target="../media/image260.wmf"/><Relationship Id="rId5" Type="http://schemas.openxmlformats.org/officeDocument/2006/relationships/image" Target="../media/image254.wmf"/><Relationship Id="rId15" Type="http://schemas.openxmlformats.org/officeDocument/2006/relationships/image" Target="../media/image264.wmf"/><Relationship Id="rId10" Type="http://schemas.openxmlformats.org/officeDocument/2006/relationships/image" Target="../media/image259.wmf"/><Relationship Id="rId4" Type="http://schemas.openxmlformats.org/officeDocument/2006/relationships/image" Target="../media/image253.wmf"/><Relationship Id="rId9" Type="http://schemas.openxmlformats.org/officeDocument/2006/relationships/image" Target="../media/image258.wmf"/><Relationship Id="rId14" Type="http://schemas.openxmlformats.org/officeDocument/2006/relationships/image" Target="../media/image263.wmf"/></Relationships>
</file>

<file path=ppt/drawings/_rels/vmlDrawing45.vml.rels><?xml version="1.0" encoding="UTF-8" standalone="yes"?>
<Relationships xmlns="http://schemas.openxmlformats.org/package/2006/relationships"><Relationship Id="rId3" Type="http://schemas.openxmlformats.org/officeDocument/2006/relationships/image" Target="../media/image266.wmf"/><Relationship Id="rId2" Type="http://schemas.openxmlformats.org/officeDocument/2006/relationships/image" Target="../media/image265.wmf"/><Relationship Id="rId1" Type="http://schemas.openxmlformats.org/officeDocument/2006/relationships/image" Target="../media/image259.wmf"/><Relationship Id="rId4" Type="http://schemas.openxmlformats.org/officeDocument/2006/relationships/image" Target="../media/image267.wmf"/></Relationships>
</file>

<file path=ppt/drawings/_rels/vmlDrawing46.vml.rels><?xml version="1.0" encoding="UTF-8" standalone="yes"?>
<Relationships xmlns="http://schemas.openxmlformats.org/package/2006/relationships"><Relationship Id="rId3" Type="http://schemas.openxmlformats.org/officeDocument/2006/relationships/image" Target="../media/image270.wmf"/><Relationship Id="rId2" Type="http://schemas.openxmlformats.org/officeDocument/2006/relationships/image" Target="../media/image269.wmf"/><Relationship Id="rId1" Type="http://schemas.openxmlformats.org/officeDocument/2006/relationships/image" Target="../media/image268.wmf"/><Relationship Id="rId5" Type="http://schemas.openxmlformats.org/officeDocument/2006/relationships/image" Target="../media/image267.wmf"/><Relationship Id="rId4" Type="http://schemas.openxmlformats.org/officeDocument/2006/relationships/image" Target="../media/image271.wmf"/></Relationships>
</file>

<file path=ppt/drawings/_rels/vmlDrawing47.vml.rels><?xml version="1.0" encoding="UTF-8" standalone="yes"?>
<Relationships xmlns="http://schemas.openxmlformats.org/package/2006/relationships"><Relationship Id="rId3" Type="http://schemas.openxmlformats.org/officeDocument/2006/relationships/image" Target="../media/image274.wmf"/><Relationship Id="rId2" Type="http://schemas.openxmlformats.org/officeDocument/2006/relationships/image" Target="../media/image273.wmf"/><Relationship Id="rId1" Type="http://schemas.openxmlformats.org/officeDocument/2006/relationships/image" Target="../media/image272.wmf"/><Relationship Id="rId4" Type="http://schemas.openxmlformats.org/officeDocument/2006/relationships/image" Target="../media/image275.wmf"/></Relationships>
</file>

<file path=ppt/drawings/_rels/vmlDrawing48.vml.rels><?xml version="1.0" encoding="UTF-8" standalone="yes"?>
<Relationships xmlns="http://schemas.openxmlformats.org/package/2006/relationships"><Relationship Id="rId3" Type="http://schemas.openxmlformats.org/officeDocument/2006/relationships/image" Target="../media/image278.wmf"/><Relationship Id="rId7" Type="http://schemas.openxmlformats.org/officeDocument/2006/relationships/image" Target="../media/image271.wmf"/><Relationship Id="rId2" Type="http://schemas.openxmlformats.org/officeDocument/2006/relationships/image" Target="../media/image277.wmf"/><Relationship Id="rId1" Type="http://schemas.openxmlformats.org/officeDocument/2006/relationships/image" Target="../media/image276.wmf"/><Relationship Id="rId6" Type="http://schemas.openxmlformats.org/officeDocument/2006/relationships/image" Target="../media/image281.wmf"/><Relationship Id="rId5" Type="http://schemas.openxmlformats.org/officeDocument/2006/relationships/image" Target="../media/image280.wmf"/><Relationship Id="rId4" Type="http://schemas.openxmlformats.org/officeDocument/2006/relationships/image" Target="../media/image279.wmf"/></Relationships>
</file>

<file path=ppt/drawings/_rels/vmlDrawing49.vml.rels><?xml version="1.0" encoding="UTF-8" standalone="yes"?>
<Relationships xmlns="http://schemas.openxmlformats.org/package/2006/relationships"><Relationship Id="rId3" Type="http://schemas.openxmlformats.org/officeDocument/2006/relationships/image" Target="../media/image284.wmf"/><Relationship Id="rId7" Type="http://schemas.openxmlformats.org/officeDocument/2006/relationships/image" Target="../media/image276.wmf"/><Relationship Id="rId2" Type="http://schemas.openxmlformats.org/officeDocument/2006/relationships/image" Target="../media/image283.wmf"/><Relationship Id="rId1" Type="http://schemas.openxmlformats.org/officeDocument/2006/relationships/image" Target="../media/image282.wmf"/><Relationship Id="rId6" Type="http://schemas.openxmlformats.org/officeDocument/2006/relationships/image" Target="../media/image277.wmf"/><Relationship Id="rId5" Type="http://schemas.openxmlformats.org/officeDocument/2006/relationships/image" Target="../media/image286.wmf"/><Relationship Id="rId4" Type="http://schemas.openxmlformats.org/officeDocument/2006/relationships/image" Target="../media/image285.wmf"/></Relationships>
</file>

<file path=ppt/drawings/_rels/vmlDrawing50.vml.rels><?xml version="1.0" encoding="UTF-8" standalone="yes"?>
<Relationships xmlns="http://schemas.openxmlformats.org/package/2006/relationships"><Relationship Id="rId8" Type="http://schemas.openxmlformats.org/officeDocument/2006/relationships/image" Target="../media/image292.wmf"/><Relationship Id="rId13" Type="http://schemas.openxmlformats.org/officeDocument/2006/relationships/image" Target="../media/image296.wmf"/><Relationship Id="rId3" Type="http://schemas.openxmlformats.org/officeDocument/2006/relationships/image" Target="../media/image287.wmf"/><Relationship Id="rId7" Type="http://schemas.openxmlformats.org/officeDocument/2006/relationships/image" Target="../media/image291.wmf"/><Relationship Id="rId12" Type="http://schemas.openxmlformats.org/officeDocument/2006/relationships/image" Target="../media/image267.wmf"/><Relationship Id="rId2" Type="http://schemas.openxmlformats.org/officeDocument/2006/relationships/image" Target="../media/image64.wmf"/><Relationship Id="rId1" Type="http://schemas.openxmlformats.org/officeDocument/2006/relationships/image" Target="../media/image279.wmf"/><Relationship Id="rId6" Type="http://schemas.openxmlformats.org/officeDocument/2006/relationships/image" Target="../media/image290.wmf"/><Relationship Id="rId11" Type="http://schemas.openxmlformats.org/officeDocument/2006/relationships/image" Target="../media/image295.wmf"/><Relationship Id="rId5" Type="http://schemas.openxmlformats.org/officeDocument/2006/relationships/image" Target="../media/image289.wmf"/><Relationship Id="rId10" Type="http://schemas.openxmlformats.org/officeDocument/2006/relationships/image" Target="../media/image294.wmf"/><Relationship Id="rId4" Type="http://schemas.openxmlformats.org/officeDocument/2006/relationships/image" Target="../media/image288.wmf"/><Relationship Id="rId9" Type="http://schemas.openxmlformats.org/officeDocument/2006/relationships/image" Target="../media/image293.wmf"/></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6386" name="Rectangle 2"/>
          <p:cNvSpPr>
            <a:spLocks noGrp="1" noChangeArrowheads="1"/>
          </p:cNvSpPr>
          <p:nvPr>
            <p:ph type="hdr" sz="quarter"/>
          </p:nvPr>
        </p:nvSpPr>
        <p:spPr bwMode="auto">
          <a:xfrm>
            <a:off x="0" y="0"/>
            <a:ext cx="29305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200">
                <a:ea typeface="宋体" pitchFamily="2" charset="-122"/>
              </a:defRPr>
            </a:lvl1pPr>
          </a:lstStyle>
          <a:p>
            <a:pPr>
              <a:defRPr/>
            </a:pPr>
            <a:endParaRPr lang="en-US" altLang="zh-CN"/>
          </a:p>
        </p:txBody>
      </p:sp>
      <p:sp>
        <p:nvSpPr>
          <p:cNvPr id="16387" name="Rectangle 3"/>
          <p:cNvSpPr>
            <a:spLocks noGrp="1" noChangeArrowheads="1"/>
          </p:cNvSpPr>
          <p:nvPr>
            <p:ph type="dt" idx="1"/>
          </p:nvPr>
        </p:nvSpPr>
        <p:spPr bwMode="auto">
          <a:xfrm>
            <a:off x="3830638" y="0"/>
            <a:ext cx="2930525" cy="496888"/>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200">
                <a:ea typeface="宋体" pitchFamily="2" charset="-122"/>
              </a:defRPr>
            </a:lvl1pPr>
          </a:lstStyle>
          <a:p>
            <a:pPr>
              <a:defRPr/>
            </a:pPr>
            <a:endParaRPr lang="en-US" altLang="zh-CN"/>
          </a:p>
        </p:txBody>
      </p:sp>
      <p:sp>
        <p:nvSpPr>
          <p:cNvPr id="73732" name="Rectangle 4"/>
          <p:cNvSpPr>
            <a:spLocks noGrp="1" noRot="1" noChangeAspect="1" noChangeArrowheads="1" noTextEdit="1"/>
          </p:cNvSpPr>
          <p:nvPr>
            <p:ph type="sldImg" idx="2"/>
          </p:nvPr>
        </p:nvSpPr>
        <p:spPr bwMode="auto">
          <a:xfrm>
            <a:off x="68263" y="746125"/>
            <a:ext cx="6624637" cy="3727450"/>
          </a:xfrm>
          <a:prstGeom prst="rect">
            <a:avLst/>
          </a:prstGeom>
          <a:noFill/>
          <a:ln w="9525">
            <a:solidFill>
              <a:srgbClr val="000000"/>
            </a:solidFill>
            <a:miter lim="800000"/>
            <a:headEnd/>
            <a:tailEnd/>
          </a:ln>
          <a:extLst>
            <a:ext uri="{909E8E84-426E-40DD-AFC4-6F175D3DCCD1}">
              <a14:hiddenFill xmlns:a14="http://schemas.microsoft.com/office/drawing/2010/main" xmlns="">
                <a:solidFill>
                  <a:srgbClr val="FFFFFF"/>
                </a:solidFill>
              </a14:hiddenFill>
            </a:ext>
          </a:extLst>
        </p:spPr>
      </p:sp>
      <p:sp>
        <p:nvSpPr>
          <p:cNvPr id="16389" name="Rectangle 5"/>
          <p:cNvSpPr>
            <a:spLocks noGrp="1" noChangeArrowheads="1"/>
          </p:cNvSpPr>
          <p:nvPr>
            <p:ph type="body" sz="quarter" idx="3"/>
          </p:nvPr>
        </p:nvSpPr>
        <p:spPr bwMode="auto">
          <a:xfrm>
            <a:off x="901700" y="4722813"/>
            <a:ext cx="4957763" cy="4473575"/>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p>
            <a:pPr lvl="0"/>
            <a:r>
              <a:rPr lang="zh-CN" altLang="en-US" noProof="0" smtClean="0"/>
              <a:t>单击此处编辑母版文本样式</a:t>
            </a:r>
          </a:p>
          <a:p>
            <a:pPr lvl="1"/>
            <a:r>
              <a:rPr lang="zh-CN" altLang="en-US" noProof="0" smtClean="0"/>
              <a:t>第二级</a:t>
            </a:r>
          </a:p>
          <a:p>
            <a:pPr lvl="2"/>
            <a:r>
              <a:rPr lang="zh-CN" altLang="en-US" noProof="0" smtClean="0"/>
              <a:t>第三级</a:t>
            </a:r>
          </a:p>
          <a:p>
            <a:pPr lvl="3"/>
            <a:r>
              <a:rPr lang="zh-CN" altLang="en-US" noProof="0" smtClean="0"/>
              <a:t>第四级</a:t>
            </a:r>
          </a:p>
          <a:p>
            <a:pPr lvl="4"/>
            <a:r>
              <a:rPr lang="zh-CN" altLang="en-US" noProof="0" smtClean="0"/>
              <a:t>第五级</a:t>
            </a:r>
          </a:p>
        </p:txBody>
      </p:sp>
      <p:sp>
        <p:nvSpPr>
          <p:cNvPr id="16390" name="Rectangle 6"/>
          <p:cNvSpPr>
            <a:spLocks noGrp="1" noChangeArrowheads="1"/>
          </p:cNvSpPr>
          <p:nvPr>
            <p:ph type="ftr" sz="quarter" idx="4"/>
          </p:nvPr>
        </p:nvSpPr>
        <p:spPr bwMode="auto">
          <a:xfrm>
            <a:off x="0" y="9445625"/>
            <a:ext cx="293052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defRPr sz="1200">
                <a:ea typeface="宋体" pitchFamily="2" charset="-122"/>
              </a:defRPr>
            </a:lvl1pPr>
          </a:lstStyle>
          <a:p>
            <a:pPr>
              <a:defRPr/>
            </a:pPr>
            <a:endParaRPr lang="en-US" altLang="zh-CN"/>
          </a:p>
        </p:txBody>
      </p:sp>
      <p:sp>
        <p:nvSpPr>
          <p:cNvPr id="16391" name="Rectangle 7"/>
          <p:cNvSpPr>
            <a:spLocks noGrp="1" noChangeArrowheads="1"/>
          </p:cNvSpPr>
          <p:nvPr>
            <p:ph type="sldNum" sz="quarter" idx="5"/>
          </p:nvPr>
        </p:nvSpPr>
        <p:spPr bwMode="auto">
          <a:xfrm>
            <a:off x="3830638" y="9445625"/>
            <a:ext cx="2930525" cy="496888"/>
          </a:xfrm>
          <a:prstGeom prst="rect">
            <a:avLst/>
          </a:prstGeom>
          <a:noFill/>
          <a:ln w="9525">
            <a:noFill/>
            <a:miter lim="800000"/>
            <a:headEnd/>
            <a:tailEnd/>
          </a:ln>
          <a:effectLst/>
        </p:spPr>
        <p:txBody>
          <a:bodyPr vert="horz" wrap="square" lIns="91440" tIns="45720" rIns="91440" bIns="45720" numCol="1" anchor="b" anchorCtr="0" compatLnSpc="1">
            <a:prstTxWarp prst="textNoShape">
              <a:avLst/>
            </a:prstTxWarp>
          </a:bodyPr>
          <a:lstStyle>
            <a:lvl1pPr algn="r">
              <a:defRPr sz="1200">
                <a:ea typeface="宋体" pitchFamily="2" charset="-122"/>
              </a:defRPr>
            </a:lvl1pPr>
          </a:lstStyle>
          <a:p>
            <a:pPr>
              <a:defRPr/>
            </a:pPr>
            <a:fld id="{4DEF3DC2-1EFD-4482-9083-AAB65CA0AC6F}" type="slidenum">
              <a:rPr lang="en-US" altLang="zh-CN"/>
              <a:pPr>
                <a:defRPr/>
              </a:pPr>
              <a:t>‹#›</a:t>
            </a:fld>
            <a:endParaRPr lang="en-US" altLang="zh-CN"/>
          </a:p>
        </p:txBody>
      </p:sp>
    </p:spTree>
    <p:extLst>
      <p:ext uri="{BB962C8B-B14F-4D97-AF65-F5344CB8AC3E}">
        <p14:creationId xmlns:p14="http://schemas.microsoft.com/office/powerpoint/2010/main" xmlns="" val="4256087983"/>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标题幻灯片">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5837238" y="268288"/>
            <a:ext cx="3198812" cy="461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2400" b="1" dirty="0" smtClean="0">
                <a:solidFill>
                  <a:prstClr val="white"/>
                </a:solidFill>
              </a:rPr>
              <a:t>第</a:t>
            </a:r>
            <a:r>
              <a:rPr lang="en-US" altLang="zh-CN" sz="2400" b="1" dirty="0" smtClean="0">
                <a:solidFill>
                  <a:prstClr val="white"/>
                </a:solidFill>
              </a:rPr>
              <a:t>7</a:t>
            </a:r>
            <a:r>
              <a:rPr lang="zh-CN" altLang="en-US" sz="2400" b="1" dirty="0" smtClean="0">
                <a:solidFill>
                  <a:prstClr val="white"/>
                </a:solidFill>
              </a:rPr>
              <a:t>章 气体动理论基础</a:t>
            </a:r>
            <a:endParaRPr lang="zh-CN" altLang="en-US" sz="2400" b="1" dirty="0">
              <a:solidFill>
                <a:prstClr val="white"/>
              </a:solidFill>
            </a:endParaRPr>
          </a:p>
        </p:txBody>
      </p:sp>
    </p:spTree>
    <p:extLst>
      <p:ext uri="{BB962C8B-B14F-4D97-AF65-F5344CB8AC3E}">
        <p14:creationId xmlns:p14="http://schemas.microsoft.com/office/powerpoint/2010/main" xmlns="" val="152393994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自定义版式">
    <p:spTree>
      <p:nvGrpSpPr>
        <p:cNvPr id="1" name=""/>
        <p:cNvGrpSpPr/>
        <p:nvPr/>
      </p:nvGrpSpPr>
      <p:grpSpPr>
        <a:xfrm>
          <a:off x="0" y="0"/>
          <a:ext cx="0" cy="0"/>
          <a:chOff x="0" y="0"/>
          <a:chExt cx="0" cy="0"/>
        </a:xfrm>
      </p:grpSpPr>
      <p:sp>
        <p:nvSpPr>
          <p:cNvPr id="2" name="TextBox 1"/>
          <p:cNvSpPr txBox="1">
            <a:spLocks noChangeArrowheads="1"/>
          </p:cNvSpPr>
          <p:nvPr userDrawn="1"/>
        </p:nvSpPr>
        <p:spPr bwMode="auto">
          <a:xfrm>
            <a:off x="7929563" y="268288"/>
            <a:ext cx="1035050" cy="4603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2400" b="1" dirty="0" smtClean="0">
                <a:solidFill>
                  <a:prstClr val="white"/>
                </a:solidFill>
              </a:rPr>
              <a:t>前   言</a:t>
            </a:r>
            <a:endParaRPr lang="zh-CN" altLang="en-US" sz="2400" b="1" dirty="0">
              <a:solidFill>
                <a:prstClr val="white"/>
              </a:solidFill>
            </a:endParaRPr>
          </a:p>
        </p:txBody>
      </p:sp>
    </p:spTree>
    <p:extLst>
      <p:ext uri="{BB962C8B-B14F-4D97-AF65-F5344CB8AC3E}">
        <p14:creationId xmlns:p14="http://schemas.microsoft.com/office/powerpoint/2010/main" xmlns="" val="279924401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508625" y="268288"/>
            <a:ext cx="3527425" cy="4460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5000"/>
              </a:lnSpc>
            </a:pPr>
            <a:r>
              <a:rPr lang="en-US" altLang="zh-CN" sz="2000" b="1">
                <a:solidFill>
                  <a:srgbClr val="FFFFFF"/>
                </a:solidFill>
                <a:ea typeface="华文中宋" pitchFamily="2" charset="-122"/>
                <a:cs typeface="Times New Roman" pitchFamily="18" charset="0"/>
              </a:rPr>
              <a:t>§7-1  </a:t>
            </a:r>
            <a:r>
              <a:rPr lang="zh-CN" altLang="en-US" sz="2000" b="1">
                <a:solidFill>
                  <a:srgbClr val="FFFFFF"/>
                </a:solidFill>
                <a:ea typeface="华文中宋" pitchFamily="2" charset="-122"/>
                <a:cs typeface="Times New Roman" pitchFamily="18" charset="0"/>
              </a:rPr>
              <a:t>平衡态  温度  状态方程</a:t>
            </a:r>
          </a:p>
        </p:txBody>
      </p:sp>
    </p:spTree>
    <p:extLst>
      <p:ext uri="{BB962C8B-B14F-4D97-AF65-F5344CB8AC3E}">
        <p14:creationId xmlns:p14="http://schemas.microsoft.com/office/powerpoint/2010/main" xmlns="" val="56010648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372225" y="320675"/>
            <a:ext cx="2663825" cy="4111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5000"/>
              </a:lnSpc>
            </a:pPr>
            <a:r>
              <a:rPr lang="en-US" altLang="zh-CN" sz="1800" b="1">
                <a:solidFill>
                  <a:srgbClr val="FFFFFF"/>
                </a:solidFill>
                <a:ea typeface="华文中宋" pitchFamily="2" charset="-122"/>
                <a:cs typeface="Times New Roman" pitchFamily="18" charset="0"/>
              </a:rPr>
              <a:t>§7-2  </a:t>
            </a:r>
            <a:r>
              <a:rPr lang="zh-CN" altLang="en-US" sz="1800" b="1">
                <a:solidFill>
                  <a:srgbClr val="FFFFFF"/>
                </a:solidFill>
                <a:ea typeface="华文中宋" pitchFamily="2" charset="-122"/>
                <a:cs typeface="Times New Roman" pitchFamily="18" charset="0"/>
              </a:rPr>
              <a:t>理想气体压强公式</a:t>
            </a:r>
          </a:p>
        </p:txBody>
      </p:sp>
    </p:spTree>
    <p:extLst>
      <p:ext uri="{BB962C8B-B14F-4D97-AF65-F5344CB8AC3E}">
        <p14:creationId xmlns:p14="http://schemas.microsoft.com/office/powerpoint/2010/main" xmlns="" val="8733874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227763" y="339725"/>
            <a:ext cx="2808287" cy="4460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5000"/>
              </a:lnSpc>
            </a:pPr>
            <a:r>
              <a:rPr lang="en-US" altLang="zh-CN" sz="2000" b="1">
                <a:solidFill>
                  <a:srgbClr val="FFFFFF"/>
                </a:solidFill>
                <a:ea typeface="华文中宋" pitchFamily="2" charset="-122"/>
                <a:cs typeface="Times New Roman" pitchFamily="18" charset="0"/>
              </a:rPr>
              <a:t>§7-3  </a:t>
            </a:r>
            <a:r>
              <a:rPr lang="zh-CN" altLang="en-US" sz="2000" b="1">
                <a:solidFill>
                  <a:srgbClr val="FFFFFF"/>
                </a:solidFill>
                <a:ea typeface="华文中宋" pitchFamily="2" charset="-122"/>
                <a:cs typeface="Times New Roman" pitchFamily="18" charset="0"/>
              </a:rPr>
              <a:t>温度的统计解释</a:t>
            </a:r>
          </a:p>
        </p:txBody>
      </p:sp>
    </p:spTree>
    <p:extLst>
      <p:ext uri="{BB962C8B-B14F-4D97-AF65-F5344CB8AC3E}">
        <p14:creationId xmlns:p14="http://schemas.microsoft.com/office/powerpoint/2010/main" xmlns="" val="19741907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3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156325" y="325438"/>
            <a:ext cx="2881313" cy="4111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5000"/>
              </a:lnSpc>
            </a:pPr>
            <a:r>
              <a:rPr lang="en-US" altLang="zh-CN" sz="1800" b="1">
                <a:solidFill>
                  <a:srgbClr val="FFFFFF"/>
                </a:solidFill>
                <a:ea typeface="华文中宋" pitchFamily="2" charset="-122"/>
                <a:cs typeface="Times New Roman" pitchFamily="18" charset="0"/>
              </a:rPr>
              <a:t>§7-4  </a:t>
            </a:r>
            <a:r>
              <a:rPr lang="zh-CN" altLang="en-US" sz="1800" b="1">
                <a:solidFill>
                  <a:srgbClr val="FFFFFF"/>
                </a:solidFill>
                <a:ea typeface="华文中宋" pitchFamily="2" charset="-122"/>
                <a:cs typeface="Times New Roman" pitchFamily="18" charset="0"/>
              </a:rPr>
              <a:t>能量均分原理   内能</a:t>
            </a:r>
          </a:p>
        </p:txBody>
      </p:sp>
    </p:spTree>
    <p:extLst>
      <p:ext uri="{BB962C8B-B14F-4D97-AF65-F5344CB8AC3E}">
        <p14:creationId xmlns:p14="http://schemas.microsoft.com/office/powerpoint/2010/main" xmlns="" val="286331850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0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867400" y="325438"/>
            <a:ext cx="3241675" cy="4460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5000"/>
              </a:lnSpc>
            </a:pPr>
            <a:r>
              <a:rPr lang="en-US" altLang="zh-CN" sz="2000" b="1">
                <a:solidFill>
                  <a:srgbClr val="FFFFFF"/>
                </a:solidFill>
                <a:ea typeface="华文中宋" pitchFamily="2" charset="-122"/>
                <a:cs typeface="Times New Roman" pitchFamily="18" charset="0"/>
              </a:rPr>
              <a:t>§7-5  </a:t>
            </a:r>
            <a:r>
              <a:rPr lang="zh-CN" altLang="en-US" sz="2000" b="1">
                <a:solidFill>
                  <a:srgbClr val="FFFFFF"/>
                </a:solidFill>
                <a:ea typeface="华文中宋" pitchFamily="2" charset="-122"/>
                <a:cs typeface="Times New Roman" pitchFamily="18" charset="0"/>
              </a:rPr>
              <a:t>麦克斯韦速率分布律</a:t>
            </a:r>
          </a:p>
        </p:txBody>
      </p:sp>
    </p:spTree>
    <p:extLst>
      <p:ext uri="{BB962C8B-B14F-4D97-AF65-F5344CB8AC3E}">
        <p14:creationId xmlns:p14="http://schemas.microsoft.com/office/powerpoint/2010/main" xmlns="" val="144071480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6227763" y="325438"/>
            <a:ext cx="2809875" cy="4460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5000"/>
              </a:lnSpc>
            </a:pPr>
            <a:r>
              <a:rPr lang="en-US" altLang="zh-CN" sz="2000" b="1">
                <a:solidFill>
                  <a:srgbClr val="FFFFFF"/>
                </a:solidFill>
                <a:ea typeface="华文中宋" pitchFamily="2" charset="-122"/>
                <a:cs typeface="Times New Roman" pitchFamily="18" charset="0"/>
              </a:rPr>
              <a:t>§7-6*  </a:t>
            </a:r>
            <a:r>
              <a:rPr lang="zh-CN" altLang="en-US" sz="2000" b="1">
                <a:solidFill>
                  <a:srgbClr val="FFFFFF"/>
                </a:solidFill>
                <a:ea typeface="华文中宋" pitchFamily="2" charset="-122"/>
                <a:cs typeface="Times New Roman" pitchFamily="18" charset="0"/>
              </a:rPr>
              <a:t>玻尔兹曼分布律</a:t>
            </a:r>
          </a:p>
        </p:txBody>
      </p:sp>
    </p:spTree>
    <p:extLst>
      <p:ext uri="{BB962C8B-B14F-4D97-AF65-F5344CB8AC3E}">
        <p14:creationId xmlns:p14="http://schemas.microsoft.com/office/powerpoint/2010/main" xmlns="" val="413634935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2_自定义版式">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5148263" y="325438"/>
            <a:ext cx="3960812" cy="4460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5000"/>
              </a:lnSpc>
            </a:pPr>
            <a:r>
              <a:rPr lang="en-US" altLang="zh-CN" sz="2000" b="1">
                <a:solidFill>
                  <a:srgbClr val="FFFFFF"/>
                </a:solidFill>
                <a:ea typeface="华文中宋" pitchFamily="2" charset="-122"/>
                <a:cs typeface="Times New Roman" pitchFamily="18" charset="0"/>
              </a:rPr>
              <a:t>§7-7  </a:t>
            </a:r>
            <a:r>
              <a:rPr lang="zh-CN" altLang="en-US" sz="2000" b="1">
                <a:solidFill>
                  <a:srgbClr val="FFFFFF"/>
                </a:solidFill>
                <a:ea typeface="华文中宋" pitchFamily="2" charset="-122"/>
                <a:cs typeface="Times New Roman" pitchFamily="18" charset="0"/>
              </a:rPr>
              <a:t>平均碰撞次数  平均自由程</a:t>
            </a:r>
          </a:p>
        </p:txBody>
      </p:sp>
    </p:spTree>
    <p:extLst>
      <p:ext uri="{BB962C8B-B14F-4D97-AF65-F5344CB8AC3E}">
        <p14:creationId xmlns:p14="http://schemas.microsoft.com/office/powerpoint/2010/main" xmlns="" val="3327791485"/>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5_标题和内容">
    <p:spTree>
      <p:nvGrpSpPr>
        <p:cNvPr id="1" name=""/>
        <p:cNvGrpSpPr/>
        <p:nvPr/>
      </p:nvGrpSpPr>
      <p:grpSpPr>
        <a:xfrm>
          <a:off x="0" y="0"/>
          <a:ext cx="0" cy="0"/>
          <a:chOff x="0" y="0"/>
          <a:chExt cx="0" cy="0"/>
        </a:xfrm>
      </p:grpSpPr>
      <p:sp>
        <p:nvSpPr>
          <p:cNvPr id="2" name="矩形 11"/>
          <p:cNvSpPr>
            <a:spLocks noChangeArrowheads="1"/>
          </p:cNvSpPr>
          <p:nvPr userDrawn="1"/>
        </p:nvSpPr>
        <p:spPr bwMode="auto">
          <a:xfrm>
            <a:off x="7812088" y="325438"/>
            <a:ext cx="1223962" cy="4460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5000"/>
              </a:lnSpc>
            </a:pPr>
            <a:r>
              <a:rPr lang="zh-CN" altLang="en-US" sz="2000" b="1">
                <a:solidFill>
                  <a:srgbClr val="FFFFFF"/>
                </a:solidFill>
                <a:ea typeface="华文中宋" pitchFamily="2" charset="-122"/>
                <a:cs typeface="Times New Roman" pitchFamily="18" charset="0"/>
              </a:rPr>
              <a:t>本章小结</a:t>
            </a:r>
          </a:p>
        </p:txBody>
      </p:sp>
    </p:spTree>
    <p:extLst>
      <p:ext uri="{BB962C8B-B14F-4D97-AF65-F5344CB8AC3E}">
        <p14:creationId xmlns:p14="http://schemas.microsoft.com/office/powerpoint/2010/main" xmlns="" val="212357203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blank" preserve="1">
  <p:cSld name="空白">
    <p:bg bwMode="auto">
      <p:bgPr>
        <a:gradFill rotWithShape="0">
          <a:gsLst>
            <a:gs pos="0">
              <a:srgbClr val="DDEBCF"/>
            </a:gs>
            <a:gs pos="100000">
              <a:srgbClr val="9CB86E"/>
            </a:gs>
          </a:gsLst>
          <a:lin ang="5400000" scaled="1"/>
        </a:gra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xmlns="" val="80489193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hyperlink" Target="0-0-&#24635;&#30446;&#24405;.pptx" TargetMode="Externa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bwMode="auto">
      <p:bgPr>
        <a:solidFill>
          <a:srgbClr val="58A289">
            <a:alpha val="20000"/>
          </a:srgbClr>
        </a:solidFill>
        <a:effectLst/>
      </p:bgPr>
    </p:bg>
    <p:spTree>
      <p:nvGrpSpPr>
        <p:cNvPr id="1" name=""/>
        <p:cNvGrpSpPr/>
        <p:nvPr/>
      </p:nvGrpSpPr>
      <p:grpSpPr>
        <a:xfrm>
          <a:off x="0" y="0"/>
          <a:ext cx="0" cy="0"/>
          <a:chOff x="0" y="0"/>
          <a:chExt cx="0" cy="0"/>
        </a:xfrm>
      </p:grpSpPr>
      <p:sp>
        <p:nvSpPr>
          <p:cNvPr id="3" name="矩形 2"/>
          <p:cNvSpPr/>
          <p:nvPr/>
        </p:nvSpPr>
        <p:spPr>
          <a:xfrm>
            <a:off x="-11113" y="-30163"/>
            <a:ext cx="9164638" cy="881063"/>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lang="zh-CN" altLang="en-US" noProof="1">
              <a:solidFill>
                <a:prstClr val="white"/>
              </a:solidFill>
            </a:endParaRPr>
          </a:p>
        </p:txBody>
      </p:sp>
      <p:cxnSp>
        <p:nvCxnSpPr>
          <p:cNvPr id="7" name="直接连接符 6"/>
          <p:cNvCxnSpPr/>
          <p:nvPr/>
        </p:nvCxnSpPr>
        <p:spPr>
          <a:xfrm>
            <a:off x="142875" y="771525"/>
            <a:ext cx="8856663" cy="0"/>
          </a:xfrm>
          <a:prstGeom prst="line">
            <a:avLst/>
          </a:prstGeom>
          <a:ln w="31750">
            <a:solidFill>
              <a:schemeClr val="bg1">
                <a:alpha val="24000"/>
              </a:schemeClr>
            </a:solidFill>
          </a:ln>
        </p:spPr>
        <p:style>
          <a:lnRef idx="1">
            <a:schemeClr val="accent1"/>
          </a:lnRef>
          <a:fillRef idx="0">
            <a:schemeClr val="accent1"/>
          </a:fillRef>
          <a:effectRef idx="0">
            <a:schemeClr val="accent1"/>
          </a:effectRef>
          <a:fontRef idx="minor">
            <a:schemeClr val="tx1"/>
          </a:fontRef>
        </p:style>
      </p:cxnSp>
      <p:pic>
        <p:nvPicPr>
          <p:cNvPr id="1028" name="图片 10"/>
          <p:cNvPicPr>
            <a:picLocks noChangeAspect="1" noChangeArrowheads="1"/>
          </p:cNvPicPr>
          <p:nvPr/>
        </p:nvPicPr>
        <p:blipFill>
          <a:blip r:embed="rId13" cstate="print">
            <a:extLst>
              <a:ext uri="{28A0092B-C50C-407E-A947-70E740481C1C}">
                <a14:useLocalDpi xmlns:a14="http://schemas.microsoft.com/office/drawing/2010/main" xmlns="" val="0"/>
              </a:ext>
            </a:extLst>
          </a:blip>
          <a:srcRect/>
          <a:stretch>
            <a:fillRect/>
          </a:stretch>
        </p:blipFill>
        <p:spPr bwMode="auto">
          <a:xfrm>
            <a:off x="301625" y="85725"/>
            <a:ext cx="525463" cy="6127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1029" name="TextBox 11"/>
          <p:cNvSpPr txBox="1">
            <a:spLocks noChangeArrowheads="1"/>
          </p:cNvSpPr>
          <p:nvPr/>
        </p:nvSpPr>
        <p:spPr bwMode="auto">
          <a:xfrm>
            <a:off x="1246188" y="411163"/>
            <a:ext cx="237966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1800" dirty="0" smtClean="0">
                <a:solidFill>
                  <a:prstClr val="white"/>
                </a:solidFill>
                <a:latin typeface="Calibri" pitchFamily="34" charset="0"/>
              </a:rPr>
              <a:t>大学物理学（第</a:t>
            </a:r>
            <a:r>
              <a:rPr lang="en-US" altLang="zh-CN" sz="1800" dirty="0" smtClean="0">
                <a:solidFill>
                  <a:prstClr val="white"/>
                </a:solidFill>
                <a:latin typeface="Calibri" pitchFamily="34" charset="0"/>
              </a:rPr>
              <a:t>5</a:t>
            </a:r>
            <a:r>
              <a:rPr lang="zh-CN" altLang="en-US" sz="1800" dirty="0" smtClean="0">
                <a:solidFill>
                  <a:prstClr val="white"/>
                </a:solidFill>
                <a:latin typeface="Calibri" pitchFamily="34" charset="0"/>
              </a:rPr>
              <a:t>版）</a:t>
            </a:r>
            <a:endParaRPr lang="zh-CN" altLang="en-US" sz="1800" dirty="0">
              <a:solidFill>
                <a:prstClr val="white"/>
              </a:solidFill>
              <a:latin typeface="Calibri" pitchFamily="34" charset="0"/>
            </a:endParaRPr>
          </a:p>
        </p:txBody>
      </p:sp>
      <p:sp>
        <p:nvSpPr>
          <p:cNvPr id="1030" name="TextBox 12"/>
          <p:cNvSpPr txBox="1">
            <a:spLocks noChangeArrowheads="1"/>
          </p:cNvSpPr>
          <p:nvPr/>
        </p:nvSpPr>
        <p:spPr bwMode="auto">
          <a:xfrm>
            <a:off x="827088" y="134938"/>
            <a:ext cx="3775075" cy="3079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a:defRPr sz="2800">
                <a:solidFill>
                  <a:schemeClr val="tx1"/>
                </a:solidFill>
                <a:latin typeface="Times New Roman" pitchFamily="18" charset="0"/>
                <a:ea typeface="宋体" pitchFamily="2" charset="-122"/>
              </a:defRPr>
            </a:lvl1pPr>
            <a:lvl2pPr>
              <a:defRPr sz="2800">
                <a:solidFill>
                  <a:schemeClr val="tx1"/>
                </a:solidFill>
                <a:latin typeface="Times New Roman" pitchFamily="18" charset="0"/>
                <a:ea typeface="宋体" pitchFamily="2" charset="-122"/>
              </a:defRPr>
            </a:lvl2pPr>
            <a:lvl3pPr>
              <a:defRPr sz="2800">
                <a:solidFill>
                  <a:schemeClr val="tx1"/>
                </a:solidFill>
                <a:latin typeface="Times New Roman" pitchFamily="18" charset="0"/>
                <a:ea typeface="宋体" pitchFamily="2" charset="-122"/>
              </a:defRPr>
            </a:lvl3pPr>
            <a:lvl4pPr>
              <a:defRPr sz="2800">
                <a:solidFill>
                  <a:schemeClr val="tx1"/>
                </a:solidFill>
                <a:latin typeface="Times New Roman" pitchFamily="18" charset="0"/>
                <a:ea typeface="宋体" pitchFamily="2" charset="-122"/>
              </a:defRPr>
            </a:lvl4pPr>
            <a:lvl5pPr>
              <a:defRPr sz="2800">
                <a:solidFill>
                  <a:schemeClr val="tx1"/>
                </a:solidFill>
                <a:latin typeface="Times New Roman" pitchFamily="18" charset="0"/>
                <a:ea typeface="宋体" pitchFamily="2" charset="-122"/>
              </a:defRPr>
            </a:lvl5pPr>
            <a:lvl6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6pPr>
            <a:lvl7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7pPr>
            <a:lvl8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8pPr>
            <a:lvl9pPr fontAlgn="base">
              <a:spcBef>
                <a:spcPct val="0"/>
              </a:spcBef>
              <a:spcAft>
                <a:spcPct val="0"/>
              </a:spcAft>
              <a:buFont typeface="Arial" pitchFamily="34" charset="0"/>
              <a:defRPr sz="2800">
                <a:solidFill>
                  <a:schemeClr val="tx1"/>
                </a:solidFill>
                <a:latin typeface="Times New Roman" pitchFamily="18" charset="0"/>
                <a:ea typeface="宋体" pitchFamily="2" charset="-122"/>
              </a:defRPr>
            </a:lvl9pPr>
          </a:lstStyle>
          <a:p>
            <a:pPr>
              <a:buFont typeface="Arial" pitchFamily="34" charset="0"/>
              <a:buNone/>
              <a:defRPr/>
            </a:pPr>
            <a:r>
              <a:rPr lang="zh-CN" altLang="en-US" sz="1400" dirty="0">
                <a:solidFill>
                  <a:prstClr val="white"/>
                </a:solidFill>
                <a:latin typeface="华文楷体" pitchFamily="2" charset="-122"/>
                <a:ea typeface="华文楷体" pitchFamily="2" charset="-122"/>
              </a:rPr>
              <a:t>“十二五”普通高等教育本科国家级规划教材</a:t>
            </a:r>
          </a:p>
        </p:txBody>
      </p:sp>
      <p:sp>
        <p:nvSpPr>
          <p:cNvPr id="2" name="矩形 1"/>
          <p:cNvSpPr/>
          <p:nvPr/>
        </p:nvSpPr>
        <p:spPr>
          <a:xfrm>
            <a:off x="9525" y="850900"/>
            <a:ext cx="9123363" cy="3743325"/>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buFont typeface="Arial" pitchFamily="34" charset="0"/>
              <a:buNone/>
              <a:defRPr/>
            </a:pPr>
            <a:endParaRPr lang="zh-CN" altLang="en-US" noProof="1">
              <a:solidFill>
                <a:prstClr val="white"/>
              </a:solidFill>
            </a:endParaRPr>
          </a:p>
        </p:txBody>
      </p:sp>
      <p:sp>
        <p:nvSpPr>
          <p:cNvPr id="28" name="矩形 27">
            <a:hlinkClick r:id="" action="ppaction://hlinkshowjump?jump=previousslide"/>
          </p:cNvPr>
          <p:cNvSpPr/>
          <p:nvPr/>
        </p:nvSpPr>
        <p:spPr>
          <a:xfrm>
            <a:off x="7532688"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29" name="矩形 28">
            <a:hlinkClick r:id="" action="ppaction://hlinkshowjump?jump=nextslide"/>
          </p:cNvPr>
          <p:cNvSpPr/>
          <p:nvPr/>
        </p:nvSpPr>
        <p:spPr>
          <a:xfrm>
            <a:off x="8324850"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30" name="矩形 29">
            <a:hlinkClick r:id="" action="ppaction://hlinkshowjump?jump=firstslide"/>
          </p:cNvPr>
          <p:cNvSpPr/>
          <p:nvPr/>
        </p:nvSpPr>
        <p:spPr>
          <a:xfrm>
            <a:off x="6740525" y="4732338"/>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1035" name="矩形 16">
            <a:hlinkClick r:id="" action="ppaction://hlinkshowjump?jump=nextslide"/>
          </p:cNvPr>
          <p:cNvSpPr>
            <a:spLocks noChangeArrowheads="1"/>
          </p:cNvSpPr>
          <p:nvPr/>
        </p:nvSpPr>
        <p:spPr bwMode="auto">
          <a:xfrm>
            <a:off x="8361363" y="4732338"/>
            <a:ext cx="684212" cy="29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1300">
                <a:solidFill>
                  <a:srgbClr val="FFFFFF"/>
                </a:solidFill>
                <a:latin typeface="方正舒体" pitchFamily="2" charset="-122"/>
                <a:ea typeface="方正舒体" pitchFamily="2" charset="-122"/>
              </a:rPr>
              <a:t>下一页</a:t>
            </a:r>
          </a:p>
        </p:txBody>
      </p:sp>
      <p:sp>
        <p:nvSpPr>
          <p:cNvPr id="1036" name="矩形 30">
            <a:hlinkClick r:id="" action="ppaction://hlinkshowjump?jump=previousslide"/>
          </p:cNvPr>
          <p:cNvSpPr>
            <a:spLocks noChangeArrowheads="1"/>
          </p:cNvSpPr>
          <p:nvPr/>
        </p:nvSpPr>
        <p:spPr bwMode="auto">
          <a:xfrm>
            <a:off x="7539038" y="4732338"/>
            <a:ext cx="684212" cy="29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1300">
                <a:solidFill>
                  <a:srgbClr val="FFFFFF"/>
                </a:solidFill>
                <a:latin typeface="方正舒体" pitchFamily="2" charset="-122"/>
                <a:ea typeface="方正舒体" pitchFamily="2" charset="-122"/>
              </a:rPr>
              <a:t>上一页</a:t>
            </a:r>
          </a:p>
        </p:txBody>
      </p:sp>
      <p:sp>
        <p:nvSpPr>
          <p:cNvPr id="1037" name="矩形 1024">
            <a:hlinkClick r:id="" action="ppaction://hlinkshowjump?jump=firstslide"/>
          </p:cNvPr>
          <p:cNvSpPr>
            <a:spLocks noChangeArrowheads="1"/>
          </p:cNvSpPr>
          <p:nvPr/>
        </p:nvSpPr>
        <p:spPr bwMode="auto">
          <a:xfrm>
            <a:off x="6767513" y="4727575"/>
            <a:ext cx="684212" cy="29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1300">
                <a:solidFill>
                  <a:srgbClr val="FFFFFF"/>
                </a:solidFill>
                <a:latin typeface="方正舒体" pitchFamily="2" charset="-122"/>
                <a:ea typeface="方正舒体" pitchFamily="2" charset="-122"/>
              </a:rPr>
              <a:t>节目录</a:t>
            </a:r>
          </a:p>
        </p:txBody>
      </p:sp>
      <p:sp>
        <p:nvSpPr>
          <p:cNvPr id="38" name="矩形 37">
            <a:hlinkClick r:id="rId14" action="ppaction://hlinkpres?slideindex=1&amp;slidetitle="/>
          </p:cNvPr>
          <p:cNvSpPr/>
          <p:nvPr/>
        </p:nvSpPr>
        <p:spPr>
          <a:xfrm>
            <a:off x="5938838" y="4730750"/>
            <a:ext cx="720725" cy="288925"/>
          </a:xfrm>
          <a:prstGeom prst="rect">
            <a:avLst/>
          </a:prstGeom>
          <a:solidFill>
            <a:srgbClr val="58A289"/>
          </a:solidFill>
          <a:ln>
            <a:noFill/>
          </a:ln>
        </p:spPr>
        <p:style>
          <a:lnRef idx="2">
            <a:schemeClr val="accent1">
              <a:shade val="50000"/>
            </a:schemeClr>
          </a:lnRef>
          <a:fillRef idx="1">
            <a:schemeClr val="accent1"/>
          </a:fillRef>
          <a:effectRef idx="0">
            <a:schemeClr val="accent1"/>
          </a:effectRef>
          <a:fontRef idx="minor">
            <a:schemeClr val="lt1"/>
          </a:fontRef>
        </p:style>
        <p:txBody>
          <a:bodyPr anchor="ctr"/>
          <a:lstStyle/>
          <a:p>
            <a:pPr>
              <a:defRPr/>
            </a:pPr>
            <a:endParaRPr lang="zh-CN" altLang="en-US" sz="1300" dirty="0">
              <a:solidFill>
                <a:prstClr val="white"/>
              </a:solidFill>
              <a:latin typeface="方正舒体" panose="02010601030101010101" pitchFamily="2" charset="-122"/>
              <a:ea typeface="方正舒体" panose="02010601030101010101" pitchFamily="2" charset="-122"/>
            </a:endParaRPr>
          </a:p>
        </p:txBody>
      </p:sp>
      <p:sp>
        <p:nvSpPr>
          <p:cNvPr id="1039" name="矩形 36">
            <a:hlinkClick r:id="rId14" action="ppaction://hlinkpres?slideindex=1&amp;slidetitle="/>
          </p:cNvPr>
          <p:cNvSpPr>
            <a:spLocks noChangeArrowheads="1"/>
          </p:cNvSpPr>
          <p:nvPr/>
        </p:nvSpPr>
        <p:spPr bwMode="auto">
          <a:xfrm>
            <a:off x="5938838" y="4732338"/>
            <a:ext cx="685800" cy="2921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zh-CN" altLang="en-US" sz="1300" dirty="0">
                <a:solidFill>
                  <a:srgbClr val="FFFFFF"/>
                </a:solidFill>
                <a:latin typeface="方正舒体" pitchFamily="2" charset="-122"/>
                <a:ea typeface="方正舒体" pitchFamily="2" charset="-122"/>
              </a:rPr>
              <a:t>章目录</a:t>
            </a:r>
          </a:p>
        </p:txBody>
      </p:sp>
    </p:spTree>
  </p:cSld>
  <p:clrMap bg1="lt1" tx1="dk1" bg2="lt2" tx2="dk2" accent1="accent1" accent2="accent2" accent3="accent3" accent4="accent4" accent5="accent5" accent6="accent6" hlink="hlink" folHlink="folHlink"/>
  <p:sldLayoutIdLst>
    <p:sldLayoutId id="2147483754" r:id="rId1"/>
    <p:sldLayoutId id="2147483755" r:id="rId2"/>
    <p:sldLayoutId id="2147483756" r:id="rId3"/>
    <p:sldLayoutId id="2147483757" r:id="rId4"/>
    <p:sldLayoutId id="2147483758" r:id="rId5"/>
    <p:sldLayoutId id="2147483759" r:id="rId6"/>
    <p:sldLayoutId id="2147483760" r:id="rId7"/>
    <p:sldLayoutId id="2147483761" r:id="rId8"/>
    <p:sldLayoutId id="2147483762" r:id="rId9"/>
    <p:sldLayoutId id="2147483763" r:id="rId10"/>
    <p:sldLayoutId id="2147483764" r:id="rId11"/>
  </p:sldLayoutIdLst>
  <p:timing>
    <p:tnLst>
      <p:par>
        <p:cTn id="1" dur="indefinite" restart="never" nodeType="tmRoot"/>
      </p:par>
    </p:tnLst>
  </p:timing>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itchFamily="34" charset="0"/>
          <a:ea typeface="宋体" pitchFamily="2" charset="-122"/>
        </a:defRPr>
      </a:lvl2pPr>
      <a:lvl3pPr algn="ctr" rtl="0" eaLnBrk="0" fontAlgn="base" hangingPunct="0">
        <a:spcBef>
          <a:spcPct val="0"/>
        </a:spcBef>
        <a:spcAft>
          <a:spcPct val="0"/>
        </a:spcAft>
        <a:defRPr sz="4400">
          <a:solidFill>
            <a:schemeClr val="tx1"/>
          </a:solidFill>
          <a:latin typeface="Calibri" pitchFamily="34" charset="0"/>
          <a:ea typeface="宋体" pitchFamily="2" charset="-122"/>
        </a:defRPr>
      </a:lvl3pPr>
      <a:lvl4pPr algn="ctr" rtl="0" eaLnBrk="0" fontAlgn="base" hangingPunct="0">
        <a:spcBef>
          <a:spcPct val="0"/>
        </a:spcBef>
        <a:spcAft>
          <a:spcPct val="0"/>
        </a:spcAft>
        <a:defRPr sz="4400">
          <a:solidFill>
            <a:schemeClr val="tx1"/>
          </a:solidFill>
          <a:latin typeface="Calibri" pitchFamily="34" charset="0"/>
          <a:ea typeface="宋体" pitchFamily="2" charset="-122"/>
        </a:defRPr>
      </a:lvl4pPr>
      <a:lvl5pPr algn="ctr" rtl="0" eaLnBrk="0" fontAlgn="base" hangingPunct="0">
        <a:spcBef>
          <a:spcPct val="0"/>
        </a:spcBef>
        <a:spcAft>
          <a:spcPct val="0"/>
        </a:spcAft>
        <a:defRPr sz="4400">
          <a:solidFill>
            <a:schemeClr val="tx1"/>
          </a:solidFill>
          <a:latin typeface="Calibri" pitchFamily="34" charset="0"/>
          <a:ea typeface="宋体" pitchFamily="2" charset="-122"/>
        </a:defRPr>
      </a:lvl5pPr>
      <a:lvl6pPr marL="457200" algn="ctr" rtl="0" fontAlgn="base">
        <a:spcBef>
          <a:spcPct val="0"/>
        </a:spcBef>
        <a:spcAft>
          <a:spcPct val="0"/>
        </a:spcAft>
        <a:defRPr sz="4400">
          <a:solidFill>
            <a:schemeClr val="tx1"/>
          </a:solidFill>
          <a:latin typeface="Calibri" pitchFamily="34" charset="0"/>
          <a:ea typeface="宋体" pitchFamily="2" charset="-122"/>
        </a:defRPr>
      </a:lvl6pPr>
      <a:lvl7pPr marL="914400" algn="ctr" rtl="0" fontAlgn="base">
        <a:spcBef>
          <a:spcPct val="0"/>
        </a:spcBef>
        <a:spcAft>
          <a:spcPct val="0"/>
        </a:spcAft>
        <a:defRPr sz="4400">
          <a:solidFill>
            <a:schemeClr val="tx1"/>
          </a:solidFill>
          <a:latin typeface="Calibri" pitchFamily="34" charset="0"/>
          <a:ea typeface="宋体" pitchFamily="2" charset="-122"/>
        </a:defRPr>
      </a:lvl7pPr>
      <a:lvl8pPr marL="1371600" algn="ctr" rtl="0" fontAlgn="base">
        <a:spcBef>
          <a:spcPct val="0"/>
        </a:spcBef>
        <a:spcAft>
          <a:spcPct val="0"/>
        </a:spcAft>
        <a:defRPr sz="4400">
          <a:solidFill>
            <a:schemeClr val="tx1"/>
          </a:solidFill>
          <a:latin typeface="Calibri" pitchFamily="34" charset="0"/>
          <a:ea typeface="宋体" pitchFamily="2" charset="-122"/>
        </a:defRPr>
      </a:lvl8pPr>
      <a:lvl9pPr marL="1828800" algn="ctr" rtl="0" fontAlgn="base">
        <a:spcBef>
          <a:spcPct val="0"/>
        </a:spcBef>
        <a:spcAft>
          <a:spcPct val="0"/>
        </a:spcAft>
        <a:defRPr sz="4400">
          <a:solidFill>
            <a:schemeClr val="tx1"/>
          </a:solidFill>
          <a:latin typeface="Calibri" pitchFamily="34" charset="0"/>
          <a:ea typeface="宋体" pitchFamily="2" charset="-122"/>
        </a:defRPr>
      </a:lvl9pPr>
    </p:titleStyle>
    <p:bodyStyle>
      <a:lvl1pPr marL="342900" indent="-342900" algn="l" rtl="0" eaLnBrk="0" fontAlgn="base" hangingPunct="0">
        <a:spcBef>
          <a:spcPct val="20000"/>
        </a:spcBef>
        <a:spcAft>
          <a:spcPct val="0"/>
        </a:spcAft>
        <a:buFont typeface="Arial"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slide" Target="slide41.xml"/><Relationship Id="rId3" Type="http://schemas.openxmlformats.org/officeDocument/2006/relationships/audio" Target="../media/audio1.wav"/><Relationship Id="rId7" Type="http://schemas.openxmlformats.org/officeDocument/2006/relationships/slide" Target="slide30.xml"/><Relationship Id="rId2" Type="http://schemas.openxmlformats.org/officeDocument/2006/relationships/slide" Target="slide2.xml"/><Relationship Id="rId1" Type="http://schemas.openxmlformats.org/officeDocument/2006/relationships/slideLayout" Target="../slideLayouts/slideLayout1.xml"/><Relationship Id="rId6" Type="http://schemas.openxmlformats.org/officeDocument/2006/relationships/slide" Target="slide22.xml"/><Relationship Id="rId11" Type="http://schemas.openxmlformats.org/officeDocument/2006/relationships/image" Target="../media/image2.gif"/><Relationship Id="rId5" Type="http://schemas.openxmlformats.org/officeDocument/2006/relationships/slide" Target="slide17.xml"/><Relationship Id="rId10" Type="http://schemas.openxmlformats.org/officeDocument/2006/relationships/hyperlink" Target="http://en.wikipedia.org/wiki/File:Translational_motion.gif" TargetMode="External"/><Relationship Id="rId4" Type="http://schemas.openxmlformats.org/officeDocument/2006/relationships/slide" Target="slide9.xml"/><Relationship Id="rId9" Type="http://schemas.openxmlformats.org/officeDocument/2006/relationships/slide" Target="slide50.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8" Type="http://schemas.openxmlformats.org/officeDocument/2006/relationships/oleObject" Target="../embeddings/oleObject6.bin"/><Relationship Id="rId3" Type="http://schemas.openxmlformats.org/officeDocument/2006/relationships/oleObject" Target="../embeddings/oleObject1.bin"/><Relationship Id="rId7" Type="http://schemas.openxmlformats.org/officeDocument/2006/relationships/oleObject" Target="../embeddings/oleObject5.bin"/><Relationship Id="rId2" Type="http://schemas.openxmlformats.org/officeDocument/2006/relationships/slideLayout" Target="../slideLayouts/slideLayout3.xml"/><Relationship Id="rId1" Type="http://schemas.openxmlformats.org/officeDocument/2006/relationships/vmlDrawing" Target="../drawings/vmlDrawing1.vml"/><Relationship Id="rId6" Type="http://schemas.openxmlformats.org/officeDocument/2006/relationships/oleObject" Target="../embeddings/oleObject4.bin"/><Relationship Id="rId5" Type="http://schemas.openxmlformats.org/officeDocument/2006/relationships/oleObject" Target="../embeddings/oleObject3.bin"/><Relationship Id="rId4" Type="http://schemas.openxmlformats.org/officeDocument/2006/relationships/oleObject" Target="../embeddings/oleObject2.bin"/></Relationships>
</file>

<file path=ppt/slides/_rels/slide8.xml.rels><?xml version="1.0" encoding="UTF-8" standalone="yes"?>
<Relationships xmlns="http://schemas.openxmlformats.org/package/2006/relationships"><Relationship Id="rId8" Type="http://schemas.openxmlformats.org/officeDocument/2006/relationships/oleObject" Target="../embeddings/oleObject12.bin"/><Relationship Id="rId3" Type="http://schemas.openxmlformats.org/officeDocument/2006/relationships/oleObject" Target="../embeddings/oleObject7.bin"/><Relationship Id="rId7" Type="http://schemas.openxmlformats.org/officeDocument/2006/relationships/oleObject" Target="../embeddings/oleObject11.bin"/><Relationship Id="rId2" Type="http://schemas.openxmlformats.org/officeDocument/2006/relationships/slideLayout" Target="../slideLayouts/slideLayout3.xml"/><Relationship Id="rId1" Type="http://schemas.openxmlformats.org/officeDocument/2006/relationships/vmlDrawing" Target="../drawings/vmlDrawing2.vml"/><Relationship Id="rId6" Type="http://schemas.openxmlformats.org/officeDocument/2006/relationships/oleObject" Target="../embeddings/oleObject10.bin"/><Relationship Id="rId5" Type="http://schemas.openxmlformats.org/officeDocument/2006/relationships/oleObject" Target="../embeddings/oleObject9.bin"/><Relationship Id="rId4" Type="http://schemas.openxmlformats.org/officeDocument/2006/relationships/oleObject" Target="../embeddings/oleObject8.bin"/></Relationships>
</file>

<file path=ppt/slides/_rels/slide9.xml.rels><?xml version="1.0" encoding="UTF-8" standalone="yes"?>
<Relationships xmlns="http://schemas.openxmlformats.org/package/2006/relationships"><Relationship Id="rId3" Type="http://schemas.openxmlformats.org/officeDocument/2006/relationships/oleObject" Target="../embeddings/oleObject13.bin"/><Relationship Id="rId2" Type="http://schemas.openxmlformats.org/officeDocument/2006/relationships/slideLayout" Target="../slideLayouts/slideLayout4.xml"/><Relationship Id="rId1" Type="http://schemas.openxmlformats.org/officeDocument/2006/relationships/vmlDrawing" Target="../drawings/vmlDrawing3.vml"/></Relationships>
</file>

<file path=ppt/slides/_rels/slide10.xml.rels><?xml version="1.0" encoding="UTF-8" standalone="yes"?>
<Relationships xmlns="http://schemas.openxmlformats.org/package/2006/relationships"><Relationship Id="rId8" Type="http://schemas.openxmlformats.org/officeDocument/2006/relationships/oleObject" Target="../embeddings/oleObject19.bin"/><Relationship Id="rId13" Type="http://schemas.openxmlformats.org/officeDocument/2006/relationships/oleObject" Target="../embeddings/oleObject24.bin"/><Relationship Id="rId3" Type="http://schemas.openxmlformats.org/officeDocument/2006/relationships/oleObject" Target="../embeddings/oleObject14.bin"/><Relationship Id="rId7" Type="http://schemas.openxmlformats.org/officeDocument/2006/relationships/oleObject" Target="../embeddings/oleObject18.bin"/><Relationship Id="rId12" Type="http://schemas.openxmlformats.org/officeDocument/2006/relationships/oleObject" Target="../embeddings/oleObject23.bin"/><Relationship Id="rId2" Type="http://schemas.openxmlformats.org/officeDocument/2006/relationships/slideLayout" Target="../slideLayouts/slideLayout4.xml"/><Relationship Id="rId16" Type="http://schemas.openxmlformats.org/officeDocument/2006/relationships/oleObject" Target="../embeddings/oleObject27.bin"/><Relationship Id="rId1" Type="http://schemas.openxmlformats.org/officeDocument/2006/relationships/vmlDrawing" Target="../drawings/vmlDrawing4.vml"/><Relationship Id="rId6" Type="http://schemas.openxmlformats.org/officeDocument/2006/relationships/oleObject" Target="../embeddings/oleObject17.bin"/><Relationship Id="rId11" Type="http://schemas.openxmlformats.org/officeDocument/2006/relationships/oleObject" Target="../embeddings/oleObject22.bin"/><Relationship Id="rId5" Type="http://schemas.openxmlformats.org/officeDocument/2006/relationships/oleObject" Target="../embeddings/oleObject16.bin"/><Relationship Id="rId15" Type="http://schemas.openxmlformats.org/officeDocument/2006/relationships/oleObject" Target="../embeddings/oleObject26.bin"/><Relationship Id="rId10" Type="http://schemas.openxmlformats.org/officeDocument/2006/relationships/oleObject" Target="../embeddings/oleObject21.bin"/><Relationship Id="rId4" Type="http://schemas.openxmlformats.org/officeDocument/2006/relationships/oleObject" Target="../embeddings/oleObject15.bin"/><Relationship Id="rId9" Type="http://schemas.openxmlformats.org/officeDocument/2006/relationships/oleObject" Target="../embeddings/oleObject20.bin"/><Relationship Id="rId14" Type="http://schemas.openxmlformats.org/officeDocument/2006/relationships/oleObject" Target="../embeddings/oleObject25.bin"/></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8.bin"/><Relationship Id="rId7" Type="http://schemas.openxmlformats.org/officeDocument/2006/relationships/oleObject" Target="../embeddings/oleObject32.bin"/><Relationship Id="rId2" Type="http://schemas.openxmlformats.org/officeDocument/2006/relationships/slideLayout" Target="../slideLayouts/slideLayout4.xml"/><Relationship Id="rId1" Type="http://schemas.openxmlformats.org/officeDocument/2006/relationships/vmlDrawing" Target="../drawings/vmlDrawing5.vml"/><Relationship Id="rId6" Type="http://schemas.openxmlformats.org/officeDocument/2006/relationships/oleObject" Target="../embeddings/oleObject31.bin"/><Relationship Id="rId5" Type="http://schemas.openxmlformats.org/officeDocument/2006/relationships/oleObject" Target="../embeddings/oleObject30.bin"/><Relationship Id="rId4" Type="http://schemas.openxmlformats.org/officeDocument/2006/relationships/oleObject" Target="../embeddings/oleObject29.bin"/></Relationships>
</file>

<file path=ppt/slides/_rels/slide12.xml.rels><?xml version="1.0" encoding="UTF-8" standalone="yes"?>
<Relationships xmlns="http://schemas.openxmlformats.org/package/2006/relationships"><Relationship Id="rId3" Type="http://schemas.openxmlformats.org/officeDocument/2006/relationships/oleObject" Target="../embeddings/oleObject33.bin"/><Relationship Id="rId2" Type="http://schemas.openxmlformats.org/officeDocument/2006/relationships/slideLayout" Target="../slideLayouts/slideLayout4.xml"/><Relationship Id="rId1" Type="http://schemas.openxmlformats.org/officeDocument/2006/relationships/vmlDrawing" Target="../drawings/vmlDrawing6.vml"/><Relationship Id="rId6" Type="http://schemas.openxmlformats.org/officeDocument/2006/relationships/oleObject" Target="../embeddings/oleObject36.bin"/><Relationship Id="rId5" Type="http://schemas.openxmlformats.org/officeDocument/2006/relationships/oleObject" Target="../embeddings/oleObject35.bin"/><Relationship Id="rId4" Type="http://schemas.openxmlformats.org/officeDocument/2006/relationships/oleObject" Target="../embeddings/oleObject34.bin"/></Relationships>
</file>

<file path=ppt/slides/_rels/slide13.xml.rels><?xml version="1.0" encoding="UTF-8" standalone="yes"?>
<Relationships xmlns="http://schemas.openxmlformats.org/package/2006/relationships"><Relationship Id="rId8" Type="http://schemas.openxmlformats.org/officeDocument/2006/relationships/oleObject" Target="../embeddings/oleObject42.bin"/><Relationship Id="rId3" Type="http://schemas.openxmlformats.org/officeDocument/2006/relationships/oleObject" Target="../embeddings/oleObject37.bin"/><Relationship Id="rId7" Type="http://schemas.openxmlformats.org/officeDocument/2006/relationships/oleObject" Target="../embeddings/oleObject41.bin"/><Relationship Id="rId2" Type="http://schemas.openxmlformats.org/officeDocument/2006/relationships/slideLayout" Target="../slideLayouts/slideLayout4.xml"/><Relationship Id="rId1" Type="http://schemas.openxmlformats.org/officeDocument/2006/relationships/vmlDrawing" Target="../drawings/vmlDrawing7.vml"/><Relationship Id="rId6" Type="http://schemas.openxmlformats.org/officeDocument/2006/relationships/oleObject" Target="../embeddings/oleObject40.bin"/><Relationship Id="rId5" Type="http://schemas.openxmlformats.org/officeDocument/2006/relationships/oleObject" Target="../embeddings/oleObject39.bin"/><Relationship Id="rId4" Type="http://schemas.openxmlformats.org/officeDocument/2006/relationships/oleObject" Target="../embeddings/oleObject38.bin"/><Relationship Id="rId9" Type="http://schemas.openxmlformats.org/officeDocument/2006/relationships/oleObject" Target="../embeddings/oleObject43.bin"/></Relationships>
</file>

<file path=ppt/slides/_rels/slide14.xml.rels><?xml version="1.0" encoding="UTF-8" standalone="yes"?>
<Relationships xmlns="http://schemas.openxmlformats.org/package/2006/relationships"><Relationship Id="rId3" Type="http://schemas.openxmlformats.org/officeDocument/2006/relationships/oleObject" Target="../embeddings/oleObject44.bin"/><Relationship Id="rId2" Type="http://schemas.openxmlformats.org/officeDocument/2006/relationships/slideLayout" Target="../slideLayouts/slideLayout4.xml"/><Relationship Id="rId1" Type="http://schemas.openxmlformats.org/officeDocument/2006/relationships/vmlDrawing" Target="../drawings/vmlDrawing8.vml"/></Relationships>
</file>

<file path=ppt/slides/_rels/slide15.xml.rels><?xml version="1.0" encoding="UTF-8" standalone="yes"?>
<Relationships xmlns="http://schemas.openxmlformats.org/package/2006/relationships"><Relationship Id="rId3" Type="http://schemas.openxmlformats.org/officeDocument/2006/relationships/oleObject" Target="../embeddings/oleObject45.bin"/><Relationship Id="rId7" Type="http://schemas.openxmlformats.org/officeDocument/2006/relationships/oleObject" Target="../embeddings/oleObject49.bin"/><Relationship Id="rId2" Type="http://schemas.openxmlformats.org/officeDocument/2006/relationships/slideLayout" Target="../slideLayouts/slideLayout4.xml"/><Relationship Id="rId1" Type="http://schemas.openxmlformats.org/officeDocument/2006/relationships/vmlDrawing" Target="../drawings/vmlDrawing9.vml"/><Relationship Id="rId6" Type="http://schemas.openxmlformats.org/officeDocument/2006/relationships/oleObject" Target="../embeddings/oleObject48.bin"/><Relationship Id="rId5" Type="http://schemas.openxmlformats.org/officeDocument/2006/relationships/oleObject" Target="../embeddings/oleObject47.bin"/><Relationship Id="rId4" Type="http://schemas.openxmlformats.org/officeDocument/2006/relationships/oleObject" Target="../embeddings/oleObject46.bin"/></Relationships>
</file>

<file path=ppt/slides/_rels/slide16.xml.rels><?xml version="1.0" encoding="UTF-8" standalone="yes"?>
<Relationships xmlns="http://schemas.openxmlformats.org/package/2006/relationships"><Relationship Id="rId3" Type="http://schemas.openxmlformats.org/officeDocument/2006/relationships/oleObject" Target="../embeddings/oleObject50.bin"/><Relationship Id="rId2" Type="http://schemas.openxmlformats.org/officeDocument/2006/relationships/slideLayout" Target="../slideLayouts/slideLayout4.xml"/><Relationship Id="rId1" Type="http://schemas.openxmlformats.org/officeDocument/2006/relationships/vmlDrawing" Target="../drawings/vmlDrawing10.vml"/><Relationship Id="rId6" Type="http://schemas.openxmlformats.org/officeDocument/2006/relationships/oleObject" Target="../embeddings/oleObject53.bin"/><Relationship Id="rId5" Type="http://schemas.openxmlformats.org/officeDocument/2006/relationships/oleObject" Target="../embeddings/oleObject52.bin"/><Relationship Id="rId4" Type="http://schemas.openxmlformats.org/officeDocument/2006/relationships/oleObject" Target="../embeddings/oleObject51.bin"/></Relationships>
</file>

<file path=ppt/slides/_rels/slide17.xml.rels><?xml version="1.0" encoding="UTF-8" standalone="yes"?>
<Relationships xmlns="http://schemas.openxmlformats.org/package/2006/relationships"><Relationship Id="rId8" Type="http://schemas.openxmlformats.org/officeDocument/2006/relationships/oleObject" Target="../embeddings/oleObject59.bin"/><Relationship Id="rId13" Type="http://schemas.openxmlformats.org/officeDocument/2006/relationships/oleObject" Target="../embeddings/oleObject64.bin"/><Relationship Id="rId3" Type="http://schemas.openxmlformats.org/officeDocument/2006/relationships/oleObject" Target="../embeddings/oleObject54.bin"/><Relationship Id="rId7" Type="http://schemas.openxmlformats.org/officeDocument/2006/relationships/oleObject" Target="../embeddings/oleObject58.bin"/><Relationship Id="rId12" Type="http://schemas.openxmlformats.org/officeDocument/2006/relationships/oleObject" Target="../embeddings/oleObject63.bin"/><Relationship Id="rId2" Type="http://schemas.openxmlformats.org/officeDocument/2006/relationships/slideLayout" Target="../slideLayouts/slideLayout5.xml"/><Relationship Id="rId1" Type="http://schemas.openxmlformats.org/officeDocument/2006/relationships/vmlDrawing" Target="../drawings/vmlDrawing11.vml"/><Relationship Id="rId6" Type="http://schemas.openxmlformats.org/officeDocument/2006/relationships/oleObject" Target="../embeddings/oleObject57.bin"/><Relationship Id="rId11" Type="http://schemas.openxmlformats.org/officeDocument/2006/relationships/oleObject" Target="../embeddings/oleObject62.bin"/><Relationship Id="rId5" Type="http://schemas.openxmlformats.org/officeDocument/2006/relationships/oleObject" Target="../embeddings/oleObject56.bin"/><Relationship Id="rId10" Type="http://schemas.openxmlformats.org/officeDocument/2006/relationships/oleObject" Target="../embeddings/oleObject61.bin"/><Relationship Id="rId4" Type="http://schemas.openxmlformats.org/officeDocument/2006/relationships/oleObject" Target="../embeddings/oleObject55.bin"/><Relationship Id="rId9" Type="http://schemas.openxmlformats.org/officeDocument/2006/relationships/oleObject" Target="../embeddings/oleObject60.bin"/></Relationships>
</file>

<file path=ppt/slides/_rels/slide18.xml.rels><?xml version="1.0" encoding="UTF-8" standalone="yes"?>
<Relationships xmlns="http://schemas.openxmlformats.org/package/2006/relationships"><Relationship Id="rId3" Type="http://schemas.openxmlformats.org/officeDocument/2006/relationships/oleObject" Target="../embeddings/oleObject65.bin"/><Relationship Id="rId2" Type="http://schemas.openxmlformats.org/officeDocument/2006/relationships/slideLayout" Target="../slideLayouts/slideLayout5.xml"/><Relationship Id="rId1" Type="http://schemas.openxmlformats.org/officeDocument/2006/relationships/vmlDrawing" Target="../drawings/vmlDrawing12.vml"/><Relationship Id="rId6" Type="http://schemas.openxmlformats.org/officeDocument/2006/relationships/oleObject" Target="../embeddings/oleObject68.bin"/><Relationship Id="rId5" Type="http://schemas.openxmlformats.org/officeDocument/2006/relationships/oleObject" Target="../embeddings/oleObject67.bin"/><Relationship Id="rId4" Type="http://schemas.openxmlformats.org/officeDocument/2006/relationships/oleObject" Target="../embeddings/oleObject66.bin"/></Relationships>
</file>

<file path=ppt/slides/_rels/slide19.xml.rels><?xml version="1.0" encoding="UTF-8" standalone="yes"?>
<Relationships xmlns="http://schemas.openxmlformats.org/package/2006/relationships"><Relationship Id="rId3" Type="http://schemas.openxmlformats.org/officeDocument/2006/relationships/oleObject" Target="../embeddings/oleObject69.bin"/><Relationship Id="rId2" Type="http://schemas.openxmlformats.org/officeDocument/2006/relationships/slideLayout" Target="../slideLayouts/slideLayout5.xml"/><Relationship Id="rId1" Type="http://schemas.openxmlformats.org/officeDocument/2006/relationships/vmlDrawing" Target="../drawings/vmlDrawing13.vml"/><Relationship Id="rId5" Type="http://schemas.openxmlformats.org/officeDocument/2006/relationships/oleObject" Target="../embeddings/oleObject71.bin"/><Relationship Id="rId4" Type="http://schemas.openxmlformats.org/officeDocument/2006/relationships/oleObject" Target="../embeddings/oleObject70.bin"/></Relationships>
</file>

<file path=ppt/slides/_rels/slide20.xml.rels><?xml version="1.0" encoding="UTF-8" standalone="yes"?>
<Relationships xmlns="http://schemas.openxmlformats.org/package/2006/relationships"><Relationship Id="rId8" Type="http://schemas.openxmlformats.org/officeDocument/2006/relationships/oleObject" Target="../embeddings/oleObject77.bin"/><Relationship Id="rId13" Type="http://schemas.openxmlformats.org/officeDocument/2006/relationships/oleObject" Target="../embeddings/oleObject82.bin"/><Relationship Id="rId3" Type="http://schemas.openxmlformats.org/officeDocument/2006/relationships/oleObject" Target="../embeddings/oleObject72.bin"/><Relationship Id="rId7" Type="http://schemas.openxmlformats.org/officeDocument/2006/relationships/oleObject" Target="../embeddings/oleObject76.bin"/><Relationship Id="rId12" Type="http://schemas.openxmlformats.org/officeDocument/2006/relationships/oleObject" Target="../embeddings/oleObject81.bin"/><Relationship Id="rId2" Type="http://schemas.openxmlformats.org/officeDocument/2006/relationships/slideLayout" Target="../slideLayouts/slideLayout5.xml"/><Relationship Id="rId1" Type="http://schemas.openxmlformats.org/officeDocument/2006/relationships/vmlDrawing" Target="../drawings/vmlDrawing14.vml"/><Relationship Id="rId6" Type="http://schemas.openxmlformats.org/officeDocument/2006/relationships/oleObject" Target="../embeddings/oleObject75.bin"/><Relationship Id="rId11" Type="http://schemas.openxmlformats.org/officeDocument/2006/relationships/oleObject" Target="../embeddings/oleObject80.bin"/><Relationship Id="rId5" Type="http://schemas.openxmlformats.org/officeDocument/2006/relationships/oleObject" Target="../embeddings/oleObject74.bin"/><Relationship Id="rId15" Type="http://schemas.openxmlformats.org/officeDocument/2006/relationships/oleObject" Target="../embeddings/oleObject84.bin"/><Relationship Id="rId10" Type="http://schemas.openxmlformats.org/officeDocument/2006/relationships/oleObject" Target="../embeddings/oleObject79.bin"/><Relationship Id="rId4" Type="http://schemas.openxmlformats.org/officeDocument/2006/relationships/oleObject" Target="../embeddings/oleObject73.bin"/><Relationship Id="rId9" Type="http://schemas.openxmlformats.org/officeDocument/2006/relationships/oleObject" Target="../embeddings/oleObject78.bin"/><Relationship Id="rId14" Type="http://schemas.openxmlformats.org/officeDocument/2006/relationships/oleObject" Target="../embeddings/oleObject83.bin"/></Relationships>
</file>

<file path=ppt/slides/_rels/slide21.xml.rels><?xml version="1.0" encoding="UTF-8" standalone="yes"?>
<Relationships xmlns="http://schemas.openxmlformats.org/package/2006/relationships"><Relationship Id="rId8" Type="http://schemas.openxmlformats.org/officeDocument/2006/relationships/oleObject" Target="../embeddings/oleObject90.bin"/><Relationship Id="rId3" Type="http://schemas.openxmlformats.org/officeDocument/2006/relationships/oleObject" Target="../embeddings/oleObject85.bin"/><Relationship Id="rId7" Type="http://schemas.openxmlformats.org/officeDocument/2006/relationships/oleObject" Target="../embeddings/oleObject89.bin"/><Relationship Id="rId12" Type="http://schemas.openxmlformats.org/officeDocument/2006/relationships/oleObject" Target="../embeddings/oleObject94.bin"/><Relationship Id="rId2" Type="http://schemas.openxmlformats.org/officeDocument/2006/relationships/slideLayout" Target="../slideLayouts/slideLayout5.xml"/><Relationship Id="rId1" Type="http://schemas.openxmlformats.org/officeDocument/2006/relationships/vmlDrawing" Target="../drawings/vmlDrawing15.vml"/><Relationship Id="rId6" Type="http://schemas.openxmlformats.org/officeDocument/2006/relationships/oleObject" Target="../embeddings/oleObject88.bin"/><Relationship Id="rId11" Type="http://schemas.openxmlformats.org/officeDocument/2006/relationships/oleObject" Target="../embeddings/oleObject93.bin"/><Relationship Id="rId5" Type="http://schemas.openxmlformats.org/officeDocument/2006/relationships/oleObject" Target="../embeddings/oleObject87.bin"/><Relationship Id="rId10" Type="http://schemas.openxmlformats.org/officeDocument/2006/relationships/oleObject" Target="../embeddings/oleObject92.bin"/><Relationship Id="rId4" Type="http://schemas.openxmlformats.org/officeDocument/2006/relationships/oleObject" Target="../embeddings/oleObject86.bin"/><Relationship Id="rId9" Type="http://schemas.openxmlformats.org/officeDocument/2006/relationships/oleObject" Target="../embeddings/oleObject91.bin"/></Relationships>
</file>

<file path=ppt/slides/_rels/slide22.xml.rels><?xml version="1.0" encoding="UTF-8" standalone="yes"?>
<Relationships xmlns="http://schemas.openxmlformats.org/package/2006/relationships"><Relationship Id="rId2" Type="http://schemas.openxmlformats.org/officeDocument/2006/relationships/image" Target="../media/image94.png"/><Relationship Id="rId1" Type="http://schemas.openxmlformats.org/officeDocument/2006/relationships/slideLayout" Target="../slideLayouts/slideLayout6.xml"/></Relationships>
</file>

<file path=ppt/slides/_rels/slide23.xml.rels><?xml version="1.0" encoding="UTF-8" standalone="yes"?>
<Relationships xmlns="http://schemas.openxmlformats.org/package/2006/relationships"><Relationship Id="rId3" Type="http://schemas.openxmlformats.org/officeDocument/2006/relationships/oleObject" Target="../embeddings/oleObject95.bin"/><Relationship Id="rId7" Type="http://schemas.openxmlformats.org/officeDocument/2006/relationships/oleObject" Target="../embeddings/oleObject99.bin"/><Relationship Id="rId2" Type="http://schemas.openxmlformats.org/officeDocument/2006/relationships/slideLayout" Target="../slideLayouts/slideLayout6.xml"/><Relationship Id="rId1" Type="http://schemas.openxmlformats.org/officeDocument/2006/relationships/vmlDrawing" Target="../drawings/vmlDrawing16.vml"/><Relationship Id="rId6" Type="http://schemas.openxmlformats.org/officeDocument/2006/relationships/oleObject" Target="../embeddings/oleObject98.bin"/><Relationship Id="rId5" Type="http://schemas.openxmlformats.org/officeDocument/2006/relationships/oleObject" Target="../embeddings/oleObject97.bin"/><Relationship Id="rId4" Type="http://schemas.openxmlformats.org/officeDocument/2006/relationships/oleObject" Target="../embeddings/oleObject96.bin"/></Relationships>
</file>

<file path=ppt/slides/_rels/slide24.xml.rels><?xml version="1.0" encoding="UTF-8" standalone="yes"?>
<Relationships xmlns="http://schemas.openxmlformats.org/package/2006/relationships"><Relationship Id="rId8" Type="http://schemas.openxmlformats.org/officeDocument/2006/relationships/oleObject" Target="../embeddings/oleObject103.bin"/><Relationship Id="rId3" Type="http://schemas.openxmlformats.org/officeDocument/2006/relationships/audio" Target="../media/audio2.wav"/><Relationship Id="rId7" Type="http://schemas.openxmlformats.org/officeDocument/2006/relationships/oleObject" Target="../embeddings/oleObject102.bin"/><Relationship Id="rId2" Type="http://schemas.openxmlformats.org/officeDocument/2006/relationships/slideLayout" Target="../slideLayouts/slideLayout6.xml"/><Relationship Id="rId1" Type="http://schemas.openxmlformats.org/officeDocument/2006/relationships/vmlDrawing" Target="../drawings/vmlDrawing17.vml"/><Relationship Id="rId6" Type="http://schemas.openxmlformats.org/officeDocument/2006/relationships/oleObject" Target="../embeddings/oleObject101.bin"/><Relationship Id="rId5" Type="http://schemas.openxmlformats.org/officeDocument/2006/relationships/oleObject" Target="../embeddings/oleObject100.bin"/><Relationship Id="rId4" Type="http://schemas.openxmlformats.org/officeDocument/2006/relationships/audio" Target="../media/audio1.wav"/><Relationship Id="rId9" Type="http://schemas.openxmlformats.org/officeDocument/2006/relationships/oleObject" Target="../embeddings/oleObject104.bin"/></Relationships>
</file>

<file path=ppt/slides/_rels/slide25.xml.rels><?xml version="1.0" encoding="UTF-8" standalone="yes"?>
<Relationships xmlns="http://schemas.openxmlformats.org/package/2006/relationships"><Relationship Id="rId8" Type="http://schemas.openxmlformats.org/officeDocument/2006/relationships/oleObject" Target="../embeddings/oleObject110.bin"/><Relationship Id="rId3" Type="http://schemas.openxmlformats.org/officeDocument/2006/relationships/oleObject" Target="../embeddings/oleObject105.bin"/><Relationship Id="rId7" Type="http://schemas.openxmlformats.org/officeDocument/2006/relationships/oleObject" Target="../embeddings/oleObject109.bin"/><Relationship Id="rId2" Type="http://schemas.openxmlformats.org/officeDocument/2006/relationships/slideLayout" Target="../slideLayouts/slideLayout6.xml"/><Relationship Id="rId1" Type="http://schemas.openxmlformats.org/officeDocument/2006/relationships/vmlDrawing" Target="../drawings/vmlDrawing18.vml"/><Relationship Id="rId6" Type="http://schemas.openxmlformats.org/officeDocument/2006/relationships/oleObject" Target="../embeddings/oleObject108.bin"/><Relationship Id="rId5" Type="http://schemas.openxmlformats.org/officeDocument/2006/relationships/oleObject" Target="../embeddings/oleObject107.bin"/><Relationship Id="rId10" Type="http://schemas.openxmlformats.org/officeDocument/2006/relationships/oleObject" Target="../embeddings/oleObject112.bin"/><Relationship Id="rId4" Type="http://schemas.openxmlformats.org/officeDocument/2006/relationships/oleObject" Target="../embeddings/oleObject106.bin"/><Relationship Id="rId9" Type="http://schemas.openxmlformats.org/officeDocument/2006/relationships/oleObject" Target="../embeddings/oleObject111.bin"/></Relationships>
</file>

<file path=ppt/slides/_rels/slide26.xml.rels><?xml version="1.0" encoding="UTF-8" standalone="yes"?>
<Relationships xmlns="http://schemas.openxmlformats.org/package/2006/relationships"><Relationship Id="rId3" Type="http://schemas.openxmlformats.org/officeDocument/2006/relationships/oleObject" Target="../embeddings/oleObject113.bin"/><Relationship Id="rId2" Type="http://schemas.openxmlformats.org/officeDocument/2006/relationships/slideLayout" Target="../slideLayouts/slideLayout6.xml"/><Relationship Id="rId1" Type="http://schemas.openxmlformats.org/officeDocument/2006/relationships/vmlDrawing" Target="../drawings/vmlDrawing19.vml"/><Relationship Id="rId4" Type="http://schemas.openxmlformats.org/officeDocument/2006/relationships/oleObject" Target="../embeddings/oleObject114.bin"/></Relationships>
</file>

<file path=ppt/slides/_rels/slide27.xml.rels><?xml version="1.0" encoding="UTF-8" standalone="yes"?>
<Relationships xmlns="http://schemas.openxmlformats.org/package/2006/relationships"><Relationship Id="rId8" Type="http://schemas.openxmlformats.org/officeDocument/2006/relationships/oleObject" Target="../embeddings/oleObject120.bin"/><Relationship Id="rId13" Type="http://schemas.openxmlformats.org/officeDocument/2006/relationships/oleObject" Target="../embeddings/oleObject125.bin"/><Relationship Id="rId3" Type="http://schemas.openxmlformats.org/officeDocument/2006/relationships/oleObject" Target="../embeddings/oleObject115.bin"/><Relationship Id="rId7" Type="http://schemas.openxmlformats.org/officeDocument/2006/relationships/oleObject" Target="../embeddings/oleObject119.bin"/><Relationship Id="rId12" Type="http://schemas.openxmlformats.org/officeDocument/2006/relationships/oleObject" Target="../embeddings/oleObject124.bin"/><Relationship Id="rId17" Type="http://schemas.openxmlformats.org/officeDocument/2006/relationships/oleObject" Target="../embeddings/oleObject129.bin"/><Relationship Id="rId2" Type="http://schemas.openxmlformats.org/officeDocument/2006/relationships/slideLayout" Target="../slideLayouts/slideLayout6.xml"/><Relationship Id="rId16" Type="http://schemas.openxmlformats.org/officeDocument/2006/relationships/oleObject" Target="../embeddings/oleObject128.bin"/><Relationship Id="rId1" Type="http://schemas.openxmlformats.org/officeDocument/2006/relationships/vmlDrawing" Target="../drawings/vmlDrawing20.vml"/><Relationship Id="rId6" Type="http://schemas.openxmlformats.org/officeDocument/2006/relationships/oleObject" Target="../embeddings/oleObject118.bin"/><Relationship Id="rId11" Type="http://schemas.openxmlformats.org/officeDocument/2006/relationships/oleObject" Target="../embeddings/oleObject123.bin"/><Relationship Id="rId5" Type="http://schemas.openxmlformats.org/officeDocument/2006/relationships/oleObject" Target="../embeddings/oleObject117.bin"/><Relationship Id="rId15" Type="http://schemas.openxmlformats.org/officeDocument/2006/relationships/oleObject" Target="../embeddings/oleObject127.bin"/><Relationship Id="rId10" Type="http://schemas.openxmlformats.org/officeDocument/2006/relationships/oleObject" Target="../embeddings/oleObject122.bin"/><Relationship Id="rId4" Type="http://schemas.openxmlformats.org/officeDocument/2006/relationships/oleObject" Target="../embeddings/oleObject116.bin"/><Relationship Id="rId9" Type="http://schemas.openxmlformats.org/officeDocument/2006/relationships/oleObject" Target="../embeddings/oleObject121.bin"/><Relationship Id="rId14" Type="http://schemas.openxmlformats.org/officeDocument/2006/relationships/oleObject" Target="../embeddings/oleObject126.bin"/></Relationships>
</file>

<file path=ppt/slides/_rels/slide28.xml.rels><?xml version="1.0" encoding="UTF-8" standalone="yes"?>
<Relationships xmlns="http://schemas.openxmlformats.org/package/2006/relationships"><Relationship Id="rId3" Type="http://schemas.openxmlformats.org/officeDocument/2006/relationships/oleObject" Target="../embeddings/oleObject130.bin"/><Relationship Id="rId2" Type="http://schemas.openxmlformats.org/officeDocument/2006/relationships/slideLayout" Target="../slideLayouts/slideLayout6.xml"/><Relationship Id="rId1" Type="http://schemas.openxmlformats.org/officeDocument/2006/relationships/vmlDrawing" Target="../drawings/vmlDrawing21.vml"/><Relationship Id="rId5" Type="http://schemas.openxmlformats.org/officeDocument/2006/relationships/oleObject" Target="../embeddings/oleObject132.bin"/><Relationship Id="rId4" Type="http://schemas.openxmlformats.org/officeDocument/2006/relationships/oleObject" Target="../embeddings/oleObject131.bin"/></Relationships>
</file>

<file path=ppt/slides/_rels/slide29.xml.rels><?xml version="1.0" encoding="UTF-8" standalone="yes"?>
<Relationships xmlns="http://schemas.openxmlformats.org/package/2006/relationships"><Relationship Id="rId8" Type="http://schemas.openxmlformats.org/officeDocument/2006/relationships/oleObject" Target="../embeddings/oleObject138.bin"/><Relationship Id="rId3" Type="http://schemas.openxmlformats.org/officeDocument/2006/relationships/oleObject" Target="../embeddings/oleObject133.bin"/><Relationship Id="rId7" Type="http://schemas.openxmlformats.org/officeDocument/2006/relationships/oleObject" Target="../embeddings/oleObject137.bin"/><Relationship Id="rId2" Type="http://schemas.openxmlformats.org/officeDocument/2006/relationships/slideLayout" Target="../slideLayouts/slideLayout6.xml"/><Relationship Id="rId1" Type="http://schemas.openxmlformats.org/officeDocument/2006/relationships/vmlDrawing" Target="../drawings/vmlDrawing22.vml"/><Relationship Id="rId6" Type="http://schemas.openxmlformats.org/officeDocument/2006/relationships/oleObject" Target="../embeddings/oleObject136.bin"/><Relationship Id="rId5" Type="http://schemas.openxmlformats.org/officeDocument/2006/relationships/oleObject" Target="../embeddings/oleObject135.bin"/><Relationship Id="rId4" Type="http://schemas.openxmlformats.org/officeDocument/2006/relationships/oleObject" Target="../embeddings/oleObject134.bin"/></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8" Type="http://schemas.openxmlformats.org/officeDocument/2006/relationships/oleObject" Target="../embeddings/oleObject144.bin"/><Relationship Id="rId3" Type="http://schemas.openxmlformats.org/officeDocument/2006/relationships/oleObject" Target="../embeddings/oleObject139.bin"/><Relationship Id="rId7" Type="http://schemas.openxmlformats.org/officeDocument/2006/relationships/oleObject" Target="../embeddings/oleObject143.bin"/><Relationship Id="rId2" Type="http://schemas.openxmlformats.org/officeDocument/2006/relationships/slideLayout" Target="../slideLayouts/slideLayout7.xml"/><Relationship Id="rId1" Type="http://schemas.openxmlformats.org/officeDocument/2006/relationships/vmlDrawing" Target="../drawings/vmlDrawing23.vml"/><Relationship Id="rId6" Type="http://schemas.openxmlformats.org/officeDocument/2006/relationships/oleObject" Target="../embeddings/oleObject142.bin"/><Relationship Id="rId5" Type="http://schemas.openxmlformats.org/officeDocument/2006/relationships/oleObject" Target="../embeddings/oleObject141.bin"/><Relationship Id="rId10" Type="http://schemas.openxmlformats.org/officeDocument/2006/relationships/oleObject" Target="../embeddings/oleObject146.bin"/><Relationship Id="rId4" Type="http://schemas.openxmlformats.org/officeDocument/2006/relationships/oleObject" Target="../embeddings/oleObject140.bin"/><Relationship Id="rId9" Type="http://schemas.openxmlformats.org/officeDocument/2006/relationships/oleObject" Target="../embeddings/oleObject145.bin"/></Relationships>
</file>

<file path=ppt/slides/_rels/slide32.xml.rels><?xml version="1.0" encoding="UTF-8" standalone="yes"?>
<Relationships xmlns="http://schemas.openxmlformats.org/package/2006/relationships"><Relationship Id="rId8" Type="http://schemas.openxmlformats.org/officeDocument/2006/relationships/oleObject" Target="../embeddings/oleObject152.bin"/><Relationship Id="rId3" Type="http://schemas.openxmlformats.org/officeDocument/2006/relationships/oleObject" Target="../embeddings/oleObject147.bin"/><Relationship Id="rId7" Type="http://schemas.openxmlformats.org/officeDocument/2006/relationships/oleObject" Target="../embeddings/oleObject151.bin"/><Relationship Id="rId12" Type="http://schemas.openxmlformats.org/officeDocument/2006/relationships/oleObject" Target="../embeddings/oleObject156.bin"/><Relationship Id="rId2" Type="http://schemas.openxmlformats.org/officeDocument/2006/relationships/slideLayout" Target="../slideLayouts/slideLayout7.xml"/><Relationship Id="rId1" Type="http://schemas.openxmlformats.org/officeDocument/2006/relationships/vmlDrawing" Target="../drawings/vmlDrawing24.vml"/><Relationship Id="rId6" Type="http://schemas.openxmlformats.org/officeDocument/2006/relationships/oleObject" Target="../embeddings/oleObject150.bin"/><Relationship Id="rId11" Type="http://schemas.openxmlformats.org/officeDocument/2006/relationships/oleObject" Target="../embeddings/oleObject155.bin"/><Relationship Id="rId5" Type="http://schemas.openxmlformats.org/officeDocument/2006/relationships/oleObject" Target="../embeddings/oleObject149.bin"/><Relationship Id="rId10" Type="http://schemas.openxmlformats.org/officeDocument/2006/relationships/oleObject" Target="../embeddings/oleObject154.bin"/><Relationship Id="rId4" Type="http://schemas.openxmlformats.org/officeDocument/2006/relationships/oleObject" Target="../embeddings/oleObject148.bin"/><Relationship Id="rId9" Type="http://schemas.openxmlformats.org/officeDocument/2006/relationships/oleObject" Target="../embeddings/oleObject153.bin"/></Relationships>
</file>

<file path=ppt/slides/_rels/slide33.xml.rels><?xml version="1.0" encoding="UTF-8" standalone="yes"?>
<Relationships xmlns="http://schemas.openxmlformats.org/package/2006/relationships"><Relationship Id="rId8" Type="http://schemas.openxmlformats.org/officeDocument/2006/relationships/oleObject" Target="../embeddings/oleObject162.bin"/><Relationship Id="rId3" Type="http://schemas.openxmlformats.org/officeDocument/2006/relationships/oleObject" Target="../embeddings/oleObject157.bin"/><Relationship Id="rId7" Type="http://schemas.openxmlformats.org/officeDocument/2006/relationships/oleObject" Target="../embeddings/oleObject161.bin"/><Relationship Id="rId2" Type="http://schemas.openxmlformats.org/officeDocument/2006/relationships/slideLayout" Target="../slideLayouts/slideLayout7.xml"/><Relationship Id="rId1" Type="http://schemas.openxmlformats.org/officeDocument/2006/relationships/vmlDrawing" Target="../drawings/vmlDrawing25.vml"/><Relationship Id="rId6" Type="http://schemas.openxmlformats.org/officeDocument/2006/relationships/oleObject" Target="../embeddings/oleObject160.bin"/><Relationship Id="rId11" Type="http://schemas.openxmlformats.org/officeDocument/2006/relationships/oleObject" Target="../embeddings/oleObject165.bin"/><Relationship Id="rId5" Type="http://schemas.openxmlformats.org/officeDocument/2006/relationships/oleObject" Target="../embeddings/oleObject159.bin"/><Relationship Id="rId10" Type="http://schemas.openxmlformats.org/officeDocument/2006/relationships/oleObject" Target="../embeddings/oleObject164.bin"/><Relationship Id="rId4" Type="http://schemas.openxmlformats.org/officeDocument/2006/relationships/oleObject" Target="../embeddings/oleObject158.bin"/><Relationship Id="rId9" Type="http://schemas.openxmlformats.org/officeDocument/2006/relationships/oleObject" Target="../embeddings/oleObject163.bin"/></Relationships>
</file>

<file path=ppt/slides/_rels/slide34.xml.rels><?xml version="1.0" encoding="UTF-8" standalone="yes"?>
<Relationships xmlns="http://schemas.openxmlformats.org/package/2006/relationships"><Relationship Id="rId8" Type="http://schemas.openxmlformats.org/officeDocument/2006/relationships/oleObject" Target="../embeddings/oleObject171.bin"/><Relationship Id="rId3" Type="http://schemas.openxmlformats.org/officeDocument/2006/relationships/oleObject" Target="../embeddings/oleObject166.bin"/><Relationship Id="rId7" Type="http://schemas.openxmlformats.org/officeDocument/2006/relationships/oleObject" Target="../embeddings/oleObject170.bin"/><Relationship Id="rId2" Type="http://schemas.openxmlformats.org/officeDocument/2006/relationships/slideLayout" Target="../slideLayouts/slideLayout7.xml"/><Relationship Id="rId1" Type="http://schemas.openxmlformats.org/officeDocument/2006/relationships/vmlDrawing" Target="../drawings/vmlDrawing26.vml"/><Relationship Id="rId6" Type="http://schemas.openxmlformats.org/officeDocument/2006/relationships/oleObject" Target="../embeddings/oleObject169.bin"/><Relationship Id="rId5" Type="http://schemas.openxmlformats.org/officeDocument/2006/relationships/oleObject" Target="../embeddings/oleObject168.bin"/><Relationship Id="rId10" Type="http://schemas.openxmlformats.org/officeDocument/2006/relationships/oleObject" Target="../embeddings/oleObject173.bin"/><Relationship Id="rId4" Type="http://schemas.openxmlformats.org/officeDocument/2006/relationships/oleObject" Target="../embeddings/oleObject167.bin"/><Relationship Id="rId9" Type="http://schemas.openxmlformats.org/officeDocument/2006/relationships/oleObject" Target="../embeddings/oleObject172.bin"/></Relationships>
</file>

<file path=ppt/slides/_rels/slide35.xml.rels><?xml version="1.0" encoding="UTF-8" standalone="yes"?>
<Relationships xmlns="http://schemas.openxmlformats.org/package/2006/relationships"><Relationship Id="rId3" Type="http://schemas.openxmlformats.org/officeDocument/2006/relationships/oleObject" Target="../embeddings/oleObject174.bin"/><Relationship Id="rId2" Type="http://schemas.openxmlformats.org/officeDocument/2006/relationships/slideLayout" Target="../slideLayouts/slideLayout7.xml"/><Relationship Id="rId1" Type="http://schemas.openxmlformats.org/officeDocument/2006/relationships/vmlDrawing" Target="../drawings/vmlDrawing27.vml"/><Relationship Id="rId5" Type="http://schemas.openxmlformats.org/officeDocument/2006/relationships/oleObject" Target="../embeddings/oleObject176.bin"/><Relationship Id="rId4" Type="http://schemas.openxmlformats.org/officeDocument/2006/relationships/oleObject" Target="../embeddings/oleObject175.bin"/></Relationships>
</file>

<file path=ppt/slides/_rels/slide36.xml.rels><?xml version="1.0" encoding="UTF-8" standalone="yes"?>
<Relationships xmlns="http://schemas.openxmlformats.org/package/2006/relationships"><Relationship Id="rId3" Type="http://schemas.openxmlformats.org/officeDocument/2006/relationships/oleObject" Target="../embeddings/oleObject177.bin"/><Relationship Id="rId2" Type="http://schemas.openxmlformats.org/officeDocument/2006/relationships/slideLayout" Target="../slideLayouts/slideLayout7.xml"/><Relationship Id="rId1" Type="http://schemas.openxmlformats.org/officeDocument/2006/relationships/vmlDrawing" Target="../drawings/vmlDrawing28.vml"/><Relationship Id="rId6" Type="http://schemas.openxmlformats.org/officeDocument/2006/relationships/oleObject" Target="../embeddings/oleObject180.bin"/><Relationship Id="rId5" Type="http://schemas.openxmlformats.org/officeDocument/2006/relationships/oleObject" Target="../embeddings/oleObject179.bin"/><Relationship Id="rId4" Type="http://schemas.openxmlformats.org/officeDocument/2006/relationships/oleObject" Target="../embeddings/oleObject178.bin"/></Relationships>
</file>

<file path=ppt/slides/_rels/slide37.xml.rels><?xml version="1.0" encoding="UTF-8" standalone="yes"?>
<Relationships xmlns="http://schemas.openxmlformats.org/package/2006/relationships"><Relationship Id="rId3" Type="http://schemas.openxmlformats.org/officeDocument/2006/relationships/audio" Target="../media/audio1.wav"/><Relationship Id="rId2" Type="http://schemas.openxmlformats.org/officeDocument/2006/relationships/slideLayout" Target="../slideLayouts/slideLayout7.xml"/><Relationship Id="rId1" Type="http://schemas.openxmlformats.org/officeDocument/2006/relationships/vmlDrawing" Target="../drawings/vmlDrawing29.vml"/><Relationship Id="rId6" Type="http://schemas.openxmlformats.org/officeDocument/2006/relationships/oleObject" Target="../embeddings/oleObject183.bin"/><Relationship Id="rId5" Type="http://schemas.openxmlformats.org/officeDocument/2006/relationships/oleObject" Target="../embeddings/oleObject182.bin"/><Relationship Id="rId4" Type="http://schemas.openxmlformats.org/officeDocument/2006/relationships/oleObject" Target="../embeddings/oleObject181.bin"/></Relationships>
</file>

<file path=ppt/slides/_rels/slide38.xml.rels><?xml version="1.0" encoding="UTF-8" standalone="yes"?>
<Relationships xmlns="http://schemas.openxmlformats.org/package/2006/relationships"><Relationship Id="rId8" Type="http://schemas.openxmlformats.org/officeDocument/2006/relationships/oleObject" Target="../embeddings/oleObject188.bin"/><Relationship Id="rId3" Type="http://schemas.openxmlformats.org/officeDocument/2006/relationships/audio" Target="../media/audio1.wav"/><Relationship Id="rId7" Type="http://schemas.openxmlformats.org/officeDocument/2006/relationships/oleObject" Target="../embeddings/oleObject187.bin"/><Relationship Id="rId2" Type="http://schemas.openxmlformats.org/officeDocument/2006/relationships/slideLayout" Target="../slideLayouts/slideLayout7.xml"/><Relationship Id="rId1" Type="http://schemas.openxmlformats.org/officeDocument/2006/relationships/vmlDrawing" Target="../drawings/vmlDrawing30.vml"/><Relationship Id="rId6" Type="http://schemas.openxmlformats.org/officeDocument/2006/relationships/oleObject" Target="../embeddings/oleObject186.bin"/><Relationship Id="rId5" Type="http://schemas.openxmlformats.org/officeDocument/2006/relationships/oleObject" Target="../embeddings/oleObject185.bin"/><Relationship Id="rId10" Type="http://schemas.openxmlformats.org/officeDocument/2006/relationships/oleObject" Target="../embeddings/oleObject190.bin"/><Relationship Id="rId4" Type="http://schemas.openxmlformats.org/officeDocument/2006/relationships/oleObject" Target="../embeddings/oleObject184.bin"/><Relationship Id="rId9" Type="http://schemas.openxmlformats.org/officeDocument/2006/relationships/oleObject" Target="../embeddings/oleObject189.bin"/></Relationships>
</file>

<file path=ppt/slides/_rels/slide39.xml.rels><?xml version="1.0" encoding="UTF-8" standalone="yes"?>
<Relationships xmlns="http://schemas.openxmlformats.org/package/2006/relationships"><Relationship Id="rId8" Type="http://schemas.openxmlformats.org/officeDocument/2006/relationships/oleObject" Target="../embeddings/oleObject196.bin"/><Relationship Id="rId13" Type="http://schemas.openxmlformats.org/officeDocument/2006/relationships/oleObject" Target="../embeddings/oleObject201.bin"/><Relationship Id="rId3" Type="http://schemas.openxmlformats.org/officeDocument/2006/relationships/oleObject" Target="../embeddings/oleObject191.bin"/><Relationship Id="rId7" Type="http://schemas.openxmlformats.org/officeDocument/2006/relationships/oleObject" Target="../embeddings/oleObject195.bin"/><Relationship Id="rId12" Type="http://schemas.openxmlformats.org/officeDocument/2006/relationships/oleObject" Target="../embeddings/oleObject200.bin"/><Relationship Id="rId2" Type="http://schemas.openxmlformats.org/officeDocument/2006/relationships/slideLayout" Target="../slideLayouts/slideLayout7.xml"/><Relationship Id="rId1" Type="http://schemas.openxmlformats.org/officeDocument/2006/relationships/vmlDrawing" Target="../drawings/vmlDrawing31.vml"/><Relationship Id="rId6" Type="http://schemas.openxmlformats.org/officeDocument/2006/relationships/oleObject" Target="../embeddings/oleObject194.bin"/><Relationship Id="rId11" Type="http://schemas.openxmlformats.org/officeDocument/2006/relationships/oleObject" Target="../embeddings/oleObject199.bin"/><Relationship Id="rId5" Type="http://schemas.openxmlformats.org/officeDocument/2006/relationships/oleObject" Target="../embeddings/oleObject193.bin"/><Relationship Id="rId15" Type="http://schemas.openxmlformats.org/officeDocument/2006/relationships/oleObject" Target="../embeddings/oleObject203.bin"/><Relationship Id="rId10" Type="http://schemas.openxmlformats.org/officeDocument/2006/relationships/oleObject" Target="../embeddings/oleObject198.bin"/><Relationship Id="rId4" Type="http://schemas.openxmlformats.org/officeDocument/2006/relationships/oleObject" Target="../embeddings/oleObject192.bin"/><Relationship Id="rId9" Type="http://schemas.openxmlformats.org/officeDocument/2006/relationships/oleObject" Target="../embeddings/oleObject197.bin"/><Relationship Id="rId14" Type="http://schemas.openxmlformats.org/officeDocument/2006/relationships/oleObject" Target="../embeddings/oleObject202.bin"/></Relationships>
</file>

<file path=ppt/slides/_rels/slide40.xml.rels><?xml version="1.0" encoding="UTF-8" standalone="yes"?>
<Relationships xmlns="http://schemas.openxmlformats.org/package/2006/relationships"><Relationship Id="rId3" Type="http://schemas.openxmlformats.org/officeDocument/2006/relationships/oleObject" Target="../embeddings/oleObject204.bin"/><Relationship Id="rId2" Type="http://schemas.openxmlformats.org/officeDocument/2006/relationships/slideLayout" Target="../slideLayouts/slideLayout7.xml"/><Relationship Id="rId1" Type="http://schemas.openxmlformats.org/officeDocument/2006/relationships/vmlDrawing" Target="../drawings/vmlDrawing32.vml"/><Relationship Id="rId5" Type="http://schemas.openxmlformats.org/officeDocument/2006/relationships/oleObject" Target="../embeddings/oleObject206.bin"/><Relationship Id="rId4" Type="http://schemas.openxmlformats.org/officeDocument/2006/relationships/oleObject" Target="../embeddings/oleObject205.bin"/></Relationships>
</file>

<file path=ppt/slides/_rels/slide41.xml.rels><?xml version="1.0" encoding="UTF-8" standalone="yes"?>
<Relationships xmlns="http://schemas.openxmlformats.org/package/2006/relationships"><Relationship Id="rId8" Type="http://schemas.openxmlformats.org/officeDocument/2006/relationships/oleObject" Target="../embeddings/oleObject212.bin"/><Relationship Id="rId3" Type="http://schemas.openxmlformats.org/officeDocument/2006/relationships/oleObject" Target="../embeddings/oleObject207.bin"/><Relationship Id="rId7" Type="http://schemas.openxmlformats.org/officeDocument/2006/relationships/oleObject" Target="../embeddings/oleObject211.bin"/><Relationship Id="rId2" Type="http://schemas.openxmlformats.org/officeDocument/2006/relationships/slideLayout" Target="../slideLayouts/slideLayout8.xml"/><Relationship Id="rId1" Type="http://schemas.openxmlformats.org/officeDocument/2006/relationships/vmlDrawing" Target="../drawings/vmlDrawing33.vml"/><Relationship Id="rId6" Type="http://schemas.openxmlformats.org/officeDocument/2006/relationships/oleObject" Target="../embeddings/oleObject210.bin"/><Relationship Id="rId11" Type="http://schemas.openxmlformats.org/officeDocument/2006/relationships/oleObject" Target="../embeddings/oleObject215.bin"/><Relationship Id="rId5" Type="http://schemas.openxmlformats.org/officeDocument/2006/relationships/oleObject" Target="../embeddings/oleObject209.bin"/><Relationship Id="rId10" Type="http://schemas.openxmlformats.org/officeDocument/2006/relationships/oleObject" Target="../embeddings/oleObject214.bin"/><Relationship Id="rId4" Type="http://schemas.openxmlformats.org/officeDocument/2006/relationships/oleObject" Target="../embeddings/oleObject208.bin"/><Relationship Id="rId9" Type="http://schemas.openxmlformats.org/officeDocument/2006/relationships/oleObject" Target="../embeddings/oleObject213.bin"/></Relationships>
</file>

<file path=ppt/slides/_rels/slide42.xml.rels><?xml version="1.0" encoding="UTF-8" standalone="yes"?>
<Relationships xmlns="http://schemas.openxmlformats.org/package/2006/relationships"><Relationship Id="rId8" Type="http://schemas.openxmlformats.org/officeDocument/2006/relationships/oleObject" Target="../embeddings/oleObject221.bin"/><Relationship Id="rId13" Type="http://schemas.openxmlformats.org/officeDocument/2006/relationships/oleObject" Target="../embeddings/oleObject226.bin"/><Relationship Id="rId3" Type="http://schemas.openxmlformats.org/officeDocument/2006/relationships/oleObject" Target="../embeddings/oleObject216.bin"/><Relationship Id="rId7" Type="http://schemas.openxmlformats.org/officeDocument/2006/relationships/oleObject" Target="../embeddings/oleObject220.bin"/><Relationship Id="rId12" Type="http://schemas.openxmlformats.org/officeDocument/2006/relationships/oleObject" Target="../embeddings/oleObject225.bin"/><Relationship Id="rId2" Type="http://schemas.openxmlformats.org/officeDocument/2006/relationships/slideLayout" Target="../slideLayouts/slideLayout8.xml"/><Relationship Id="rId1" Type="http://schemas.openxmlformats.org/officeDocument/2006/relationships/vmlDrawing" Target="../drawings/vmlDrawing34.vml"/><Relationship Id="rId6" Type="http://schemas.openxmlformats.org/officeDocument/2006/relationships/oleObject" Target="../embeddings/oleObject219.bin"/><Relationship Id="rId11" Type="http://schemas.openxmlformats.org/officeDocument/2006/relationships/oleObject" Target="../embeddings/oleObject224.bin"/><Relationship Id="rId5" Type="http://schemas.openxmlformats.org/officeDocument/2006/relationships/oleObject" Target="../embeddings/oleObject218.bin"/><Relationship Id="rId10" Type="http://schemas.openxmlformats.org/officeDocument/2006/relationships/oleObject" Target="../embeddings/oleObject223.bin"/><Relationship Id="rId4" Type="http://schemas.openxmlformats.org/officeDocument/2006/relationships/oleObject" Target="../embeddings/oleObject217.bin"/><Relationship Id="rId9" Type="http://schemas.openxmlformats.org/officeDocument/2006/relationships/oleObject" Target="../embeddings/oleObject222.bin"/><Relationship Id="rId14" Type="http://schemas.openxmlformats.org/officeDocument/2006/relationships/oleObject" Target="../embeddings/oleObject227.bin"/></Relationships>
</file>

<file path=ppt/slides/_rels/slide43.xml.rels><?xml version="1.0" encoding="UTF-8" standalone="yes"?>
<Relationships xmlns="http://schemas.openxmlformats.org/package/2006/relationships"><Relationship Id="rId3" Type="http://schemas.openxmlformats.org/officeDocument/2006/relationships/oleObject" Target="../embeddings/oleObject228.bin"/><Relationship Id="rId2" Type="http://schemas.openxmlformats.org/officeDocument/2006/relationships/slideLayout" Target="../slideLayouts/slideLayout8.xml"/><Relationship Id="rId1" Type="http://schemas.openxmlformats.org/officeDocument/2006/relationships/vmlDrawing" Target="../drawings/vmlDrawing35.vml"/><Relationship Id="rId6" Type="http://schemas.openxmlformats.org/officeDocument/2006/relationships/oleObject" Target="../embeddings/oleObject231.bin"/><Relationship Id="rId5" Type="http://schemas.openxmlformats.org/officeDocument/2006/relationships/oleObject" Target="../embeddings/oleObject230.bin"/><Relationship Id="rId4" Type="http://schemas.openxmlformats.org/officeDocument/2006/relationships/oleObject" Target="../embeddings/oleObject229.bin"/></Relationships>
</file>

<file path=ppt/slides/_rels/slide44.xml.rels><?xml version="1.0" encoding="UTF-8" standalone="yes"?>
<Relationships xmlns="http://schemas.openxmlformats.org/package/2006/relationships"><Relationship Id="rId8" Type="http://schemas.openxmlformats.org/officeDocument/2006/relationships/oleObject" Target="../embeddings/oleObject236.bin"/><Relationship Id="rId3" Type="http://schemas.openxmlformats.org/officeDocument/2006/relationships/audio" Target="../media/audio2.wav"/><Relationship Id="rId7" Type="http://schemas.openxmlformats.org/officeDocument/2006/relationships/oleObject" Target="../embeddings/oleObject235.bin"/><Relationship Id="rId2" Type="http://schemas.openxmlformats.org/officeDocument/2006/relationships/slideLayout" Target="../slideLayouts/slideLayout8.xml"/><Relationship Id="rId1" Type="http://schemas.openxmlformats.org/officeDocument/2006/relationships/vmlDrawing" Target="../drawings/vmlDrawing36.vml"/><Relationship Id="rId6" Type="http://schemas.openxmlformats.org/officeDocument/2006/relationships/oleObject" Target="../embeddings/oleObject234.bin"/><Relationship Id="rId5" Type="http://schemas.openxmlformats.org/officeDocument/2006/relationships/oleObject" Target="../embeddings/oleObject233.bin"/><Relationship Id="rId10" Type="http://schemas.openxmlformats.org/officeDocument/2006/relationships/oleObject" Target="../embeddings/oleObject238.bin"/><Relationship Id="rId4" Type="http://schemas.openxmlformats.org/officeDocument/2006/relationships/oleObject" Target="../embeddings/oleObject232.bin"/><Relationship Id="rId9" Type="http://schemas.openxmlformats.org/officeDocument/2006/relationships/oleObject" Target="../embeddings/oleObject237.bin"/></Relationships>
</file>

<file path=ppt/slides/_rels/slide45.xml.rels><?xml version="1.0" encoding="UTF-8" standalone="yes"?>
<Relationships xmlns="http://schemas.openxmlformats.org/package/2006/relationships"><Relationship Id="rId8" Type="http://schemas.openxmlformats.org/officeDocument/2006/relationships/oleObject" Target="../embeddings/oleObject244.bin"/><Relationship Id="rId3" Type="http://schemas.openxmlformats.org/officeDocument/2006/relationships/oleObject" Target="../embeddings/oleObject239.bin"/><Relationship Id="rId7" Type="http://schemas.openxmlformats.org/officeDocument/2006/relationships/oleObject" Target="../embeddings/oleObject243.bin"/><Relationship Id="rId2" Type="http://schemas.openxmlformats.org/officeDocument/2006/relationships/slideLayout" Target="../slideLayouts/slideLayout8.xml"/><Relationship Id="rId1" Type="http://schemas.openxmlformats.org/officeDocument/2006/relationships/vmlDrawing" Target="../drawings/vmlDrawing37.vml"/><Relationship Id="rId6" Type="http://schemas.openxmlformats.org/officeDocument/2006/relationships/oleObject" Target="../embeddings/oleObject242.bin"/><Relationship Id="rId5" Type="http://schemas.openxmlformats.org/officeDocument/2006/relationships/oleObject" Target="../embeddings/oleObject241.bin"/><Relationship Id="rId4" Type="http://schemas.openxmlformats.org/officeDocument/2006/relationships/oleObject" Target="../embeddings/oleObject240.bin"/></Relationships>
</file>

<file path=ppt/slides/_rels/slide46.xml.rels><?xml version="1.0" encoding="UTF-8" standalone="yes"?>
<Relationships xmlns="http://schemas.openxmlformats.org/package/2006/relationships"><Relationship Id="rId8" Type="http://schemas.openxmlformats.org/officeDocument/2006/relationships/oleObject" Target="../embeddings/oleObject250.bin"/><Relationship Id="rId3" Type="http://schemas.openxmlformats.org/officeDocument/2006/relationships/oleObject" Target="../embeddings/oleObject245.bin"/><Relationship Id="rId7" Type="http://schemas.openxmlformats.org/officeDocument/2006/relationships/oleObject" Target="../embeddings/oleObject249.bin"/><Relationship Id="rId2" Type="http://schemas.openxmlformats.org/officeDocument/2006/relationships/slideLayout" Target="../slideLayouts/slideLayout8.xml"/><Relationship Id="rId1" Type="http://schemas.openxmlformats.org/officeDocument/2006/relationships/vmlDrawing" Target="../drawings/vmlDrawing38.vml"/><Relationship Id="rId6" Type="http://schemas.openxmlformats.org/officeDocument/2006/relationships/oleObject" Target="../embeddings/oleObject248.bin"/><Relationship Id="rId5" Type="http://schemas.openxmlformats.org/officeDocument/2006/relationships/oleObject" Target="../embeddings/oleObject247.bin"/><Relationship Id="rId10" Type="http://schemas.openxmlformats.org/officeDocument/2006/relationships/oleObject" Target="../embeddings/oleObject252.bin"/><Relationship Id="rId4" Type="http://schemas.openxmlformats.org/officeDocument/2006/relationships/oleObject" Target="../embeddings/oleObject246.bin"/><Relationship Id="rId9" Type="http://schemas.openxmlformats.org/officeDocument/2006/relationships/oleObject" Target="../embeddings/oleObject251.bin"/></Relationships>
</file>

<file path=ppt/slides/_rels/slide47.xml.rels><?xml version="1.0" encoding="UTF-8" standalone="yes"?>
<Relationships xmlns="http://schemas.openxmlformats.org/package/2006/relationships"><Relationship Id="rId3" Type="http://schemas.openxmlformats.org/officeDocument/2006/relationships/image" Target="../media/image233.png"/><Relationship Id="rId2" Type="http://schemas.openxmlformats.org/officeDocument/2006/relationships/slideLayout" Target="../slideLayouts/slideLayout8.xml"/><Relationship Id="rId1" Type="http://schemas.openxmlformats.org/officeDocument/2006/relationships/vmlDrawing" Target="../drawings/vmlDrawing39.vml"/><Relationship Id="rId5" Type="http://schemas.openxmlformats.org/officeDocument/2006/relationships/oleObject" Target="../embeddings/oleObject254.bin"/><Relationship Id="rId4" Type="http://schemas.openxmlformats.org/officeDocument/2006/relationships/oleObject" Target="../embeddings/oleObject253.bin"/></Relationships>
</file>

<file path=ppt/slides/_rels/slide48.xml.rels><?xml version="1.0" encoding="UTF-8" standalone="yes"?>
<Relationships xmlns="http://schemas.openxmlformats.org/package/2006/relationships"><Relationship Id="rId8" Type="http://schemas.openxmlformats.org/officeDocument/2006/relationships/oleObject" Target="../embeddings/oleObject259.bin"/><Relationship Id="rId3" Type="http://schemas.openxmlformats.org/officeDocument/2006/relationships/audio" Target="../media/audio1.wav"/><Relationship Id="rId7" Type="http://schemas.openxmlformats.org/officeDocument/2006/relationships/oleObject" Target="../embeddings/oleObject258.bin"/><Relationship Id="rId2" Type="http://schemas.openxmlformats.org/officeDocument/2006/relationships/slideLayout" Target="../slideLayouts/slideLayout8.xml"/><Relationship Id="rId1" Type="http://schemas.openxmlformats.org/officeDocument/2006/relationships/vmlDrawing" Target="../drawings/vmlDrawing40.vml"/><Relationship Id="rId6" Type="http://schemas.openxmlformats.org/officeDocument/2006/relationships/oleObject" Target="../embeddings/oleObject257.bin"/><Relationship Id="rId5" Type="http://schemas.openxmlformats.org/officeDocument/2006/relationships/oleObject" Target="../embeddings/oleObject256.bin"/><Relationship Id="rId4" Type="http://schemas.openxmlformats.org/officeDocument/2006/relationships/oleObject" Target="../embeddings/oleObject255.bin"/><Relationship Id="rId9" Type="http://schemas.openxmlformats.org/officeDocument/2006/relationships/oleObject" Target="../embeddings/oleObject260.bin"/></Relationships>
</file>

<file path=ppt/slides/_rels/slide49.xml.rels><?xml version="1.0" encoding="UTF-8" standalone="yes"?>
<Relationships xmlns="http://schemas.openxmlformats.org/package/2006/relationships"><Relationship Id="rId3" Type="http://schemas.openxmlformats.org/officeDocument/2006/relationships/oleObject" Target="../embeddings/oleObject261.bin"/><Relationship Id="rId2" Type="http://schemas.openxmlformats.org/officeDocument/2006/relationships/slideLayout" Target="../slideLayouts/slideLayout8.xml"/><Relationship Id="rId1" Type="http://schemas.openxmlformats.org/officeDocument/2006/relationships/vmlDrawing" Target="../drawings/vmlDrawing41.vml"/><Relationship Id="rId4" Type="http://schemas.openxmlformats.org/officeDocument/2006/relationships/oleObject" Target="../embeddings/oleObject262.bin"/></Relationships>
</file>

<file path=ppt/slides/_rels/slide50.xml.rels><?xml version="1.0" encoding="UTF-8" standalone="yes"?>
<Relationships xmlns="http://schemas.openxmlformats.org/package/2006/relationships"><Relationship Id="rId3" Type="http://schemas.openxmlformats.org/officeDocument/2006/relationships/oleObject" Target="../embeddings/oleObject263.bin"/><Relationship Id="rId2" Type="http://schemas.openxmlformats.org/officeDocument/2006/relationships/slideLayout" Target="../slideLayouts/slideLayout9.xml"/><Relationship Id="rId1" Type="http://schemas.openxmlformats.org/officeDocument/2006/relationships/vmlDrawing" Target="../drawings/vmlDrawing42.vml"/><Relationship Id="rId5" Type="http://schemas.openxmlformats.org/officeDocument/2006/relationships/image" Target="../media/image2.gif"/><Relationship Id="rId4" Type="http://schemas.openxmlformats.org/officeDocument/2006/relationships/hyperlink" Target="http://en.wikipedia.org/wiki/File:Translational_motion.gif" TargetMode="External"/></Relationships>
</file>

<file path=ppt/slides/_rels/slide51.xml.rels><?xml version="1.0" encoding="UTF-8" standalone="yes"?>
<Relationships xmlns="http://schemas.openxmlformats.org/package/2006/relationships"><Relationship Id="rId8" Type="http://schemas.openxmlformats.org/officeDocument/2006/relationships/oleObject" Target="../embeddings/oleObject269.bin"/><Relationship Id="rId3" Type="http://schemas.openxmlformats.org/officeDocument/2006/relationships/oleObject" Target="../embeddings/oleObject264.bin"/><Relationship Id="rId7" Type="http://schemas.openxmlformats.org/officeDocument/2006/relationships/oleObject" Target="../embeddings/oleObject268.bin"/><Relationship Id="rId2" Type="http://schemas.openxmlformats.org/officeDocument/2006/relationships/slideLayout" Target="../slideLayouts/slideLayout9.xml"/><Relationship Id="rId1" Type="http://schemas.openxmlformats.org/officeDocument/2006/relationships/vmlDrawing" Target="../drawings/vmlDrawing43.vml"/><Relationship Id="rId6" Type="http://schemas.openxmlformats.org/officeDocument/2006/relationships/oleObject" Target="../embeddings/oleObject267.bin"/><Relationship Id="rId5" Type="http://schemas.openxmlformats.org/officeDocument/2006/relationships/oleObject" Target="../embeddings/oleObject266.bin"/><Relationship Id="rId10" Type="http://schemas.openxmlformats.org/officeDocument/2006/relationships/oleObject" Target="../embeddings/oleObject271.bin"/><Relationship Id="rId4" Type="http://schemas.openxmlformats.org/officeDocument/2006/relationships/oleObject" Target="../embeddings/oleObject265.bin"/><Relationship Id="rId9" Type="http://schemas.openxmlformats.org/officeDocument/2006/relationships/oleObject" Target="../embeddings/oleObject270.bin"/></Relationships>
</file>

<file path=ppt/slides/_rels/slide52.xml.rels><?xml version="1.0" encoding="UTF-8" standalone="yes"?>
<Relationships xmlns="http://schemas.openxmlformats.org/package/2006/relationships"><Relationship Id="rId8" Type="http://schemas.openxmlformats.org/officeDocument/2006/relationships/oleObject" Target="../embeddings/oleObject277.bin"/><Relationship Id="rId13" Type="http://schemas.openxmlformats.org/officeDocument/2006/relationships/oleObject" Target="../embeddings/oleObject282.bin"/><Relationship Id="rId3" Type="http://schemas.openxmlformats.org/officeDocument/2006/relationships/oleObject" Target="../embeddings/oleObject272.bin"/><Relationship Id="rId7" Type="http://schemas.openxmlformats.org/officeDocument/2006/relationships/oleObject" Target="../embeddings/oleObject276.bin"/><Relationship Id="rId12" Type="http://schemas.openxmlformats.org/officeDocument/2006/relationships/oleObject" Target="../embeddings/oleObject281.bin"/><Relationship Id="rId17" Type="http://schemas.openxmlformats.org/officeDocument/2006/relationships/oleObject" Target="../embeddings/oleObject286.bin"/><Relationship Id="rId2" Type="http://schemas.openxmlformats.org/officeDocument/2006/relationships/slideLayout" Target="../slideLayouts/slideLayout9.xml"/><Relationship Id="rId16" Type="http://schemas.openxmlformats.org/officeDocument/2006/relationships/oleObject" Target="../embeddings/oleObject285.bin"/><Relationship Id="rId1" Type="http://schemas.openxmlformats.org/officeDocument/2006/relationships/vmlDrawing" Target="../drawings/vmlDrawing44.vml"/><Relationship Id="rId6" Type="http://schemas.openxmlformats.org/officeDocument/2006/relationships/oleObject" Target="../embeddings/oleObject275.bin"/><Relationship Id="rId11" Type="http://schemas.openxmlformats.org/officeDocument/2006/relationships/oleObject" Target="../embeddings/oleObject280.bin"/><Relationship Id="rId5" Type="http://schemas.openxmlformats.org/officeDocument/2006/relationships/oleObject" Target="../embeddings/oleObject274.bin"/><Relationship Id="rId15" Type="http://schemas.openxmlformats.org/officeDocument/2006/relationships/oleObject" Target="../embeddings/oleObject284.bin"/><Relationship Id="rId10" Type="http://schemas.openxmlformats.org/officeDocument/2006/relationships/oleObject" Target="../embeddings/oleObject279.bin"/><Relationship Id="rId4" Type="http://schemas.openxmlformats.org/officeDocument/2006/relationships/oleObject" Target="../embeddings/oleObject273.bin"/><Relationship Id="rId9" Type="http://schemas.openxmlformats.org/officeDocument/2006/relationships/oleObject" Target="../embeddings/oleObject278.bin"/><Relationship Id="rId14" Type="http://schemas.openxmlformats.org/officeDocument/2006/relationships/oleObject" Target="../embeddings/oleObject283.bin"/></Relationships>
</file>

<file path=ppt/slides/_rels/slide53.xml.rels><?xml version="1.0" encoding="UTF-8" standalone="yes"?>
<Relationships xmlns="http://schemas.openxmlformats.org/package/2006/relationships"><Relationship Id="rId3" Type="http://schemas.openxmlformats.org/officeDocument/2006/relationships/oleObject" Target="../embeddings/oleObject287.bin"/><Relationship Id="rId2" Type="http://schemas.openxmlformats.org/officeDocument/2006/relationships/slideLayout" Target="../slideLayouts/slideLayout9.xml"/><Relationship Id="rId1" Type="http://schemas.openxmlformats.org/officeDocument/2006/relationships/vmlDrawing" Target="../drawings/vmlDrawing45.vml"/><Relationship Id="rId6" Type="http://schemas.openxmlformats.org/officeDocument/2006/relationships/oleObject" Target="../embeddings/oleObject290.bin"/><Relationship Id="rId5" Type="http://schemas.openxmlformats.org/officeDocument/2006/relationships/oleObject" Target="../embeddings/oleObject289.bin"/><Relationship Id="rId4" Type="http://schemas.openxmlformats.org/officeDocument/2006/relationships/oleObject" Target="../embeddings/oleObject288.bin"/></Relationships>
</file>

<file path=ppt/slides/_rels/slide54.xml.rels><?xml version="1.0" encoding="UTF-8" standalone="yes"?>
<Relationships xmlns="http://schemas.openxmlformats.org/package/2006/relationships"><Relationship Id="rId8" Type="http://schemas.openxmlformats.org/officeDocument/2006/relationships/oleObject" Target="../embeddings/oleObject296.bin"/><Relationship Id="rId3" Type="http://schemas.openxmlformats.org/officeDocument/2006/relationships/oleObject" Target="../embeddings/oleObject291.bin"/><Relationship Id="rId7" Type="http://schemas.openxmlformats.org/officeDocument/2006/relationships/oleObject" Target="../embeddings/oleObject295.bin"/><Relationship Id="rId2" Type="http://schemas.openxmlformats.org/officeDocument/2006/relationships/slideLayout" Target="../slideLayouts/slideLayout9.xml"/><Relationship Id="rId1" Type="http://schemas.openxmlformats.org/officeDocument/2006/relationships/vmlDrawing" Target="../drawings/vmlDrawing46.vml"/><Relationship Id="rId6" Type="http://schemas.openxmlformats.org/officeDocument/2006/relationships/oleObject" Target="../embeddings/oleObject294.bin"/><Relationship Id="rId5" Type="http://schemas.openxmlformats.org/officeDocument/2006/relationships/oleObject" Target="../embeddings/oleObject293.bin"/><Relationship Id="rId4" Type="http://schemas.openxmlformats.org/officeDocument/2006/relationships/oleObject" Target="../embeddings/oleObject292.bin"/></Relationships>
</file>

<file path=ppt/slides/_rels/slide55.xml.rels><?xml version="1.0" encoding="UTF-8" standalone="yes"?>
<Relationships xmlns="http://schemas.openxmlformats.org/package/2006/relationships"><Relationship Id="rId3" Type="http://schemas.openxmlformats.org/officeDocument/2006/relationships/oleObject" Target="../embeddings/oleObject297.bin"/><Relationship Id="rId2" Type="http://schemas.openxmlformats.org/officeDocument/2006/relationships/slideLayout" Target="../slideLayouts/slideLayout9.xml"/><Relationship Id="rId1" Type="http://schemas.openxmlformats.org/officeDocument/2006/relationships/vmlDrawing" Target="../drawings/vmlDrawing47.vml"/><Relationship Id="rId6" Type="http://schemas.openxmlformats.org/officeDocument/2006/relationships/oleObject" Target="../embeddings/oleObject300.bin"/><Relationship Id="rId5" Type="http://schemas.openxmlformats.org/officeDocument/2006/relationships/oleObject" Target="../embeddings/oleObject299.bin"/><Relationship Id="rId4" Type="http://schemas.openxmlformats.org/officeDocument/2006/relationships/oleObject" Target="../embeddings/oleObject298.bin"/></Relationships>
</file>

<file path=ppt/slides/_rels/slide56.xml.rels><?xml version="1.0" encoding="UTF-8" standalone="yes"?>
<Relationships xmlns="http://schemas.openxmlformats.org/package/2006/relationships"><Relationship Id="rId8" Type="http://schemas.openxmlformats.org/officeDocument/2006/relationships/oleObject" Target="../embeddings/oleObject306.bin"/><Relationship Id="rId13" Type="http://schemas.openxmlformats.org/officeDocument/2006/relationships/oleObject" Target="../embeddings/oleObject311.bin"/><Relationship Id="rId3" Type="http://schemas.openxmlformats.org/officeDocument/2006/relationships/oleObject" Target="../embeddings/oleObject301.bin"/><Relationship Id="rId7" Type="http://schemas.openxmlformats.org/officeDocument/2006/relationships/oleObject" Target="../embeddings/oleObject305.bin"/><Relationship Id="rId12" Type="http://schemas.openxmlformats.org/officeDocument/2006/relationships/oleObject" Target="../embeddings/oleObject310.bin"/><Relationship Id="rId17" Type="http://schemas.openxmlformats.org/officeDocument/2006/relationships/oleObject" Target="../embeddings/oleObject315.bin"/><Relationship Id="rId2" Type="http://schemas.openxmlformats.org/officeDocument/2006/relationships/slideLayout" Target="../slideLayouts/slideLayout9.xml"/><Relationship Id="rId16" Type="http://schemas.openxmlformats.org/officeDocument/2006/relationships/oleObject" Target="../embeddings/oleObject314.bin"/><Relationship Id="rId1" Type="http://schemas.openxmlformats.org/officeDocument/2006/relationships/vmlDrawing" Target="../drawings/vmlDrawing48.vml"/><Relationship Id="rId6" Type="http://schemas.openxmlformats.org/officeDocument/2006/relationships/oleObject" Target="../embeddings/oleObject304.bin"/><Relationship Id="rId11" Type="http://schemas.openxmlformats.org/officeDocument/2006/relationships/oleObject" Target="../embeddings/oleObject309.bin"/><Relationship Id="rId5" Type="http://schemas.openxmlformats.org/officeDocument/2006/relationships/oleObject" Target="../embeddings/oleObject303.bin"/><Relationship Id="rId15" Type="http://schemas.openxmlformats.org/officeDocument/2006/relationships/oleObject" Target="../embeddings/oleObject313.bin"/><Relationship Id="rId10" Type="http://schemas.openxmlformats.org/officeDocument/2006/relationships/oleObject" Target="../embeddings/oleObject308.bin"/><Relationship Id="rId4" Type="http://schemas.openxmlformats.org/officeDocument/2006/relationships/oleObject" Target="../embeddings/oleObject302.bin"/><Relationship Id="rId9" Type="http://schemas.openxmlformats.org/officeDocument/2006/relationships/oleObject" Target="../embeddings/oleObject307.bin"/><Relationship Id="rId14" Type="http://schemas.openxmlformats.org/officeDocument/2006/relationships/oleObject" Target="../embeddings/oleObject312.bin"/></Relationships>
</file>

<file path=ppt/slides/_rels/slide57.xml.rels><?xml version="1.0" encoding="UTF-8" standalone="yes"?>
<Relationships xmlns="http://schemas.openxmlformats.org/package/2006/relationships"><Relationship Id="rId8" Type="http://schemas.openxmlformats.org/officeDocument/2006/relationships/oleObject" Target="../embeddings/oleObject321.bin"/><Relationship Id="rId3" Type="http://schemas.openxmlformats.org/officeDocument/2006/relationships/oleObject" Target="../embeddings/oleObject316.bin"/><Relationship Id="rId7" Type="http://schemas.openxmlformats.org/officeDocument/2006/relationships/oleObject" Target="../embeddings/oleObject320.bin"/><Relationship Id="rId2" Type="http://schemas.openxmlformats.org/officeDocument/2006/relationships/slideLayout" Target="../slideLayouts/slideLayout9.xml"/><Relationship Id="rId1" Type="http://schemas.openxmlformats.org/officeDocument/2006/relationships/vmlDrawing" Target="../drawings/vmlDrawing49.vml"/><Relationship Id="rId6" Type="http://schemas.openxmlformats.org/officeDocument/2006/relationships/oleObject" Target="../embeddings/oleObject319.bin"/><Relationship Id="rId5" Type="http://schemas.openxmlformats.org/officeDocument/2006/relationships/oleObject" Target="../embeddings/oleObject318.bin"/><Relationship Id="rId4" Type="http://schemas.openxmlformats.org/officeDocument/2006/relationships/oleObject" Target="../embeddings/oleObject317.bin"/><Relationship Id="rId9" Type="http://schemas.openxmlformats.org/officeDocument/2006/relationships/oleObject" Target="../embeddings/oleObject322.bin"/></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59.xml.rels><?xml version="1.0" encoding="UTF-8" standalone="yes"?>
<Relationships xmlns="http://schemas.openxmlformats.org/package/2006/relationships"><Relationship Id="rId8" Type="http://schemas.openxmlformats.org/officeDocument/2006/relationships/oleObject" Target="../embeddings/oleObject328.bin"/><Relationship Id="rId13" Type="http://schemas.openxmlformats.org/officeDocument/2006/relationships/oleObject" Target="../embeddings/oleObject333.bin"/><Relationship Id="rId3" Type="http://schemas.openxmlformats.org/officeDocument/2006/relationships/oleObject" Target="../embeddings/oleObject323.bin"/><Relationship Id="rId7" Type="http://schemas.openxmlformats.org/officeDocument/2006/relationships/oleObject" Target="../embeddings/oleObject327.bin"/><Relationship Id="rId12" Type="http://schemas.openxmlformats.org/officeDocument/2006/relationships/oleObject" Target="../embeddings/oleObject332.bin"/><Relationship Id="rId2" Type="http://schemas.openxmlformats.org/officeDocument/2006/relationships/slideLayout" Target="../slideLayouts/slideLayout10.xml"/><Relationship Id="rId1" Type="http://schemas.openxmlformats.org/officeDocument/2006/relationships/vmlDrawing" Target="../drawings/vmlDrawing50.vml"/><Relationship Id="rId6" Type="http://schemas.openxmlformats.org/officeDocument/2006/relationships/oleObject" Target="../embeddings/oleObject326.bin"/><Relationship Id="rId11" Type="http://schemas.openxmlformats.org/officeDocument/2006/relationships/oleObject" Target="../embeddings/oleObject331.bin"/><Relationship Id="rId5" Type="http://schemas.openxmlformats.org/officeDocument/2006/relationships/oleObject" Target="../embeddings/oleObject325.bin"/><Relationship Id="rId15" Type="http://schemas.openxmlformats.org/officeDocument/2006/relationships/oleObject" Target="../embeddings/oleObject335.bin"/><Relationship Id="rId10" Type="http://schemas.openxmlformats.org/officeDocument/2006/relationships/oleObject" Target="../embeddings/oleObject330.bin"/><Relationship Id="rId4" Type="http://schemas.openxmlformats.org/officeDocument/2006/relationships/oleObject" Target="../embeddings/oleObject324.bin"/><Relationship Id="rId9" Type="http://schemas.openxmlformats.org/officeDocument/2006/relationships/oleObject" Target="../embeddings/oleObject329.bin"/><Relationship Id="rId14" Type="http://schemas.openxmlformats.org/officeDocument/2006/relationships/oleObject" Target="../embeddings/oleObject334.bin"/></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0365" name="Rectangle 13">
            <a:hlinkClick r:id="rId2" action="ppaction://hlinksldjump" highlightClick="1">
              <a:snd r:embed="rId3" name="CAMERA.WAV"/>
            </a:hlinkClick>
          </p:cNvPr>
          <p:cNvSpPr>
            <a:spLocks noChangeArrowheads="1"/>
          </p:cNvSpPr>
          <p:nvPr/>
        </p:nvSpPr>
        <p:spPr bwMode="auto">
          <a:xfrm>
            <a:off x="827088" y="1274763"/>
            <a:ext cx="5638800" cy="369887"/>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§7-1  </a:t>
            </a:r>
            <a:r>
              <a:rPr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平衡态  温度  状态方程</a:t>
            </a:r>
          </a:p>
        </p:txBody>
      </p:sp>
      <p:sp>
        <p:nvSpPr>
          <p:cNvPr id="100366" name="Rectangle 14">
            <a:hlinkClick r:id="rId4" action="ppaction://hlinksldjump" highlightClick="1">
              <a:snd r:embed="rId3" name="CAMERA.WAV"/>
            </a:hlinkClick>
          </p:cNvPr>
          <p:cNvSpPr>
            <a:spLocks noChangeArrowheads="1"/>
          </p:cNvSpPr>
          <p:nvPr/>
        </p:nvSpPr>
        <p:spPr bwMode="auto">
          <a:xfrm>
            <a:off x="828675" y="1743075"/>
            <a:ext cx="5637213" cy="369888"/>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§7-2  </a:t>
            </a:r>
            <a:r>
              <a:rPr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理想气体压强公式</a:t>
            </a:r>
          </a:p>
        </p:txBody>
      </p:sp>
      <p:sp>
        <p:nvSpPr>
          <p:cNvPr id="100367" name="Rectangle 15">
            <a:hlinkClick r:id="rId5" action="ppaction://hlinksldjump" highlightClick="1">
              <a:snd r:embed="rId3" name="CAMERA.WAV"/>
            </a:hlinkClick>
          </p:cNvPr>
          <p:cNvSpPr>
            <a:spLocks noChangeArrowheads="1"/>
          </p:cNvSpPr>
          <p:nvPr/>
        </p:nvSpPr>
        <p:spPr bwMode="auto">
          <a:xfrm>
            <a:off x="827088" y="2189163"/>
            <a:ext cx="5638800" cy="369887"/>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§7-3  </a:t>
            </a:r>
            <a:r>
              <a:rPr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温度的统计解释</a:t>
            </a:r>
          </a:p>
        </p:txBody>
      </p:sp>
      <p:sp>
        <p:nvSpPr>
          <p:cNvPr id="100368" name="Rectangle 16">
            <a:hlinkClick r:id="rId6" action="ppaction://hlinksldjump" highlightClick="1">
              <a:snd r:embed="rId3" name="CAMERA.WAV"/>
            </a:hlinkClick>
          </p:cNvPr>
          <p:cNvSpPr>
            <a:spLocks noChangeArrowheads="1"/>
          </p:cNvSpPr>
          <p:nvPr/>
        </p:nvSpPr>
        <p:spPr bwMode="auto">
          <a:xfrm>
            <a:off x="827088" y="2646363"/>
            <a:ext cx="5638800" cy="369887"/>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§7-4  </a:t>
            </a:r>
            <a:r>
              <a:rPr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能量均分原理   内能</a:t>
            </a:r>
          </a:p>
        </p:txBody>
      </p:sp>
      <p:sp>
        <p:nvSpPr>
          <p:cNvPr id="100369" name="Rectangle 17">
            <a:hlinkClick r:id="rId7" action="ppaction://hlinksldjump" highlightClick="1">
              <a:snd r:embed="rId3" name="CAMERA.WAV"/>
            </a:hlinkClick>
          </p:cNvPr>
          <p:cNvSpPr>
            <a:spLocks noChangeArrowheads="1"/>
          </p:cNvSpPr>
          <p:nvPr/>
        </p:nvSpPr>
        <p:spPr bwMode="auto">
          <a:xfrm>
            <a:off x="827088" y="3103563"/>
            <a:ext cx="5638800" cy="369887"/>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§7-5</a:t>
            </a:r>
            <a:r>
              <a:rPr kumimoji="0"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  </a:t>
            </a:r>
            <a:r>
              <a:rPr kumimoji="0"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麦克斯韦速率分布律</a:t>
            </a:r>
          </a:p>
        </p:txBody>
      </p:sp>
      <p:sp>
        <p:nvSpPr>
          <p:cNvPr id="100370" name="Rectangle 18">
            <a:hlinkClick r:id="rId8" action="ppaction://hlinksldjump" highlightClick="1">
              <a:snd r:embed="rId3" name="CAMERA.WAV"/>
            </a:hlinkClick>
          </p:cNvPr>
          <p:cNvSpPr>
            <a:spLocks noChangeArrowheads="1"/>
          </p:cNvSpPr>
          <p:nvPr/>
        </p:nvSpPr>
        <p:spPr bwMode="auto">
          <a:xfrm>
            <a:off x="827088" y="3560763"/>
            <a:ext cx="5638800" cy="369887"/>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eaLnBrk="0" hangingPunct="0">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§7-6*  </a:t>
            </a:r>
            <a:r>
              <a:rPr kumimoji="0"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玻尔兹曼分布律</a:t>
            </a:r>
          </a:p>
        </p:txBody>
      </p:sp>
      <p:sp>
        <p:nvSpPr>
          <p:cNvPr id="100371" name="Rectangle 19">
            <a:hlinkClick r:id="rId9" action="ppaction://hlinksldjump" highlightClick="1">
              <a:snd r:embed="rId3" name="CAMERA.WAV"/>
            </a:hlinkClick>
          </p:cNvPr>
          <p:cNvSpPr>
            <a:spLocks noChangeArrowheads="1"/>
          </p:cNvSpPr>
          <p:nvPr/>
        </p:nvSpPr>
        <p:spPr bwMode="auto">
          <a:xfrm>
            <a:off x="828675" y="4017963"/>
            <a:ext cx="6054725" cy="369887"/>
          </a:xfrm>
          <a:prstGeom prst="rect">
            <a:avLst/>
          </a:prstGeom>
          <a:noFill/>
          <a:ln w="9525">
            <a:noFill/>
            <a:miter lim="800000"/>
            <a:headEnd/>
            <a:tailEnd/>
          </a:ln>
          <a:effectLst>
            <a:prstShdw prst="shdw17" dist="17961" dir="2700000">
              <a:srgbClr val="FF7C80">
                <a:gamma/>
                <a:shade val="60000"/>
                <a:invGamma/>
              </a:srgbClr>
            </a:prstShdw>
          </a:effectLst>
        </p:spPr>
        <p:txBody>
          <a:bodyPr>
            <a:spAutoFit/>
          </a:bodyPr>
          <a:lstStyle/>
          <a:p>
            <a:pPr>
              <a:defRPr/>
            </a:pPr>
            <a:r>
              <a:rPr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§7-7</a:t>
            </a:r>
            <a:r>
              <a:rPr kumimoji="0" lang="en-US" altLang="zh-CN" sz="1800" b="1" dirty="0">
                <a:solidFill>
                  <a:srgbClr val="0000FF"/>
                </a:solidFill>
                <a:effectLst>
                  <a:outerShdw blurRad="38100" dist="38100" dir="2700000" algn="tl">
                    <a:srgbClr val="C0C0C0"/>
                  </a:outerShdw>
                </a:effectLst>
                <a:latin typeface="华文中宋" pitchFamily="2" charset="-122"/>
                <a:ea typeface="华文中宋" pitchFamily="2" charset="-122"/>
              </a:rPr>
              <a:t>  </a:t>
            </a:r>
            <a:r>
              <a:rPr kumimoji="0" lang="zh-CN" altLang="en-US" sz="1800" b="1" dirty="0">
                <a:solidFill>
                  <a:srgbClr val="0000FF"/>
                </a:solidFill>
                <a:effectLst>
                  <a:outerShdw blurRad="38100" dist="38100" dir="2700000" algn="tl">
                    <a:srgbClr val="C0C0C0"/>
                  </a:outerShdw>
                </a:effectLst>
                <a:latin typeface="华文中宋" pitchFamily="2" charset="-122"/>
                <a:ea typeface="华文中宋" pitchFamily="2" charset="-122"/>
              </a:rPr>
              <a:t>平均碰撞次数  平均自由程</a:t>
            </a:r>
          </a:p>
        </p:txBody>
      </p:sp>
      <p:pic>
        <p:nvPicPr>
          <p:cNvPr id="13321" name="Picture 5" descr="http://upload.wikimedia.org/wikipedia/commons/6/6d/Translational_motion.gif">
            <a:hlinkClick r:id="rId10"/>
          </p:cNvPr>
          <p:cNvPicPr>
            <a:picLocks noChangeAspect="1" noChangeArrowheads="1" noCrop="1"/>
          </p:cNvPicPr>
          <p:nvPr/>
        </p:nvPicPr>
        <p:blipFill>
          <a:blip r:embed="rId11" cstate="print">
            <a:extLst>
              <a:ext uri="{28A0092B-C50C-407E-A947-70E740481C1C}">
                <a14:useLocalDpi xmlns:a14="http://schemas.microsoft.com/office/drawing/2010/main" xmlns="" val="0"/>
              </a:ext>
            </a:extLst>
          </a:blip>
          <a:srcRect/>
          <a:stretch>
            <a:fillRect/>
          </a:stretch>
        </p:blipFill>
        <p:spPr bwMode="auto">
          <a:xfrm>
            <a:off x="6156325" y="1881188"/>
            <a:ext cx="2857500" cy="1879600"/>
          </a:xfrm>
          <a:prstGeom prst="rect">
            <a:avLst/>
          </a:prstGeom>
          <a:noFill/>
          <a:ln w="9525">
            <a:solidFill>
              <a:srgbClr val="FF00FF"/>
            </a:solidFill>
            <a:miter lim="800000"/>
            <a:headEnd/>
            <a:tailEnd/>
          </a:ln>
          <a:extLst>
            <a:ext uri="{909E8E84-426E-40DD-AFC4-6F175D3DCCD1}">
              <a14:hiddenFill xmlns:a14="http://schemas.microsoft.com/office/drawing/2010/main" xmlns="">
                <a:solidFill>
                  <a:srgbClr val="FFFFFF"/>
                </a:solidFill>
              </a14:hiddenFill>
            </a:ext>
          </a:extLst>
        </p:spPr>
      </p:pic>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83" name="Rectangle 663"/>
          <p:cNvSpPr>
            <a:spLocks noChangeArrowheads="1"/>
          </p:cNvSpPr>
          <p:nvPr/>
        </p:nvSpPr>
        <p:spPr bwMode="auto">
          <a:xfrm>
            <a:off x="228600" y="1344613"/>
            <a:ext cx="268605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1800" b="1">
                <a:solidFill>
                  <a:schemeClr val="accent2"/>
                </a:solidFill>
                <a:latin typeface="华文中宋" pitchFamily="2" charset="-122"/>
                <a:ea typeface="华文中宋" pitchFamily="2" charset="-122"/>
              </a:rPr>
              <a:t> 1</a:t>
            </a:r>
            <a:r>
              <a:rPr lang="zh-CN" altLang="en-US" sz="1800" b="1">
                <a:solidFill>
                  <a:schemeClr val="accent2"/>
                </a:solidFill>
                <a:latin typeface="华文中宋" pitchFamily="2" charset="-122"/>
                <a:ea typeface="华文中宋" pitchFamily="2" charset="-122"/>
              </a:rPr>
              <a:t>、热力学系统</a:t>
            </a:r>
            <a:endParaRPr lang="zh-CN" altLang="en-US" sz="1800" b="1">
              <a:latin typeface="华文中宋" pitchFamily="2" charset="-122"/>
              <a:ea typeface="华文中宋" pitchFamily="2" charset="-122"/>
            </a:endParaRPr>
          </a:p>
        </p:txBody>
      </p:sp>
      <p:sp>
        <p:nvSpPr>
          <p:cNvPr id="5784" name="Rectangle 664"/>
          <p:cNvSpPr>
            <a:spLocks noChangeArrowheads="1"/>
          </p:cNvSpPr>
          <p:nvPr/>
        </p:nvSpPr>
        <p:spPr bwMode="auto">
          <a:xfrm>
            <a:off x="381000" y="2101850"/>
            <a:ext cx="33972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solidFill>
                  <a:schemeClr val="accent2"/>
                </a:solidFill>
                <a:latin typeface="华文中宋" pitchFamily="2" charset="-122"/>
                <a:ea typeface="华文中宋" pitchFamily="2" charset="-122"/>
              </a:rPr>
              <a:t>热力学系统分类</a:t>
            </a:r>
          </a:p>
        </p:txBody>
      </p:sp>
      <p:sp>
        <p:nvSpPr>
          <p:cNvPr id="5785" name="Text Box 665"/>
          <p:cNvSpPr txBox="1">
            <a:spLocks noChangeArrowheads="1"/>
          </p:cNvSpPr>
          <p:nvPr/>
        </p:nvSpPr>
        <p:spPr bwMode="auto">
          <a:xfrm>
            <a:off x="369888" y="2444750"/>
            <a:ext cx="83058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9933FF"/>
                </a:solidFill>
                <a:latin typeface="华文中宋" pitchFamily="2" charset="-122"/>
                <a:ea typeface="华文中宋" pitchFamily="2" charset="-122"/>
              </a:rPr>
              <a:t>根据系统与外界交换能量或物质的特点，可以分为三种：</a:t>
            </a:r>
          </a:p>
        </p:txBody>
      </p:sp>
      <p:sp>
        <p:nvSpPr>
          <p:cNvPr id="5786" name="Text Box 666"/>
          <p:cNvSpPr txBox="1">
            <a:spLocks noChangeArrowheads="1"/>
          </p:cNvSpPr>
          <p:nvPr/>
        </p:nvSpPr>
        <p:spPr bwMode="auto">
          <a:xfrm>
            <a:off x="152400" y="2787650"/>
            <a:ext cx="89916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（１）孤立系统：与外界既无能量交换，又无物质交换的系统</a:t>
            </a:r>
          </a:p>
        </p:txBody>
      </p:sp>
      <p:sp>
        <p:nvSpPr>
          <p:cNvPr id="5787" name="Text Box 667"/>
          <p:cNvSpPr txBox="1">
            <a:spLocks noChangeArrowheads="1"/>
          </p:cNvSpPr>
          <p:nvPr/>
        </p:nvSpPr>
        <p:spPr bwMode="auto">
          <a:xfrm>
            <a:off x="152400" y="3113088"/>
            <a:ext cx="89916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（２）封闭系统：与外界只有能量交换，但无物质交换的系统</a:t>
            </a:r>
          </a:p>
        </p:txBody>
      </p:sp>
      <p:sp>
        <p:nvSpPr>
          <p:cNvPr id="5788" name="Text Box 668"/>
          <p:cNvSpPr txBox="1">
            <a:spLocks noChangeArrowheads="1"/>
          </p:cNvSpPr>
          <p:nvPr/>
        </p:nvSpPr>
        <p:spPr bwMode="auto">
          <a:xfrm>
            <a:off x="152400" y="3436938"/>
            <a:ext cx="89916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（３）开放系统：与外界既有能量交换，又有物质交换的系统</a:t>
            </a:r>
          </a:p>
        </p:txBody>
      </p:sp>
      <p:sp>
        <p:nvSpPr>
          <p:cNvPr id="5791" name="Rectangle 671"/>
          <p:cNvSpPr>
            <a:spLocks noChangeArrowheads="1"/>
          </p:cNvSpPr>
          <p:nvPr/>
        </p:nvSpPr>
        <p:spPr bwMode="auto">
          <a:xfrm>
            <a:off x="381000" y="1725613"/>
            <a:ext cx="8534400" cy="341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90000"/>
              </a:lnSpc>
              <a:spcBef>
                <a:spcPct val="50000"/>
              </a:spcBef>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由大量微观粒子（分子、原子等微观粒子）所组成的宏观物体或系统。</a:t>
            </a:r>
          </a:p>
        </p:txBody>
      </p:sp>
      <p:sp>
        <p:nvSpPr>
          <p:cNvPr id="5807" name="Text Box 687"/>
          <p:cNvSpPr txBox="1">
            <a:spLocks noChangeArrowheads="1"/>
          </p:cNvSpPr>
          <p:nvPr/>
        </p:nvSpPr>
        <p:spPr bwMode="auto">
          <a:xfrm>
            <a:off x="369888" y="3849688"/>
            <a:ext cx="83058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9933FF"/>
                </a:solidFill>
                <a:latin typeface="华文中宋" pitchFamily="2" charset="-122"/>
                <a:ea typeface="华文中宋" pitchFamily="2" charset="-122"/>
              </a:rPr>
              <a:t>根据系统所处状态，可分为：</a:t>
            </a:r>
            <a:r>
              <a:rPr lang="zh-CN" altLang="en-US" sz="1800" b="1">
                <a:solidFill>
                  <a:srgbClr val="FF0000"/>
                </a:solidFill>
                <a:latin typeface="华文中宋" pitchFamily="2" charset="-122"/>
                <a:ea typeface="华文中宋" pitchFamily="2" charset="-122"/>
              </a:rPr>
              <a:t>平衡态系统</a:t>
            </a:r>
            <a:r>
              <a:rPr lang="zh-CN" altLang="en-US" sz="1800" b="1">
                <a:solidFill>
                  <a:srgbClr val="9933FF"/>
                </a:solidFill>
                <a:latin typeface="华文中宋" pitchFamily="2" charset="-122"/>
                <a:ea typeface="华文中宋" pitchFamily="2" charset="-122"/>
              </a:rPr>
              <a:t>与</a:t>
            </a:r>
            <a:r>
              <a:rPr lang="zh-CN" altLang="en-US" sz="1800" b="1">
                <a:solidFill>
                  <a:srgbClr val="FF0000"/>
                </a:solidFill>
                <a:latin typeface="华文中宋" pitchFamily="2" charset="-122"/>
                <a:ea typeface="华文中宋" pitchFamily="2" charset="-122"/>
              </a:rPr>
              <a:t>非平衡态系统</a:t>
            </a:r>
          </a:p>
        </p:txBody>
      </p:sp>
      <p:sp>
        <p:nvSpPr>
          <p:cNvPr id="5808" name="Text Box 688"/>
          <p:cNvSpPr txBox="1">
            <a:spLocks noChangeArrowheads="1"/>
          </p:cNvSpPr>
          <p:nvPr/>
        </p:nvSpPr>
        <p:spPr bwMode="auto">
          <a:xfrm>
            <a:off x="179388" y="4170363"/>
            <a:ext cx="84582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a:t>
            </a:r>
            <a:r>
              <a:rPr lang="en-US" altLang="zh-CN" sz="1800" b="1">
                <a:latin typeface="华文中宋" pitchFamily="2" charset="-122"/>
                <a:ea typeface="华文中宋" pitchFamily="2" charset="-122"/>
              </a:rPr>
              <a:t>1</a:t>
            </a:r>
            <a:r>
              <a:rPr lang="zh-CN" altLang="en-US" sz="1800" b="1">
                <a:latin typeface="华文中宋" pitchFamily="2" charset="-122"/>
                <a:ea typeface="华文中宋" pitchFamily="2" charset="-122"/>
              </a:rPr>
              <a:t>）平衡态系统：在不受外界影响的条件下，宏观性质不随时间变化的系统</a:t>
            </a:r>
            <a:endParaRPr lang="zh-CN" altLang="en-US" sz="1800" b="1">
              <a:solidFill>
                <a:srgbClr val="0000FF"/>
              </a:solidFill>
              <a:latin typeface="华文中宋" pitchFamily="2" charset="-122"/>
              <a:ea typeface="华文中宋" pitchFamily="2" charset="-122"/>
            </a:endParaRPr>
          </a:p>
        </p:txBody>
      </p:sp>
      <p:sp>
        <p:nvSpPr>
          <p:cNvPr id="14347" name="Text Box 2"/>
          <p:cNvSpPr>
            <a:spLocks noChangeArrowheads="1"/>
          </p:cNvSpPr>
          <p:nvPr/>
        </p:nvSpPr>
        <p:spPr bwMode="auto">
          <a:xfrm>
            <a:off x="839788" y="874713"/>
            <a:ext cx="3084512" cy="400050"/>
          </a:xfrm>
          <a:prstGeom prst="homePlate">
            <a:avLst>
              <a:gd name="adj" fmla="val 49903"/>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一、热力学系统  平衡态</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5783"/>
                                        </p:tgtEl>
                                        <p:attrNameLst>
                                          <p:attrName>style.visibility</p:attrName>
                                        </p:attrNameLst>
                                      </p:cBhvr>
                                      <p:to>
                                        <p:strVal val="visible"/>
                                      </p:to>
                                    </p:set>
                                    <p:animEffect transition="in" filter="checkerboard(across)">
                                      <p:cBhvr>
                                        <p:cTn id="7" dur="500"/>
                                        <p:tgtEl>
                                          <p:spTgt spid="578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5791"/>
                                        </p:tgtEl>
                                        <p:attrNameLst>
                                          <p:attrName>style.visibility</p:attrName>
                                        </p:attrNameLst>
                                      </p:cBhvr>
                                      <p:to>
                                        <p:strVal val="visible"/>
                                      </p:to>
                                    </p:set>
                                    <p:animEffect transition="in" filter="checkerboard(across)">
                                      <p:cBhvr>
                                        <p:cTn id="12" dur="500"/>
                                        <p:tgtEl>
                                          <p:spTgt spid="579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5784"/>
                                        </p:tgtEl>
                                        <p:attrNameLst>
                                          <p:attrName>style.visibility</p:attrName>
                                        </p:attrNameLst>
                                      </p:cBhvr>
                                      <p:to>
                                        <p:strVal val="visible"/>
                                      </p:to>
                                    </p:set>
                                    <p:animEffect transition="in" filter="checkerboard(across)">
                                      <p:cBhvr>
                                        <p:cTn id="17" dur="500"/>
                                        <p:tgtEl>
                                          <p:spTgt spid="578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grpId="0" nodeType="clickEffect">
                                  <p:stCondLst>
                                    <p:cond delay="0"/>
                                  </p:stCondLst>
                                  <p:childTnLst>
                                    <p:set>
                                      <p:cBhvr>
                                        <p:cTn id="21" dur="1" fill="hold">
                                          <p:stCondLst>
                                            <p:cond delay="0"/>
                                          </p:stCondLst>
                                        </p:cTn>
                                        <p:tgtEl>
                                          <p:spTgt spid="5785"/>
                                        </p:tgtEl>
                                        <p:attrNameLst>
                                          <p:attrName>style.visibility</p:attrName>
                                        </p:attrNameLst>
                                      </p:cBhvr>
                                      <p:to>
                                        <p:strVal val="visible"/>
                                      </p:to>
                                    </p:set>
                                    <p:animEffect transition="in" filter="checkerboard(across)">
                                      <p:cBhvr>
                                        <p:cTn id="22" dur="500"/>
                                        <p:tgtEl>
                                          <p:spTgt spid="578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grpId="0" nodeType="clickEffect">
                                  <p:stCondLst>
                                    <p:cond delay="0"/>
                                  </p:stCondLst>
                                  <p:childTnLst>
                                    <p:set>
                                      <p:cBhvr>
                                        <p:cTn id="26" dur="1" fill="hold">
                                          <p:stCondLst>
                                            <p:cond delay="0"/>
                                          </p:stCondLst>
                                        </p:cTn>
                                        <p:tgtEl>
                                          <p:spTgt spid="5786"/>
                                        </p:tgtEl>
                                        <p:attrNameLst>
                                          <p:attrName>style.visibility</p:attrName>
                                        </p:attrNameLst>
                                      </p:cBhvr>
                                      <p:to>
                                        <p:strVal val="visible"/>
                                      </p:to>
                                    </p:set>
                                    <p:animEffect transition="in" filter="checkerboard(across)">
                                      <p:cBhvr>
                                        <p:cTn id="27" dur="500"/>
                                        <p:tgtEl>
                                          <p:spTgt spid="5786"/>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5787"/>
                                        </p:tgtEl>
                                        <p:attrNameLst>
                                          <p:attrName>style.visibility</p:attrName>
                                        </p:attrNameLst>
                                      </p:cBhvr>
                                      <p:to>
                                        <p:strVal val="visible"/>
                                      </p:to>
                                    </p:set>
                                    <p:animEffect transition="in" filter="checkerboard(across)">
                                      <p:cBhvr>
                                        <p:cTn id="32" dur="500"/>
                                        <p:tgtEl>
                                          <p:spTgt spid="578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5" presetClass="entr" presetSubtype="10" fill="hold" grpId="0" nodeType="clickEffect">
                                  <p:stCondLst>
                                    <p:cond delay="0"/>
                                  </p:stCondLst>
                                  <p:childTnLst>
                                    <p:set>
                                      <p:cBhvr>
                                        <p:cTn id="36" dur="1" fill="hold">
                                          <p:stCondLst>
                                            <p:cond delay="0"/>
                                          </p:stCondLst>
                                        </p:cTn>
                                        <p:tgtEl>
                                          <p:spTgt spid="5788"/>
                                        </p:tgtEl>
                                        <p:attrNameLst>
                                          <p:attrName>style.visibility</p:attrName>
                                        </p:attrNameLst>
                                      </p:cBhvr>
                                      <p:to>
                                        <p:strVal val="visible"/>
                                      </p:to>
                                    </p:set>
                                    <p:animEffect transition="in" filter="checkerboard(across)">
                                      <p:cBhvr>
                                        <p:cTn id="37" dur="500"/>
                                        <p:tgtEl>
                                          <p:spTgt spid="5788"/>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5" presetClass="entr" presetSubtype="10" fill="hold" grpId="0" nodeType="clickEffect">
                                  <p:stCondLst>
                                    <p:cond delay="0"/>
                                  </p:stCondLst>
                                  <p:childTnLst>
                                    <p:set>
                                      <p:cBhvr>
                                        <p:cTn id="41" dur="1" fill="hold">
                                          <p:stCondLst>
                                            <p:cond delay="0"/>
                                          </p:stCondLst>
                                        </p:cTn>
                                        <p:tgtEl>
                                          <p:spTgt spid="5807"/>
                                        </p:tgtEl>
                                        <p:attrNameLst>
                                          <p:attrName>style.visibility</p:attrName>
                                        </p:attrNameLst>
                                      </p:cBhvr>
                                      <p:to>
                                        <p:strVal val="visible"/>
                                      </p:to>
                                    </p:set>
                                    <p:animEffect transition="in" filter="checkerboard(across)">
                                      <p:cBhvr>
                                        <p:cTn id="42" dur="500"/>
                                        <p:tgtEl>
                                          <p:spTgt spid="5807"/>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5" presetClass="entr" presetSubtype="10" fill="hold" grpId="0" nodeType="clickEffect">
                                  <p:stCondLst>
                                    <p:cond delay="0"/>
                                  </p:stCondLst>
                                  <p:childTnLst>
                                    <p:set>
                                      <p:cBhvr>
                                        <p:cTn id="46" dur="1" fill="hold">
                                          <p:stCondLst>
                                            <p:cond delay="0"/>
                                          </p:stCondLst>
                                        </p:cTn>
                                        <p:tgtEl>
                                          <p:spTgt spid="5808"/>
                                        </p:tgtEl>
                                        <p:attrNameLst>
                                          <p:attrName>style.visibility</p:attrName>
                                        </p:attrNameLst>
                                      </p:cBhvr>
                                      <p:to>
                                        <p:strVal val="visible"/>
                                      </p:to>
                                    </p:set>
                                    <p:animEffect transition="in" filter="checkerboard(across)">
                                      <p:cBhvr>
                                        <p:cTn id="47" dur="500"/>
                                        <p:tgtEl>
                                          <p:spTgt spid="58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83" grpId="0" autoUpdateAnimBg="0"/>
      <p:bldP spid="5784" grpId="0" autoUpdateAnimBg="0"/>
      <p:bldP spid="5785" grpId="0" autoUpdateAnimBg="0"/>
      <p:bldP spid="5786" grpId="0" autoUpdateAnimBg="0"/>
      <p:bldP spid="5787" grpId="0" autoUpdateAnimBg="0"/>
      <p:bldP spid="5788" grpId="0" autoUpdateAnimBg="0"/>
      <p:bldP spid="5791" grpId="0" autoUpdateAnimBg="0"/>
      <p:bldP spid="5807" grpId="0" autoUpdateAnimBg="0"/>
      <p:bldP spid="5808" grpId="0" autoUpdateAnimBg="0"/>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ext Box 2"/>
          <p:cNvSpPr txBox="1">
            <a:spLocks noChangeArrowheads="1"/>
          </p:cNvSpPr>
          <p:nvPr/>
        </p:nvSpPr>
        <p:spPr bwMode="auto">
          <a:xfrm>
            <a:off x="34925" y="835025"/>
            <a:ext cx="1008063"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chemeClr val="accent2"/>
                </a:solidFill>
                <a:latin typeface="华文中宋" pitchFamily="2" charset="-122"/>
                <a:ea typeface="华文中宋" pitchFamily="2" charset="-122"/>
              </a:rPr>
              <a:t>注意：</a:t>
            </a:r>
          </a:p>
        </p:txBody>
      </p:sp>
      <p:sp>
        <p:nvSpPr>
          <p:cNvPr id="24579" name="Text Box 3"/>
          <p:cNvSpPr txBox="1">
            <a:spLocks noChangeArrowheads="1"/>
          </p:cNvSpPr>
          <p:nvPr/>
        </p:nvSpPr>
        <p:spPr bwMode="auto">
          <a:xfrm>
            <a:off x="722313" y="1338263"/>
            <a:ext cx="7450137"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8000"/>
                </a:solidFill>
                <a:latin typeface="华文中宋" pitchFamily="2" charset="-122"/>
                <a:ea typeface="华文中宋" pitchFamily="2" charset="-122"/>
              </a:rPr>
              <a:t>系统与外界在宏观上无能量与物质的交换</a:t>
            </a:r>
          </a:p>
        </p:txBody>
      </p:sp>
      <p:sp>
        <p:nvSpPr>
          <p:cNvPr id="24580" name="Text Box 4"/>
          <p:cNvSpPr txBox="1">
            <a:spLocks noChangeArrowheads="1"/>
          </p:cNvSpPr>
          <p:nvPr/>
        </p:nvSpPr>
        <p:spPr bwMode="auto">
          <a:xfrm>
            <a:off x="793750" y="2994025"/>
            <a:ext cx="69469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8000"/>
                </a:solidFill>
                <a:latin typeface="华文中宋" pitchFamily="2" charset="-122"/>
                <a:ea typeface="华文中宋" pitchFamily="2" charset="-122"/>
              </a:rPr>
              <a:t>系统的宏观性质不随时间变化</a:t>
            </a:r>
          </a:p>
        </p:txBody>
      </p:sp>
      <p:sp>
        <p:nvSpPr>
          <p:cNvPr id="15365" name="Rectangle 10"/>
          <p:cNvSpPr>
            <a:spLocks noChangeArrowheads="1"/>
          </p:cNvSpPr>
          <p:nvPr/>
        </p:nvSpPr>
        <p:spPr bwMode="auto">
          <a:xfrm>
            <a:off x="539750" y="1050925"/>
            <a:ext cx="4014788"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1800" b="1">
                <a:solidFill>
                  <a:srgbClr val="FF0000"/>
                </a:solidFill>
                <a:latin typeface="华文中宋" pitchFamily="2" charset="-122"/>
                <a:ea typeface="华文中宋" pitchFamily="2" charset="-122"/>
              </a:rPr>
              <a:t>1</a:t>
            </a:r>
            <a:r>
              <a:rPr lang="zh-CN" altLang="en-US" sz="1800" b="1">
                <a:solidFill>
                  <a:srgbClr val="FF0000"/>
                </a:solidFill>
                <a:latin typeface="华文中宋" pitchFamily="2" charset="-122"/>
                <a:ea typeface="华文中宋" pitchFamily="2" charset="-122"/>
              </a:rPr>
              <a:t>）平衡态系统的两个条件：</a:t>
            </a:r>
          </a:p>
        </p:txBody>
      </p:sp>
      <p:grpSp>
        <p:nvGrpSpPr>
          <p:cNvPr id="2" name="组合 17"/>
          <p:cNvGrpSpPr>
            <a:grpSpLocks/>
          </p:cNvGrpSpPr>
          <p:nvPr/>
        </p:nvGrpSpPr>
        <p:grpSpPr bwMode="auto">
          <a:xfrm>
            <a:off x="1501775" y="1720850"/>
            <a:ext cx="2386013" cy="877888"/>
            <a:chOff x="1286635" y="1088740"/>
            <a:chExt cx="2385265" cy="1170130"/>
          </a:xfrm>
        </p:grpSpPr>
        <p:sp>
          <p:nvSpPr>
            <p:cNvPr id="15383" name="Text Box 10"/>
            <p:cNvSpPr txBox="1">
              <a:spLocks noChangeArrowheads="1"/>
            </p:cNvSpPr>
            <p:nvPr/>
          </p:nvSpPr>
          <p:spPr bwMode="auto">
            <a:xfrm>
              <a:off x="1286635" y="1088740"/>
              <a:ext cx="761508" cy="4307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latin typeface="华文中宋" pitchFamily="2" charset="-122"/>
                  <a:ea typeface="华文中宋" pitchFamily="2" charset="-122"/>
                </a:rPr>
                <a:t>绝热壁</a:t>
              </a:r>
            </a:p>
          </p:txBody>
        </p:sp>
        <p:sp>
          <p:nvSpPr>
            <p:cNvPr id="15384" name="Line 11"/>
            <p:cNvSpPr>
              <a:spLocks noChangeShapeType="1"/>
            </p:cNvSpPr>
            <p:nvPr/>
          </p:nvSpPr>
          <p:spPr bwMode="auto">
            <a:xfrm>
              <a:off x="1961710" y="1403774"/>
              <a:ext cx="161925" cy="245985"/>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15385" name="矩形 13"/>
            <p:cNvSpPr>
              <a:spLocks noChangeArrowheads="1"/>
            </p:cNvSpPr>
            <p:nvPr/>
          </p:nvSpPr>
          <p:spPr bwMode="auto">
            <a:xfrm>
              <a:off x="1511660" y="1628800"/>
              <a:ext cx="2160240" cy="630070"/>
            </a:xfrm>
            <a:prstGeom prst="rect">
              <a:avLst/>
            </a:prstGeom>
            <a:pattFill prst="ltUpDiag">
              <a:fgClr>
                <a:schemeClr val="tx1"/>
              </a:fgClr>
              <a:bgClr>
                <a:schemeClr val="bg1"/>
              </a:bgClr>
            </a:pattFill>
            <a:ln w="19050" algn="ctr">
              <a:solidFill>
                <a:schemeClr val="tx1"/>
              </a:solidFill>
              <a:round/>
              <a:headEnd/>
              <a:tailEnd/>
            </a:ln>
          </p:spPr>
          <p:txBody>
            <a:bodyPr/>
            <a:lstStyle/>
            <a:p>
              <a:endParaRPr kumimoji="0" lang="zh-CN" altLang="zh-CN" sz="2800" b="1">
                <a:latin typeface="华文中宋" pitchFamily="2" charset="-122"/>
                <a:ea typeface="华文中宋" pitchFamily="2" charset="-122"/>
              </a:endParaRPr>
            </a:p>
          </p:txBody>
        </p:sp>
        <p:sp>
          <p:nvSpPr>
            <p:cNvPr id="15386" name="矩形 14"/>
            <p:cNvSpPr>
              <a:spLocks noChangeArrowheads="1"/>
            </p:cNvSpPr>
            <p:nvPr/>
          </p:nvSpPr>
          <p:spPr bwMode="auto">
            <a:xfrm>
              <a:off x="1556665" y="1673806"/>
              <a:ext cx="2070230" cy="540060"/>
            </a:xfrm>
            <a:prstGeom prst="rect">
              <a:avLst/>
            </a:prstGeom>
            <a:solidFill>
              <a:srgbClr val="FF0000"/>
            </a:solidFill>
            <a:ln w="19050" algn="ctr">
              <a:solidFill>
                <a:schemeClr val="tx1"/>
              </a:solidFill>
              <a:round/>
              <a:headEnd/>
              <a:tailEnd/>
            </a:ln>
          </p:spPr>
          <p:txBody>
            <a:bodyPr/>
            <a:lstStyle/>
            <a:p>
              <a:endParaRPr kumimoji="0" lang="zh-CN" altLang="zh-CN" sz="2800" b="1">
                <a:latin typeface="华文中宋" pitchFamily="2" charset="-122"/>
                <a:ea typeface="华文中宋" pitchFamily="2" charset="-122"/>
              </a:endParaRPr>
            </a:p>
          </p:txBody>
        </p:sp>
        <p:sp>
          <p:nvSpPr>
            <p:cNvPr id="15387" name="Text Box 17"/>
            <p:cNvSpPr txBox="1">
              <a:spLocks noChangeArrowheads="1"/>
            </p:cNvSpPr>
            <p:nvPr/>
          </p:nvSpPr>
          <p:spPr bwMode="auto">
            <a:xfrm>
              <a:off x="2232489" y="1763510"/>
              <a:ext cx="764935" cy="43077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solidFill>
                    <a:srgbClr val="0000FF"/>
                  </a:solidFill>
                  <a:latin typeface="华文中宋" pitchFamily="2" charset="-122"/>
                  <a:ea typeface="华文中宋" pitchFamily="2" charset="-122"/>
                </a:rPr>
                <a:t>系统</a:t>
              </a:r>
            </a:p>
          </p:txBody>
        </p:sp>
      </p:grpSp>
      <p:grpSp>
        <p:nvGrpSpPr>
          <p:cNvPr id="3" name="组合 42"/>
          <p:cNvGrpSpPr>
            <a:grpSpLocks/>
          </p:cNvGrpSpPr>
          <p:nvPr/>
        </p:nvGrpSpPr>
        <p:grpSpPr bwMode="auto">
          <a:xfrm>
            <a:off x="4292600" y="1754188"/>
            <a:ext cx="3087688" cy="844550"/>
            <a:chOff x="4076945" y="1223755"/>
            <a:chExt cx="3087884" cy="1125125"/>
          </a:xfrm>
        </p:grpSpPr>
        <p:sp>
          <p:nvSpPr>
            <p:cNvPr id="15374" name="Text Box 10"/>
            <p:cNvSpPr txBox="1">
              <a:spLocks noChangeArrowheads="1"/>
            </p:cNvSpPr>
            <p:nvPr/>
          </p:nvSpPr>
          <p:spPr bwMode="auto">
            <a:xfrm>
              <a:off x="4076945" y="1223755"/>
              <a:ext cx="881897" cy="4305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latin typeface="华文中宋" pitchFamily="2" charset="-122"/>
                  <a:ea typeface="华文中宋" pitchFamily="2" charset="-122"/>
                </a:rPr>
                <a:t>恒温器</a:t>
              </a:r>
              <a:r>
                <a:rPr lang="en-US" altLang="zh-CN" sz="1500" b="1">
                  <a:latin typeface="华文中宋" pitchFamily="2" charset="-122"/>
                  <a:ea typeface="华文中宋" pitchFamily="2" charset="-122"/>
                </a:rPr>
                <a:t>1</a:t>
              </a:r>
            </a:p>
          </p:txBody>
        </p:sp>
        <p:sp>
          <p:nvSpPr>
            <p:cNvPr id="15375" name="矩形 34"/>
            <p:cNvSpPr>
              <a:spLocks noChangeArrowheads="1"/>
            </p:cNvSpPr>
            <p:nvPr/>
          </p:nvSpPr>
          <p:spPr bwMode="auto">
            <a:xfrm>
              <a:off x="4526995" y="1718810"/>
              <a:ext cx="2160240" cy="630070"/>
            </a:xfrm>
            <a:prstGeom prst="rect">
              <a:avLst/>
            </a:prstGeom>
            <a:pattFill prst="ltUpDiag">
              <a:fgClr>
                <a:schemeClr val="tx1"/>
              </a:fgClr>
              <a:bgClr>
                <a:schemeClr val="bg1"/>
              </a:bgClr>
            </a:pattFill>
            <a:ln w="19050" algn="ctr">
              <a:solidFill>
                <a:schemeClr val="tx1"/>
              </a:solidFill>
              <a:round/>
              <a:headEnd/>
              <a:tailEnd/>
            </a:ln>
          </p:spPr>
          <p:txBody>
            <a:bodyPr/>
            <a:lstStyle/>
            <a:p>
              <a:endParaRPr kumimoji="0" lang="zh-CN" altLang="zh-CN" sz="2800" b="1">
                <a:latin typeface="华文中宋" pitchFamily="2" charset="-122"/>
                <a:ea typeface="华文中宋" pitchFamily="2" charset="-122"/>
              </a:endParaRPr>
            </a:p>
          </p:txBody>
        </p:sp>
        <p:sp>
          <p:nvSpPr>
            <p:cNvPr id="15376" name="矩形 35"/>
            <p:cNvSpPr>
              <a:spLocks noChangeArrowheads="1"/>
            </p:cNvSpPr>
            <p:nvPr/>
          </p:nvSpPr>
          <p:spPr bwMode="auto">
            <a:xfrm>
              <a:off x="4572000" y="1763816"/>
              <a:ext cx="2070230" cy="540060"/>
            </a:xfrm>
            <a:prstGeom prst="rect">
              <a:avLst/>
            </a:prstGeom>
            <a:gradFill rotWithShape="1">
              <a:gsLst>
                <a:gs pos="0">
                  <a:srgbClr val="FFF200"/>
                </a:gs>
                <a:gs pos="53999">
                  <a:srgbClr val="FF7A00"/>
                </a:gs>
                <a:gs pos="100000">
                  <a:srgbClr val="FF0300"/>
                </a:gs>
                <a:gs pos="100000">
                  <a:srgbClr val="4D0808"/>
                </a:gs>
              </a:gsLst>
              <a:lin ang="10800000" scaled="1"/>
            </a:gradFill>
            <a:ln w="19050" algn="ctr">
              <a:solidFill>
                <a:schemeClr val="tx1"/>
              </a:solidFill>
              <a:round/>
              <a:headEnd/>
              <a:tailEnd/>
            </a:ln>
          </p:spPr>
          <p:txBody>
            <a:bodyPr/>
            <a:lstStyle/>
            <a:p>
              <a:endParaRPr kumimoji="0" lang="zh-CN" altLang="zh-CN" sz="2800" b="1">
                <a:latin typeface="华文中宋" pitchFamily="2" charset="-122"/>
                <a:ea typeface="华文中宋" pitchFamily="2" charset="-122"/>
              </a:endParaRPr>
            </a:p>
          </p:txBody>
        </p:sp>
        <p:sp>
          <p:nvSpPr>
            <p:cNvPr id="15377" name="Text Box 17"/>
            <p:cNvSpPr txBox="1">
              <a:spLocks noChangeArrowheads="1"/>
            </p:cNvSpPr>
            <p:nvPr/>
          </p:nvSpPr>
          <p:spPr bwMode="auto">
            <a:xfrm>
              <a:off x="5202157" y="1809328"/>
              <a:ext cx="764954" cy="4305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solidFill>
                    <a:srgbClr val="0000FF"/>
                  </a:solidFill>
                  <a:latin typeface="华文中宋" pitchFamily="2" charset="-122"/>
                  <a:ea typeface="华文中宋" pitchFamily="2" charset="-122"/>
                </a:rPr>
                <a:t>系统</a:t>
              </a:r>
            </a:p>
          </p:txBody>
        </p:sp>
        <p:sp>
          <p:nvSpPr>
            <p:cNvPr id="15378" name="矩形 37"/>
            <p:cNvSpPr>
              <a:spLocks noChangeArrowheads="1"/>
            </p:cNvSpPr>
            <p:nvPr/>
          </p:nvSpPr>
          <p:spPr bwMode="auto">
            <a:xfrm>
              <a:off x="4166955" y="1718810"/>
              <a:ext cx="495055" cy="630070"/>
            </a:xfrm>
            <a:prstGeom prst="rect">
              <a:avLst/>
            </a:prstGeom>
            <a:solidFill>
              <a:srgbClr val="FF0000"/>
            </a:solidFill>
            <a:ln w="19050" algn="ctr">
              <a:solidFill>
                <a:schemeClr val="tx1"/>
              </a:solidFill>
              <a:round/>
              <a:headEnd/>
              <a:tailEnd/>
            </a:ln>
          </p:spPr>
          <p:txBody>
            <a:bodyPr/>
            <a:lstStyle/>
            <a:p>
              <a:endParaRPr kumimoji="0" lang="zh-CN" altLang="zh-CN" sz="2800" b="1">
                <a:latin typeface="华文中宋" pitchFamily="2" charset="-122"/>
                <a:ea typeface="华文中宋" pitchFamily="2" charset="-122"/>
              </a:endParaRPr>
            </a:p>
          </p:txBody>
        </p:sp>
        <p:sp>
          <p:nvSpPr>
            <p:cNvPr id="15379" name="矩形 38"/>
            <p:cNvSpPr>
              <a:spLocks noChangeArrowheads="1"/>
            </p:cNvSpPr>
            <p:nvPr/>
          </p:nvSpPr>
          <p:spPr bwMode="auto">
            <a:xfrm>
              <a:off x="6597225" y="1718810"/>
              <a:ext cx="495055" cy="630070"/>
            </a:xfrm>
            <a:prstGeom prst="rect">
              <a:avLst/>
            </a:prstGeom>
            <a:solidFill>
              <a:srgbClr val="FFFF00"/>
            </a:solidFill>
            <a:ln w="19050" algn="ctr">
              <a:solidFill>
                <a:schemeClr val="tx1"/>
              </a:solidFill>
              <a:round/>
              <a:headEnd/>
              <a:tailEnd/>
            </a:ln>
          </p:spPr>
          <p:txBody>
            <a:bodyPr/>
            <a:lstStyle/>
            <a:p>
              <a:endParaRPr kumimoji="0" lang="zh-CN" altLang="zh-CN" sz="2800" b="1">
                <a:latin typeface="华文中宋" pitchFamily="2" charset="-122"/>
                <a:ea typeface="华文中宋" pitchFamily="2" charset="-122"/>
              </a:endParaRPr>
            </a:p>
          </p:txBody>
        </p:sp>
        <p:sp>
          <p:nvSpPr>
            <p:cNvPr id="15380" name="Text Box 10"/>
            <p:cNvSpPr txBox="1">
              <a:spLocks noChangeArrowheads="1"/>
            </p:cNvSpPr>
            <p:nvPr/>
          </p:nvSpPr>
          <p:spPr bwMode="auto">
            <a:xfrm>
              <a:off x="6282932" y="1314209"/>
              <a:ext cx="881897" cy="4305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latin typeface="华文中宋" pitchFamily="2" charset="-122"/>
                  <a:ea typeface="华文中宋" pitchFamily="2" charset="-122"/>
                </a:rPr>
                <a:t>恒温器</a:t>
              </a:r>
              <a:r>
                <a:rPr lang="en-US" altLang="zh-CN" sz="1500" b="1">
                  <a:latin typeface="华文中宋" pitchFamily="2" charset="-122"/>
                  <a:ea typeface="华文中宋" pitchFamily="2" charset="-122"/>
                </a:rPr>
                <a:t>2</a:t>
              </a:r>
            </a:p>
          </p:txBody>
        </p:sp>
        <p:sp>
          <p:nvSpPr>
            <p:cNvPr id="15381" name="Text Box 10"/>
            <p:cNvSpPr txBox="1">
              <a:spLocks noChangeArrowheads="1"/>
            </p:cNvSpPr>
            <p:nvPr/>
          </p:nvSpPr>
          <p:spPr bwMode="auto">
            <a:xfrm>
              <a:off x="4211844" y="1853762"/>
              <a:ext cx="385009" cy="4305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latin typeface="华文中宋" pitchFamily="2" charset="-122"/>
                  <a:ea typeface="华文中宋" pitchFamily="2" charset="-122"/>
                </a:rPr>
                <a:t>T</a:t>
              </a:r>
              <a:r>
                <a:rPr lang="en-US" altLang="zh-CN" sz="1500" b="1" baseline="-25000">
                  <a:latin typeface="华文中宋" pitchFamily="2" charset="-122"/>
                  <a:ea typeface="华文中宋" pitchFamily="2" charset="-122"/>
                </a:rPr>
                <a:t>1</a:t>
              </a:r>
            </a:p>
          </p:txBody>
        </p:sp>
        <p:sp>
          <p:nvSpPr>
            <p:cNvPr id="15382" name="Text Box 10"/>
            <p:cNvSpPr txBox="1">
              <a:spLocks noChangeArrowheads="1"/>
            </p:cNvSpPr>
            <p:nvPr/>
          </p:nvSpPr>
          <p:spPr bwMode="auto">
            <a:xfrm>
              <a:off x="6641604" y="1853762"/>
              <a:ext cx="385009" cy="43052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latin typeface="华文中宋" pitchFamily="2" charset="-122"/>
                  <a:ea typeface="华文中宋" pitchFamily="2" charset="-122"/>
                </a:rPr>
                <a:t>T</a:t>
              </a:r>
              <a:r>
                <a:rPr lang="en-US" altLang="zh-CN" sz="1500" b="1" baseline="-25000">
                  <a:latin typeface="华文中宋" pitchFamily="2" charset="-122"/>
                  <a:ea typeface="华文中宋" pitchFamily="2" charset="-122"/>
                </a:rPr>
                <a:t>2</a:t>
              </a:r>
            </a:p>
          </p:txBody>
        </p:sp>
      </p:grpSp>
      <p:sp>
        <p:nvSpPr>
          <p:cNvPr id="44" name="Text Box 31"/>
          <p:cNvSpPr txBox="1">
            <a:spLocks noChangeArrowheads="1"/>
          </p:cNvSpPr>
          <p:nvPr/>
        </p:nvSpPr>
        <p:spPr bwMode="auto">
          <a:xfrm>
            <a:off x="5003800" y="2665413"/>
            <a:ext cx="1574800" cy="328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lnSpc>
                <a:spcPct val="110000"/>
              </a:lnSpc>
            </a:pPr>
            <a:r>
              <a:rPr lang="zh-CN" altLang="en-US" sz="1500" b="1">
                <a:latin typeface="华文中宋" pitchFamily="2" charset="-122"/>
                <a:ea typeface="华文中宋" pitchFamily="2" charset="-122"/>
              </a:rPr>
              <a:t>稳定态</a:t>
            </a:r>
          </a:p>
        </p:txBody>
      </p:sp>
      <p:sp>
        <p:nvSpPr>
          <p:cNvPr id="45" name="Text Box 32"/>
          <p:cNvSpPr txBox="1">
            <a:spLocks noChangeArrowheads="1"/>
          </p:cNvSpPr>
          <p:nvPr/>
        </p:nvSpPr>
        <p:spPr bwMode="auto">
          <a:xfrm>
            <a:off x="2132013" y="2667000"/>
            <a:ext cx="1395412" cy="3460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lnSpc>
                <a:spcPct val="110000"/>
              </a:lnSpc>
            </a:pPr>
            <a:r>
              <a:rPr lang="zh-CN" altLang="en-US" sz="1500" b="1">
                <a:latin typeface="华文中宋" pitchFamily="2" charset="-122"/>
                <a:ea typeface="华文中宋" pitchFamily="2" charset="-122"/>
              </a:rPr>
              <a:t>平衡态</a:t>
            </a:r>
          </a:p>
        </p:txBody>
      </p:sp>
      <p:sp>
        <p:nvSpPr>
          <p:cNvPr id="24605" name="Rectangle 29"/>
          <p:cNvSpPr>
            <a:spLocks noChangeArrowheads="1"/>
          </p:cNvSpPr>
          <p:nvPr/>
        </p:nvSpPr>
        <p:spPr bwMode="auto">
          <a:xfrm>
            <a:off x="3995738" y="2994025"/>
            <a:ext cx="38163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latin typeface="华文中宋" pitchFamily="2" charset="-122"/>
                <a:ea typeface="华文中宋" pitchFamily="2" charset="-122"/>
              </a:rPr>
              <a:t>从微观的角度应理解为动态平衡态</a:t>
            </a:r>
          </a:p>
        </p:txBody>
      </p:sp>
      <p:sp>
        <p:nvSpPr>
          <p:cNvPr id="11" name="Text Box 30"/>
          <p:cNvSpPr txBox="1">
            <a:spLocks noChangeArrowheads="1"/>
          </p:cNvSpPr>
          <p:nvPr/>
        </p:nvSpPr>
        <p:spPr bwMode="auto">
          <a:xfrm>
            <a:off x="611188" y="3354388"/>
            <a:ext cx="54895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buFont typeface="Arial" charset="0"/>
              <a:buNone/>
            </a:pPr>
            <a:r>
              <a:rPr lang="en-US" altLang="zh-CN" sz="1800" b="1">
                <a:solidFill>
                  <a:srgbClr val="FF0000"/>
                </a:solidFill>
                <a:latin typeface="华文中宋" pitchFamily="2" charset="-122"/>
                <a:ea typeface="华文中宋" pitchFamily="2" charset="-122"/>
              </a:rPr>
              <a:t>2</a:t>
            </a:r>
            <a:r>
              <a:rPr lang="zh-CN" altLang="en-US" sz="1800" b="1">
                <a:solidFill>
                  <a:srgbClr val="FF0000"/>
                </a:solidFill>
                <a:latin typeface="华文中宋" pitchFamily="2" charset="-122"/>
                <a:ea typeface="华文中宋" pitchFamily="2" charset="-122"/>
              </a:rPr>
              <a:t>）平衡态是一种理想状态</a:t>
            </a:r>
          </a:p>
        </p:txBody>
      </p:sp>
      <p:sp>
        <p:nvSpPr>
          <p:cNvPr id="12" name="Text Box 4"/>
          <p:cNvSpPr txBox="1">
            <a:spLocks noChangeArrowheads="1"/>
          </p:cNvSpPr>
          <p:nvPr/>
        </p:nvSpPr>
        <p:spPr bwMode="auto">
          <a:xfrm>
            <a:off x="611188" y="3786188"/>
            <a:ext cx="715645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rgbClr val="FF0000"/>
                </a:solidFill>
                <a:latin typeface="华文中宋" pitchFamily="2" charset="-122"/>
                <a:ea typeface="华文中宋" pitchFamily="2" charset="-122"/>
              </a:rPr>
              <a:t>3</a:t>
            </a:r>
            <a:r>
              <a:rPr lang="zh-CN" altLang="en-US" sz="1800" b="1">
                <a:solidFill>
                  <a:srgbClr val="FF0000"/>
                </a:solidFill>
                <a:latin typeface="华文中宋" pitchFamily="2" charset="-122"/>
                <a:ea typeface="华文中宋" pitchFamily="2" charset="-122"/>
              </a:rPr>
              <a:t>）平衡态系统宏观物性既稳定又均匀</a:t>
            </a:r>
            <a:endParaRPr kumimoji="0" lang="zh-CN" altLang="en-US" sz="1800" b="1">
              <a:solidFill>
                <a:srgbClr val="FF0000"/>
              </a:solidFill>
              <a:latin typeface="华文中宋" pitchFamily="2" charset="-122"/>
              <a:ea typeface="华文中宋" pitchFamily="2" charset="-122"/>
            </a:endParaRPr>
          </a:p>
        </p:txBody>
      </p:sp>
      <p:sp>
        <p:nvSpPr>
          <p:cNvPr id="24608" name="Text Box 32"/>
          <p:cNvSpPr txBox="1">
            <a:spLocks noChangeArrowheads="1"/>
          </p:cNvSpPr>
          <p:nvPr/>
        </p:nvSpPr>
        <p:spPr bwMode="auto">
          <a:xfrm>
            <a:off x="107950" y="4217988"/>
            <a:ext cx="8964613"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a:t>
            </a:r>
            <a:r>
              <a:rPr lang="en-US" altLang="zh-CN" sz="1800" b="1">
                <a:latin typeface="华文中宋" pitchFamily="2" charset="-122"/>
                <a:ea typeface="华文中宋" pitchFamily="2" charset="-122"/>
              </a:rPr>
              <a:t>2</a:t>
            </a:r>
            <a:r>
              <a:rPr lang="zh-CN" altLang="en-US" sz="1800" b="1">
                <a:latin typeface="华文中宋" pitchFamily="2" charset="-122"/>
                <a:ea typeface="华文中宋" pitchFamily="2" charset="-122"/>
              </a:rPr>
              <a:t>）非平衡态系统：不具备平衡态两个条件的任意一条的系统。</a:t>
            </a:r>
            <a:endParaRPr lang="zh-CN" altLang="en-US" sz="1800" b="1">
              <a:solidFill>
                <a:srgbClr val="0000FF"/>
              </a:solidFill>
              <a:latin typeface="华文中宋" pitchFamily="2" charset="-122"/>
              <a:ea typeface="华文中宋"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4578"/>
                                        </p:tgtEl>
                                        <p:attrNameLst>
                                          <p:attrName>style.visibility</p:attrName>
                                        </p:attrNameLst>
                                      </p:cBhvr>
                                      <p:to>
                                        <p:strVal val="visible"/>
                                      </p:to>
                                    </p:set>
                                    <p:animEffect transition="in" filter="checkerboard(across)">
                                      <p:cBhvr>
                                        <p:cTn id="7" dur="500"/>
                                        <p:tgtEl>
                                          <p:spTgt spid="245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4579"/>
                                        </p:tgtEl>
                                        <p:attrNameLst>
                                          <p:attrName>style.visibility</p:attrName>
                                        </p:attrNameLst>
                                      </p:cBhvr>
                                      <p:to>
                                        <p:strVal val="visible"/>
                                      </p:to>
                                    </p:set>
                                    <p:animEffect transition="in" filter="checkerboard(across)">
                                      <p:cBhvr>
                                        <p:cTn id="12" dur="500"/>
                                        <p:tgtEl>
                                          <p:spTgt spid="2457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16"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 calcmode="lin" valueType="num">
                                      <p:cBhvr>
                                        <p:cTn id="17" dur="500" fill="hold"/>
                                        <p:tgtEl>
                                          <p:spTgt spid="2"/>
                                        </p:tgtEl>
                                        <p:attrNameLst>
                                          <p:attrName>ppt_w</p:attrName>
                                        </p:attrNameLst>
                                      </p:cBhvr>
                                      <p:tavLst>
                                        <p:tav tm="0">
                                          <p:val>
                                            <p:fltVal val="0"/>
                                          </p:val>
                                        </p:tav>
                                        <p:tav tm="100000">
                                          <p:val>
                                            <p:strVal val="#ppt_w"/>
                                          </p:val>
                                        </p:tav>
                                      </p:tavLst>
                                    </p:anim>
                                    <p:anim calcmode="lin" valueType="num">
                                      <p:cBhvr>
                                        <p:cTn id="18" dur="500" fill="hold"/>
                                        <p:tgtEl>
                                          <p:spTgt spid="2"/>
                                        </p:tgtEl>
                                        <p:attrNameLst>
                                          <p:attrName>ppt_h</p:attrName>
                                        </p:attrNameLst>
                                      </p:cBhvr>
                                      <p:tavLst>
                                        <p:tav tm="0">
                                          <p:val>
                                            <p:fltVal val="0"/>
                                          </p:val>
                                        </p:tav>
                                        <p:tav tm="100000">
                                          <p:val>
                                            <p:strVal val="#ppt_h"/>
                                          </p:val>
                                        </p:tav>
                                      </p:tavLst>
                                    </p:anim>
                                    <p:animEffect transition="in" filter="fade">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grpId="0" nodeType="clickEffect">
                                  <p:stCondLst>
                                    <p:cond delay="0"/>
                                  </p:stCondLst>
                                  <p:childTnLst>
                                    <p:set>
                                      <p:cBhvr>
                                        <p:cTn id="23" dur="1" fill="hold">
                                          <p:stCondLst>
                                            <p:cond delay="0"/>
                                          </p:stCondLst>
                                        </p:cTn>
                                        <p:tgtEl>
                                          <p:spTgt spid="45"/>
                                        </p:tgtEl>
                                        <p:attrNameLst>
                                          <p:attrName>style.visibility</p:attrName>
                                        </p:attrNameLst>
                                      </p:cBhvr>
                                      <p:to>
                                        <p:strVal val="visible"/>
                                      </p:to>
                                    </p:set>
                                    <p:animEffect transition="in" filter="wipe(left)">
                                      <p:cBhvr>
                                        <p:cTn id="24" dur="500"/>
                                        <p:tgtEl>
                                          <p:spTgt spid="45"/>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5" presetClass="entr" presetSubtype="10" fill="hold" grpId="0" nodeType="clickEffect">
                                  <p:stCondLst>
                                    <p:cond delay="0"/>
                                  </p:stCondLst>
                                  <p:childTnLst>
                                    <p:set>
                                      <p:cBhvr>
                                        <p:cTn id="28" dur="1" fill="hold">
                                          <p:stCondLst>
                                            <p:cond delay="0"/>
                                          </p:stCondLst>
                                        </p:cTn>
                                        <p:tgtEl>
                                          <p:spTgt spid="24580"/>
                                        </p:tgtEl>
                                        <p:attrNameLst>
                                          <p:attrName>style.visibility</p:attrName>
                                        </p:attrNameLst>
                                      </p:cBhvr>
                                      <p:to>
                                        <p:strVal val="visible"/>
                                      </p:to>
                                    </p:set>
                                    <p:animEffect transition="in" filter="checkerboard(across)">
                                      <p:cBhvr>
                                        <p:cTn id="29" dur="500"/>
                                        <p:tgtEl>
                                          <p:spTgt spid="24580"/>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grpId="0" nodeType="clickEffect">
                                  <p:stCondLst>
                                    <p:cond delay="0"/>
                                  </p:stCondLst>
                                  <p:childTnLst>
                                    <p:set>
                                      <p:cBhvr>
                                        <p:cTn id="33" dur="1" fill="hold">
                                          <p:stCondLst>
                                            <p:cond delay="0"/>
                                          </p:stCondLst>
                                        </p:cTn>
                                        <p:tgtEl>
                                          <p:spTgt spid="24605"/>
                                        </p:tgtEl>
                                        <p:attrNameLst>
                                          <p:attrName>style.visibility</p:attrName>
                                        </p:attrNameLst>
                                      </p:cBhvr>
                                      <p:to>
                                        <p:strVal val="visible"/>
                                      </p:to>
                                    </p:set>
                                    <p:animEffect transition="in" filter="blinds(horizontal)">
                                      <p:cBhvr>
                                        <p:cTn id="34" dur="500"/>
                                        <p:tgtEl>
                                          <p:spTgt spid="24605"/>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22" presetClass="entr" presetSubtype="8" fill="hold" grpId="0" nodeType="clickEffect">
                                  <p:stCondLst>
                                    <p:cond delay="0"/>
                                  </p:stCondLst>
                                  <p:childTnLst>
                                    <p:set>
                                      <p:cBhvr>
                                        <p:cTn id="38" dur="1" fill="hold">
                                          <p:stCondLst>
                                            <p:cond delay="0"/>
                                          </p:stCondLst>
                                        </p:cTn>
                                        <p:tgtEl>
                                          <p:spTgt spid="11"/>
                                        </p:tgtEl>
                                        <p:attrNameLst>
                                          <p:attrName>style.visibility</p:attrName>
                                        </p:attrNameLst>
                                      </p:cBhvr>
                                      <p:to>
                                        <p:strVal val="visible"/>
                                      </p:to>
                                    </p:set>
                                    <p:animEffect transition="in" filter="wipe(left)">
                                      <p:cBhvr>
                                        <p:cTn id="39" dur="500"/>
                                        <p:tgtEl>
                                          <p:spTgt spid="11"/>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2" presetClass="entr" presetSubtype="8" fill="hold" grpId="0" nodeType="clickEffect">
                                  <p:stCondLst>
                                    <p:cond delay="0"/>
                                  </p:stCondLst>
                                  <p:childTnLst>
                                    <p:set>
                                      <p:cBhvr>
                                        <p:cTn id="43" dur="1" fill="hold">
                                          <p:stCondLst>
                                            <p:cond delay="0"/>
                                          </p:stCondLst>
                                        </p:cTn>
                                        <p:tgtEl>
                                          <p:spTgt spid="12">
                                            <p:txEl>
                                              <p:pRg st="0" end="0"/>
                                            </p:txEl>
                                          </p:spTgt>
                                        </p:tgtEl>
                                        <p:attrNameLst>
                                          <p:attrName>style.visibility</p:attrName>
                                        </p:attrNameLst>
                                      </p:cBhvr>
                                      <p:to>
                                        <p:strVal val="visible"/>
                                      </p:to>
                                    </p:set>
                                    <p:animEffect transition="in" filter="wipe(left)">
                                      <p:cBhvr>
                                        <p:cTn id="44" dur="500"/>
                                        <p:tgtEl>
                                          <p:spTgt spid="12">
                                            <p:txEl>
                                              <p:pRg st="0" end="0"/>
                                            </p:txEl>
                                          </p:spTgt>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3" presetClass="entr" presetSubtype="16" fill="hold" nodeType="clickEffect">
                                  <p:stCondLst>
                                    <p:cond delay="0"/>
                                  </p:stCondLst>
                                  <p:childTnLst>
                                    <p:set>
                                      <p:cBhvr>
                                        <p:cTn id="48" dur="1" fill="hold">
                                          <p:stCondLst>
                                            <p:cond delay="0"/>
                                          </p:stCondLst>
                                        </p:cTn>
                                        <p:tgtEl>
                                          <p:spTgt spid="3"/>
                                        </p:tgtEl>
                                        <p:attrNameLst>
                                          <p:attrName>style.visibility</p:attrName>
                                        </p:attrNameLst>
                                      </p:cBhvr>
                                      <p:to>
                                        <p:strVal val="visible"/>
                                      </p:to>
                                    </p:set>
                                    <p:anim calcmode="lin" valueType="num">
                                      <p:cBhvr>
                                        <p:cTn id="49" dur="500" fill="hold"/>
                                        <p:tgtEl>
                                          <p:spTgt spid="3"/>
                                        </p:tgtEl>
                                        <p:attrNameLst>
                                          <p:attrName>ppt_w</p:attrName>
                                        </p:attrNameLst>
                                      </p:cBhvr>
                                      <p:tavLst>
                                        <p:tav tm="0">
                                          <p:val>
                                            <p:fltVal val="0"/>
                                          </p:val>
                                        </p:tav>
                                        <p:tav tm="100000">
                                          <p:val>
                                            <p:strVal val="#ppt_w"/>
                                          </p:val>
                                        </p:tav>
                                      </p:tavLst>
                                    </p:anim>
                                    <p:anim calcmode="lin" valueType="num">
                                      <p:cBhvr>
                                        <p:cTn id="50" dur="500" fill="hold"/>
                                        <p:tgtEl>
                                          <p:spTgt spid="3"/>
                                        </p:tgtEl>
                                        <p:attrNameLst>
                                          <p:attrName>ppt_h</p:attrName>
                                        </p:attrNameLst>
                                      </p:cBhvr>
                                      <p:tavLst>
                                        <p:tav tm="0">
                                          <p:val>
                                            <p:fltVal val="0"/>
                                          </p:val>
                                        </p:tav>
                                        <p:tav tm="100000">
                                          <p:val>
                                            <p:strVal val="#ppt_h"/>
                                          </p:val>
                                        </p:tav>
                                      </p:tavLst>
                                    </p:anim>
                                    <p:animEffect transition="in" filter="fade">
                                      <p:cBhvr>
                                        <p:cTn id="51" dur="500"/>
                                        <p:tgtEl>
                                          <p:spTgt spid="3"/>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grpId="0" nodeType="clickEffect">
                                  <p:stCondLst>
                                    <p:cond delay="0"/>
                                  </p:stCondLst>
                                  <p:childTnLst>
                                    <p:set>
                                      <p:cBhvr>
                                        <p:cTn id="55" dur="1" fill="hold">
                                          <p:stCondLst>
                                            <p:cond delay="0"/>
                                          </p:stCondLst>
                                        </p:cTn>
                                        <p:tgtEl>
                                          <p:spTgt spid="44"/>
                                        </p:tgtEl>
                                        <p:attrNameLst>
                                          <p:attrName>style.visibility</p:attrName>
                                        </p:attrNameLst>
                                      </p:cBhvr>
                                      <p:to>
                                        <p:strVal val="visible"/>
                                      </p:to>
                                    </p:set>
                                    <p:animEffect transition="in" filter="wipe(left)">
                                      <p:cBhvr>
                                        <p:cTn id="56" dur="500"/>
                                        <p:tgtEl>
                                          <p:spTgt spid="4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5" presetClass="entr" presetSubtype="10" fill="hold" grpId="0" nodeType="clickEffect">
                                  <p:stCondLst>
                                    <p:cond delay="0"/>
                                  </p:stCondLst>
                                  <p:childTnLst>
                                    <p:set>
                                      <p:cBhvr>
                                        <p:cTn id="60" dur="1" fill="hold">
                                          <p:stCondLst>
                                            <p:cond delay="0"/>
                                          </p:stCondLst>
                                        </p:cTn>
                                        <p:tgtEl>
                                          <p:spTgt spid="24608"/>
                                        </p:tgtEl>
                                        <p:attrNameLst>
                                          <p:attrName>style.visibility</p:attrName>
                                        </p:attrNameLst>
                                      </p:cBhvr>
                                      <p:to>
                                        <p:strVal val="visible"/>
                                      </p:to>
                                    </p:set>
                                    <p:animEffect transition="in" filter="checkerboard(across)">
                                      <p:cBhvr>
                                        <p:cTn id="61" dur="500"/>
                                        <p:tgtEl>
                                          <p:spTgt spid="2460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578" grpId="0" autoUpdateAnimBg="0"/>
      <p:bldP spid="24579" grpId="0" autoUpdateAnimBg="0"/>
      <p:bldP spid="24580" grpId="0" autoUpdateAnimBg="0"/>
      <p:bldP spid="44" grpId="0" autoUpdateAnimBg="0"/>
      <p:bldP spid="45" grpId="0" autoUpdateAnimBg="0"/>
      <p:bldP spid="24605" grpId="0"/>
      <p:bldP spid="11" grpId="0" autoUpdateAnimBg="0"/>
      <p:bldP spid="12" grpId="0" build="p"/>
      <p:bldP spid="24608" grpId="0" autoUpdateAnimBg="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Rectangle 2"/>
          <p:cNvSpPr>
            <a:spLocks noChangeArrowheads="1"/>
          </p:cNvSpPr>
          <p:nvPr/>
        </p:nvSpPr>
        <p:spPr bwMode="auto">
          <a:xfrm>
            <a:off x="381000" y="1336675"/>
            <a:ext cx="83820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solidFill>
                  <a:srgbClr val="FF0000"/>
                </a:solidFill>
                <a:latin typeface="华文中宋" pitchFamily="2" charset="-122"/>
                <a:ea typeface="华文中宋" pitchFamily="2" charset="-122"/>
              </a:rPr>
              <a:t>宏观量：</a:t>
            </a:r>
            <a:r>
              <a:rPr lang="zh-CN" altLang="en-US" sz="1800" b="1">
                <a:latin typeface="华文中宋" pitchFamily="2" charset="-122"/>
                <a:ea typeface="华文中宋" pitchFamily="2" charset="-122"/>
              </a:rPr>
              <a:t>描述</a:t>
            </a:r>
            <a:r>
              <a:rPr lang="zh-CN" altLang="en-US" sz="1800" b="1">
                <a:solidFill>
                  <a:srgbClr val="000000"/>
                </a:solidFill>
                <a:latin typeface="华文中宋" pitchFamily="2" charset="-122"/>
                <a:ea typeface="华文中宋" pitchFamily="2" charset="-122"/>
              </a:rPr>
              <a:t>大量分子集体特征的宏观属性的物理量</a:t>
            </a:r>
            <a:r>
              <a:rPr lang="en-US" altLang="zh-CN" sz="1800" b="1">
                <a:solidFill>
                  <a:srgbClr val="000000"/>
                </a:solidFill>
                <a:latin typeface="华文中宋" pitchFamily="2" charset="-122"/>
                <a:ea typeface="华文中宋" pitchFamily="2" charset="-122"/>
              </a:rPr>
              <a:t>(</a:t>
            </a:r>
            <a:r>
              <a:rPr lang="zh-CN" altLang="en-US" sz="1800" b="1">
                <a:solidFill>
                  <a:srgbClr val="000000"/>
                </a:solidFill>
                <a:latin typeface="华文中宋" pitchFamily="2" charset="-122"/>
                <a:ea typeface="华文中宋" pitchFamily="2" charset="-122"/>
              </a:rPr>
              <a:t>可直接测量</a:t>
            </a:r>
            <a:r>
              <a:rPr lang="en-US" altLang="zh-CN" sz="1800" b="1">
                <a:solidFill>
                  <a:srgbClr val="000000"/>
                </a:solidFill>
                <a:latin typeface="华文中宋" pitchFamily="2" charset="-122"/>
                <a:ea typeface="华文中宋" pitchFamily="2" charset="-122"/>
              </a:rPr>
              <a:t>)</a:t>
            </a:r>
            <a:r>
              <a:rPr lang="zh-CN" altLang="en-US" sz="1800" b="1">
                <a:solidFill>
                  <a:srgbClr val="000000"/>
                </a:solidFill>
                <a:latin typeface="华文中宋" pitchFamily="2" charset="-122"/>
                <a:ea typeface="华文中宋" pitchFamily="2" charset="-122"/>
              </a:rPr>
              <a:t>，如体积，压强，温度等</a:t>
            </a:r>
            <a:endParaRPr lang="en-US" altLang="zh-CN" sz="1800" b="1">
              <a:solidFill>
                <a:srgbClr val="000000"/>
              </a:solidFill>
              <a:latin typeface="华文中宋" pitchFamily="2" charset="-122"/>
              <a:ea typeface="华文中宋" pitchFamily="2" charset="-122"/>
            </a:endParaRPr>
          </a:p>
        </p:txBody>
      </p:sp>
      <p:sp>
        <p:nvSpPr>
          <p:cNvPr id="25604" name="Rectangle 4"/>
          <p:cNvSpPr>
            <a:spLocks noChangeArrowheads="1"/>
          </p:cNvSpPr>
          <p:nvPr/>
        </p:nvSpPr>
        <p:spPr bwMode="auto">
          <a:xfrm>
            <a:off x="395288" y="2020888"/>
            <a:ext cx="83820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solidFill>
                  <a:srgbClr val="FF0000"/>
                </a:solidFill>
                <a:latin typeface="华文中宋" pitchFamily="2" charset="-122"/>
                <a:ea typeface="华文中宋" pitchFamily="2" charset="-122"/>
              </a:rPr>
              <a:t>微观量：</a:t>
            </a:r>
            <a:r>
              <a:rPr lang="zh-CN" altLang="en-US" sz="1800" b="1">
                <a:latin typeface="华文中宋" pitchFamily="2" charset="-122"/>
                <a:ea typeface="华文中宋" pitchFamily="2" charset="-122"/>
              </a:rPr>
              <a:t>描述系统内个别微观粒子特征的物理量 </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一般只能间接测量</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，如分子的质量、速度等</a:t>
            </a:r>
          </a:p>
        </p:txBody>
      </p:sp>
      <p:sp>
        <p:nvSpPr>
          <p:cNvPr id="25613" name="Rectangle 13"/>
          <p:cNvSpPr>
            <a:spLocks noChangeArrowheads="1"/>
          </p:cNvSpPr>
          <p:nvPr/>
        </p:nvSpPr>
        <p:spPr bwMode="auto">
          <a:xfrm>
            <a:off x="179388" y="909638"/>
            <a:ext cx="38163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1800" b="1">
                <a:solidFill>
                  <a:schemeClr val="accent2"/>
                </a:solidFill>
                <a:latin typeface="华文中宋" pitchFamily="2" charset="-122"/>
                <a:ea typeface="华文中宋" pitchFamily="2" charset="-122"/>
              </a:rPr>
              <a:t> 2</a:t>
            </a:r>
            <a:r>
              <a:rPr lang="zh-CN" altLang="en-US" sz="1800" b="1">
                <a:solidFill>
                  <a:schemeClr val="accent2"/>
                </a:solidFill>
                <a:latin typeface="华文中宋" pitchFamily="2" charset="-122"/>
                <a:ea typeface="华文中宋" pitchFamily="2" charset="-122"/>
              </a:rPr>
              <a:t>、平衡态系统的描述</a:t>
            </a:r>
            <a:endParaRPr lang="zh-CN" altLang="en-US" sz="1800" b="1">
              <a:latin typeface="华文中宋" pitchFamily="2" charset="-122"/>
              <a:ea typeface="华文中宋" pitchFamily="2" charset="-122"/>
            </a:endParaRPr>
          </a:p>
        </p:txBody>
      </p:sp>
      <p:sp>
        <p:nvSpPr>
          <p:cNvPr id="25614" name="Rectangle 14"/>
          <p:cNvSpPr>
            <a:spLocks noChangeArrowheads="1"/>
          </p:cNvSpPr>
          <p:nvPr/>
        </p:nvSpPr>
        <p:spPr bwMode="auto">
          <a:xfrm>
            <a:off x="395288" y="2722563"/>
            <a:ext cx="849788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solidFill>
                  <a:srgbClr val="FF0000"/>
                </a:solidFill>
                <a:latin typeface="华文中宋" pitchFamily="2" charset="-122"/>
                <a:ea typeface="华文中宋" pitchFamily="2" charset="-122"/>
              </a:rPr>
              <a:t>状态量：</a:t>
            </a:r>
            <a:r>
              <a:rPr lang="zh-CN" altLang="en-US" sz="1800" b="1">
                <a:latin typeface="华文中宋" pitchFamily="2" charset="-122"/>
                <a:ea typeface="华文中宋" pitchFamily="2" charset="-122"/>
              </a:rPr>
              <a:t>为描述系统的平衡态，从宏观量中选取相互独立的几个宏观量。</a:t>
            </a:r>
            <a:endParaRPr lang="zh-CN" altLang="en-US" sz="1800" b="1">
              <a:solidFill>
                <a:srgbClr val="FF0000"/>
              </a:solidFill>
              <a:latin typeface="华文中宋" pitchFamily="2" charset="-122"/>
              <a:ea typeface="华文中宋" pitchFamily="2" charset="-122"/>
            </a:endParaRPr>
          </a:p>
        </p:txBody>
      </p:sp>
      <p:sp>
        <p:nvSpPr>
          <p:cNvPr id="25615" name="Text Box 15"/>
          <p:cNvSpPr txBox="1">
            <a:spLocks noChangeArrowheads="1"/>
          </p:cNvSpPr>
          <p:nvPr/>
        </p:nvSpPr>
        <p:spPr bwMode="auto">
          <a:xfrm>
            <a:off x="5435600" y="3743325"/>
            <a:ext cx="1905000" cy="322263"/>
          </a:xfrm>
          <a:prstGeom prst="rect">
            <a:avLst/>
          </a:prstGeom>
          <a:gradFill rotWithShape="0">
            <a:gsLst>
              <a:gs pos="0">
                <a:srgbClr val="FFFFD9"/>
              </a:gs>
              <a:gs pos="50000">
                <a:srgbClr val="FFFFFF"/>
              </a:gs>
              <a:gs pos="100000">
                <a:srgbClr val="FFFFD9"/>
              </a:gs>
            </a:gsLst>
            <a:lin ang="5400000" scaled="1"/>
          </a:gradFill>
          <a:ln w="12700">
            <a:solidFill>
              <a:srgbClr val="CC6600"/>
            </a:solidFill>
            <a:miter lim="800000"/>
            <a:headEnd/>
            <a:tailEnd/>
          </a:ln>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spcBef>
                <a:spcPct val="50000"/>
              </a:spcBef>
            </a:pPr>
            <a:r>
              <a:rPr lang="zh-CN" altLang="en-US" sz="1500" b="1">
                <a:solidFill>
                  <a:srgbClr val="CC0000"/>
                </a:solidFill>
                <a:latin typeface="华文中宋" pitchFamily="2" charset="-122"/>
                <a:ea typeface="华文中宋" pitchFamily="2" charset="-122"/>
              </a:rPr>
              <a:t>宏观</a:t>
            </a:r>
            <a:r>
              <a:rPr lang="zh-CN" altLang="en-US" sz="1500" b="1">
                <a:solidFill>
                  <a:srgbClr val="1C1C1C"/>
                </a:solidFill>
                <a:latin typeface="华文中宋" pitchFamily="2" charset="-122"/>
                <a:ea typeface="华文中宋" pitchFamily="2" charset="-122"/>
              </a:rPr>
              <a:t>量</a:t>
            </a:r>
          </a:p>
        </p:txBody>
      </p:sp>
      <p:sp>
        <p:nvSpPr>
          <p:cNvPr id="25616" name="Rectangle 16"/>
          <p:cNvSpPr>
            <a:spLocks noChangeArrowheads="1"/>
          </p:cNvSpPr>
          <p:nvPr/>
        </p:nvSpPr>
        <p:spPr bwMode="auto">
          <a:xfrm>
            <a:off x="1554163" y="3717925"/>
            <a:ext cx="1905000" cy="322263"/>
          </a:xfrm>
          <a:prstGeom prst="rect">
            <a:avLst/>
          </a:prstGeom>
          <a:gradFill rotWithShape="0">
            <a:gsLst>
              <a:gs pos="0">
                <a:schemeClr val="accent1"/>
              </a:gs>
              <a:gs pos="50000">
                <a:srgbClr val="FFFFFF"/>
              </a:gs>
              <a:gs pos="100000">
                <a:schemeClr val="accent1"/>
              </a:gs>
            </a:gsLst>
            <a:lin ang="5400000" scaled="1"/>
          </a:gradFill>
          <a:ln w="12700">
            <a:solidFill>
              <a:schemeClr val="tx2"/>
            </a:solidFill>
            <a:miter lim="800000"/>
            <a:headEnd/>
            <a:tailEnd/>
          </a:ln>
          <a:effectLst/>
        </p:spPr>
        <p:txBody>
          <a:bodyPr>
            <a:spAutoFit/>
          </a:bodyPr>
          <a:lstStyle/>
          <a:p>
            <a:pPr algn="ctr">
              <a:defRPr/>
            </a:pPr>
            <a:r>
              <a:rPr lang="zh-CN" altLang="en-US" sz="1500" b="1" dirty="0">
                <a:solidFill>
                  <a:srgbClr val="0000CC"/>
                </a:solidFill>
                <a:latin typeface="华文中宋" pitchFamily="2" charset="-122"/>
                <a:ea typeface="华文中宋" pitchFamily="2" charset="-122"/>
              </a:rPr>
              <a:t>微观</a:t>
            </a:r>
            <a:r>
              <a:rPr lang="zh-CN" altLang="en-US" sz="1500" b="1" dirty="0">
                <a:solidFill>
                  <a:srgbClr val="1C1C1C"/>
                </a:solidFill>
                <a:latin typeface="华文中宋" pitchFamily="2" charset="-122"/>
                <a:ea typeface="华文中宋" pitchFamily="2" charset="-122"/>
              </a:rPr>
              <a:t>量</a:t>
            </a:r>
          </a:p>
        </p:txBody>
      </p:sp>
      <p:grpSp>
        <p:nvGrpSpPr>
          <p:cNvPr id="2" name="Group 17"/>
          <p:cNvGrpSpPr>
            <a:grpSpLocks/>
          </p:cNvGrpSpPr>
          <p:nvPr/>
        </p:nvGrpSpPr>
        <p:grpSpPr bwMode="auto">
          <a:xfrm>
            <a:off x="3478213" y="3481388"/>
            <a:ext cx="1852612" cy="819150"/>
            <a:chOff x="2160" y="412"/>
            <a:chExt cx="1488" cy="807"/>
          </a:xfrm>
        </p:grpSpPr>
        <p:sp>
          <p:nvSpPr>
            <p:cNvPr id="16393" name="AutoShape 18"/>
            <p:cNvSpPr>
              <a:spLocks noChangeArrowheads="1"/>
            </p:cNvSpPr>
            <p:nvPr/>
          </p:nvSpPr>
          <p:spPr bwMode="auto">
            <a:xfrm>
              <a:off x="2160" y="412"/>
              <a:ext cx="1488" cy="807"/>
            </a:xfrm>
            <a:prstGeom prst="rightArrow">
              <a:avLst>
                <a:gd name="adj1" fmla="val 55954"/>
                <a:gd name="adj2" fmla="val 228665"/>
              </a:avLst>
            </a:prstGeom>
            <a:gradFill rotWithShape="0">
              <a:gsLst>
                <a:gs pos="0">
                  <a:srgbClr val="5E9EFF"/>
                </a:gs>
                <a:gs pos="20000">
                  <a:srgbClr val="85C2FF"/>
                </a:gs>
                <a:gs pos="35001">
                  <a:srgbClr val="C4D6EB"/>
                </a:gs>
                <a:gs pos="50000">
                  <a:srgbClr val="FFEBFA"/>
                </a:gs>
                <a:gs pos="64999">
                  <a:srgbClr val="C4D6EB"/>
                </a:gs>
                <a:gs pos="80000">
                  <a:srgbClr val="85C2FF"/>
                </a:gs>
                <a:gs pos="100000">
                  <a:srgbClr val="5E9EFF"/>
                </a:gs>
              </a:gsLst>
              <a:lin ang="5400000" scaled="1"/>
            </a:gradFill>
            <a:ln w="28575">
              <a:solidFill>
                <a:srgbClr val="0000FF"/>
              </a:solidFill>
              <a:miter lim="800000"/>
              <a:headEnd/>
              <a:tailEnd/>
            </a:ln>
          </p:spPr>
          <p:txBody>
            <a:bodyPr anchor="ctr">
              <a:spAutoFit/>
            </a:bodyPr>
            <a:lstStyle/>
            <a:p>
              <a:endParaRPr lang="zh-CN" altLang="en-US"/>
            </a:p>
          </p:txBody>
        </p:sp>
        <p:sp>
          <p:nvSpPr>
            <p:cNvPr id="16394" name="Text Box 19"/>
            <p:cNvSpPr txBox="1">
              <a:spLocks noChangeArrowheads="1"/>
            </p:cNvSpPr>
            <p:nvPr/>
          </p:nvSpPr>
          <p:spPr bwMode="auto">
            <a:xfrm>
              <a:off x="2208" y="645"/>
              <a:ext cx="1140" cy="31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lang="zh-CN" altLang="en-US" sz="1500" b="1">
                  <a:solidFill>
                    <a:srgbClr val="1C1C1C"/>
                  </a:solidFill>
                  <a:latin typeface="华文中宋" pitchFamily="2" charset="-122"/>
                  <a:ea typeface="华文中宋" pitchFamily="2" charset="-122"/>
                </a:rPr>
                <a:t>统计平均</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5613"/>
                                        </p:tgtEl>
                                        <p:attrNameLst>
                                          <p:attrName>style.visibility</p:attrName>
                                        </p:attrNameLst>
                                      </p:cBhvr>
                                      <p:to>
                                        <p:strVal val="visible"/>
                                      </p:to>
                                    </p:set>
                                    <p:animEffect transition="in" filter="checkerboard(across)">
                                      <p:cBhvr>
                                        <p:cTn id="7" dur="500"/>
                                        <p:tgtEl>
                                          <p:spTgt spid="2561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 presetClass="entr" presetSubtype="10" fill="hold" grpId="0" nodeType="clickEffect">
                                  <p:stCondLst>
                                    <p:cond delay="0"/>
                                  </p:stCondLst>
                                  <p:childTnLst>
                                    <p:set>
                                      <p:cBhvr>
                                        <p:cTn id="11" dur="1" fill="hold">
                                          <p:stCondLst>
                                            <p:cond delay="0"/>
                                          </p:stCondLst>
                                        </p:cTn>
                                        <p:tgtEl>
                                          <p:spTgt spid="25602"/>
                                        </p:tgtEl>
                                        <p:attrNameLst>
                                          <p:attrName>style.visibility</p:attrName>
                                        </p:attrNameLst>
                                      </p:cBhvr>
                                      <p:to>
                                        <p:strVal val="visible"/>
                                      </p:to>
                                    </p:set>
                                    <p:animEffect transition="in" filter="checkerboard(across)">
                                      <p:cBhvr>
                                        <p:cTn id="12" dur="500"/>
                                        <p:tgtEl>
                                          <p:spTgt spid="2560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25604"/>
                                        </p:tgtEl>
                                        <p:attrNameLst>
                                          <p:attrName>style.visibility</p:attrName>
                                        </p:attrNameLst>
                                      </p:cBhvr>
                                      <p:to>
                                        <p:strVal val="visible"/>
                                      </p:to>
                                    </p:set>
                                    <p:animEffect transition="in" filter="checkerboard(across)">
                                      <p:cBhvr>
                                        <p:cTn id="17" dur="500"/>
                                        <p:tgtEl>
                                          <p:spTgt spid="25604"/>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25614"/>
                                        </p:tgtEl>
                                        <p:attrNameLst>
                                          <p:attrName>style.visibility</p:attrName>
                                        </p:attrNameLst>
                                      </p:cBhvr>
                                      <p:to>
                                        <p:strVal val="visible"/>
                                      </p:to>
                                    </p:set>
                                    <p:animEffect transition="in" filter="blinds(horizontal)">
                                      <p:cBhvr>
                                        <p:cTn id="22" dur="500"/>
                                        <p:tgtEl>
                                          <p:spTgt spid="2561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5616"/>
                                        </p:tgtEl>
                                        <p:attrNameLst>
                                          <p:attrName>style.visibility</p:attrName>
                                        </p:attrNameLst>
                                      </p:cBhvr>
                                      <p:to>
                                        <p:strVal val="visible"/>
                                      </p:to>
                                    </p:set>
                                    <p:animEffect transition="in" filter="blinds(horizontal)">
                                      <p:cBhvr>
                                        <p:cTn id="27" dur="500"/>
                                        <p:tgtEl>
                                          <p:spTgt spid="25616"/>
                                        </p:tgtEl>
                                      </p:cBhvr>
                                    </p:animEffect>
                                  </p:childTnLst>
                                </p:cTn>
                              </p:par>
                            </p:childTnLst>
                          </p:cTn>
                        </p:par>
                        <p:par>
                          <p:cTn id="28" fill="hold" nodeType="afterGroup">
                            <p:stCondLst>
                              <p:cond delay="500"/>
                            </p:stCondLst>
                            <p:childTnLst>
                              <p:par>
                                <p:cTn id="29" presetID="3" presetClass="entr" presetSubtype="10" fill="hold" nodeType="afterEffect">
                                  <p:stCondLst>
                                    <p:cond delay="0"/>
                                  </p:stCondLst>
                                  <p:childTnLst>
                                    <p:set>
                                      <p:cBhvr>
                                        <p:cTn id="30" dur="1" fill="hold">
                                          <p:stCondLst>
                                            <p:cond delay="0"/>
                                          </p:stCondLst>
                                        </p:cTn>
                                        <p:tgtEl>
                                          <p:spTgt spid="2"/>
                                        </p:tgtEl>
                                        <p:attrNameLst>
                                          <p:attrName>style.visibility</p:attrName>
                                        </p:attrNameLst>
                                      </p:cBhvr>
                                      <p:to>
                                        <p:strVal val="visible"/>
                                      </p:to>
                                    </p:set>
                                    <p:animEffect transition="in" filter="blinds(horizontal)">
                                      <p:cBhvr>
                                        <p:cTn id="31" dur="500"/>
                                        <p:tgtEl>
                                          <p:spTgt spid="2"/>
                                        </p:tgtEl>
                                      </p:cBhvr>
                                    </p:animEffect>
                                  </p:childTnLst>
                                </p:cTn>
                              </p:par>
                            </p:childTnLst>
                          </p:cTn>
                        </p:par>
                        <p:par>
                          <p:cTn id="32" fill="hold" nodeType="afterGroup">
                            <p:stCondLst>
                              <p:cond delay="1000"/>
                            </p:stCondLst>
                            <p:childTnLst>
                              <p:par>
                                <p:cTn id="33" presetID="3" presetClass="entr" presetSubtype="10" fill="hold" grpId="0" nodeType="afterEffect">
                                  <p:stCondLst>
                                    <p:cond delay="0"/>
                                  </p:stCondLst>
                                  <p:childTnLst>
                                    <p:set>
                                      <p:cBhvr>
                                        <p:cTn id="34" dur="1" fill="hold">
                                          <p:stCondLst>
                                            <p:cond delay="0"/>
                                          </p:stCondLst>
                                        </p:cTn>
                                        <p:tgtEl>
                                          <p:spTgt spid="25615"/>
                                        </p:tgtEl>
                                        <p:attrNameLst>
                                          <p:attrName>style.visibility</p:attrName>
                                        </p:attrNameLst>
                                      </p:cBhvr>
                                      <p:to>
                                        <p:strVal val="visible"/>
                                      </p:to>
                                    </p:set>
                                    <p:animEffect transition="in" filter="blinds(horizontal)">
                                      <p:cBhvr>
                                        <p:cTn id="35" dur="500"/>
                                        <p:tgtEl>
                                          <p:spTgt spid="256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5602" grpId="0" autoUpdateAnimBg="0"/>
      <p:bldP spid="25604" grpId="0" autoUpdateAnimBg="0"/>
      <p:bldP spid="25613" grpId="0" autoUpdateAnimBg="0"/>
      <p:bldP spid="25614" grpId="0"/>
      <p:bldP spid="25615" grpId="0" animBg="1" autoUpdateAnimBg="0"/>
      <p:bldP spid="25616" grpId="0" animBg="1" autoUpdateAnimBg="0"/>
    </p:bld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7" name="Text Box 3"/>
          <p:cNvSpPr txBox="1">
            <a:spLocks noChangeArrowheads="1"/>
          </p:cNvSpPr>
          <p:nvPr/>
        </p:nvSpPr>
        <p:spPr bwMode="auto">
          <a:xfrm>
            <a:off x="684213" y="3219450"/>
            <a:ext cx="259238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rgbClr val="0000FF"/>
                </a:solidFill>
                <a:latin typeface="华文中宋" pitchFamily="2" charset="-122"/>
                <a:ea typeface="华文中宋" pitchFamily="2" charset="-122"/>
              </a:rPr>
              <a:t>2</a:t>
            </a:r>
            <a:r>
              <a:rPr lang="zh-CN" altLang="en-US" sz="1800" b="1">
                <a:solidFill>
                  <a:srgbClr val="0000FF"/>
                </a:solidFill>
                <a:latin typeface="华文中宋" pitchFamily="2" charset="-122"/>
                <a:ea typeface="华文中宋" pitchFamily="2" charset="-122"/>
              </a:rPr>
              <a:t>、温度与温标</a:t>
            </a:r>
            <a:endParaRPr lang="zh-CN" altLang="en-US" sz="1800">
              <a:solidFill>
                <a:srgbClr val="0000FF"/>
              </a:solidFill>
              <a:latin typeface="华文中宋" pitchFamily="2" charset="-122"/>
              <a:ea typeface="华文中宋" pitchFamily="2" charset="-122"/>
            </a:endParaRPr>
          </a:p>
        </p:txBody>
      </p:sp>
      <p:sp>
        <p:nvSpPr>
          <p:cNvPr id="26644" name="Text Box 20"/>
          <p:cNvSpPr txBox="1">
            <a:spLocks noChangeArrowheads="1"/>
          </p:cNvSpPr>
          <p:nvPr/>
        </p:nvSpPr>
        <p:spPr bwMode="auto">
          <a:xfrm>
            <a:off x="7542213" y="1870075"/>
            <a:ext cx="504825" cy="784225"/>
          </a:xfrm>
          <a:prstGeom prst="rect">
            <a:avLst/>
          </a:prstGeom>
          <a:solidFill>
            <a:srgbClr val="FFFFFF"/>
          </a:solidFill>
          <a:ln w="9525">
            <a:solidFill>
              <a:srgbClr val="000000"/>
            </a:solidFill>
            <a:miter lim="800000"/>
            <a:headEnd/>
            <a:tailEnd/>
          </a:ln>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r>
              <a:rPr kumimoji="0" lang="zh-CN" altLang="en-US" sz="1500" b="1">
                <a:solidFill>
                  <a:srgbClr val="FF00FF"/>
                </a:solidFill>
                <a:latin typeface="华文中宋" pitchFamily="2" charset="-122"/>
                <a:ea typeface="华文中宋" pitchFamily="2" charset="-122"/>
              </a:rPr>
              <a:t>绝</a:t>
            </a:r>
          </a:p>
          <a:p>
            <a:pPr algn="ctr"/>
            <a:r>
              <a:rPr kumimoji="0" lang="zh-CN" altLang="en-US" sz="1500" b="1">
                <a:solidFill>
                  <a:srgbClr val="FF00FF"/>
                </a:solidFill>
                <a:latin typeface="华文中宋" pitchFamily="2" charset="-122"/>
                <a:ea typeface="华文中宋" pitchFamily="2" charset="-122"/>
              </a:rPr>
              <a:t>热</a:t>
            </a:r>
          </a:p>
          <a:p>
            <a:pPr algn="ctr"/>
            <a:r>
              <a:rPr kumimoji="0" lang="zh-CN" altLang="en-US" sz="1500" b="1">
                <a:solidFill>
                  <a:srgbClr val="FF00FF"/>
                </a:solidFill>
                <a:latin typeface="华文中宋" pitchFamily="2" charset="-122"/>
                <a:ea typeface="华文中宋" pitchFamily="2" charset="-122"/>
              </a:rPr>
              <a:t>壁</a:t>
            </a:r>
          </a:p>
        </p:txBody>
      </p:sp>
      <p:sp>
        <p:nvSpPr>
          <p:cNvPr id="26647" name="Text Box 23"/>
          <p:cNvSpPr txBox="1">
            <a:spLocks noChangeArrowheads="1"/>
          </p:cNvSpPr>
          <p:nvPr/>
        </p:nvSpPr>
        <p:spPr bwMode="auto">
          <a:xfrm>
            <a:off x="682625" y="1924050"/>
            <a:ext cx="539750" cy="784225"/>
          </a:xfrm>
          <a:prstGeom prst="rect">
            <a:avLst/>
          </a:prstGeom>
          <a:solidFill>
            <a:srgbClr val="FFFFFF"/>
          </a:solidFill>
          <a:ln w="9525">
            <a:solidFill>
              <a:srgbClr val="000000"/>
            </a:solidFill>
            <a:miter lim="800000"/>
            <a:headEnd/>
            <a:tailEnd/>
          </a:ln>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r>
              <a:rPr kumimoji="0" lang="zh-CN" altLang="en-US" sz="1500" b="1">
                <a:solidFill>
                  <a:srgbClr val="FF00FF"/>
                </a:solidFill>
                <a:latin typeface="华文中宋" pitchFamily="2" charset="-122"/>
                <a:ea typeface="华文中宋" pitchFamily="2" charset="-122"/>
              </a:rPr>
              <a:t>导</a:t>
            </a:r>
          </a:p>
          <a:p>
            <a:pPr algn="ctr"/>
            <a:r>
              <a:rPr kumimoji="0" lang="zh-CN" altLang="en-US" sz="1500" b="1">
                <a:solidFill>
                  <a:srgbClr val="FF00FF"/>
                </a:solidFill>
                <a:latin typeface="华文中宋" pitchFamily="2" charset="-122"/>
                <a:ea typeface="华文中宋" pitchFamily="2" charset="-122"/>
              </a:rPr>
              <a:t>热</a:t>
            </a:r>
          </a:p>
          <a:p>
            <a:pPr algn="ctr"/>
            <a:r>
              <a:rPr kumimoji="0" lang="zh-CN" altLang="en-US" sz="1500" b="1">
                <a:solidFill>
                  <a:srgbClr val="FF00FF"/>
                </a:solidFill>
                <a:latin typeface="华文中宋" pitchFamily="2" charset="-122"/>
                <a:ea typeface="华文中宋" pitchFamily="2" charset="-122"/>
              </a:rPr>
              <a:t>壁</a:t>
            </a:r>
          </a:p>
        </p:txBody>
      </p:sp>
      <p:grpSp>
        <p:nvGrpSpPr>
          <p:cNvPr id="2" name="Group 58"/>
          <p:cNvGrpSpPr>
            <a:grpSpLocks/>
          </p:cNvGrpSpPr>
          <p:nvPr/>
        </p:nvGrpSpPr>
        <p:grpSpPr bwMode="auto">
          <a:xfrm>
            <a:off x="1674813" y="1890713"/>
            <a:ext cx="1846262" cy="1222375"/>
            <a:chOff x="720" y="2852"/>
            <a:chExt cx="1235" cy="1205"/>
          </a:xfrm>
        </p:grpSpPr>
        <p:sp>
          <p:nvSpPr>
            <p:cNvPr id="17433" name="Rectangle 27" descr="宽上对角线"/>
            <p:cNvSpPr>
              <a:spLocks noChangeArrowheads="1"/>
            </p:cNvSpPr>
            <p:nvPr/>
          </p:nvSpPr>
          <p:spPr bwMode="auto">
            <a:xfrm>
              <a:off x="720" y="2852"/>
              <a:ext cx="1235" cy="1205"/>
            </a:xfrm>
            <a:prstGeom prst="rect">
              <a:avLst/>
            </a:prstGeom>
            <a:pattFill prst="wdUpDiag">
              <a:fgClr>
                <a:srgbClr val="000000"/>
              </a:fgClr>
              <a:bgClr>
                <a:srgbClr val="FFFFFF"/>
              </a:bgClr>
            </a:pattFill>
            <a:ln w="9525">
              <a:solidFill>
                <a:srgbClr val="000000"/>
              </a:solidFill>
              <a:miter lim="800000"/>
              <a:headEnd/>
              <a:tailEnd/>
            </a:ln>
          </p:spPr>
          <p:txBody>
            <a:bodyPr/>
            <a:lstStyle/>
            <a:p>
              <a:endParaRPr lang="zh-CN" altLang="en-US"/>
            </a:p>
          </p:txBody>
        </p:sp>
        <p:sp>
          <p:nvSpPr>
            <p:cNvPr id="17434" name="Rectangle 28"/>
            <p:cNvSpPr>
              <a:spLocks noChangeArrowheads="1"/>
            </p:cNvSpPr>
            <p:nvPr/>
          </p:nvSpPr>
          <p:spPr bwMode="auto">
            <a:xfrm>
              <a:off x="789" y="2922"/>
              <a:ext cx="1094" cy="1071"/>
            </a:xfrm>
            <a:prstGeom prst="rect">
              <a:avLst/>
            </a:prstGeom>
            <a:solidFill>
              <a:srgbClr val="FFFFFF"/>
            </a:solidFill>
            <a:ln w="9525">
              <a:solidFill>
                <a:srgbClr val="000000"/>
              </a:solidFill>
              <a:miter lim="800000"/>
              <a:headEnd/>
              <a:tailEnd/>
            </a:ln>
          </p:spPr>
          <p:txBody>
            <a:bodyPr/>
            <a:lstStyle/>
            <a:p>
              <a:endParaRPr lang="zh-CN" altLang="en-US"/>
            </a:p>
          </p:txBody>
        </p:sp>
        <p:sp>
          <p:nvSpPr>
            <p:cNvPr id="17435" name="Rectangle 29"/>
            <p:cNvSpPr>
              <a:spLocks noChangeArrowheads="1"/>
            </p:cNvSpPr>
            <p:nvPr/>
          </p:nvSpPr>
          <p:spPr bwMode="auto">
            <a:xfrm>
              <a:off x="934" y="3373"/>
              <a:ext cx="281" cy="442"/>
            </a:xfrm>
            <a:prstGeom prst="rect">
              <a:avLst/>
            </a:prstGeom>
            <a:solidFill>
              <a:srgbClr val="FF7C80"/>
            </a:solidFill>
            <a:ln w="9525">
              <a:solidFill>
                <a:srgbClr val="000000"/>
              </a:solidFill>
              <a:miter lim="800000"/>
              <a:headEnd/>
              <a:tailEnd/>
            </a:ln>
          </p:spPr>
          <p:txBody>
            <a:bodyPr/>
            <a:lstStyle/>
            <a:p>
              <a:endParaRPr lang="zh-CN" altLang="en-US"/>
            </a:p>
          </p:txBody>
        </p:sp>
        <p:sp>
          <p:nvSpPr>
            <p:cNvPr id="17436" name="Rectangle 30"/>
            <p:cNvSpPr>
              <a:spLocks noChangeArrowheads="1"/>
            </p:cNvSpPr>
            <p:nvPr/>
          </p:nvSpPr>
          <p:spPr bwMode="auto">
            <a:xfrm>
              <a:off x="1386" y="3389"/>
              <a:ext cx="281" cy="442"/>
            </a:xfrm>
            <a:prstGeom prst="rect">
              <a:avLst/>
            </a:prstGeom>
            <a:solidFill>
              <a:srgbClr val="66CCFF"/>
            </a:solidFill>
            <a:ln w="9525">
              <a:solidFill>
                <a:srgbClr val="000000"/>
              </a:solidFill>
              <a:miter lim="800000"/>
              <a:headEnd/>
              <a:tailEnd/>
            </a:ln>
          </p:spPr>
          <p:txBody>
            <a:bodyPr/>
            <a:lstStyle/>
            <a:p>
              <a:endParaRPr lang="zh-CN" altLang="en-US"/>
            </a:p>
          </p:txBody>
        </p:sp>
        <p:sp>
          <p:nvSpPr>
            <p:cNvPr id="17437" name="Rectangle 31" descr="宽上对角线"/>
            <p:cNvSpPr>
              <a:spLocks noChangeArrowheads="1"/>
            </p:cNvSpPr>
            <p:nvPr/>
          </p:nvSpPr>
          <p:spPr bwMode="auto">
            <a:xfrm>
              <a:off x="1248" y="3379"/>
              <a:ext cx="112" cy="497"/>
            </a:xfrm>
            <a:prstGeom prst="rect">
              <a:avLst/>
            </a:prstGeom>
            <a:pattFill prst="wdUpDiag">
              <a:fgClr>
                <a:srgbClr val="000000"/>
              </a:fgClr>
              <a:bgClr>
                <a:srgbClr val="FFFFFF"/>
              </a:bgClr>
            </a:pattFill>
            <a:ln w="9525">
              <a:solidFill>
                <a:srgbClr val="000000"/>
              </a:solidFill>
              <a:miter lim="800000"/>
              <a:headEnd/>
              <a:tailEnd/>
            </a:ln>
          </p:spPr>
          <p:txBody>
            <a:bodyPr/>
            <a:lstStyle/>
            <a:p>
              <a:endParaRPr lang="zh-CN" altLang="en-US"/>
            </a:p>
          </p:txBody>
        </p:sp>
        <p:sp>
          <p:nvSpPr>
            <p:cNvPr id="17438" name="Text Box 32"/>
            <p:cNvSpPr txBox="1">
              <a:spLocks noChangeArrowheads="1"/>
            </p:cNvSpPr>
            <p:nvPr/>
          </p:nvSpPr>
          <p:spPr bwMode="auto">
            <a:xfrm>
              <a:off x="952" y="3452"/>
              <a:ext cx="392" cy="3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just"/>
              <a:r>
                <a:rPr kumimoji="0" lang="en-US" altLang="zh-CN" sz="1500" b="1" i="1">
                  <a:latin typeface="华文中宋" pitchFamily="2" charset="-122"/>
                  <a:ea typeface="华文中宋" pitchFamily="2" charset="-122"/>
                </a:rPr>
                <a:t>A</a:t>
              </a:r>
            </a:p>
          </p:txBody>
        </p:sp>
        <p:sp>
          <p:nvSpPr>
            <p:cNvPr id="17439" name="Text Box 33"/>
            <p:cNvSpPr txBox="1">
              <a:spLocks noChangeArrowheads="1"/>
            </p:cNvSpPr>
            <p:nvPr/>
          </p:nvSpPr>
          <p:spPr bwMode="auto">
            <a:xfrm>
              <a:off x="1392" y="3452"/>
              <a:ext cx="391" cy="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just"/>
              <a:r>
                <a:rPr kumimoji="0" lang="en-US" altLang="zh-CN" sz="1500" b="1" i="1">
                  <a:latin typeface="华文中宋" pitchFamily="2" charset="-122"/>
                  <a:ea typeface="华文中宋" pitchFamily="2" charset="-122"/>
                </a:rPr>
                <a:t>B</a:t>
              </a:r>
            </a:p>
          </p:txBody>
        </p:sp>
        <p:sp>
          <p:nvSpPr>
            <p:cNvPr id="17440" name="Rectangle 34"/>
            <p:cNvSpPr>
              <a:spLocks noChangeArrowheads="1"/>
            </p:cNvSpPr>
            <p:nvPr/>
          </p:nvSpPr>
          <p:spPr bwMode="auto">
            <a:xfrm>
              <a:off x="953" y="3023"/>
              <a:ext cx="712" cy="251"/>
            </a:xfrm>
            <a:prstGeom prst="rect">
              <a:avLst/>
            </a:prstGeom>
            <a:solidFill>
              <a:srgbClr val="FF99FF"/>
            </a:solidFill>
            <a:ln w="9525">
              <a:solidFill>
                <a:srgbClr val="000000"/>
              </a:solidFill>
              <a:miter lim="800000"/>
              <a:headEnd/>
              <a:tailEnd/>
            </a:ln>
          </p:spPr>
          <p:txBody>
            <a:bodyPr/>
            <a:lstStyle/>
            <a:p>
              <a:endParaRPr lang="zh-CN" altLang="en-US"/>
            </a:p>
          </p:txBody>
        </p:sp>
        <p:sp>
          <p:nvSpPr>
            <p:cNvPr id="17441" name="Rectangle 35"/>
            <p:cNvSpPr>
              <a:spLocks noChangeArrowheads="1"/>
            </p:cNvSpPr>
            <p:nvPr/>
          </p:nvSpPr>
          <p:spPr bwMode="auto">
            <a:xfrm>
              <a:off x="887" y="3291"/>
              <a:ext cx="864" cy="81"/>
            </a:xfrm>
            <a:prstGeom prst="rect">
              <a:avLst/>
            </a:prstGeom>
            <a:solidFill>
              <a:srgbClr val="333333"/>
            </a:solidFill>
            <a:ln w="9525">
              <a:solidFill>
                <a:srgbClr val="000000"/>
              </a:solidFill>
              <a:miter lim="800000"/>
              <a:headEnd/>
              <a:tailEnd/>
            </a:ln>
          </p:spPr>
          <p:txBody>
            <a:bodyPr/>
            <a:lstStyle/>
            <a:p>
              <a:endParaRPr lang="zh-CN" altLang="en-US"/>
            </a:p>
          </p:txBody>
        </p:sp>
        <p:sp>
          <p:nvSpPr>
            <p:cNvPr id="17442" name="Text Box 36"/>
            <p:cNvSpPr txBox="1">
              <a:spLocks noChangeArrowheads="1"/>
            </p:cNvSpPr>
            <p:nvPr/>
          </p:nvSpPr>
          <p:spPr bwMode="auto">
            <a:xfrm>
              <a:off x="1165" y="3026"/>
              <a:ext cx="333" cy="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just"/>
              <a:r>
                <a:rPr kumimoji="0" lang="en-US" altLang="zh-CN" sz="1500" b="1" i="1">
                  <a:latin typeface="华文中宋" pitchFamily="2" charset="-122"/>
                  <a:ea typeface="华文中宋" pitchFamily="2" charset="-122"/>
                </a:rPr>
                <a:t>C</a:t>
              </a:r>
            </a:p>
          </p:txBody>
        </p:sp>
      </p:grpSp>
      <p:sp>
        <p:nvSpPr>
          <p:cNvPr id="26679" name="Text Box 55"/>
          <p:cNvSpPr txBox="1">
            <a:spLocks noChangeArrowheads="1"/>
          </p:cNvSpPr>
          <p:nvPr/>
        </p:nvSpPr>
        <p:spPr bwMode="auto">
          <a:xfrm>
            <a:off x="539750" y="1276350"/>
            <a:ext cx="2339975" cy="3413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90000"/>
              </a:lnSpc>
            </a:pPr>
            <a:r>
              <a:rPr lang="en-US" altLang="zh-CN" sz="1800" b="1">
                <a:solidFill>
                  <a:srgbClr val="0000FF"/>
                </a:solidFill>
                <a:latin typeface="华文中宋" pitchFamily="2" charset="-122"/>
                <a:ea typeface="华文中宋" pitchFamily="2" charset="-122"/>
              </a:rPr>
              <a:t>1</a:t>
            </a:r>
            <a:r>
              <a:rPr lang="zh-CN" altLang="en-US" sz="1800" b="1">
                <a:solidFill>
                  <a:srgbClr val="0000FF"/>
                </a:solidFill>
                <a:latin typeface="华文中宋" pitchFamily="2" charset="-122"/>
                <a:ea typeface="华文中宋" pitchFamily="2" charset="-122"/>
              </a:rPr>
              <a:t>、热力学第零定律</a:t>
            </a:r>
            <a:endParaRPr lang="zh-CN" altLang="en-US" sz="1800">
              <a:solidFill>
                <a:srgbClr val="0000FF"/>
              </a:solidFill>
              <a:latin typeface="华文中宋" pitchFamily="2" charset="-122"/>
              <a:ea typeface="华文中宋" pitchFamily="2" charset="-122"/>
            </a:endParaRPr>
          </a:p>
        </p:txBody>
      </p:sp>
      <p:sp>
        <p:nvSpPr>
          <p:cNvPr id="26680" name="Rectangle 56"/>
          <p:cNvSpPr>
            <a:spLocks noChangeArrowheads="1"/>
          </p:cNvSpPr>
          <p:nvPr/>
        </p:nvSpPr>
        <p:spPr bwMode="auto">
          <a:xfrm>
            <a:off x="900113" y="1509713"/>
            <a:ext cx="7775575" cy="314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90000"/>
              </a:lnSpc>
            </a:pPr>
            <a:r>
              <a:rPr lang="zh-CN" altLang="en-US" sz="1600" b="1">
                <a:solidFill>
                  <a:srgbClr val="CC0000"/>
                </a:solidFill>
                <a:latin typeface="华文中宋" pitchFamily="2" charset="-122"/>
                <a:ea typeface="华文中宋" pitchFamily="2" charset="-122"/>
              </a:rPr>
              <a:t>如果两个系统分别与第三个系统达到热平衡，那么，这两个系统彼此也处于热平衡。</a:t>
            </a:r>
            <a:endParaRPr lang="zh-CN" altLang="en-US" sz="1600">
              <a:latin typeface="华文中宋" pitchFamily="2" charset="-122"/>
              <a:ea typeface="华文中宋" pitchFamily="2" charset="-122"/>
            </a:endParaRPr>
          </a:p>
        </p:txBody>
      </p:sp>
      <p:grpSp>
        <p:nvGrpSpPr>
          <p:cNvPr id="3" name="Group 59"/>
          <p:cNvGrpSpPr>
            <a:grpSpLocks/>
          </p:cNvGrpSpPr>
          <p:nvPr/>
        </p:nvGrpSpPr>
        <p:grpSpPr bwMode="auto">
          <a:xfrm>
            <a:off x="5148263" y="1890713"/>
            <a:ext cx="1846262" cy="1222375"/>
            <a:chOff x="3037" y="2832"/>
            <a:chExt cx="1235" cy="1205"/>
          </a:xfrm>
        </p:grpSpPr>
        <p:sp>
          <p:nvSpPr>
            <p:cNvPr id="17423" name="Rectangle 38" descr="宽上对角线"/>
            <p:cNvSpPr>
              <a:spLocks noChangeArrowheads="1"/>
            </p:cNvSpPr>
            <p:nvPr/>
          </p:nvSpPr>
          <p:spPr bwMode="auto">
            <a:xfrm>
              <a:off x="3037" y="2832"/>
              <a:ext cx="1235" cy="1205"/>
            </a:xfrm>
            <a:prstGeom prst="rect">
              <a:avLst/>
            </a:prstGeom>
            <a:pattFill prst="wdUpDiag">
              <a:fgClr>
                <a:srgbClr val="000000"/>
              </a:fgClr>
              <a:bgClr>
                <a:srgbClr val="FFFFFF"/>
              </a:bgClr>
            </a:pattFill>
            <a:ln w="9525">
              <a:solidFill>
                <a:srgbClr val="000000"/>
              </a:solidFill>
              <a:miter lim="800000"/>
              <a:headEnd/>
              <a:tailEnd/>
            </a:ln>
          </p:spPr>
          <p:txBody>
            <a:bodyPr/>
            <a:lstStyle/>
            <a:p>
              <a:endParaRPr lang="zh-CN" altLang="en-US"/>
            </a:p>
          </p:txBody>
        </p:sp>
        <p:sp>
          <p:nvSpPr>
            <p:cNvPr id="17424" name="Rectangle 39"/>
            <p:cNvSpPr>
              <a:spLocks noChangeArrowheads="1"/>
            </p:cNvSpPr>
            <p:nvPr/>
          </p:nvSpPr>
          <p:spPr bwMode="auto">
            <a:xfrm>
              <a:off x="3106" y="2902"/>
              <a:ext cx="1094" cy="1071"/>
            </a:xfrm>
            <a:prstGeom prst="rect">
              <a:avLst/>
            </a:prstGeom>
            <a:solidFill>
              <a:srgbClr val="FFFFFF"/>
            </a:solidFill>
            <a:ln w="9525">
              <a:solidFill>
                <a:srgbClr val="000000"/>
              </a:solidFill>
              <a:miter lim="800000"/>
              <a:headEnd/>
              <a:tailEnd/>
            </a:ln>
          </p:spPr>
          <p:txBody>
            <a:bodyPr/>
            <a:lstStyle/>
            <a:p>
              <a:endParaRPr lang="zh-CN" altLang="en-US"/>
            </a:p>
          </p:txBody>
        </p:sp>
        <p:sp>
          <p:nvSpPr>
            <p:cNvPr id="17425" name="Rectangle 40"/>
            <p:cNvSpPr>
              <a:spLocks noChangeArrowheads="1"/>
            </p:cNvSpPr>
            <p:nvPr/>
          </p:nvSpPr>
          <p:spPr bwMode="auto">
            <a:xfrm>
              <a:off x="3251" y="3374"/>
              <a:ext cx="281" cy="442"/>
            </a:xfrm>
            <a:prstGeom prst="rect">
              <a:avLst/>
            </a:prstGeom>
            <a:solidFill>
              <a:srgbClr val="FF99FF"/>
            </a:solidFill>
            <a:ln w="9525">
              <a:solidFill>
                <a:srgbClr val="000000"/>
              </a:solidFill>
              <a:miter lim="800000"/>
              <a:headEnd/>
              <a:tailEnd/>
            </a:ln>
          </p:spPr>
          <p:txBody>
            <a:bodyPr/>
            <a:lstStyle/>
            <a:p>
              <a:endParaRPr lang="zh-CN" altLang="en-US"/>
            </a:p>
          </p:txBody>
        </p:sp>
        <p:sp>
          <p:nvSpPr>
            <p:cNvPr id="17426" name="Rectangle 41"/>
            <p:cNvSpPr>
              <a:spLocks noChangeArrowheads="1"/>
            </p:cNvSpPr>
            <p:nvPr/>
          </p:nvSpPr>
          <p:spPr bwMode="auto">
            <a:xfrm>
              <a:off x="3703" y="3369"/>
              <a:ext cx="281" cy="442"/>
            </a:xfrm>
            <a:prstGeom prst="rect">
              <a:avLst/>
            </a:prstGeom>
            <a:solidFill>
              <a:srgbClr val="FF99FF"/>
            </a:solidFill>
            <a:ln w="9525">
              <a:solidFill>
                <a:srgbClr val="000000"/>
              </a:solidFill>
              <a:miter lim="800000"/>
              <a:headEnd/>
              <a:tailEnd/>
            </a:ln>
          </p:spPr>
          <p:txBody>
            <a:bodyPr/>
            <a:lstStyle/>
            <a:p>
              <a:endParaRPr lang="zh-CN" altLang="en-US"/>
            </a:p>
          </p:txBody>
        </p:sp>
        <p:sp>
          <p:nvSpPr>
            <p:cNvPr id="17427" name="Text Box 43"/>
            <p:cNvSpPr txBox="1">
              <a:spLocks noChangeArrowheads="1"/>
            </p:cNvSpPr>
            <p:nvPr/>
          </p:nvSpPr>
          <p:spPr bwMode="auto">
            <a:xfrm>
              <a:off x="3278" y="3444"/>
              <a:ext cx="392" cy="3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just"/>
              <a:r>
                <a:rPr kumimoji="0" lang="en-US" altLang="zh-CN" sz="1500" b="1" i="1">
                  <a:latin typeface="华文中宋" pitchFamily="2" charset="-122"/>
                  <a:ea typeface="华文中宋" pitchFamily="2" charset="-122"/>
                </a:rPr>
                <a:t>A</a:t>
              </a:r>
            </a:p>
          </p:txBody>
        </p:sp>
        <p:sp>
          <p:nvSpPr>
            <p:cNvPr id="17428" name="Text Box 44"/>
            <p:cNvSpPr txBox="1">
              <a:spLocks noChangeArrowheads="1"/>
            </p:cNvSpPr>
            <p:nvPr/>
          </p:nvSpPr>
          <p:spPr bwMode="auto">
            <a:xfrm>
              <a:off x="3706" y="3443"/>
              <a:ext cx="391" cy="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just"/>
              <a:r>
                <a:rPr kumimoji="0" lang="en-US" altLang="zh-CN" sz="1500" b="1" i="1">
                  <a:latin typeface="华文中宋" pitchFamily="2" charset="-122"/>
                  <a:ea typeface="华文中宋" pitchFamily="2" charset="-122"/>
                </a:rPr>
                <a:t>B</a:t>
              </a:r>
            </a:p>
          </p:txBody>
        </p:sp>
        <p:sp>
          <p:nvSpPr>
            <p:cNvPr id="17429" name="Rectangle 45"/>
            <p:cNvSpPr>
              <a:spLocks noChangeArrowheads="1"/>
            </p:cNvSpPr>
            <p:nvPr/>
          </p:nvSpPr>
          <p:spPr bwMode="auto">
            <a:xfrm>
              <a:off x="3270" y="3003"/>
              <a:ext cx="712" cy="251"/>
            </a:xfrm>
            <a:prstGeom prst="rect">
              <a:avLst/>
            </a:prstGeom>
            <a:solidFill>
              <a:srgbClr val="FF99FF"/>
            </a:solidFill>
            <a:ln w="9525">
              <a:solidFill>
                <a:srgbClr val="000000"/>
              </a:solidFill>
              <a:miter lim="800000"/>
              <a:headEnd/>
              <a:tailEnd/>
            </a:ln>
          </p:spPr>
          <p:txBody>
            <a:bodyPr/>
            <a:lstStyle/>
            <a:p>
              <a:endParaRPr lang="zh-CN" altLang="en-US"/>
            </a:p>
          </p:txBody>
        </p:sp>
        <p:sp>
          <p:nvSpPr>
            <p:cNvPr id="17430" name="Rectangle 46" descr="宽上对角线"/>
            <p:cNvSpPr>
              <a:spLocks noChangeArrowheads="1"/>
            </p:cNvSpPr>
            <p:nvPr/>
          </p:nvSpPr>
          <p:spPr bwMode="auto">
            <a:xfrm>
              <a:off x="3204" y="3271"/>
              <a:ext cx="864" cy="81"/>
            </a:xfrm>
            <a:prstGeom prst="rect">
              <a:avLst/>
            </a:prstGeom>
            <a:pattFill prst="wdUpDiag">
              <a:fgClr>
                <a:srgbClr val="333333"/>
              </a:fgClr>
              <a:bgClr>
                <a:srgbClr val="FFFFFF"/>
              </a:bgClr>
            </a:pattFill>
            <a:ln w="9525">
              <a:solidFill>
                <a:srgbClr val="000000"/>
              </a:solidFill>
              <a:miter lim="800000"/>
              <a:headEnd/>
              <a:tailEnd/>
            </a:ln>
          </p:spPr>
          <p:txBody>
            <a:bodyPr/>
            <a:lstStyle/>
            <a:p>
              <a:endParaRPr lang="zh-CN" altLang="en-US"/>
            </a:p>
          </p:txBody>
        </p:sp>
        <p:sp>
          <p:nvSpPr>
            <p:cNvPr id="17431" name="Text Box 47"/>
            <p:cNvSpPr txBox="1">
              <a:spLocks noChangeArrowheads="1"/>
            </p:cNvSpPr>
            <p:nvPr/>
          </p:nvSpPr>
          <p:spPr bwMode="auto">
            <a:xfrm>
              <a:off x="3519" y="2999"/>
              <a:ext cx="391" cy="3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just"/>
              <a:r>
                <a:rPr kumimoji="0" lang="en-US" altLang="zh-CN" sz="1500" b="1" i="1">
                  <a:latin typeface="华文中宋" pitchFamily="2" charset="-122"/>
                  <a:ea typeface="华文中宋" pitchFamily="2" charset="-122"/>
                </a:rPr>
                <a:t>C</a:t>
              </a:r>
            </a:p>
          </p:txBody>
        </p:sp>
        <p:sp>
          <p:nvSpPr>
            <p:cNvPr id="17432" name="Rectangle 57" descr="宽上对角线"/>
            <p:cNvSpPr>
              <a:spLocks noChangeArrowheads="1"/>
            </p:cNvSpPr>
            <p:nvPr/>
          </p:nvSpPr>
          <p:spPr bwMode="auto">
            <a:xfrm>
              <a:off x="3560" y="3339"/>
              <a:ext cx="112" cy="497"/>
            </a:xfrm>
            <a:prstGeom prst="rect">
              <a:avLst/>
            </a:prstGeom>
            <a:pattFill prst="wdUpDiag">
              <a:fgClr>
                <a:srgbClr val="000000"/>
              </a:fgClr>
              <a:bgClr>
                <a:srgbClr val="FFFFFF"/>
              </a:bgClr>
            </a:pattFill>
            <a:ln w="9525">
              <a:solidFill>
                <a:srgbClr val="000000"/>
              </a:solidFill>
              <a:miter lim="800000"/>
              <a:headEnd/>
              <a:tailEnd/>
            </a:ln>
          </p:spPr>
          <p:txBody>
            <a:bodyPr/>
            <a:lstStyle/>
            <a:p>
              <a:endParaRPr lang="zh-CN" altLang="en-US"/>
            </a:p>
          </p:txBody>
        </p:sp>
      </p:grpSp>
      <p:sp>
        <p:nvSpPr>
          <p:cNvPr id="26645" name="Line 21"/>
          <p:cNvSpPr>
            <a:spLocks noChangeShapeType="1"/>
          </p:cNvSpPr>
          <p:nvPr/>
        </p:nvSpPr>
        <p:spPr bwMode="auto">
          <a:xfrm>
            <a:off x="6821488" y="2247900"/>
            <a:ext cx="720725" cy="0"/>
          </a:xfrm>
          <a:prstGeom prst="line">
            <a:avLst/>
          </a:prstGeom>
          <a:noFill/>
          <a:ln w="25400">
            <a:solidFill>
              <a:srgbClr val="FF00FF"/>
            </a:solidFill>
            <a:round/>
            <a:headEnd type="stealth" w="lg" len="lg"/>
            <a:tailEnd/>
          </a:ln>
          <a:extLst>
            <a:ext uri="{909E8E84-426E-40DD-AFC4-6F175D3DCCD1}">
              <a14:hiddenFill xmlns:a14="http://schemas.microsoft.com/office/drawing/2010/main" xmlns="">
                <a:noFill/>
              </a14:hiddenFill>
            </a:ext>
          </a:extLst>
        </p:spPr>
        <p:txBody>
          <a:bodyPr/>
          <a:lstStyle/>
          <a:p>
            <a:endParaRPr lang="zh-CN" altLang="en-US"/>
          </a:p>
        </p:txBody>
      </p:sp>
      <p:sp>
        <p:nvSpPr>
          <p:cNvPr id="26646" name="Line 22"/>
          <p:cNvSpPr>
            <a:spLocks noChangeShapeType="1"/>
          </p:cNvSpPr>
          <p:nvPr/>
        </p:nvSpPr>
        <p:spPr bwMode="auto">
          <a:xfrm>
            <a:off x="1258888" y="2247900"/>
            <a:ext cx="647700" cy="0"/>
          </a:xfrm>
          <a:prstGeom prst="line">
            <a:avLst/>
          </a:prstGeom>
          <a:noFill/>
          <a:ln w="25400">
            <a:solidFill>
              <a:srgbClr val="FF00FF"/>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sp>
        <p:nvSpPr>
          <p:cNvPr id="26684" name="Line 60"/>
          <p:cNvSpPr>
            <a:spLocks noChangeShapeType="1"/>
          </p:cNvSpPr>
          <p:nvPr/>
        </p:nvSpPr>
        <p:spPr bwMode="auto">
          <a:xfrm>
            <a:off x="3636963" y="2409825"/>
            <a:ext cx="1511300" cy="0"/>
          </a:xfrm>
          <a:prstGeom prst="line">
            <a:avLst/>
          </a:prstGeom>
          <a:noFill/>
          <a:ln w="63500">
            <a:solidFill>
              <a:schemeClr val="tx1"/>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sp>
        <p:nvSpPr>
          <p:cNvPr id="26685" name="Text Box 61"/>
          <p:cNvSpPr txBox="1">
            <a:spLocks noChangeArrowheads="1"/>
          </p:cNvSpPr>
          <p:nvPr/>
        </p:nvSpPr>
        <p:spPr bwMode="auto">
          <a:xfrm>
            <a:off x="582613" y="3579813"/>
            <a:ext cx="8382000" cy="7381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b="1">
                <a:latin typeface="华文中宋" pitchFamily="2" charset="-122"/>
                <a:ea typeface="华文中宋" pitchFamily="2" charset="-122"/>
              </a:rPr>
              <a:t>    </a:t>
            </a:r>
            <a:r>
              <a:rPr lang="zh-CN" altLang="en-US" sz="1800" b="1">
                <a:latin typeface="华文中宋" pitchFamily="2" charset="-122"/>
                <a:ea typeface="华文中宋" pitchFamily="2" charset="-122"/>
              </a:rPr>
              <a:t>处在相互热平衡状态的系统必定拥有某一个共同的物理性质。我们把描述系统的这一共同的宏观性质的物理量称为系统的</a:t>
            </a:r>
            <a:r>
              <a:rPr lang="zh-CN" altLang="en-US" sz="1800" b="1">
                <a:solidFill>
                  <a:srgbClr val="FF0000"/>
                </a:solidFill>
                <a:latin typeface="华文中宋" pitchFamily="2" charset="-122"/>
                <a:ea typeface="华文中宋" pitchFamily="2" charset="-122"/>
              </a:rPr>
              <a:t>温度</a:t>
            </a:r>
            <a:r>
              <a:rPr lang="zh-CN" altLang="en-US" sz="1800" b="1">
                <a:latin typeface="华文中宋" pitchFamily="2" charset="-122"/>
                <a:ea typeface="华文中宋" pitchFamily="2" charset="-122"/>
              </a:rPr>
              <a:t>。</a:t>
            </a:r>
          </a:p>
        </p:txBody>
      </p:sp>
      <p:sp>
        <p:nvSpPr>
          <p:cNvPr id="26686" name="Rectangle 62"/>
          <p:cNvSpPr>
            <a:spLocks noChangeArrowheads="1"/>
          </p:cNvSpPr>
          <p:nvPr/>
        </p:nvSpPr>
        <p:spPr bwMode="auto">
          <a:xfrm>
            <a:off x="1116013" y="4300538"/>
            <a:ext cx="38608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latin typeface="华文中宋" pitchFamily="2" charset="-122"/>
                <a:ea typeface="华文中宋" pitchFamily="2" charset="-122"/>
              </a:rPr>
              <a:t>温标：温度的数值表示法。</a:t>
            </a:r>
          </a:p>
        </p:txBody>
      </p:sp>
      <p:sp>
        <p:nvSpPr>
          <p:cNvPr id="17422" name="Text Box 2"/>
          <p:cNvSpPr>
            <a:spLocks noChangeArrowheads="1"/>
          </p:cNvSpPr>
          <p:nvPr/>
        </p:nvSpPr>
        <p:spPr bwMode="auto">
          <a:xfrm>
            <a:off x="839788" y="874713"/>
            <a:ext cx="3300412" cy="400050"/>
          </a:xfrm>
          <a:prstGeom prst="homePlate">
            <a:avLst>
              <a:gd name="adj" fmla="val 49920"/>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二、热力学第零定律 温度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26679"/>
                                        </p:tgtEl>
                                        <p:attrNameLst>
                                          <p:attrName>style.visibility</p:attrName>
                                        </p:attrNameLst>
                                      </p:cBhvr>
                                      <p:to>
                                        <p:strVal val="visible"/>
                                      </p:to>
                                    </p:set>
                                    <p:animEffect transition="in" filter="checkerboard(across)">
                                      <p:cBhvr>
                                        <p:cTn id="7" dur="500"/>
                                        <p:tgtEl>
                                          <p:spTgt spid="266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26680"/>
                                        </p:tgtEl>
                                        <p:attrNameLst>
                                          <p:attrName>style.visibility</p:attrName>
                                        </p:attrNameLst>
                                      </p:cBhvr>
                                      <p:to>
                                        <p:strVal val="visible"/>
                                      </p:to>
                                    </p:set>
                                    <p:animEffect transition="in" filter="blinds(horizontal)">
                                      <p:cBhvr>
                                        <p:cTn id="12" dur="500"/>
                                        <p:tgtEl>
                                          <p:spTgt spid="2668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26646"/>
                                        </p:tgtEl>
                                        <p:attrNameLst>
                                          <p:attrName>style.visibility</p:attrName>
                                        </p:attrNameLst>
                                      </p:cBhvr>
                                      <p:to>
                                        <p:strVal val="visible"/>
                                      </p:to>
                                    </p:set>
                                    <p:animEffect transition="in" filter="blinds(horizontal)">
                                      <p:cBhvr>
                                        <p:cTn id="20" dur="500"/>
                                        <p:tgtEl>
                                          <p:spTgt spid="26646"/>
                                        </p:tgtEl>
                                      </p:cBhvr>
                                    </p:animEffect>
                                  </p:childTnLst>
                                </p:cTn>
                              </p:par>
                              <p:par>
                                <p:cTn id="21" presetID="3" presetClass="entr" presetSubtype="10" fill="hold" grpId="0" nodeType="withEffect">
                                  <p:stCondLst>
                                    <p:cond delay="0"/>
                                  </p:stCondLst>
                                  <p:childTnLst>
                                    <p:set>
                                      <p:cBhvr>
                                        <p:cTn id="22" dur="1" fill="hold">
                                          <p:stCondLst>
                                            <p:cond delay="0"/>
                                          </p:stCondLst>
                                        </p:cTn>
                                        <p:tgtEl>
                                          <p:spTgt spid="26647"/>
                                        </p:tgtEl>
                                        <p:attrNameLst>
                                          <p:attrName>style.visibility</p:attrName>
                                        </p:attrNameLst>
                                      </p:cBhvr>
                                      <p:to>
                                        <p:strVal val="visible"/>
                                      </p:to>
                                    </p:set>
                                    <p:animEffect transition="in" filter="blinds(horizontal)">
                                      <p:cBhvr>
                                        <p:cTn id="23" dur="500"/>
                                        <p:tgtEl>
                                          <p:spTgt spid="26647"/>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26684"/>
                                        </p:tgtEl>
                                        <p:attrNameLst>
                                          <p:attrName>style.visibility</p:attrName>
                                        </p:attrNameLst>
                                      </p:cBhvr>
                                      <p:to>
                                        <p:strVal val="visible"/>
                                      </p:to>
                                    </p:set>
                                    <p:animEffect transition="in" filter="blinds(horizontal)">
                                      <p:cBhvr>
                                        <p:cTn id="28" dur="500"/>
                                        <p:tgtEl>
                                          <p:spTgt spid="2668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grpId="0" nodeType="clickEffect">
                                  <p:stCondLst>
                                    <p:cond delay="0"/>
                                  </p:stCondLst>
                                  <p:childTnLst>
                                    <p:set>
                                      <p:cBhvr>
                                        <p:cTn id="32" dur="1" fill="hold">
                                          <p:stCondLst>
                                            <p:cond delay="0"/>
                                          </p:stCondLst>
                                        </p:cTn>
                                        <p:tgtEl>
                                          <p:spTgt spid="26644"/>
                                        </p:tgtEl>
                                        <p:attrNameLst>
                                          <p:attrName>style.visibility</p:attrName>
                                        </p:attrNameLst>
                                      </p:cBhvr>
                                      <p:to>
                                        <p:strVal val="visible"/>
                                      </p:to>
                                    </p:set>
                                    <p:animEffect transition="in" filter="blinds(horizontal)">
                                      <p:cBhvr>
                                        <p:cTn id="33" dur="500"/>
                                        <p:tgtEl>
                                          <p:spTgt spid="26644"/>
                                        </p:tgtEl>
                                      </p:cBhvr>
                                    </p:animEffect>
                                  </p:childTnLst>
                                </p:cTn>
                              </p:par>
                              <p:par>
                                <p:cTn id="34" presetID="3" presetClass="entr" presetSubtype="10" fill="hold" nodeType="withEffect">
                                  <p:stCondLst>
                                    <p:cond delay="0"/>
                                  </p:stCondLst>
                                  <p:childTnLst>
                                    <p:set>
                                      <p:cBhvr>
                                        <p:cTn id="35" dur="1" fill="hold">
                                          <p:stCondLst>
                                            <p:cond delay="0"/>
                                          </p:stCondLst>
                                        </p:cTn>
                                        <p:tgtEl>
                                          <p:spTgt spid="3"/>
                                        </p:tgtEl>
                                        <p:attrNameLst>
                                          <p:attrName>style.visibility</p:attrName>
                                        </p:attrNameLst>
                                      </p:cBhvr>
                                      <p:to>
                                        <p:strVal val="visible"/>
                                      </p:to>
                                    </p:set>
                                    <p:animEffect transition="in" filter="blinds(horizontal)">
                                      <p:cBhvr>
                                        <p:cTn id="36" dur="500"/>
                                        <p:tgtEl>
                                          <p:spTgt spid="3"/>
                                        </p:tgtEl>
                                      </p:cBhvr>
                                    </p:animEffect>
                                  </p:childTnLst>
                                </p:cTn>
                              </p:par>
                              <p:par>
                                <p:cTn id="37" presetID="3" presetClass="entr" presetSubtype="10" fill="hold" grpId="0" nodeType="withEffect">
                                  <p:stCondLst>
                                    <p:cond delay="0"/>
                                  </p:stCondLst>
                                  <p:childTnLst>
                                    <p:set>
                                      <p:cBhvr>
                                        <p:cTn id="38" dur="1" fill="hold">
                                          <p:stCondLst>
                                            <p:cond delay="0"/>
                                          </p:stCondLst>
                                        </p:cTn>
                                        <p:tgtEl>
                                          <p:spTgt spid="26645"/>
                                        </p:tgtEl>
                                        <p:attrNameLst>
                                          <p:attrName>style.visibility</p:attrName>
                                        </p:attrNameLst>
                                      </p:cBhvr>
                                      <p:to>
                                        <p:strVal val="visible"/>
                                      </p:to>
                                    </p:set>
                                    <p:animEffect transition="in" filter="blinds(horizontal)">
                                      <p:cBhvr>
                                        <p:cTn id="39" dur="500"/>
                                        <p:tgtEl>
                                          <p:spTgt spid="26645"/>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5" presetClass="entr" presetSubtype="10" fill="hold" grpId="0" nodeType="clickEffect">
                                  <p:stCondLst>
                                    <p:cond delay="0"/>
                                  </p:stCondLst>
                                  <p:childTnLst>
                                    <p:set>
                                      <p:cBhvr>
                                        <p:cTn id="43" dur="1" fill="hold">
                                          <p:stCondLst>
                                            <p:cond delay="0"/>
                                          </p:stCondLst>
                                        </p:cTn>
                                        <p:tgtEl>
                                          <p:spTgt spid="26627"/>
                                        </p:tgtEl>
                                        <p:attrNameLst>
                                          <p:attrName>style.visibility</p:attrName>
                                        </p:attrNameLst>
                                      </p:cBhvr>
                                      <p:to>
                                        <p:strVal val="visible"/>
                                      </p:to>
                                    </p:set>
                                    <p:animEffect transition="in" filter="checkerboard(across)">
                                      <p:cBhvr>
                                        <p:cTn id="44" dur="500"/>
                                        <p:tgtEl>
                                          <p:spTgt spid="26627"/>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5" presetClass="entr" presetSubtype="10" fill="hold" grpId="0" nodeType="clickEffect">
                                  <p:stCondLst>
                                    <p:cond delay="0"/>
                                  </p:stCondLst>
                                  <p:childTnLst>
                                    <p:set>
                                      <p:cBhvr>
                                        <p:cTn id="48" dur="1" fill="hold">
                                          <p:stCondLst>
                                            <p:cond delay="0"/>
                                          </p:stCondLst>
                                        </p:cTn>
                                        <p:tgtEl>
                                          <p:spTgt spid="26685"/>
                                        </p:tgtEl>
                                        <p:attrNameLst>
                                          <p:attrName>style.visibility</p:attrName>
                                        </p:attrNameLst>
                                      </p:cBhvr>
                                      <p:to>
                                        <p:strVal val="visible"/>
                                      </p:to>
                                    </p:set>
                                    <p:animEffect transition="in" filter="checkerboard(across)">
                                      <p:cBhvr>
                                        <p:cTn id="49" dur="500"/>
                                        <p:tgtEl>
                                          <p:spTgt spid="2668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grpId="0" nodeType="clickEffect">
                                  <p:stCondLst>
                                    <p:cond delay="0"/>
                                  </p:stCondLst>
                                  <p:childTnLst>
                                    <p:set>
                                      <p:cBhvr>
                                        <p:cTn id="53" dur="1" fill="hold">
                                          <p:stCondLst>
                                            <p:cond delay="0"/>
                                          </p:stCondLst>
                                        </p:cTn>
                                        <p:tgtEl>
                                          <p:spTgt spid="26686"/>
                                        </p:tgtEl>
                                        <p:attrNameLst>
                                          <p:attrName>style.visibility</p:attrName>
                                        </p:attrNameLst>
                                      </p:cBhvr>
                                      <p:to>
                                        <p:strVal val="visible"/>
                                      </p:to>
                                    </p:set>
                                    <p:animEffect transition="in" filter="blinds(horizontal)">
                                      <p:cBhvr>
                                        <p:cTn id="54" dur="500"/>
                                        <p:tgtEl>
                                          <p:spTgt spid="2668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6627" grpId="0" autoUpdateAnimBg="0"/>
      <p:bldP spid="26644" grpId="0" animBg="1"/>
      <p:bldP spid="26647" grpId="0" animBg="1"/>
      <p:bldP spid="26679" grpId="0" autoUpdateAnimBg="0"/>
      <p:bldP spid="26680" grpId="0"/>
      <p:bldP spid="26645" grpId="0" animBg="1"/>
      <p:bldP spid="26646" grpId="0" animBg="1"/>
      <p:bldP spid="26684" grpId="0" animBg="1"/>
      <p:bldP spid="26685" grpId="0" autoUpdateAnimBg="0"/>
      <p:bldP spid="26686"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89" name="Rectangle 33"/>
          <p:cNvSpPr>
            <a:spLocks noChangeArrowheads="1"/>
          </p:cNvSpPr>
          <p:nvPr/>
        </p:nvSpPr>
        <p:spPr bwMode="auto">
          <a:xfrm>
            <a:off x="901700" y="3209925"/>
            <a:ext cx="79914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1800" b="1">
                <a:ea typeface="华文中宋" pitchFamily="2" charset="-122"/>
              </a:rPr>
              <a:t>    </a:t>
            </a:r>
            <a:r>
              <a:rPr lang="zh-CN" altLang="en-US" sz="1800" b="1">
                <a:ea typeface="华文中宋" pitchFamily="2" charset="-122"/>
              </a:rPr>
              <a:t>在热力学第二定律的基础上建立，不依赖测温物质及其测温属性。</a:t>
            </a:r>
          </a:p>
        </p:txBody>
      </p:sp>
      <p:sp>
        <p:nvSpPr>
          <p:cNvPr id="19499" name="Rectangle 43"/>
          <p:cNvSpPr>
            <a:spLocks noChangeArrowheads="1"/>
          </p:cNvSpPr>
          <p:nvPr/>
        </p:nvSpPr>
        <p:spPr bwMode="auto">
          <a:xfrm>
            <a:off x="765175" y="835025"/>
            <a:ext cx="4167188"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solidFill>
                  <a:srgbClr val="3333FF"/>
                </a:solidFill>
                <a:ea typeface="华文中宋" pitchFamily="2" charset="-122"/>
              </a:rPr>
              <a:t>摄氏温标（摄尔修斯建立）：</a:t>
            </a:r>
            <a:endParaRPr lang="zh-CN" altLang="en-US" sz="1800" b="1" baseline="30000">
              <a:solidFill>
                <a:srgbClr val="3333FF"/>
              </a:solidFill>
              <a:ea typeface="华文中宋" pitchFamily="2" charset="-122"/>
            </a:endParaRPr>
          </a:p>
        </p:txBody>
      </p:sp>
      <p:sp>
        <p:nvSpPr>
          <p:cNvPr id="19500" name="Rectangle 44"/>
          <p:cNvSpPr>
            <a:spLocks noChangeArrowheads="1"/>
          </p:cNvSpPr>
          <p:nvPr/>
        </p:nvSpPr>
        <p:spPr bwMode="auto">
          <a:xfrm>
            <a:off x="612775" y="2778125"/>
            <a:ext cx="53927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solidFill>
                  <a:srgbClr val="3333FF"/>
                </a:solidFill>
                <a:ea typeface="华文中宋" pitchFamily="2" charset="-122"/>
              </a:rPr>
              <a:t>开氏温标（开尔文建立）：热力学温标</a:t>
            </a:r>
          </a:p>
        </p:txBody>
      </p:sp>
      <p:sp>
        <p:nvSpPr>
          <p:cNvPr id="214021" name="Text Box 5"/>
          <p:cNvSpPr txBox="1">
            <a:spLocks noChangeArrowheads="1"/>
          </p:cNvSpPr>
          <p:nvPr/>
        </p:nvSpPr>
        <p:spPr bwMode="auto">
          <a:xfrm>
            <a:off x="1054100" y="1512888"/>
            <a:ext cx="6975475"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ea typeface="华文中宋" pitchFamily="2" charset="-122"/>
              </a:rPr>
              <a:t>1</a:t>
            </a:r>
            <a:r>
              <a:rPr lang="zh-CN" altLang="en-US" sz="1800" b="1">
                <a:ea typeface="华文中宋" pitchFamily="2" charset="-122"/>
              </a:rPr>
              <a:t>大气压下，冰化为水定为 </a:t>
            </a:r>
            <a:r>
              <a:rPr lang="en-US" altLang="zh-CN" sz="1800" b="1" i="1">
                <a:ea typeface="华文中宋" pitchFamily="2" charset="-122"/>
              </a:rPr>
              <a:t>t</a:t>
            </a:r>
            <a:r>
              <a:rPr lang="en-US" altLang="zh-CN" sz="1800" b="1">
                <a:ea typeface="华文中宋" pitchFamily="2" charset="-122"/>
              </a:rPr>
              <a:t> = 0 ℃</a:t>
            </a:r>
          </a:p>
          <a:p>
            <a:pPr eaLnBrk="1" hangingPunct="1">
              <a:lnSpc>
                <a:spcPct val="110000"/>
              </a:lnSpc>
            </a:pPr>
            <a:r>
              <a:rPr lang="en-US" altLang="zh-CN" sz="1800" b="1">
                <a:ea typeface="华文中宋" pitchFamily="2" charset="-122"/>
              </a:rPr>
              <a:t>                      </a:t>
            </a:r>
            <a:r>
              <a:rPr lang="zh-CN" altLang="en-US" sz="1800" b="1">
                <a:ea typeface="华文中宋" pitchFamily="2" charset="-122"/>
              </a:rPr>
              <a:t>水变为水蒸汽定为 </a:t>
            </a:r>
            <a:r>
              <a:rPr lang="en-US" altLang="zh-CN" sz="1800" b="1" i="1">
                <a:ea typeface="华文中宋" pitchFamily="2" charset="-122"/>
              </a:rPr>
              <a:t>t</a:t>
            </a:r>
            <a:r>
              <a:rPr lang="en-US" altLang="zh-CN" sz="1800" b="1">
                <a:ea typeface="华文中宋" pitchFamily="2" charset="-122"/>
              </a:rPr>
              <a:t> =100 ℃</a:t>
            </a:r>
          </a:p>
        </p:txBody>
      </p:sp>
      <p:sp>
        <p:nvSpPr>
          <p:cNvPr id="9" name="Text Box 5"/>
          <p:cNvSpPr txBox="1">
            <a:spLocks noChangeArrowheads="1"/>
          </p:cNvSpPr>
          <p:nvPr/>
        </p:nvSpPr>
        <p:spPr bwMode="auto">
          <a:xfrm>
            <a:off x="1431925" y="2268538"/>
            <a:ext cx="5138738" cy="374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ea typeface="华文中宋" pitchFamily="2" charset="-122"/>
              </a:rPr>
              <a:t>水的三相点测得   </a:t>
            </a:r>
            <a:r>
              <a:rPr lang="en-US" altLang="zh-CN" sz="1800" b="1" i="1">
                <a:ea typeface="华文中宋" pitchFamily="2" charset="-122"/>
              </a:rPr>
              <a:t>t</a:t>
            </a:r>
            <a:r>
              <a:rPr lang="en-US" altLang="zh-CN" sz="1800" b="1" baseline="-25000">
                <a:ea typeface="华文中宋" pitchFamily="2" charset="-122"/>
              </a:rPr>
              <a:t>0</a:t>
            </a:r>
            <a:r>
              <a:rPr lang="en-US" altLang="zh-CN" sz="1800" b="1">
                <a:ea typeface="华文中宋" pitchFamily="2" charset="-122"/>
              </a:rPr>
              <a:t>= 0.01 ℃</a:t>
            </a:r>
          </a:p>
        </p:txBody>
      </p:sp>
      <p:sp>
        <p:nvSpPr>
          <p:cNvPr id="19503" name="Rectangle 47"/>
          <p:cNvSpPr>
            <a:spLocks noChangeArrowheads="1"/>
          </p:cNvSpPr>
          <p:nvPr/>
        </p:nvSpPr>
        <p:spPr bwMode="auto">
          <a:xfrm>
            <a:off x="2486025" y="4125913"/>
            <a:ext cx="3240088" cy="461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en-US" altLang="zh-CN" b="1" i="1">
                <a:ea typeface="华文中宋" pitchFamily="2" charset="-122"/>
              </a:rPr>
              <a:t>T </a:t>
            </a:r>
            <a:r>
              <a:rPr lang="en-US" altLang="zh-CN" b="1">
                <a:ea typeface="华文中宋" pitchFamily="2" charset="-122"/>
              </a:rPr>
              <a:t>=</a:t>
            </a:r>
            <a:r>
              <a:rPr lang="en-US" altLang="zh-CN" b="1" i="1">
                <a:ea typeface="华文中宋" pitchFamily="2" charset="-122"/>
              </a:rPr>
              <a:t> t </a:t>
            </a:r>
            <a:r>
              <a:rPr lang="en-US" altLang="zh-CN" b="1">
                <a:ea typeface="华文中宋" pitchFamily="2" charset="-122"/>
              </a:rPr>
              <a:t>+ 273.15</a:t>
            </a:r>
          </a:p>
        </p:txBody>
      </p:sp>
      <p:sp>
        <p:nvSpPr>
          <p:cNvPr id="19504" name="Rectangle 48"/>
          <p:cNvSpPr>
            <a:spLocks noChangeArrowheads="1"/>
          </p:cNvSpPr>
          <p:nvPr/>
        </p:nvSpPr>
        <p:spPr bwMode="auto">
          <a:xfrm>
            <a:off x="901700" y="3724275"/>
            <a:ext cx="799147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1800" b="1">
                <a:ea typeface="华文中宋" pitchFamily="2" charset="-122"/>
              </a:rPr>
              <a:t>    </a:t>
            </a:r>
            <a:r>
              <a:rPr lang="zh-CN" altLang="en-US" sz="1800" b="1">
                <a:ea typeface="华文中宋" pitchFamily="2" charset="-122"/>
              </a:rPr>
              <a:t>规定水的三相点（水，冰和水蒸汽平衡共存的状态）为</a:t>
            </a:r>
            <a:r>
              <a:rPr lang="en-US" altLang="zh-CN" sz="1800" b="1">
                <a:ea typeface="华文中宋" pitchFamily="2" charset="-122"/>
              </a:rPr>
              <a:t>273.16K</a:t>
            </a:r>
            <a:r>
              <a:rPr lang="zh-CN" altLang="en-US" sz="1800" b="1">
                <a:ea typeface="华文中宋" pitchFamily="2" charset="-122"/>
              </a:rPr>
              <a:t>。</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9499"/>
                                        </p:tgtEl>
                                        <p:attrNameLst>
                                          <p:attrName>style.visibility</p:attrName>
                                        </p:attrNameLst>
                                      </p:cBhvr>
                                      <p:to>
                                        <p:strVal val="visible"/>
                                      </p:to>
                                    </p:set>
                                    <p:animEffect transition="in" filter="blinds(horizontal)">
                                      <p:cBhvr>
                                        <p:cTn id="7" dur="500"/>
                                        <p:tgtEl>
                                          <p:spTgt spid="1949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14021">
                                            <p:txEl>
                                              <p:pRg st="0" end="0"/>
                                            </p:txEl>
                                          </p:spTgt>
                                        </p:tgtEl>
                                        <p:attrNameLst>
                                          <p:attrName>style.visibility</p:attrName>
                                        </p:attrNameLst>
                                      </p:cBhvr>
                                      <p:to>
                                        <p:strVal val="visible"/>
                                      </p:to>
                                    </p:set>
                                    <p:animEffect transition="in" filter="wipe(left)">
                                      <p:cBhvr>
                                        <p:cTn id="12" dur="500"/>
                                        <p:tgtEl>
                                          <p:spTgt spid="214021">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4021">
                                            <p:txEl>
                                              <p:pRg st="1" end="1"/>
                                            </p:txEl>
                                          </p:spTgt>
                                        </p:tgtEl>
                                        <p:attrNameLst>
                                          <p:attrName>style.visibility</p:attrName>
                                        </p:attrNameLst>
                                      </p:cBhvr>
                                      <p:to>
                                        <p:strVal val="visible"/>
                                      </p:to>
                                    </p:set>
                                    <p:animEffect transition="in" filter="wipe(left)">
                                      <p:cBhvr>
                                        <p:cTn id="17" dur="500"/>
                                        <p:tgtEl>
                                          <p:spTgt spid="214021">
                                            <p:txEl>
                                              <p:pRg st="1" end="1"/>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9">
                                            <p:txEl>
                                              <p:pRg st="0" end="0"/>
                                            </p:txEl>
                                          </p:spTgt>
                                        </p:tgtEl>
                                        <p:attrNameLst>
                                          <p:attrName>style.visibility</p:attrName>
                                        </p:attrNameLst>
                                      </p:cBhvr>
                                      <p:to>
                                        <p:strVal val="visible"/>
                                      </p:to>
                                    </p:set>
                                    <p:animEffect transition="in" filter="wipe(left)">
                                      <p:cBhvr>
                                        <p:cTn id="22" dur="500"/>
                                        <p:tgtEl>
                                          <p:spTgt spid="9">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19500"/>
                                        </p:tgtEl>
                                        <p:attrNameLst>
                                          <p:attrName>style.visibility</p:attrName>
                                        </p:attrNameLst>
                                      </p:cBhvr>
                                      <p:to>
                                        <p:strVal val="visible"/>
                                      </p:to>
                                    </p:set>
                                    <p:animEffect transition="in" filter="blinds(horizontal)">
                                      <p:cBhvr>
                                        <p:cTn id="27" dur="500"/>
                                        <p:tgtEl>
                                          <p:spTgt spid="1950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5" presetClass="entr" presetSubtype="10" fill="hold" grpId="0" nodeType="clickEffect">
                                  <p:stCondLst>
                                    <p:cond delay="0"/>
                                  </p:stCondLst>
                                  <p:childTnLst>
                                    <p:set>
                                      <p:cBhvr>
                                        <p:cTn id="31" dur="1" fill="hold">
                                          <p:stCondLst>
                                            <p:cond delay="0"/>
                                          </p:stCondLst>
                                        </p:cTn>
                                        <p:tgtEl>
                                          <p:spTgt spid="19489"/>
                                        </p:tgtEl>
                                        <p:attrNameLst>
                                          <p:attrName>style.visibility</p:attrName>
                                        </p:attrNameLst>
                                      </p:cBhvr>
                                      <p:to>
                                        <p:strVal val="visible"/>
                                      </p:to>
                                    </p:set>
                                    <p:animEffect transition="in" filter="checkerboard(across)">
                                      <p:cBhvr>
                                        <p:cTn id="32" dur="500"/>
                                        <p:tgtEl>
                                          <p:spTgt spid="1948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19504"/>
                                        </p:tgtEl>
                                        <p:attrNameLst>
                                          <p:attrName>style.visibility</p:attrName>
                                        </p:attrNameLst>
                                      </p:cBhvr>
                                      <p:to>
                                        <p:strVal val="visible"/>
                                      </p:to>
                                    </p:set>
                                    <p:animEffect transition="in" filter="blinds(horizontal)">
                                      <p:cBhvr>
                                        <p:cTn id="37" dur="500"/>
                                        <p:tgtEl>
                                          <p:spTgt spid="19504"/>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19503"/>
                                        </p:tgtEl>
                                        <p:attrNameLst>
                                          <p:attrName>style.visibility</p:attrName>
                                        </p:attrNameLst>
                                      </p:cBhvr>
                                      <p:to>
                                        <p:strVal val="visible"/>
                                      </p:to>
                                    </p:set>
                                    <p:animEffect transition="in" filter="blinds(horizontal)">
                                      <p:cBhvr>
                                        <p:cTn id="40" dur="500"/>
                                        <p:tgtEl>
                                          <p:spTgt spid="1950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9489" grpId="0" autoUpdateAnimBg="0"/>
      <p:bldP spid="19499" grpId="0"/>
      <p:bldP spid="19500" grpId="0"/>
      <p:bldP spid="214021" grpId="0" build="p"/>
      <p:bldP spid="9" grpId="0" build="p"/>
      <p:bldP spid="19503" grpId="0"/>
      <p:bldP spid="1950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397" name="Text Box 229"/>
          <p:cNvSpPr txBox="1">
            <a:spLocks noChangeArrowheads="1"/>
          </p:cNvSpPr>
          <p:nvPr/>
        </p:nvSpPr>
        <p:spPr bwMode="auto">
          <a:xfrm>
            <a:off x="304800" y="1203325"/>
            <a:ext cx="2514600"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600" b="1">
                <a:solidFill>
                  <a:schemeClr val="accent2"/>
                </a:solidFill>
                <a:ea typeface="华文中宋" pitchFamily="2" charset="-122"/>
              </a:rPr>
              <a:t>1</a:t>
            </a:r>
            <a:r>
              <a:rPr lang="zh-CN" altLang="en-US" sz="1600" b="1">
                <a:solidFill>
                  <a:schemeClr val="accent2"/>
                </a:solidFill>
                <a:ea typeface="华文中宋" pitchFamily="2" charset="-122"/>
              </a:rPr>
              <a:t>、理想气体</a:t>
            </a:r>
            <a:endParaRPr lang="zh-CN" altLang="en-US" sz="1600">
              <a:ea typeface="华文中宋" pitchFamily="2" charset="-122"/>
            </a:endParaRPr>
          </a:p>
        </p:txBody>
      </p:sp>
      <p:sp>
        <p:nvSpPr>
          <p:cNvPr id="19459" name="Rectangle 230"/>
          <p:cNvSpPr>
            <a:spLocks noChangeArrowheads="1"/>
          </p:cNvSpPr>
          <p:nvPr/>
        </p:nvSpPr>
        <p:spPr bwMode="auto">
          <a:xfrm>
            <a:off x="762000" y="1852613"/>
            <a:ext cx="273050"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2800">
                <a:ea typeface="华文中宋" pitchFamily="2" charset="-122"/>
              </a:rPr>
              <a:t> </a:t>
            </a:r>
          </a:p>
        </p:txBody>
      </p:sp>
      <p:sp>
        <p:nvSpPr>
          <p:cNvPr id="7399" name="Text Box 231"/>
          <p:cNvSpPr txBox="1">
            <a:spLocks noChangeArrowheads="1"/>
          </p:cNvSpPr>
          <p:nvPr/>
        </p:nvSpPr>
        <p:spPr bwMode="auto">
          <a:xfrm>
            <a:off x="304800" y="1779588"/>
            <a:ext cx="4343400" cy="3381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600" b="1">
                <a:solidFill>
                  <a:schemeClr val="accent2"/>
                </a:solidFill>
                <a:ea typeface="华文中宋" pitchFamily="2" charset="-122"/>
              </a:rPr>
              <a:t>2</a:t>
            </a:r>
            <a:r>
              <a:rPr lang="zh-CN" altLang="en-US" sz="1600" b="1">
                <a:solidFill>
                  <a:schemeClr val="accent2"/>
                </a:solidFill>
                <a:ea typeface="华文中宋" pitchFamily="2" charset="-122"/>
              </a:rPr>
              <a:t>、理想气体的状态方程</a:t>
            </a:r>
            <a:endParaRPr lang="zh-CN" altLang="en-US" sz="1600">
              <a:ea typeface="华文中宋" pitchFamily="2" charset="-122"/>
            </a:endParaRPr>
          </a:p>
        </p:txBody>
      </p:sp>
      <p:sp>
        <p:nvSpPr>
          <p:cNvPr id="7400" name="Text Box 232"/>
          <p:cNvSpPr txBox="1">
            <a:spLocks noChangeArrowheads="1"/>
          </p:cNvSpPr>
          <p:nvPr/>
        </p:nvSpPr>
        <p:spPr bwMode="auto">
          <a:xfrm>
            <a:off x="228600" y="2089150"/>
            <a:ext cx="8534400"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600" b="1">
                <a:ea typeface="华文中宋" pitchFamily="2" charset="-122"/>
              </a:rPr>
              <a:t>        </a:t>
            </a:r>
            <a:r>
              <a:rPr lang="zh-CN" altLang="en-US" sz="1600" b="1">
                <a:solidFill>
                  <a:srgbClr val="FF0000"/>
                </a:solidFill>
                <a:ea typeface="华文中宋" pitchFamily="2" charset="-122"/>
              </a:rPr>
              <a:t>热平衡态</a:t>
            </a:r>
            <a:r>
              <a:rPr lang="zh-CN" altLang="en-US" sz="1600" b="1">
                <a:ea typeface="华文中宋" pitchFamily="2" charset="-122"/>
              </a:rPr>
              <a:t>下，系统各个状态参量之间满足一定的关系，这样的关系叫系统的状态方程</a:t>
            </a:r>
          </a:p>
        </p:txBody>
      </p:sp>
      <p:sp>
        <p:nvSpPr>
          <p:cNvPr id="7403" name="Text Box 235"/>
          <p:cNvSpPr txBox="1">
            <a:spLocks noChangeArrowheads="1"/>
          </p:cNvSpPr>
          <p:nvPr/>
        </p:nvSpPr>
        <p:spPr bwMode="auto">
          <a:xfrm>
            <a:off x="2084388" y="2608263"/>
            <a:ext cx="1624012" cy="323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en-US" altLang="zh-CN" sz="1500" b="1">
                <a:ea typeface="华文中宋" pitchFamily="2" charset="-122"/>
              </a:rPr>
              <a:t> </a:t>
            </a:r>
            <a:r>
              <a:rPr lang="zh-CN" altLang="en-US" sz="1500" b="1">
                <a:ea typeface="华文中宋" pitchFamily="2" charset="-122"/>
              </a:rPr>
              <a:t>克拉珀龙方程</a:t>
            </a:r>
          </a:p>
        </p:txBody>
      </p:sp>
      <p:graphicFrame>
        <p:nvGraphicFramePr>
          <p:cNvPr id="7404" name="Object 236"/>
          <p:cNvGraphicFramePr>
            <a:graphicFrameLocks noChangeAspect="1"/>
          </p:cNvGraphicFramePr>
          <p:nvPr/>
        </p:nvGraphicFramePr>
        <p:xfrm>
          <a:off x="3563938" y="2500313"/>
          <a:ext cx="1541462" cy="561975"/>
        </p:xfrm>
        <a:graphic>
          <a:graphicData uri="http://schemas.openxmlformats.org/presentationml/2006/ole">
            <p:oleObj spid="_x0000_s19493" name="Equation" r:id="rId3" imgW="952087" imgH="431613" progId="Equation.DSMT4">
              <p:embed/>
            </p:oleObj>
          </a:graphicData>
        </a:graphic>
      </p:graphicFrame>
      <p:sp>
        <p:nvSpPr>
          <p:cNvPr id="7405" name="Text Box 237"/>
          <p:cNvSpPr txBox="1">
            <a:spLocks noChangeArrowheads="1"/>
          </p:cNvSpPr>
          <p:nvPr/>
        </p:nvSpPr>
        <p:spPr bwMode="auto">
          <a:xfrm>
            <a:off x="755650" y="3057525"/>
            <a:ext cx="6911975"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600" b="1">
                <a:ea typeface="华文中宋" pitchFamily="2" charset="-122"/>
              </a:rPr>
              <a:t>气体普适常量</a:t>
            </a:r>
            <a:r>
              <a:rPr lang="en-US" altLang="zh-CN" sz="1600" b="1" i="1">
                <a:ea typeface="华文中宋" pitchFamily="2" charset="-122"/>
              </a:rPr>
              <a:t>R=</a:t>
            </a:r>
            <a:r>
              <a:rPr lang="en-US" altLang="zh-CN" sz="1600" b="1">
                <a:ea typeface="华文中宋" pitchFamily="2" charset="-122"/>
              </a:rPr>
              <a:t>8.31(J</a:t>
            </a:r>
            <a:r>
              <a:rPr lang="en-US" altLang="zh-CN" sz="1600" b="1" i="1">
                <a:ea typeface="华文中宋" pitchFamily="2" charset="-122"/>
              </a:rPr>
              <a:t>·</a:t>
            </a:r>
            <a:r>
              <a:rPr lang="en-US" altLang="zh-CN" sz="1600" b="1">
                <a:ea typeface="华文中宋" pitchFamily="2" charset="-122"/>
              </a:rPr>
              <a:t>mol</a:t>
            </a:r>
            <a:r>
              <a:rPr lang="en-US" altLang="zh-CN" sz="1600" b="1" i="1" baseline="30000">
                <a:ea typeface="华文中宋" pitchFamily="2" charset="-122"/>
              </a:rPr>
              <a:t>-1</a:t>
            </a:r>
            <a:r>
              <a:rPr lang="en-US" altLang="zh-CN" sz="1600" b="1" i="1">
                <a:ea typeface="华文中宋" pitchFamily="2" charset="-122"/>
              </a:rPr>
              <a:t>·</a:t>
            </a:r>
            <a:r>
              <a:rPr lang="en-US" altLang="zh-CN" sz="1600" b="1">
                <a:ea typeface="华文中宋" pitchFamily="2" charset="-122"/>
              </a:rPr>
              <a:t>K</a:t>
            </a:r>
            <a:r>
              <a:rPr lang="en-US" altLang="zh-CN" sz="1600" b="1" i="1" baseline="30000">
                <a:ea typeface="华文中宋" pitchFamily="2" charset="-122"/>
              </a:rPr>
              <a:t>-1</a:t>
            </a:r>
            <a:r>
              <a:rPr lang="en-US" altLang="zh-CN" sz="1600" b="1">
                <a:ea typeface="华文中宋" pitchFamily="2" charset="-122"/>
              </a:rPr>
              <a:t>)</a:t>
            </a:r>
            <a:r>
              <a:rPr lang="zh-CN" altLang="en-US" sz="1600" b="1">
                <a:ea typeface="华文中宋" pitchFamily="2" charset="-122"/>
              </a:rPr>
              <a:t>；</a:t>
            </a:r>
            <a:r>
              <a:rPr lang="en-US" altLang="zh-CN" sz="1600" b="1" i="1">
                <a:ea typeface="华文中宋" pitchFamily="2" charset="-122"/>
                <a:sym typeface="Symbol" pitchFamily="18" charset="2"/>
              </a:rPr>
              <a:t>M</a:t>
            </a:r>
            <a:r>
              <a:rPr lang="en-US" altLang="zh-CN" sz="1600" b="1" baseline="-25000">
                <a:ea typeface="华文中宋" pitchFamily="2" charset="-122"/>
                <a:sym typeface="Symbol" pitchFamily="18" charset="2"/>
              </a:rPr>
              <a:t>mol</a:t>
            </a:r>
            <a:r>
              <a:rPr lang="zh-CN" altLang="en-US" sz="1600" b="1">
                <a:ea typeface="华文中宋" pitchFamily="2" charset="-122"/>
                <a:sym typeface="Symbol" pitchFamily="18" charset="2"/>
              </a:rPr>
              <a:t>是气体的摩尔质量。</a:t>
            </a:r>
          </a:p>
        </p:txBody>
      </p:sp>
      <p:sp>
        <p:nvSpPr>
          <p:cNvPr id="7416" name="Rectangle 248"/>
          <p:cNvSpPr>
            <a:spLocks noChangeArrowheads="1"/>
          </p:cNvSpPr>
          <p:nvPr/>
        </p:nvSpPr>
        <p:spPr bwMode="auto">
          <a:xfrm>
            <a:off x="395288" y="1492250"/>
            <a:ext cx="8135937"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spcBef>
                <a:spcPct val="50000"/>
              </a:spcBef>
            </a:pPr>
            <a:r>
              <a:rPr lang="en-US" altLang="zh-CN" sz="1600" b="1">
                <a:solidFill>
                  <a:srgbClr val="1C1C1C"/>
                </a:solidFill>
                <a:ea typeface="华文中宋" pitchFamily="2" charset="-122"/>
              </a:rPr>
              <a:t>    </a:t>
            </a:r>
            <a:r>
              <a:rPr lang="zh-CN" altLang="en-US" sz="1600" b="1">
                <a:solidFill>
                  <a:srgbClr val="1C1C1C"/>
                </a:solidFill>
                <a:ea typeface="华文中宋" pitchFamily="2" charset="-122"/>
              </a:rPr>
              <a:t>遵守三个实验定律（玻意尔定律、查理定律、盖</a:t>
            </a:r>
            <a:r>
              <a:rPr lang="en-US" altLang="zh-CN" sz="1600" b="1">
                <a:solidFill>
                  <a:srgbClr val="1C1C1C"/>
                </a:solidFill>
                <a:ea typeface="华文中宋" pitchFamily="2" charset="-122"/>
              </a:rPr>
              <a:t>-</a:t>
            </a:r>
            <a:r>
              <a:rPr lang="zh-CN" altLang="en-US" sz="1600" b="1">
                <a:solidFill>
                  <a:srgbClr val="1C1C1C"/>
                </a:solidFill>
                <a:ea typeface="华文中宋" pitchFamily="2" charset="-122"/>
              </a:rPr>
              <a:t>吕萨克定律）的气体。</a:t>
            </a:r>
          </a:p>
        </p:txBody>
      </p:sp>
      <p:graphicFrame>
        <p:nvGraphicFramePr>
          <p:cNvPr id="2" name="对象 1"/>
          <p:cNvGraphicFramePr>
            <a:graphicFrameLocks noChangeAspect="1"/>
          </p:cNvGraphicFramePr>
          <p:nvPr/>
        </p:nvGraphicFramePr>
        <p:xfrm>
          <a:off x="1801813" y="3395663"/>
          <a:ext cx="2060575" cy="584200"/>
        </p:xfrm>
        <a:graphic>
          <a:graphicData uri="http://schemas.openxmlformats.org/presentationml/2006/ole">
            <p:oleObj spid="_x0000_s19494" name="公式" r:id="rId4" imgW="1079032" imgH="431613" progId="Equation.3">
              <p:embed/>
            </p:oleObj>
          </a:graphicData>
        </a:graphic>
      </p:graphicFrame>
      <p:graphicFrame>
        <p:nvGraphicFramePr>
          <p:cNvPr id="3" name="对象 2"/>
          <p:cNvGraphicFramePr>
            <a:graphicFrameLocks noChangeAspect="1"/>
          </p:cNvGraphicFramePr>
          <p:nvPr/>
        </p:nvGraphicFramePr>
        <p:xfrm>
          <a:off x="3779838" y="3381375"/>
          <a:ext cx="1970087" cy="622300"/>
        </p:xfrm>
        <a:graphic>
          <a:graphicData uri="http://schemas.openxmlformats.org/presentationml/2006/ole">
            <p:oleObj spid="_x0000_s19495" name="公式" r:id="rId5" imgW="1002865" imgH="444307" progId="Equation.3">
              <p:embed/>
            </p:oleObj>
          </a:graphicData>
        </a:graphic>
      </p:graphicFrame>
      <p:graphicFrame>
        <p:nvGraphicFramePr>
          <p:cNvPr id="4" name="对象 3"/>
          <p:cNvGraphicFramePr>
            <a:graphicFrameLocks noChangeAspect="1"/>
          </p:cNvGraphicFramePr>
          <p:nvPr/>
        </p:nvGraphicFramePr>
        <p:xfrm>
          <a:off x="5741988" y="3395663"/>
          <a:ext cx="1474787" cy="584200"/>
        </p:xfrm>
        <a:graphic>
          <a:graphicData uri="http://schemas.openxmlformats.org/presentationml/2006/ole">
            <p:oleObj spid="_x0000_s19496" name="公式" r:id="rId6" imgW="774364" imgH="431613" progId="Equation.3">
              <p:embed/>
            </p:oleObj>
          </a:graphicData>
        </a:graphic>
      </p:graphicFrame>
      <p:graphicFrame>
        <p:nvGraphicFramePr>
          <p:cNvPr id="23" name="Object 51"/>
          <p:cNvGraphicFramePr>
            <a:graphicFrameLocks noChangeAspect="1"/>
          </p:cNvGraphicFramePr>
          <p:nvPr/>
        </p:nvGraphicFramePr>
        <p:xfrm>
          <a:off x="1763713" y="4084638"/>
          <a:ext cx="1504950" cy="371475"/>
        </p:xfrm>
        <a:graphic>
          <a:graphicData uri="http://schemas.openxmlformats.org/presentationml/2006/ole">
            <p:oleObj spid="_x0000_s19497" name="公式" r:id="rId7" imgW="583947" imgH="203112" progId="Equation.3">
              <p:embed/>
            </p:oleObj>
          </a:graphicData>
        </a:graphic>
      </p:graphicFrame>
      <p:sp>
        <p:nvSpPr>
          <p:cNvPr id="24" name="Text Box 52"/>
          <p:cNvSpPr txBox="1">
            <a:spLocks noChangeArrowheads="1"/>
          </p:cNvSpPr>
          <p:nvPr/>
        </p:nvSpPr>
        <p:spPr bwMode="auto">
          <a:xfrm>
            <a:off x="4233863" y="4070350"/>
            <a:ext cx="1778000" cy="3444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lnSpc>
                <a:spcPct val="110000"/>
              </a:lnSpc>
            </a:pPr>
            <a:r>
              <a:rPr kumimoji="0" lang="en-US" altLang="zh-CN" sz="1600" b="1">
                <a:ea typeface="华文中宋" pitchFamily="2" charset="-122"/>
              </a:rPr>
              <a:t> </a:t>
            </a:r>
            <a:r>
              <a:rPr kumimoji="0" lang="zh-CN" altLang="en-US" sz="1600" b="1">
                <a:ea typeface="华文中宋" pitchFamily="2" charset="-122"/>
              </a:rPr>
              <a:t>玻尔兹曼常数</a:t>
            </a:r>
          </a:p>
        </p:txBody>
      </p:sp>
      <p:graphicFrame>
        <p:nvGraphicFramePr>
          <p:cNvPr id="25" name="Object 53"/>
          <p:cNvGraphicFramePr>
            <a:graphicFrameLocks noChangeAspect="1"/>
          </p:cNvGraphicFramePr>
          <p:nvPr/>
        </p:nvGraphicFramePr>
        <p:xfrm>
          <a:off x="5867400" y="3940175"/>
          <a:ext cx="1125538" cy="669925"/>
        </p:xfrm>
        <a:graphic>
          <a:graphicData uri="http://schemas.openxmlformats.org/presentationml/2006/ole">
            <p:oleObj spid="_x0000_s19498" name="Equation" r:id="rId8" imgW="533169" imgH="444307" progId="Equation.DSMT4">
              <p:embed/>
            </p:oleObj>
          </a:graphicData>
        </a:graphic>
      </p:graphicFrame>
      <p:sp>
        <p:nvSpPr>
          <p:cNvPr id="26" name="Text Box 30"/>
          <p:cNvSpPr txBox="1">
            <a:spLocks noChangeArrowheads="1"/>
          </p:cNvSpPr>
          <p:nvPr/>
        </p:nvSpPr>
        <p:spPr bwMode="auto">
          <a:xfrm>
            <a:off x="6964363" y="4048125"/>
            <a:ext cx="185578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solidFill>
                  <a:srgbClr val="0000FF"/>
                </a:solidFill>
                <a:ea typeface="华文中宋" pitchFamily="2" charset="-122"/>
              </a:rPr>
              <a:t>=1.38</a:t>
            </a:r>
            <a:r>
              <a:rPr kumimoji="0" lang="en-US" altLang="zh-CN" sz="1800" b="1">
                <a:solidFill>
                  <a:srgbClr val="0000FF"/>
                </a:solidFill>
                <a:ea typeface="华文中宋" pitchFamily="2" charset="-122"/>
                <a:sym typeface="Symbol" pitchFamily="18" charset="2"/>
              </a:rPr>
              <a:t>10</a:t>
            </a:r>
            <a:r>
              <a:rPr kumimoji="0" lang="en-US" altLang="zh-CN" sz="1800" b="1" baseline="30000">
                <a:solidFill>
                  <a:srgbClr val="0000FF"/>
                </a:solidFill>
                <a:ea typeface="华文中宋" pitchFamily="2" charset="-122"/>
                <a:sym typeface="Symbol" pitchFamily="18" charset="2"/>
              </a:rPr>
              <a:t>-23 </a:t>
            </a:r>
            <a:r>
              <a:rPr kumimoji="0" lang="en-US" altLang="zh-CN" sz="1800" b="1">
                <a:solidFill>
                  <a:srgbClr val="0000FF"/>
                </a:solidFill>
                <a:ea typeface="华文中宋" pitchFamily="2" charset="-122"/>
              </a:rPr>
              <a:t>(J</a:t>
            </a:r>
            <a:r>
              <a:rPr kumimoji="0" lang="en-US" altLang="en-US" sz="1800" b="1">
                <a:solidFill>
                  <a:srgbClr val="0000FF"/>
                </a:solidFill>
                <a:ea typeface="华文中宋" pitchFamily="2" charset="-122"/>
              </a:rPr>
              <a:t>/</a:t>
            </a:r>
            <a:r>
              <a:rPr kumimoji="0" lang="en-US" altLang="zh-CN" sz="1800" b="1">
                <a:solidFill>
                  <a:srgbClr val="0000FF"/>
                </a:solidFill>
                <a:ea typeface="华文中宋" pitchFamily="2" charset="-122"/>
              </a:rPr>
              <a:t>K)</a:t>
            </a:r>
          </a:p>
        </p:txBody>
      </p:sp>
      <p:sp>
        <p:nvSpPr>
          <p:cNvPr id="5" name="Text Box 52"/>
          <p:cNvSpPr txBox="1">
            <a:spLocks noChangeArrowheads="1"/>
          </p:cNvSpPr>
          <p:nvPr/>
        </p:nvSpPr>
        <p:spPr bwMode="auto">
          <a:xfrm>
            <a:off x="250825" y="4084638"/>
            <a:ext cx="2022475" cy="3444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zh-CN" altLang="en-US" sz="1600" b="1">
                <a:ea typeface="华文中宋" pitchFamily="2" charset="-122"/>
              </a:rPr>
              <a:t>另一种形式：</a:t>
            </a:r>
          </a:p>
        </p:txBody>
      </p:sp>
      <p:sp>
        <p:nvSpPr>
          <p:cNvPr id="19474" name="Text Box 2"/>
          <p:cNvSpPr>
            <a:spLocks noChangeArrowheads="1"/>
          </p:cNvSpPr>
          <p:nvPr/>
        </p:nvSpPr>
        <p:spPr bwMode="auto">
          <a:xfrm>
            <a:off x="839788" y="874713"/>
            <a:ext cx="3516312" cy="400050"/>
          </a:xfrm>
          <a:prstGeom prst="homePlate">
            <a:avLst>
              <a:gd name="adj" fmla="val 49930"/>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三、理想气体及其状态方程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 presetClass="entr" presetSubtype="10" fill="hold" grpId="0" nodeType="clickEffect">
                                  <p:stCondLst>
                                    <p:cond delay="0"/>
                                  </p:stCondLst>
                                  <p:childTnLst>
                                    <p:set>
                                      <p:cBhvr>
                                        <p:cTn id="6" dur="1" fill="hold">
                                          <p:stCondLst>
                                            <p:cond delay="0"/>
                                          </p:stCondLst>
                                        </p:cTn>
                                        <p:tgtEl>
                                          <p:spTgt spid="7397"/>
                                        </p:tgtEl>
                                        <p:attrNameLst>
                                          <p:attrName>style.visibility</p:attrName>
                                        </p:attrNameLst>
                                      </p:cBhvr>
                                      <p:to>
                                        <p:strVal val="visible"/>
                                      </p:to>
                                    </p:set>
                                    <p:animEffect transition="in" filter="checkerboard(across)">
                                      <p:cBhvr>
                                        <p:cTn id="7" dur="500"/>
                                        <p:tgtEl>
                                          <p:spTgt spid="739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416"/>
                                        </p:tgtEl>
                                        <p:attrNameLst>
                                          <p:attrName>style.visibility</p:attrName>
                                        </p:attrNameLst>
                                      </p:cBhvr>
                                      <p:to>
                                        <p:strVal val="visible"/>
                                      </p:to>
                                    </p:set>
                                    <p:animEffect transition="in" filter="blinds(horizontal)">
                                      <p:cBhvr>
                                        <p:cTn id="12" dur="500"/>
                                        <p:tgtEl>
                                          <p:spTgt spid="741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grpId="0" nodeType="clickEffect">
                                  <p:stCondLst>
                                    <p:cond delay="0"/>
                                  </p:stCondLst>
                                  <p:childTnLst>
                                    <p:set>
                                      <p:cBhvr>
                                        <p:cTn id="16" dur="1" fill="hold">
                                          <p:stCondLst>
                                            <p:cond delay="0"/>
                                          </p:stCondLst>
                                        </p:cTn>
                                        <p:tgtEl>
                                          <p:spTgt spid="7399"/>
                                        </p:tgtEl>
                                        <p:attrNameLst>
                                          <p:attrName>style.visibility</p:attrName>
                                        </p:attrNameLst>
                                      </p:cBhvr>
                                      <p:to>
                                        <p:strVal val="visible"/>
                                      </p:to>
                                    </p:set>
                                    <p:animEffect transition="in" filter="checkerboard(across)">
                                      <p:cBhvr>
                                        <p:cTn id="17" dur="500"/>
                                        <p:tgtEl>
                                          <p:spTgt spid="739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7400"/>
                                        </p:tgtEl>
                                        <p:attrNameLst>
                                          <p:attrName>style.visibility</p:attrName>
                                        </p:attrNameLst>
                                      </p:cBhvr>
                                      <p:to>
                                        <p:strVal val="visible"/>
                                      </p:to>
                                    </p:set>
                                    <p:animEffect transition="in" filter="blinds(horizontal)">
                                      <p:cBhvr>
                                        <p:cTn id="22" dur="500"/>
                                        <p:tgtEl>
                                          <p:spTgt spid="7400"/>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7403"/>
                                        </p:tgtEl>
                                        <p:attrNameLst>
                                          <p:attrName>style.visibility</p:attrName>
                                        </p:attrNameLst>
                                      </p:cBhvr>
                                      <p:to>
                                        <p:strVal val="visible"/>
                                      </p:to>
                                    </p:set>
                                    <p:animEffect transition="in" filter="blinds(horizontal)">
                                      <p:cBhvr>
                                        <p:cTn id="27" dur="500"/>
                                        <p:tgtEl>
                                          <p:spTgt spid="7403"/>
                                        </p:tgtEl>
                                      </p:cBhvr>
                                    </p:animEffect>
                                  </p:childTnLst>
                                </p:cTn>
                              </p:par>
                              <p:par>
                                <p:cTn id="28" presetID="3" presetClass="entr" presetSubtype="10" fill="hold" nodeType="withEffect">
                                  <p:stCondLst>
                                    <p:cond delay="0"/>
                                  </p:stCondLst>
                                  <p:childTnLst>
                                    <p:set>
                                      <p:cBhvr>
                                        <p:cTn id="29" dur="1" fill="hold">
                                          <p:stCondLst>
                                            <p:cond delay="0"/>
                                          </p:stCondLst>
                                        </p:cTn>
                                        <p:tgtEl>
                                          <p:spTgt spid="7404"/>
                                        </p:tgtEl>
                                        <p:attrNameLst>
                                          <p:attrName>style.visibility</p:attrName>
                                        </p:attrNameLst>
                                      </p:cBhvr>
                                      <p:to>
                                        <p:strVal val="visible"/>
                                      </p:to>
                                    </p:set>
                                    <p:animEffect transition="in" filter="blinds(horizontal)">
                                      <p:cBhvr>
                                        <p:cTn id="30" dur="500"/>
                                        <p:tgtEl>
                                          <p:spTgt spid="740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5" presetClass="entr" presetSubtype="10" fill="hold" grpId="0" nodeType="clickEffect">
                                  <p:stCondLst>
                                    <p:cond delay="0"/>
                                  </p:stCondLst>
                                  <p:childTnLst>
                                    <p:set>
                                      <p:cBhvr>
                                        <p:cTn id="34" dur="1" fill="hold">
                                          <p:stCondLst>
                                            <p:cond delay="0"/>
                                          </p:stCondLst>
                                        </p:cTn>
                                        <p:tgtEl>
                                          <p:spTgt spid="7405"/>
                                        </p:tgtEl>
                                        <p:attrNameLst>
                                          <p:attrName>style.visibility</p:attrName>
                                        </p:attrNameLst>
                                      </p:cBhvr>
                                      <p:to>
                                        <p:strVal val="visible"/>
                                      </p:to>
                                    </p:set>
                                    <p:animEffect transition="in" filter="checkerboard(across)">
                                      <p:cBhvr>
                                        <p:cTn id="35" dur="500"/>
                                        <p:tgtEl>
                                          <p:spTgt spid="7405"/>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2"/>
                                        </p:tgtEl>
                                        <p:attrNameLst>
                                          <p:attrName>style.visibility</p:attrName>
                                        </p:attrNameLst>
                                      </p:cBhvr>
                                      <p:to>
                                        <p:strVal val="visible"/>
                                      </p:to>
                                    </p:set>
                                    <p:animEffect transition="in" filter="wipe(left)">
                                      <p:cBhvr>
                                        <p:cTn id="40" dur="500"/>
                                        <p:tgtEl>
                                          <p:spTgt spid="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3"/>
                                        </p:tgtEl>
                                        <p:attrNameLst>
                                          <p:attrName>style.visibility</p:attrName>
                                        </p:attrNameLst>
                                      </p:cBhvr>
                                      <p:to>
                                        <p:strVal val="visible"/>
                                      </p:to>
                                    </p:set>
                                    <p:animEffect transition="in" filter="wipe(left)">
                                      <p:cBhvr>
                                        <p:cTn id="45" dur="500"/>
                                        <p:tgtEl>
                                          <p:spTgt spid="3"/>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4"/>
                                        </p:tgtEl>
                                        <p:attrNameLst>
                                          <p:attrName>style.visibility</p:attrName>
                                        </p:attrNameLst>
                                      </p:cBhvr>
                                      <p:to>
                                        <p:strVal val="visible"/>
                                      </p:to>
                                    </p:set>
                                    <p:animEffect transition="in" filter="wipe(left)">
                                      <p:cBhvr>
                                        <p:cTn id="50" dur="500"/>
                                        <p:tgtEl>
                                          <p:spTgt spid="4"/>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grpId="0" nodeType="clickEffect">
                                  <p:stCondLst>
                                    <p:cond delay="0"/>
                                  </p:stCondLst>
                                  <p:childTnLst>
                                    <p:set>
                                      <p:cBhvr>
                                        <p:cTn id="54" dur="1" fill="hold">
                                          <p:stCondLst>
                                            <p:cond delay="0"/>
                                          </p:stCondLst>
                                        </p:cTn>
                                        <p:tgtEl>
                                          <p:spTgt spid="5"/>
                                        </p:tgtEl>
                                        <p:attrNameLst>
                                          <p:attrName>style.visibility</p:attrName>
                                        </p:attrNameLst>
                                      </p:cBhvr>
                                      <p:to>
                                        <p:strVal val="visible"/>
                                      </p:to>
                                    </p:set>
                                    <p:animEffect transition="in" filter="wipe(left)">
                                      <p:cBhvr>
                                        <p:cTn id="55" dur="500"/>
                                        <p:tgtEl>
                                          <p:spTgt spid="5"/>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23"/>
                                        </p:tgtEl>
                                        <p:attrNameLst>
                                          <p:attrName>style.visibility</p:attrName>
                                        </p:attrNameLst>
                                      </p:cBhvr>
                                      <p:to>
                                        <p:strVal val="visible"/>
                                      </p:to>
                                    </p:set>
                                    <p:animEffect transition="in" filter="wipe(left)">
                                      <p:cBhvr>
                                        <p:cTn id="60" dur="500"/>
                                        <p:tgtEl>
                                          <p:spTgt spid="23"/>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grpId="0" nodeType="clickEffect">
                                  <p:stCondLst>
                                    <p:cond delay="0"/>
                                  </p:stCondLst>
                                  <p:childTnLst>
                                    <p:set>
                                      <p:cBhvr>
                                        <p:cTn id="64" dur="1" fill="hold">
                                          <p:stCondLst>
                                            <p:cond delay="0"/>
                                          </p:stCondLst>
                                        </p:cTn>
                                        <p:tgtEl>
                                          <p:spTgt spid="24"/>
                                        </p:tgtEl>
                                        <p:attrNameLst>
                                          <p:attrName>style.visibility</p:attrName>
                                        </p:attrNameLst>
                                      </p:cBhvr>
                                      <p:to>
                                        <p:strVal val="visible"/>
                                      </p:to>
                                    </p:set>
                                    <p:animEffect transition="in" filter="wipe(left)">
                                      <p:cBhvr>
                                        <p:cTn id="65" dur="500"/>
                                        <p:tgtEl>
                                          <p:spTgt spid="24"/>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22" presetClass="entr" presetSubtype="8" fill="hold" nodeType="clickEffect">
                                  <p:stCondLst>
                                    <p:cond delay="0"/>
                                  </p:stCondLst>
                                  <p:childTnLst>
                                    <p:set>
                                      <p:cBhvr>
                                        <p:cTn id="69" dur="1" fill="hold">
                                          <p:stCondLst>
                                            <p:cond delay="0"/>
                                          </p:stCondLst>
                                        </p:cTn>
                                        <p:tgtEl>
                                          <p:spTgt spid="25"/>
                                        </p:tgtEl>
                                        <p:attrNameLst>
                                          <p:attrName>style.visibility</p:attrName>
                                        </p:attrNameLst>
                                      </p:cBhvr>
                                      <p:to>
                                        <p:strVal val="visible"/>
                                      </p:to>
                                    </p:set>
                                    <p:animEffect transition="in" filter="wipe(left)">
                                      <p:cBhvr>
                                        <p:cTn id="70" dur="500"/>
                                        <p:tgtEl>
                                          <p:spTgt spid="25"/>
                                        </p:tgtEl>
                                      </p:cBhvr>
                                    </p:animEffect>
                                  </p:childTnLst>
                                </p:cTn>
                              </p:par>
                            </p:childTnLst>
                          </p:cTn>
                        </p:par>
                      </p:childTnLst>
                    </p:cTn>
                  </p:par>
                  <p:par>
                    <p:cTn id="71" fill="hold" nodeType="clickPar">
                      <p:stCondLst>
                        <p:cond delay="indefinite"/>
                      </p:stCondLst>
                      <p:childTnLst>
                        <p:par>
                          <p:cTn id="72" fill="hold" nodeType="withGroup">
                            <p:stCondLst>
                              <p:cond delay="0"/>
                            </p:stCondLst>
                            <p:childTnLst>
                              <p:par>
                                <p:cTn id="73" presetID="22" presetClass="entr" presetSubtype="8" fill="hold" grpId="0" nodeType="clickEffect">
                                  <p:stCondLst>
                                    <p:cond delay="0"/>
                                  </p:stCondLst>
                                  <p:childTnLst>
                                    <p:set>
                                      <p:cBhvr>
                                        <p:cTn id="74" dur="1" fill="hold">
                                          <p:stCondLst>
                                            <p:cond delay="0"/>
                                          </p:stCondLst>
                                        </p:cTn>
                                        <p:tgtEl>
                                          <p:spTgt spid="26">
                                            <p:txEl>
                                              <p:pRg st="0" end="0"/>
                                            </p:txEl>
                                          </p:spTgt>
                                        </p:tgtEl>
                                        <p:attrNameLst>
                                          <p:attrName>style.visibility</p:attrName>
                                        </p:attrNameLst>
                                      </p:cBhvr>
                                      <p:to>
                                        <p:strVal val="visible"/>
                                      </p:to>
                                    </p:set>
                                    <p:animEffect transition="in" filter="wipe(left)">
                                      <p:cBhvr>
                                        <p:cTn id="75" dur="500"/>
                                        <p:tgtEl>
                                          <p:spTgt spid="26">
                                            <p:txEl>
                                              <p:pRg st="0" end="0"/>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397" grpId="0" autoUpdateAnimBg="0"/>
      <p:bldP spid="7399" grpId="0" autoUpdateAnimBg="0"/>
      <p:bldP spid="7400" grpId="0"/>
      <p:bldP spid="7403" grpId="0"/>
      <p:bldP spid="7405" grpId="0" autoUpdateAnimBg="0"/>
      <p:bldP spid="7416" grpId="0" autoUpdateAnimBg="0"/>
      <p:bldP spid="24" grpId="0"/>
      <p:bldP spid="26" grpId="0" build="p"/>
      <p:bldP spid="5" grpId="0"/>
    </p:bld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extBox 2"/>
          <p:cNvSpPr txBox="1">
            <a:spLocks noChangeArrowheads="1"/>
          </p:cNvSpPr>
          <p:nvPr/>
        </p:nvSpPr>
        <p:spPr bwMode="auto">
          <a:xfrm>
            <a:off x="323850" y="795338"/>
            <a:ext cx="8353425" cy="1200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0000FF"/>
                </a:solidFill>
                <a:ea typeface="华文中宋" pitchFamily="2" charset="-122"/>
              </a:rPr>
              <a:t>例  </a:t>
            </a:r>
            <a:r>
              <a:rPr kumimoji="0" lang="zh-CN" altLang="zh-CN" sz="1800" b="1">
                <a:solidFill>
                  <a:srgbClr val="0000FF"/>
                </a:solidFill>
                <a:ea typeface="华文中宋" pitchFamily="2" charset="-122"/>
              </a:rPr>
              <a:t>若室内生起炉子后温度从</a:t>
            </a:r>
            <a:r>
              <a:rPr kumimoji="0" lang="en-US" altLang="zh-CN" sz="1800" b="1">
                <a:solidFill>
                  <a:srgbClr val="0000FF"/>
                </a:solidFill>
                <a:ea typeface="华文中宋" pitchFamily="2" charset="-122"/>
              </a:rPr>
              <a:t>15</a:t>
            </a:r>
            <a:r>
              <a:rPr kumimoji="0" lang="zh-CN" altLang="zh-CN" sz="1800" b="1">
                <a:solidFill>
                  <a:srgbClr val="0000FF"/>
                </a:solidFill>
                <a:ea typeface="华文中宋" pitchFamily="2" charset="-122"/>
              </a:rPr>
              <a:t>℃升高到</a:t>
            </a:r>
            <a:r>
              <a:rPr kumimoji="0" lang="en-US" altLang="zh-CN" sz="1800" b="1">
                <a:solidFill>
                  <a:srgbClr val="0000FF"/>
                </a:solidFill>
                <a:ea typeface="华文中宋" pitchFamily="2" charset="-122"/>
              </a:rPr>
              <a:t>27</a:t>
            </a:r>
            <a:r>
              <a:rPr kumimoji="0" lang="zh-CN" altLang="zh-CN" sz="1800" b="1">
                <a:solidFill>
                  <a:srgbClr val="0000FF"/>
                </a:solidFill>
                <a:ea typeface="华文中宋" pitchFamily="2" charset="-122"/>
              </a:rPr>
              <a:t>℃，而室内气压不变，则此时室内的分子数减少了</a:t>
            </a:r>
            <a:r>
              <a:rPr kumimoji="0" lang="zh-CN" altLang="en-US" sz="1800" b="1">
                <a:solidFill>
                  <a:srgbClr val="0000FF"/>
                </a:solidFill>
                <a:ea typeface="华文中宋" pitchFamily="2" charset="-122"/>
              </a:rPr>
              <a:t>      （</a:t>
            </a:r>
            <a:r>
              <a:rPr kumimoji="0" lang="en-US" altLang="zh-CN" sz="1800" b="1">
                <a:solidFill>
                  <a:srgbClr val="0000FF"/>
                </a:solidFill>
                <a:ea typeface="华文中宋" pitchFamily="2" charset="-122"/>
              </a:rPr>
              <a:t>           </a:t>
            </a:r>
            <a:r>
              <a:rPr kumimoji="0" lang="zh-CN" altLang="en-US" sz="1800" b="1">
                <a:solidFill>
                  <a:srgbClr val="0000FF"/>
                </a:solidFill>
                <a:ea typeface="华文中宋" pitchFamily="2" charset="-122"/>
              </a:rPr>
              <a:t>）</a:t>
            </a:r>
            <a:r>
              <a:rPr kumimoji="0" lang="en-US" altLang="zh-CN" sz="1800" b="1">
                <a:solidFill>
                  <a:srgbClr val="0000FF"/>
                </a:solidFill>
                <a:ea typeface="华文中宋" pitchFamily="2" charset="-122"/>
              </a:rPr>
              <a:t>  </a:t>
            </a:r>
          </a:p>
          <a:p>
            <a:pPr eaLnBrk="1" hangingPunct="1"/>
            <a:r>
              <a:rPr kumimoji="0" lang="en-US" altLang="zh-CN" sz="1800" b="1">
                <a:solidFill>
                  <a:srgbClr val="0000FF"/>
                </a:solidFill>
                <a:ea typeface="华文中宋" pitchFamily="2" charset="-122"/>
              </a:rPr>
              <a:t>                 (A) 0.5 %</a:t>
            </a:r>
            <a:r>
              <a:rPr kumimoji="0" lang="zh-CN" altLang="zh-CN" sz="1800" b="1">
                <a:solidFill>
                  <a:srgbClr val="0000FF"/>
                </a:solidFill>
                <a:ea typeface="华文中宋" pitchFamily="2" charset="-122"/>
              </a:rPr>
              <a:t>．</a:t>
            </a:r>
            <a:r>
              <a:rPr kumimoji="0" lang="zh-CN" altLang="en-US" sz="1800" b="1">
                <a:solidFill>
                  <a:srgbClr val="0000FF"/>
                </a:solidFill>
                <a:ea typeface="华文中宋" pitchFamily="2" charset="-122"/>
              </a:rPr>
              <a:t>                    </a:t>
            </a:r>
            <a:r>
              <a:rPr kumimoji="0" lang="en-US" altLang="zh-CN" sz="1800" b="1">
                <a:solidFill>
                  <a:srgbClr val="0000FF"/>
                </a:solidFill>
                <a:ea typeface="华文中宋" pitchFamily="2" charset="-122"/>
              </a:rPr>
              <a:t>(B) 4% </a:t>
            </a:r>
            <a:r>
              <a:rPr kumimoji="0" lang="zh-CN" altLang="zh-CN" sz="1800" b="1">
                <a:solidFill>
                  <a:srgbClr val="0000FF"/>
                </a:solidFill>
                <a:ea typeface="华文中宋" pitchFamily="2" charset="-122"/>
              </a:rPr>
              <a:t>．</a:t>
            </a:r>
            <a:r>
              <a:rPr kumimoji="0" lang="zh-CN" altLang="en-US" sz="1800" b="1">
                <a:solidFill>
                  <a:srgbClr val="0000FF"/>
                </a:solidFill>
                <a:ea typeface="华文中宋" pitchFamily="2" charset="-122"/>
              </a:rPr>
              <a:t>                            </a:t>
            </a:r>
            <a:endParaRPr kumimoji="0" lang="zh-CN" altLang="zh-CN" sz="1800" b="1">
              <a:solidFill>
                <a:srgbClr val="0000FF"/>
              </a:solidFill>
              <a:ea typeface="华文中宋" pitchFamily="2" charset="-122"/>
            </a:endParaRPr>
          </a:p>
          <a:p>
            <a:pPr eaLnBrk="1" hangingPunct="1"/>
            <a:r>
              <a:rPr kumimoji="0" lang="zh-CN" altLang="en-US" sz="1800" b="1">
                <a:solidFill>
                  <a:srgbClr val="0000FF"/>
                </a:solidFill>
                <a:ea typeface="华文中宋" pitchFamily="2" charset="-122"/>
              </a:rPr>
              <a:t>                 </a:t>
            </a:r>
            <a:r>
              <a:rPr kumimoji="0" lang="en-US" altLang="zh-CN" sz="1800" b="1">
                <a:solidFill>
                  <a:srgbClr val="0000FF"/>
                </a:solidFill>
                <a:ea typeface="华文中宋" pitchFamily="2" charset="-122"/>
              </a:rPr>
              <a:t>(C) 9% </a:t>
            </a:r>
            <a:r>
              <a:rPr kumimoji="0" lang="zh-CN" altLang="zh-CN" sz="1800" b="1">
                <a:solidFill>
                  <a:srgbClr val="0000FF"/>
                </a:solidFill>
                <a:ea typeface="华文中宋" pitchFamily="2" charset="-122"/>
              </a:rPr>
              <a:t>．</a:t>
            </a:r>
            <a:r>
              <a:rPr kumimoji="0" lang="zh-CN" altLang="en-US" sz="1800" b="1">
                <a:solidFill>
                  <a:srgbClr val="0000FF"/>
                </a:solidFill>
                <a:ea typeface="华文中宋" pitchFamily="2" charset="-122"/>
              </a:rPr>
              <a:t>                      </a:t>
            </a:r>
            <a:r>
              <a:rPr kumimoji="0" lang="en-US" altLang="zh-CN" sz="1800" b="1">
                <a:solidFill>
                  <a:srgbClr val="0000FF"/>
                </a:solidFill>
                <a:ea typeface="华文中宋" pitchFamily="2" charset="-122"/>
              </a:rPr>
              <a:t>(D) 21% </a:t>
            </a:r>
            <a:r>
              <a:rPr kumimoji="0" lang="zh-CN" altLang="zh-CN" sz="1800" b="1">
                <a:solidFill>
                  <a:srgbClr val="0000FF"/>
                </a:solidFill>
                <a:ea typeface="华文中宋" pitchFamily="2" charset="-122"/>
              </a:rPr>
              <a:t>．</a:t>
            </a:r>
            <a:r>
              <a:rPr kumimoji="0" lang="zh-CN" altLang="en-US" sz="1800" b="1">
                <a:solidFill>
                  <a:srgbClr val="0000FF"/>
                </a:solidFill>
                <a:ea typeface="华文中宋" pitchFamily="2" charset="-122"/>
              </a:rPr>
              <a:t>                            </a:t>
            </a:r>
            <a:endParaRPr kumimoji="0" lang="zh-CN" altLang="zh-CN" sz="1800" b="1">
              <a:solidFill>
                <a:srgbClr val="0000FF"/>
              </a:solidFill>
              <a:ea typeface="华文中宋" pitchFamily="2" charset="-122"/>
            </a:endParaRPr>
          </a:p>
        </p:txBody>
      </p:sp>
      <p:graphicFrame>
        <p:nvGraphicFramePr>
          <p:cNvPr id="5" name="对象 4"/>
          <p:cNvGraphicFramePr>
            <a:graphicFrameLocks noChangeAspect="1"/>
          </p:cNvGraphicFramePr>
          <p:nvPr/>
        </p:nvGraphicFramePr>
        <p:xfrm>
          <a:off x="1619250" y="3240088"/>
          <a:ext cx="5491163" cy="665162"/>
        </p:xfrm>
        <a:graphic>
          <a:graphicData uri="http://schemas.openxmlformats.org/presentationml/2006/ole">
            <p:oleObj spid="_x0000_s20514" name="公式" r:id="rId3" imgW="1981200" imgH="317500" progId="Equation.3">
              <p:embed/>
            </p:oleObj>
          </a:graphicData>
        </a:graphic>
      </p:graphicFrame>
      <p:sp>
        <p:nvSpPr>
          <p:cNvPr id="13" name="矩形 12"/>
          <p:cNvSpPr>
            <a:spLocks noChangeArrowheads="1"/>
          </p:cNvSpPr>
          <p:nvPr/>
        </p:nvSpPr>
        <p:spPr bwMode="auto">
          <a:xfrm>
            <a:off x="2157413" y="1058863"/>
            <a:ext cx="509587"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kumimoji="0" lang="en-US" altLang="zh-CN" sz="1800" b="1">
                <a:solidFill>
                  <a:srgbClr val="FF0000"/>
                </a:solidFill>
                <a:ea typeface="华文中宋" pitchFamily="2" charset="-122"/>
              </a:rPr>
              <a:t>B </a:t>
            </a:r>
          </a:p>
        </p:txBody>
      </p:sp>
      <p:grpSp>
        <p:nvGrpSpPr>
          <p:cNvPr id="2" name="Group 21"/>
          <p:cNvGrpSpPr>
            <a:grpSpLocks/>
          </p:cNvGrpSpPr>
          <p:nvPr/>
        </p:nvGrpSpPr>
        <p:grpSpPr bwMode="auto">
          <a:xfrm>
            <a:off x="684213" y="1889125"/>
            <a:ext cx="2230437" cy="377825"/>
            <a:chOff x="431" y="1661"/>
            <a:chExt cx="1405" cy="318"/>
          </a:xfrm>
        </p:grpSpPr>
        <p:graphicFrame>
          <p:nvGraphicFramePr>
            <p:cNvPr id="20494" name="Object 13"/>
            <p:cNvGraphicFramePr>
              <a:graphicFrameLocks noChangeAspect="1"/>
            </p:cNvGraphicFramePr>
            <p:nvPr/>
          </p:nvGraphicFramePr>
          <p:xfrm>
            <a:off x="975" y="1680"/>
            <a:ext cx="861" cy="299"/>
          </p:xfrm>
          <a:graphic>
            <a:graphicData uri="http://schemas.openxmlformats.org/presentationml/2006/ole">
              <p:oleObj spid="_x0000_s20515" name="Equation" r:id="rId4" imgW="583947" imgH="203112" progId="Equation.DSMT4">
                <p:embed/>
              </p:oleObj>
            </a:graphicData>
          </a:graphic>
        </p:graphicFrame>
        <p:sp>
          <p:nvSpPr>
            <p:cNvPr id="20495" name="Text Box 14"/>
            <p:cNvSpPr txBox="1">
              <a:spLocks noChangeArrowheads="1"/>
            </p:cNvSpPr>
            <p:nvPr/>
          </p:nvSpPr>
          <p:spPr bwMode="auto">
            <a:xfrm>
              <a:off x="431" y="1661"/>
              <a:ext cx="1088"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FF0000"/>
                  </a:solidFill>
                  <a:ea typeface="华文中宋" pitchFamily="2" charset="-122"/>
                </a:rPr>
                <a:t>解：</a:t>
              </a:r>
              <a:r>
                <a:rPr lang="zh-CN" altLang="en-US" sz="1800" b="1">
                  <a:ea typeface="华文中宋" pitchFamily="2" charset="-122"/>
                </a:rPr>
                <a:t>由</a:t>
              </a:r>
              <a:endParaRPr lang="zh-CN" altLang="en-US" sz="1800">
                <a:ea typeface="华文中宋" pitchFamily="2" charset="-122"/>
              </a:endParaRPr>
            </a:p>
          </p:txBody>
        </p:sp>
      </p:grpSp>
      <p:grpSp>
        <p:nvGrpSpPr>
          <p:cNvPr id="3" name="Group 22"/>
          <p:cNvGrpSpPr>
            <a:grpSpLocks/>
          </p:cNvGrpSpPr>
          <p:nvPr/>
        </p:nvGrpSpPr>
        <p:grpSpPr bwMode="auto">
          <a:xfrm>
            <a:off x="1265238" y="2316163"/>
            <a:ext cx="2443162" cy="382587"/>
            <a:chOff x="704" y="2069"/>
            <a:chExt cx="1539" cy="322"/>
          </a:xfrm>
        </p:grpSpPr>
        <p:graphicFrame>
          <p:nvGraphicFramePr>
            <p:cNvPr id="20492" name="Object 15"/>
            <p:cNvGraphicFramePr>
              <a:graphicFrameLocks noChangeAspect="1"/>
            </p:cNvGraphicFramePr>
            <p:nvPr/>
          </p:nvGraphicFramePr>
          <p:xfrm>
            <a:off x="1292" y="2069"/>
            <a:ext cx="951" cy="322"/>
          </p:xfrm>
          <a:graphic>
            <a:graphicData uri="http://schemas.openxmlformats.org/presentationml/2006/ole">
              <p:oleObj spid="_x0000_s20516" name="Equation" r:id="rId5" imgW="672808" imgH="228501" progId="Equation.DSMT4">
                <p:embed/>
              </p:oleObj>
            </a:graphicData>
          </a:graphic>
        </p:graphicFrame>
        <p:sp>
          <p:nvSpPr>
            <p:cNvPr id="20493" name="Text Box 17"/>
            <p:cNvSpPr txBox="1">
              <a:spLocks noChangeArrowheads="1"/>
            </p:cNvSpPr>
            <p:nvPr/>
          </p:nvSpPr>
          <p:spPr bwMode="auto">
            <a:xfrm>
              <a:off x="704" y="2069"/>
              <a:ext cx="1088"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升温前：</a:t>
              </a:r>
            </a:p>
          </p:txBody>
        </p:sp>
      </p:grpSp>
      <p:grpSp>
        <p:nvGrpSpPr>
          <p:cNvPr id="4" name="Group 23"/>
          <p:cNvGrpSpPr>
            <a:grpSpLocks/>
          </p:cNvGrpSpPr>
          <p:nvPr/>
        </p:nvGrpSpPr>
        <p:grpSpPr bwMode="auto">
          <a:xfrm>
            <a:off x="4789488" y="2263775"/>
            <a:ext cx="2519362" cy="390525"/>
            <a:chOff x="3017" y="2069"/>
            <a:chExt cx="1587" cy="327"/>
          </a:xfrm>
        </p:grpSpPr>
        <p:graphicFrame>
          <p:nvGraphicFramePr>
            <p:cNvPr id="20490" name="Object 16"/>
            <p:cNvGraphicFramePr>
              <a:graphicFrameLocks noChangeAspect="1"/>
            </p:cNvGraphicFramePr>
            <p:nvPr/>
          </p:nvGraphicFramePr>
          <p:xfrm>
            <a:off x="3606" y="2069"/>
            <a:ext cx="998" cy="327"/>
          </p:xfrm>
          <a:graphic>
            <a:graphicData uri="http://schemas.openxmlformats.org/presentationml/2006/ole">
              <p:oleObj spid="_x0000_s20517" name="Equation" r:id="rId6" imgW="698500" imgH="228600" progId="Equation.DSMT4">
                <p:embed/>
              </p:oleObj>
            </a:graphicData>
          </a:graphic>
        </p:graphicFrame>
        <p:sp>
          <p:nvSpPr>
            <p:cNvPr id="20491" name="Text Box 18"/>
            <p:cNvSpPr txBox="1">
              <a:spLocks noChangeArrowheads="1"/>
            </p:cNvSpPr>
            <p:nvPr/>
          </p:nvSpPr>
          <p:spPr bwMode="auto">
            <a:xfrm>
              <a:off x="3017" y="2069"/>
              <a:ext cx="1088"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升温后：</a:t>
              </a:r>
            </a:p>
          </p:txBody>
        </p:sp>
      </p:grpSp>
      <p:graphicFrame>
        <p:nvGraphicFramePr>
          <p:cNvPr id="104467" name="Object 19"/>
          <p:cNvGraphicFramePr>
            <a:graphicFrameLocks noChangeAspect="1"/>
          </p:cNvGraphicFramePr>
          <p:nvPr/>
        </p:nvGraphicFramePr>
        <p:xfrm>
          <a:off x="3527425" y="2754313"/>
          <a:ext cx="1620838" cy="363537"/>
        </p:xfrm>
        <a:graphic>
          <a:graphicData uri="http://schemas.openxmlformats.org/presentationml/2006/ole">
            <p:oleObj spid="_x0000_s20518" name="Equation" r:id="rId7" imgW="761669" imgH="228501" progId="Equation.DSMT4">
              <p:embed/>
            </p:oleObj>
          </a:graphicData>
        </a:graphic>
      </p:graphicFrame>
      <p:graphicFrame>
        <p:nvGraphicFramePr>
          <p:cNvPr id="104468" name="Object 20"/>
          <p:cNvGraphicFramePr>
            <a:graphicFrameLocks noChangeAspect="1"/>
          </p:cNvGraphicFramePr>
          <p:nvPr/>
        </p:nvGraphicFramePr>
        <p:xfrm>
          <a:off x="2092325" y="3995738"/>
          <a:ext cx="4711700" cy="663575"/>
        </p:xfrm>
        <a:graphic>
          <a:graphicData uri="http://schemas.openxmlformats.org/presentationml/2006/ole">
            <p:oleObj spid="_x0000_s20519" name="Equation" r:id="rId8" imgW="2362200" imgH="4445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3"/>
                                        </p:tgtEl>
                                        <p:attrNameLst>
                                          <p:attrName>style.visibility</p:attrName>
                                        </p:attrNameLst>
                                      </p:cBhvr>
                                      <p:to>
                                        <p:strVal val="visible"/>
                                      </p:to>
                                    </p:set>
                                    <p:animEffect transition="in" filter="blinds(horizontal)">
                                      <p:cBhvr>
                                        <p:cTn id="12" dur="500"/>
                                        <p:tgtEl>
                                          <p:spTgt spid="3"/>
                                        </p:tgtEl>
                                      </p:cBhvr>
                                    </p:animEffect>
                                  </p:childTnLst>
                                </p:cTn>
                              </p:par>
                              <p:par>
                                <p:cTn id="13" presetID="3" presetClass="entr" presetSubtype="10" fill="hold" nodeType="withEffect">
                                  <p:stCondLst>
                                    <p:cond delay="0"/>
                                  </p:stCondLst>
                                  <p:childTnLst>
                                    <p:set>
                                      <p:cBhvr>
                                        <p:cTn id="14" dur="1" fill="hold">
                                          <p:stCondLst>
                                            <p:cond delay="0"/>
                                          </p:stCondLst>
                                        </p:cTn>
                                        <p:tgtEl>
                                          <p:spTgt spid="4"/>
                                        </p:tgtEl>
                                        <p:attrNameLst>
                                          <p:attrName>style.visibility</p:attrName>
                                        </p:attrNameLst>
                                      </p:cBhvr>
                                      <p:to>
                                        <p:strVal val="visible"/>
                                      </p:to>
                                    </p:set>
                                    <p:animEffect transition="in" filter="blinds(horizontal)">
                                      <p:cBhvr>
                                        <p:cTn id="15" dur="500"/>
                                        <p:tgtEl>
                                          <p:spTgt spid="4"/>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104467"/>
                                        </p:tgtEl>
                                        <p:attrNameLst>
                                          <p:attrName>style.visibility</p:attrName>
                                        </p:attrNameLst>
                                      </p:cBhvr>
                                      <p:to>
                                        <p:strVal val="visible"/>
                                      </p:to>
                                    </p:set>
                                    <p:animEffect transition="in" filter="blinds(horizontal)">
                                      <p:cBhvr>
                                        <p:cTn id="20" dur="500"/>
                                        <p:tgtEl>
                                          <p:spTgt spid="104467"/>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nodeType="clickEffect">
                                  <p:stCondLst>
                                    <p:cond delay="0"/>
                                  </p:stCondLst>
                                  <p:childTnLst>
                                    <p:set>
                                      <p:cBhvr>
                                        <p:cTn id="24" dur="1" fill="hold">
                                          <p:stCondLst>
                                            <p:cond delay="0"/>
                                          </p:stCondLst>
                                        </p:cTn>
                                        <p:tgtEl>
                                          <p:spTgt spid="5"/>
                                        </p:tgtEl>
                                        <p:attrNameLst>
                                          <p:attrName>style.visibility</p:attrName>
                                        </p:attrNameLst>
                                      </p:cBhvr>
                                      <p:to>
                                        <p:strVal val="visible"/>
                                      </p:to>
                                    </p:set>
                                    <p:animEffect transition="in" filter="wipe(left)">
                                      <p:cBhvr>
                                        <p:cTn id="25" dur="500"/>
                                        <p:tgtEl>
                                          <p:spTgt spid="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104468"/>
                                        </p:tgtEl>
                                        <p:attrNameLst>
                                          <p:attrName>style.visibility</p:attrName>
                                        </p:attrNameLst>
                                      </p:cBhvr>
                                      <p:to>
                                        <p:strVal val="visible"/>
                                      </p:to>
                                    </p:set>
                                    <p:animEffect transition="in" filter="blinds(horizontal)">
                                      <p:cBhvr>
                                        <p:cTn id="30" dur="500"/>
                                        <p:tgtEl>
                                          <p:spTgt spid="10446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13"/>
                                        </p:tgtEl>
                                        <p:attrNameLst>
                                          <p:attrName>style.visibility</p:attrName>
                                        </p:attrNameLst>
                                      </p:cBhvr>
                                      <p:to>
                                        <p:strVal val="visible"/>
                                      </p:to>
                                    </p:set>
                                    <p:anim calcmode="lin" valueType="num">
                                      <p:cBhvr>
                                        <p:cTn id="35" dur="500" fill="hold"/>
                                        <p:tgtEl>
                                          <p:spTgt spid="13"/>
                                        </p:tgtEl>
                                        <p:attrNameLst>
                                          <p:attrName>ppt_w</p:attrName>
                                        </p:attrNameLst>
                                      </p:cBhvr>
                                      <p:tavLst>
                                        <p:tav tm="0">
                                          <p:val>
                                            <p:fltVal val="0"/>
                                          </p:val>
                                        </p:tav>
                                        <p:tav tm="100000">
                                          <p:val>
                                            <p:strVal val="#ppt_w"/>
                                          </p:val>
                                        </p:tav>
                                      </p:tavLst>
                                    </p:anim>
                                    <p:anim calcmode="lin" valueType="num">
                                      <p:cBhvr>
                                        <p:cTn id="36" dur="500" fill="hold"/>
                                        <p:tgtEl>
                                          <p:spTgt spid="13"/>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516" name="Text Box 36"/>
          <p:cNvSpPr txBox="1">
            <a:spLocks noChangeArrowheads="1"/>
          </p:cNvSpPr>
          <p:nvPr/>
        </p:nvSpPr>
        <p:spPr bwMode="auto">
          <a:xfrm>
            <a:off x="1042988" y="2201863"/>
            <a:ext cx="80676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chemeClr val="accent2"/>
                </a:solidFill>
                <a:latin typeface="华文中宋" pitchFamily="2" charset="-122"/>
                <a:ea typeface="华文中宋" pitchFamily="2" charset="-122"/>
              </a:rPr>
              <a:t>3</a:t>
            </a:r>
            <a:r>
              <a:rPr lang="zh-CN" altLang="en-US" sz="1800" b="1">
                <a:solidFill>
                  <a:schemeClr val="accent2"/>
                </a:solidFill>
                <a:latin typeface="华文中宋" pitchFamily="2" charset="-122"/>
                <a:ea typeface="华文中宋" pitchFamily="2" charset="-122"/>
              </a:rPr>
              <a:t>、分子间，分子与器壁间的碰撞是完全弹性的。遵守动量和能量守恒律。</a:t>
            </a:r>
          </a:p>
        </p:txBody>
      </p:sp>
      <p:sp>
        <p:nvSpPr>
          <p:cNvPr id="20518" name="Rectangle 38"/>
          <p:cNvSpPr>
            <a:spLocks noChangeArrowheads="1"/>
          </p:cNvSpPr>
          <p:nvPr/>
        </p:nvSpPr>
        <p:spPr bwMode="auto">
          <a:xfrm>
            <a:off x="1042988" y="1427163"/>
            <a:ext cx="376237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1800" b="1">
                <a:solidFill>
                  <a:schemeClr val="accent2"/>
                </a:solidFill>
                <a:latin typeface="华文中宋" pitchFamily="2" charset="-122"/>
                <a:ea typeface="华文中宋" pitchFamily="2" charset="-122"/>
              </a:rPr>
              <a:t>1</a:t>
            </a:r>
            <a:r>
              <a:rPr lang="zh-CN" altLang="en-US" sz="1800" b="1">
                <a:solidFill>
                  <a:schemeClr val="accent2"/>
                </a:solidFill>
                <a:latin typeface="华文中宋" pitchFamily="2" charset="-122"/>
                <a:ea typeface="华文中宋" pitchFamily="2" charset="-122"/>
              </a:rPr>
              <a:t>、分子可以看作质点。</a:t>
            </a:r>
            <a:endParaRPr lang="zh-CN" altLang="en-US" sz="1800" b="1">
              <a:latin typeface="华文中宋" pitchFamily="2" charset="-122"/>
              <a:ea typeface="华文中宋" pitchFamily="2" charset="-122"/>
            </a:endParaRPr>
          </a:p>
        </p:txBody>
      </p:sp>
      <p:sp>
        <p:nvSpPr>
          <p:cNvPr id="20519" name="Rectangle 39"/>
          <p:cNvSpPr>
            <a:spLocks noChangeArrowheads="1"/>
          </p:cNvSpPr>
          <p:nvPr/>
        </p:nvSpPr>
        <p:spPr bwMode="auto">
          <a:xfrm>
            <a:off x="1038225" y="1819275"/>
            <a:ext cx="79978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1800" b="1">
                <a:solidFill>
                  <a:schemeClr val="accent2"/>
                </a:solidFill>
                <a:latin typeface="华文中宋" pitchFamily="2" charset="-122"/>
                <a:ea typeface="华文中宋" pitchFamily="2" charset="-122"/>
              </a:rPr>
              <a:t>2</a:t>
            </a:r>
            <a:r>
              <a:rPr lang="zh-CN" altLang="en-US" sz="1800" b="1">
                <a:solidFill>
                  <a:schemeClr val="accent2"/>
                </a:solidFill>
                <a:latin typeface="华文中宋" pitchFamily="2" charset="-122"/>
                <a:ea typeface="华文中宋" pitchFamily="2" charset="-122"/>
              </a:rPr>
              <a:t>、除碰撞外，分子之间，分子与器壁间不计相互作用力。</a:t>
            </a:r>
          </a:p>
        </p:txBody>
      </p:sp>
      <p:sp>
        <p:nvSpPr>
          <p:cNvPr id="20532" name="Text Box 52"/>
          <p:cNvSpPr txBox="1">
            <a:spLocks noChangeArrowheads="1"/>
          </p:cNvSpPr>
          <p:nvPr/>
        </p:nvSpPr>
        <p:spPr bwMode="auto">
          <a:xfrm>
            <a:off x="971550" y="3354388"/>
            <a:ext cx="59690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１、在无外场作用时，气体分子在各处出现的概率相同。　</a:t>
            </a:r>
          </a:p>
        </p:txBody>
      </p:sp>
      <p:sp>
        <p:nvSpPr>
          <p:cNvPr id="7" name="Text Box 16"/>
          <p:cNvSpPr txBox="1">
            <a:spLocks noChangeArrowheads="1"/>
          </p:cNvSpPr>
          <p:nvPr/>
        </p:nvSpPr>
        <p:spPr bwMode="auto">
          <a:xfrm>
            <a:off x="1908175" y="3930650"/>
            <a:ext cx="30226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即</a:t>
            </a:r>
            <a:r>
              <a:rPr kumimoji="0" lang="zh-CN" altLang="en-US" sz="1800" b="1">
                <a:latin typeface="华文中宋" pitchFamily="2" charset="-122"/>
                <a:ea typeface="华文中宋" pitchFamily="2" charset="-122"/>
              </a:rPr>
              <a:t>分子的数密度</a:t>
            </a:r>
            <a:r>
              <a:rPr kumimoji="0" lang="en-US" altLang="zh-CN" sz="1800" b="1" i="1">
                <a:ea typeface="华文中宋" pitchFamily="2" charset="-122"/>
                <a:cs typeface="Times New Roman" pitchFamily="18" charset="0"/>
              </a:rPr>
              <a:t>n</a:t>
            </a:r>
            <a:r>
              <a:rPr kumimoji="0" lang="zh-CN" altLang="en-US" sz="1800" b="1">
                <a:latin typeface="华文中宋" pitchFamily="2" charset="-122"/>
                <a:ea typeface="华文中宋" pitchFamily="2" charset="-122"/>
              </a:rPr>
              <a:t>处处相同</a:t>
            </a:r>
          </a:p>
        </p:txBody>
      </p:sp>
      <p:graphicFrame>
        <p:nvGraphicFramePr>
          <p:cNvPr id="8" name="Object 17"/>
          <p:cNvGraphicFramePr>
            <a:graphicFrameLocks noChangeAspect="1"/>
          </p:cNvGraphicFramePr>
          <p:nvPr/>
        </p:nvGraphicFramePr>
        <p:xfrm>
          <a:off x="4806950" y="3795713"/>
          <a:ext cx="1636713" cy="601662"/>
        </p:xfrm>
        <a:graphic>
          <a:graphicData uri="http://schemas.openxmlformats.org/presentationml/2006/ole">
            <p:oleObj spid="_x0000_s21517" name="Equation" r:id="rId3" imgW="799753" imgH="393529" progId="Equation.DSMT4">
              <p:embed/>
            </p:oleObj>
          </a:graphicData>
        </a:graphic>
      </p:graphicFrame>
      <p:sp>
        <p:nvSpPr>
          <p:cNvPr id="21512" name="Text Box 2"/>
          <p:cNvSpPr>
            <a:spLocks noChangeArrowheads="1"/>
          </p:cNvSpPr>
          <p:nvPr/>
        </p:nvSpPr>
        <p:spPr bwMode="auto">
          <a:xfrm>
            <a:off x="839788" y="874713"/>
            <a:ext cx="3876675" cy="400050"/>
          </a:xfrm>
          <a:prstGeom prst="homePlate">
            <a:avLst>
              <a:gd name="adj" fmla="val 49933"/>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一、理想气体分子的微观模型</a:t>
            </a:r>
          </a:p>
        </p:txBody>
      </p:sp>
      <p:sp>
        <p:nvSpPr>
          <p:cNvPr id="12" name="Text Box 2"/>
          <p:cNvSpPr>
            <a:spLocks noChangeArrowheads="1"/>
          </p:cNvSpPr>
          <p:nvPr/>
        </p:nvSpPr>
        <p:spPr bwMode="auto">
          <a:xfrm>
            <a:off x="928688" y="2733675"/>
            <a:ext cx="4867275" cy="400050"/>
          </a:xfrm>
          <a:prstGeom prst="homePlate">
            <a:avLst>
              <a:gd name="adj" fmla="val 49906"/>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二、平衡态下理想气体分子的统计假设</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8" fill="hold" grpId="0" nodeType="clickEffect">
                                  <p:stCondLst>
                                    <p:cond delay="0"/>
                                  </p:stCondLst>
                                  <p:childTnLst>
                                    <p:set>
                                      <p:cBhvr>
                                        <p:cTn id="6" dur="1" fill="hold">
                                          <p:stCondLst>
                                            <p:cond delay="0"/>
                                          </p:stCondLst>
                                        </p:cTn>
                                        <p:tgtEl>
                                          <p:spTgt spid="20518"/>
                                        </p:tgtEl>
                                        <p:attrNameLst>
                                          <p:attrName>style.visibility</p:attrName>
                                        </p:attrNameLst>
                                      </p:cBhvr>
                                      <p:to>
                                        <p:strVal val="visible"/>
                                      </p:to>
                                    </p:set>
                                    <p:animEffect transition="in" filter="slide(fromLeft)">
                                      <p:cBhvr>
                                        <p:cTn id="7" dur="500"/>
                                        <p:tgtEl>
                                          <p:spTgt spid="2051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8" fill="hold" grpId="0" nodeType="clickEffect">
                                  <p:stCondLst>
                                    <p:cond delay="0"/>
                                  </p:stCondLst>
                                  <p:childTnLst>
                                    <p:set>
                                      <p:cBhvr>
                                        <p:cTn id="11" dur="1" fill="hold">
                                          <p:stCondLst>
                                            <p:cond delay="0"/>
                                          </p:stCondLst>
                                        </p:cTn>
                                        <p:tgtEl>
                                          <p:spTgt spid="20519"/>
                                        </p:tgtEl>
                                        <p:attrNameLst>
                                          <p:attrName>style.visibility</p:attrName>
                                        </p:attrNameLst>
                                      </p:cBhvr>
                                      <p:to>
                                        <p:strVal val="visible"/>
                                      </p:to>
                                    </p:set>
                                    <p:animEffect transition="in" filter="slide(fromLeft)">
                                      <p:cBhvr>
                                        <p:cTn id="12" dur="500"/>
                                        <p:tgtEl>
                                          <p:spTgt spid="2051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12" presetClass="entr" presetSubtype="8" fill="hold" grpId="0" nodeType="clickEffect">
                                  <p:stCondLst>
                                    <p:cond delay="0"/>
                                  </p:stCondLst>
                                  <p:childTnLst>
                                    <p:set>
                                      <p:cBhvr>
                                        <p:cTn id="16" dur="1" fill="hold">
                                          <p:stCondLst>
                                            <p:cond delay="0"/>
                                          </p:stCondLst>
                                        </p:cTn>
                                        <p:tgtEl>
                                          <p:spTgt spid="20516"/>
                                        </p:tgtEl>
                                        <p:attrNameLst>
                                          <p:attrName>style.visibility</p:attrName>
                                        </p:attrNameLst>
                                      </p:cBhvr>
                                      <p:to>
                                        <p:strVal val="visible"/>
                                      </p:to>
                                    </p:set>
                                    <p:animEffect transition="in" filter="slide(fromLeft)">
                                      <p:cBhvr>
                                        <p:cTn id="17" dur="500"/>
                                        <p:tgtEl>
                                          <p:spTgt spid="2051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2"/>
                                        </p:tgtEl>
                                        <p:attrNameLst>
                                          <p:attrName>style.visibility</p:attrName>
                                        </p:attrNameLst>
                                      </p:cBhvr>
                                      <p:to>
                                        <p:strVal val="visible"/>
                                      </p:to>
                                    </p:set>
                                    <p:animEffect transition="in" filter="wipe(left)">
                                      <p:cBhvr>
                                        <p:cTn id="22" dur="500"/>
                                        <p:tgtEl>
                                          <p:spTgt spid="1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20532"/>
                                        </p:tgtEl>
                                        <p:attrNameLst>
                                          <p:attrName>style.visibility</p:attrName>
                                        </p:attrNameLst>
                                      </p:cBhvr>
                                      <p:to>
                                        <p:strVal val="visible"/>
                                      </p:to>
                                    </p:set>
                                    <p:animEffect transition="in" filter="blinds(horizontal)">
                                      <p:cBhvr>
                                        <p:cTn id="27" dur="500"/>
                                        <p:tgtEl>
                                          <p:spTgt spid="205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left)">
                                      <p:cBhvr>
                                        <p:cTn id="32" dur="500"/>
                                        <p:tgtEl>
                                          <p:spTgt spid="7">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8"/>
                                        </p:tgtEl>
                                        <p:attrNameLst>
                                          <p:attrName>style.visibility</p:attrName>
                                        </p:attrNameLst>
                                      </p:cBhvr>
                                      <p:to>
                                        <p:strVal val="visible"/>
                                      </p:to>
                                    </p:set>
                                    <p:animEffect transition="in" filter="wipe(left)">
                                      <p:cBhvr>
                                        <p:cTn id="37"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0516" grpId="0" autoUpdateAnimBg="0"/>
      <p:bldP spid="20518" grpId="0" autoUpdateAnimBg="0"/>
      <p:bldP spid="20519" grpId="0" autoUpdateAnimBg="0"/>
      <p:bldP spid="20532" grpId="0"/>
      <p:bldP spid="7" grpId="0" build="p"/>
      <p:bldP spid="12" grpId="0" animBg="1"/>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440" name="Object 176"/>
          <p:cNvGraphicFramePr>
            <a:graphicFrameLocks noChangeAspect="1"/>
          </p:cNvGraphicFramePr>
          <p:nvPr/>
        </p:nvGraphicFramePr>
        <p:xfrm>
          <a:off x="2916238" y="1212850"/>
          <a:ext cx="1584325" cy="495300"/>
        </p:xfrm>
        <a:graphic>
          <a:graphicData uri="http://schemas.openxmlformats.org/presentationml/2006/ole">
            <p:oleObj spid="_x0000_s22590" name="公式" r:id="rId3" imgW="609336" imgH="253890" progId="Equation.3">
              <p:embed/>
            </p:oleObj>
          </a:graphicData>
        </a:graphic>
      </p:graphicFrame>
      <p:sp>
        <p:nvSpPr>
          <p:cNvPr id="11442" name="Text Box 178"/>
          <p:cNvSpPr txBox="1">
            <a:spLocks noChangeArrowheads="1"/>
          </p:cNvSpPr>
          <p:nvPr/>
        </p:nvSpPr>
        <p:spPr bwMode="auto">
          <a:xfrm>
            <a:off x="252413" y="1263650"/>
            <a:ext cx="646112"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即：</a:t>
            </a:r>
          </a:p>
        </p:txBody>
      </p:sp>
      <p:sp>
        <p:nvSpPr>
          <p:cNvPr id="22532" name="Text Box 180"/>
          <p:cNvSpPr txBox="1">
            <a:spLocks noChangeArrowheads="1"/>
          </p:cNvSpPr>
          <p:nvPr/>
        </p:nvSpPr>
        <p:spPr bwMode="auto">
          <a:xfrm>
            <a:off x="539750" y="750888"/>
            <a:ext cx="6337300" cy="4524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30000"/>
              </a:lnSpc>
            </a:pPr>
            <a:r>
              <a:rPr lang="zh-CN" altLang="en-US" sz="1800" b="1">
                <a:latin typeface="华文中宋" pitchFamily="2" charset="-122"/>
                <a:ea typeface="华文中宋" pitchFamily="2" charset="-122"/>
              </a:rPr>
              <a:t>２、分子可以有不同的速度，速度取向在各个方向等概率。</a:t>
            </a:r>
          </a:p>
        </p:txBody>
      </p:sp>
      <p:graphicFrame>
        <p:nvGraphicFramePr>
          <p:cNvPr id="11" name="对象 1"/>
          <p:cNvGraphicFramePr>
            <a:graphicFrameLocks noChangeAspect="1"/>
          </p:cNvGraphicFramePr>
          <p:nvPr/>
        </p:nvGraphicFramePr>
        <p:xfrm>
          <a:off x="4694238" y="1276350"/>
          <a:ext cx="2973387" cy="358775"/>
        </p:xfrm>
        <a:graphic>
          <a:graphicData uri="http://schemas.openxmlformats.org/presentationml/2006/ole">
            <p:oleObj spid="_x0000_s22591" name="Equation" r:id="rId4" imgW="1345616" imgH="253890" progId="Equation.3">
              <p:embed/>
            </p:oleObj>
          </a:graphicData>
        </a:graphic>
      </p:graphicFrame>
      <p:graphicFrame>
        <p:nvGraphicFramePr>
          <p:cNvPr id="14" name="对象 3"/>
          <p:cNvGraphicFramePr>
            <a:graphicFrameLocks noChangeAspect="1"/>
          </p:cNvGraphicFramePr>
          <p:nvPr/>
        </p:nvGraphicFramePr>
        <p:xfrm>
          <a:off x="1258888" y="3584575"/>
          <a:ext cx="2339975" cy="393700"/>
        </p:xfrm>
        <a:graphic>
          <a:graphicData uri="http://schemas.openxmlformats.org/presentationml/2006/ole">
            <p:oleObj spid="_x0000_s22592" name="Equation" r:id="rId5" imgW="1129810" imgH="253890" progId="Equation.3">
              <p:embed/>
            </p:oleObj>
          </a:graphicData>
        </a:graphic>
      </p:graphicFrame>
      <p:graphicFrame>
        <p:nvGraphicFramePr>
          <p:cNvPr id="15" name="对象 4"/>
          <p:cNvGraphicFramePr>
            <a:graphicFrameLocks noChangeAspect="1"/>
          </p:cNvGraphicFramePr>
          <p:nvPr/>
        </p:nvGraphicFramePr>
        <p:xfrm>
          <a:off x="2195513" y="3997325"/>
          <a:ext cx="2114550" cy="419100"/>
        </p:xfrm>
        <a:graphic>
          <a:graphicData uri="http://schemas.openxmlformats.org/presentationml/2006/ole">
            <p:oleObj spid="_x0000_s22593" name="Equation" r:id="rId6" imgW="1104900" imgH="292100" progId="Equation.3">
              <p:embed/>
            </p:oleObj>
          </a:graphicData>
        </a:graphic>
      </p:graphicFrame>
      <p:graphicFrame>
        <p:nvGraphicFramePr>
          <p:cNvPr id="2" name="对象 3"/>
          <p:cNvGraphicFramePr>
            <a:graphicFrameLocks noChangeAspect="1"/>
          </p:cNvGraphicFramePr>
          <p:nvPr/>
        </p:nvGraphicFramePr>
        <p:xfrm>
          <a:off x="4356100" y="3508375"/>
          <a:ext cx="3960813" cy="647700"/>
        </p:xfrm>
        <a:graphic>
          <a:graphicData uri="http://schemas.openxmlformats.org/presentationml/2006/ole">
            <p:oleObj spid="_x0000_s22594" name="公式" r:id="rId7" imgW="1803400" imgH="393700" progId="Equation.3">
              <p:embed/>
            </p:oleObj>
          </a:graphicData>
        </a:graphic>
      </p:graphicFrame>
      <p:graphicFrame>
        <p:nvGraphicFramePr>
          <p:cNvPr id="12" name="对象 2"/>
          <p:cNvGraphicFramePr>
            <a:graphicFrameLocks noChangeAspect="1"/>
          </p:cNvGraphicFramePr>
          <p:nvPr/>
        </p:nvGraphicFramePr>
        <p:xfrm>
          <a:off x="5940425" y="1779588"/>
          <a:ext cx="1368425" cy="622300"/>
        </p:xfrm>
        <a:graphic>
          <a:graphicData uri="http://schemas.openxmlformats.org/presentationml/2006/ole">
            <p:oleObj spid="_x0000_s22595" name="公式" r:id="rId8" imgW="647419" imgH="393529" progId="Equation.3">
              <p:embed/>
            </p:oleObj>
          </a:graphicData>
        </a:graphic>
      </p:graphicFrame>
      <p:graphicFrame>
        <p:nvGraphicFramePr>
          <p:cNvPr id="13" name="对象 33"/>
          <p:cNvGraphicFramePr>
            <a:graphicFrameLocks noChangeAspect="1"/>
          </p:cNvGraphicFramePr>
          <p:nvPr/>
        </p:nvGraphicFramePr>
        <p:xfrm>
          <a:off x="900113" y="1214438"/>
          <a:ext cx="1660525" cy="449262"/>
        </p:xfrm>
        <a:graphic>
          <a:graphicData uri="http://schemas.openxmlformats.org/presentationml/2006/ole">
            <p:oleObj spid="_x0000_s22596" name="Equation" r:id="rId9" imgW="596641" imgH="215806" progId="Equation.DSMT4">
              <p:embed/>
            </p:oleObj>
          </a:graphicData>
        </a:graphic>
      </p:graphicFrame>
      <p:graphicFrame>
        <p:nvGraphicFramePr>
          <p:cNvPr id="11452" name="Object 188"/>
          <p:cNvGraphicFramePr>
            <a:graphicFrameLocks noChangeAspect="1"/>
          </p:cNvGraphicFramePr>
          <p:nvPr/>
        </p:nvGraphicFramePr>
        <p:xfrm>
          <a:off x="7667625" y="1276350"/>
          <a:ext cx="1152525" cy="363538"/>
        </p:xfrm>
        <a:graphic>
          <a:graphicData uri="http://schemas.openxmlformats.org/presentationml/2006/ole">
            <p:oleObj spid="_x0000_s22597" name="Equation" r:id="rId10" imgW="634449" imgH="266469" progId="Equation.DSMT4">
              <p:embed/>
            </p:oleObj>
          </a:graphicData>
        </a:graphic>
      </p:graphicFrame>
      <p:graphicFrame>
        <p:nvGraphicFramePr>
          <p:cNvPr id="3" name="对象 3"/>
          <p:cNvGraphicFramePr>
            <a:graphicFrameLocks noChangeAspect="1"/>
          </p:cNvGraphicFramePr>
          <p:nvPr/>
        </p:nvGraphicFramePr>
        <p:xfrm>
          <a:off x="1042988" y="1781175"/>
          <a:ext cx="4033837" cy="612775"/>
        </p:xfrm>
        <a:graphic>
          <a:graphicData uri="http://schemas.openxmlformats.org/presentationml/2006/ole">
            <p:oleObj spid="_x0000_s22598" name="公式" r:id="rId11" imgW="1943100" imgH="393700" progId="Equation.3">
              <p:embed/>
            </p:oleObj>
          </a:graphicData>
        </a:graphic>
      </p:graphicFrame>
      <p:graphicFrame>
        <p:nvGraphicFramePr>
          <p:cNvPr id="4" name="对象 33"/>
          <p:cNvGraphicFramePr>
            <a:graphicFrameLocks noChangeAspect="1"/>
          </p:cNvGraphicFramePr>
          <p:nvPr/>
        </p:nvGraphicFramePr>
        <p:xfrm>
          <a:off x="1692275" y="2427288"/>
          <a:ext cx="2543175" cy="450850"/>
        </p:xfrm>
        <a:graphic>
          <a:graphicData uri="http://schemas.openxmlformats.org/presentationml/2006/ole">
            <p:oleObj spid="_x0000_s22599" name="公式" r:id="rId12" imgW="914003" imgH="215806" progId="Equation.3">
              <p:embed/>
            </p:oleObj>
          </a:graphicData>
        </a:graphic>
      </p:graphicFrame>
      <p:graphicFrame>
        <p:nvGraphicFramePr>
          <p:cNvPr id="5" name="对象 33"/>
          <p:cNvGraphicFramePr>
            <a:graphicFrameLocks noChangeAspect="1"/>
          </p:cNvGraphicFramePr>
          <p:nvPr/>
        </p:nvGraphicFramePr>
        <p:xfrm>
          <a:off x="2695575" y="3130550"/>
          <a:ext cx="1660525" cy="449263"/>
        </p:xfrm>
        <a:graphic>
          <a:graphicData uri="http://schemas.openxmlformats.org/presentationml/2006/ole">
            <p:oleObj spid="_x0000_s22600" name="公式" r:id="rId13" imgW="596641" imgH="215806" progId="Equation.3">
              <p:embed/>
            </p:oleObj>
          </a:graphicData>
        </a:graphic>
      </p:graphicFrame>
      <p:sp>
        <p:nvSpPr>
          <p:cNvPr id="11458" name="AutoShape 194"/>
          <p:cNvSpPr>
            <a:spLocks/>
          </p:cNvSpPr>
          <p:nvPr/>
        </p:nvSpPr>
        <p:spPr bwMode="auto">
          <a:xfrm>
            <a:off x="4356100" y="2643188"/>
            <a:ext cx="360363" cy="703262"/>
          </a:xfrm>
          <a:prstGeom prst="rightBrace">
            <a:avLst>
              <a:gd name="adj1" fmla="val 25018"/>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aphicFrame>
        <p:nvGraphicFramePr>
          <p:cNvPr id="6" name="对象 33"/>
          <p:cNvGraphicFramePr>
            <a:graphicFrameLocks noChangeAspect="1"/>
          </p:cNvGraphicFramePr>
          <p:nvPr/>
        </p:nvGraphicFramePr>
        <p:xfrm>
          <a:off x="4932363" y="2644775"/>
          <a:ext cx="2120900" cy="449263"/>
        </p:xfrm>
        <a:graphic>
          <a:graphicData uri="http://schemas.openxmlformats.org/presentationml/2006/ole">
            <p:oleObj spid="_x0000_s22601" name="公式" r:id="rId14" imgW="761669" imgH="215806" progId="Equation.3">
              <p:embed/>
            </p:oleObj>
          </a:graphicData>
        </a:graphic>
      </p:graphicFrame>
      <p:graphicFrame>
        <p:nvGraphicFramePr>
          <p:cNvPr id="11460" name="Object 196"/>
          <p:cNvGraphicFramePr>
            <a:graphicFrameLocks noChangeAspect="1"/>
          </p:cNvGraphicFramePr>
          <p:nvPr/>
        </p:nvGraphicFramePr>
        <p:xfrm>
          <a:off x="2411413" y="4454525"/>
          <a:ext cx="1584325" cy="493713"/>
        </p:xfrm>
        <a:graphic>
          <a:graphicData uri="http://schemas.openxmlformats.org/presentationml/2006/ole">
            <p:oleObj spid="_x0000_s22602" name="公式" r:id="rId15" imgW="609336" imgH="253890" progId="Equation.3">
              <p:embed/>
            </p:oleObj>
          </a:graphicData>
        </a:graphic>
      </p:graphicFrame>
      <p:sp>
        <p:nvSpPr>
          <p:cNvPr id="11461" name="AutoShape 197"/>
          <p:cNvSpPr>
            <a:spLocks/>
          </p:cNvSpPr>
          <p:nvPr/>
        </p:nvSpPr>
        <p:spPr bwMode="auto">
          <a:xfrm>
            <a:off x="4427538" y="4159250"/>
            <a:ext cx="360362" cy="681038"/>
          </a:xfrm>
          <a:prstGeom prst="rightBrace">
            <a:avLst>
              <a:gd name="adj1" fmla="val 20999"/>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aphicFrame>
        <p:nvGraphicFramePr>
          <p:cNvPr id="218159" name="Object 47"/>
          <p:cNvGraphicFramePr>
            <a:graphicFrameLocks noChangeAspect="1"/>
          </p:cNvGraphicFramePr>
          <p:nvPr/>
        </p:nvGraphicFramePr>
        <p:xfrm>
          <a:off x="5003800" y="4173538"/>
          <a:ext cx="2089150" cy="485775"/>
        </p:xfrm>
        <a:graphic>
          <a:graphicData uri="http://schemas.openxmlformats.org/presentationml/2006/ole">
            <p:oleObj spid="_x0000_s22603" name="Equation" r:id="rId16" imgW="1307532" imgH="406224"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1442"/>
                                        </p:tgtEl>
                                        <p:attrNameLst>
                                          <p:attrName>style.visibility</p:attrName>
                                        </p:attrNameLst>
                                      </p:cBhvr>
                                      <p:to>
                                        <p:strVal val="visible"/>
                                      </p:to>
                                    </p:set>
                                    <p:animEffect transition="in" filter="blinds(horizontal)">
                                      <p:cBhvr>
                                        <p:cTn id="7" dur="500"/>
                                        <p:tgtEl>
                                          <p:spTgt spid="1144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wipe(left)">
                                      <p:cBhvr>
                                        <p:cTn id="12" dur="500"/>
                                        <p:tgtEl>
                                          <p:spTgt spid="1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11440"/>
                                        </p:tgtEl>
                                        <p:attrNameLst>
                                          <p:attrName>style.visibility</p:attrName>
                                        </p:attrNameLst>
                                      </p:cBhvr>
                                      <p:to>
                                        <p:strVal val="visible"/>
                                      </p:to>
                                    </p:set>
                                    <p:animEffect transition="in" filter="checkerboard(across)">
                                      <p:cBhvr>
                                        <p:cTn id="17" dur="500"/>
                                        <p:tgtEl>
                                          <p:spTgt spid="1144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par>
                                <p:cTn id="23" presetID="3" presetClass="entr" presetSubtype="10" fill="hold" nodeType="withEffect">
                                  <p:stCondLst>
                                    <p:cond delay="0"/>
                                  </p:stCondLst>
                                  <p:childTnLst>
                                    <p:set>
                                      <p:cBhvr>
                                        <p:cTn id="24" dur="1" fill="hold">
                                          <p:stCondLst>
                                            <p:cond delay="0"/>
                                          </p:stCondLst>
                                        </p:cTn>
                                        <p:tgtEl>
                                          <p:spTgt spid="11452"/>
                                        </p:tgtEl>
                                        <p:attrNameLst>
                                          <p:attrName>style.visibility</p:attrName>
                                        </p:attrNameLst>
                                      </p:cBhvr>
                                      <p:to>
                                        <p:strVal val="visible"/>
                                      </p:to>
                                    </p:set>
                                    <p:animEffect transition="in" filter="blinds(horizontal)">
                                      <p:cBhvr>
                                        <p:cTn id="25" dur="500"/>
                                        <p:tgtEl>
                                          <p:spTgt spid="11452"/>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nodeType="clickEffect">
                                  <p:stCondLst>
                                    <p:cond delay="0"/>
                                  </p:stCondLst>
                                  <p:childTnLst>
                                    <p:set>
                                      <p:cBhvr>
                                        <p:cTn id="29" dur="1" fill="hold">
                                          <p:stCondLst>
                                            <p:cond delay="0"/>
                                          </p:stCondLst>
                                        </p:cTn>
                                        <p:tgtEl>
                                          <p:spTgt spid="3"/>
                                        </p:tgtEl>
                                        <p:attrNameLst>
                                          <p:attrName>style.visibility</p:attrName>
                                        </p:attrNameLst>
                                      </p:cBhvr>
                                      <p:to>
                                        <p:strVal val="visible"/>
                                      </p:to>
                                    </p:set>
                                    <p:animEffect transition="in" filter="wipe(left)">
                                      <p:cBhvr>
                                        <p:cTn id="30" dur="500"/>
                                        <p:tgtEl>
                                          <p:spTgt spid="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nodeType="clickEffect">
                                  <p:stCondLst>
                                    <p:cond delay="0"/>
                                  </p:stCondLst>
                                  <p:childTnLst>
                                    <p:set>
                                      <p:cBhvr>
                                        <p:cTn id="34" dur="1" fill="hold">
                                          <p:stCondLst>
                                            <p:cond delay="0"/>
                                          </p:stCondLst>
                                        </p:cTn>
                                        <p:tgtEl>
                                          <p:spTgt spid="12"/>
                                        </p:tgtEl>
                                        <p:attrNameLst>
                                          <p:attrName>style.visibility</p:attrName>
                                        </p:attrNameLst>
                                      </p:cBhvr>
                                      <p:to>
                                        <p:strVal val="visible"/>
                                      </p:to>
                                    </p:set>
                                    <p:animEffect transition="in" filter="wipe(left)">
                                      <p:cBhvr>
                                        <p:cTn id="35" dur="500"/>
                                        <p:tgtEl>
                                          <p:spTgt spid="12"/>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wipe(left)">
                                      <p:cBhvr>
                                        <p:cTn id="40" dur="500"/>
                                        <p:tgtEl>
                                          <p:spTgt spid="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500"/>
                                        <p:tgtEl>
                                          <p:spTgt spid="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3" presetClass="entr" presetSubtype="10" fill="hold" grpId="0" nodeType="clickEffect">
                                  <p:stCondLst>
                                    <p:cond delay="0"/>
                                  </p:stCondLst>
                                  <p:childTnLst>
                                    <p:set>
                                      <p:cBhvr>
                                        <p:cTn id="49" dur="1" fill="hold">
                                          <p:stCondLst>
                                            <p:cond delay="0"/>
                                          </p:stCondLst>
                                        </p:cTn>
                                        <p:tgtEl>
                                          <p:spTgt spid="11458"/>
                                        </p:tgtEl>
                                        <p:attrNameLst>
                                          <p:attrName>style.visibility</p:attrName>
                                        </p:attrNameLst>
                                      </p:cBhvr>
                                      <p:to>
                                        <p:strVal val="visible"/>
                                      </p:to>
                                    </p:set>
                                    <p:animEffect transition="in" filter="blinds(horizontal)">
                                      <p:cBhvr>
                                        <p:cTn id="50" dur="500"/>
                                        <p:tgtEl>
                                          <p:spTgt spid="11458"/>
                                        </p:tgtEl>
                                      </p:cBhvr>
                                    </p:animEffect>
                                  </p:childTnLst>
                                </p:cTn>
                              </p:par>
                              <p:par>
                                <p:cTn id="51" presetID="3" presetClass="entr" presetSubtype="10" fill="hold" nodeType="withEffect">
                                  <p:stCondLst>
                                    <p:cond delay="0"/>
                                  </p:stCondLst>
                                  <p:childTnLst>
                                    <p:set>
                                      <p:cBhvr>
                                        <p:cTn id="52" dur="1" fill="hold">
                                          <p:stCondLst>
                                            <p:cond delay="0"/>
                                          </p:stCondLst>
                                        </p:cTn>
                                        <p:tgtEl>
                                          <p:spTgt spid="6"/>
                                        </p:tgtEl>
                                        <p:attrNameLst>
                                          <p:attrName>style.visibility</p:attrName>
                                        </p:attrNameLst>
                                      </p:cBhvr>
                                      <p:to>
                                        <p:strVal val="visible"/>
                                      </p:to>
                                    </p:set>
                                    <p:animEffect transition="in" filter="blinds(horizontal)">
                                      <p:cBhvr>
                                        <p:cTn id="53" dur="500"/>
                                        <p:tgtEl>
                                          <p:spTgt spid="6"/>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4"/>
                                        </p:tgtEl>
                                        <p:attrNameLst>
                                          <p:attrName>style.visibility</p:attrName>
                                        </p:attrNameLst>
                                      </p:cBhvr>
                                      <p:to>
                                        <p:strVal val="visible"/>
                                      </p:to>
                                    </p:set>
                                    <p:animEffect transition="in" filter="wipe(left)">
                                      <p:cBhvr>
                                        <p:cTn id="58" dur="500"/>
                                        <p:tgtEl>
                                          <p:spTgt spid="14"/>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nodeType="clickEffect">
                                  <p:stCondLst>
                                    <p:cond delay="0"/>
                                  </p:stCondLst>
                                  <p:childTnLst>
                                    <p:set>
                                      <p:cBhvr>
                                        <p:cTn id="62" dur="1" fill="hold">
                                          <p:stCondLst>
                                            <p:cond delay="0"/>
                                          </p:stCondLst>
                                        </p:cTn>
                                        <p:tgtEl>
                                          <p:spTgt spid="2"/>
                                        </p:tgtEl>
                                        <p:attrNameLst>
                                          <p:attrName>style.visibility</p:attrName>
                                        </p:attrNameLst>
                                      </p:cBhvr>
                                      <p:to>
                                        <p:strVal val="visible"/>
                                      </p:to>
                                    </p:set>
                                    <p:animEffect transition="in" filter="wipe(left)">
                                      <p:cBhvr>
                                        <p:cTn id="63" dur="500"/>
                                        <p:tgtEl>
                                          <p:spTgt spid="2"/>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nodeType="clickEffect">
                                  <p:stCondLst>
                                    <p:cond delay="0"/>
                                  </p:stCondLst>
                                  <p:childTnLst>
                                    <p:set>
                                      <p:cBhvr>
                                        <p:cTn id="67" dur="1" fill="hold">
                                          <p:stCondLst>
                                            <p:cond delay="0"/>
                                          </p:stCondLst>
                                        </p:cTn>
                                        <p:tgtEl>
                                          <p:spTgt spid="15"/>
                                        </p:tgtEl>
                                        <p:attrNameLst>
                                          <p:attrName>style.visibility</p:attrName>
                                        </p:attrNameLst>
                                      </p:cBhvr>
                                      <p:to>
                                        <p:strVal val="visible"/>
                                      </p:to>
                                    </p:set>
                                    <p:animEffect transition="in" filter="wipe(left)">
                                      <p:cBhvr>
                                        <p:cTn id="68" dur="500"/>
                                        <p:tgtEl>
                                          <p:spTgt spid="1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5" presetClass="entr" presetSubtype="10" fill="hold" nodeType="clickEffect">
                                  <p:stCondLst>
                                    <p:cond delay="0"/>
                                  </p:stCondLst>
                                  <p:childTnLst>
                                    <p:set>
                                      <p:cBhvr>
                                        <p:cTn id="72" dur="1" fill="hold">
                                          <p:stCondLst>
                                            <p:cond delay="0"/>
                                          </p:stCondLst>
                                        </p:cTn>
                                        <p:tgtEl>
                                          <p:spTgt spid="11460"/>
                                        </p:tgtEl>
                                        <p:attrNameLst>
                                          <p:attrName>style.visibility</p:attrName>
                                        </p:attrNameLst>
                                      </p:cBhvr>
                                      <p:to>
                                        <p:strVal val="visible"/>
                                      </p:to>
                                    </p:set>
                                    <p:animEffect transition="in" filter="checkerboard(across)">
                                      <p:cBhvr>
                                        <p:cTn id="73" dur="500"/>
                                        <p:tgtEl>
                                          <p:spTgt spid="11460"/>
                                        </p:tgtEl>
                                      </p:cBhvr>
                                    </p:animEffect>
                                  </p:childTnLst>
                                </p:cTn>
                              </p:par>
                            </p:childTnLst>
                          </p:cTn>
                        </p:par>
                      </p:childTnLst>
                    </p:cTn>
                  </p:par>
                  <p:par>
                    <p:cTn id="74" fill="hold" nodeType="clickPar">
                      <p:stCondLst>
                        <p:cond delay="indefinite"/>
                      </p:stCondLst>
                      <p:childTnLst>
                        <p:par>
                          <p:cTn id="75" fill="hold" nodeType="withGroup">
                            <p:stCondLst>
                              <p:cond delay="0"/>
                            </p:stCondLst>
                            <p:childTnLst>
                              <p:par>
                                <p:cTn id="76" presetID="3" presetClass="entr" presetSubtype="10" fill="hold" grpId="0" nodeType="clickEffect">
                                  <p:stCondLst>
                                    <p:cond delay="0"/>
                                  </p:stCondLst>
                                  <p:childTnLst>
                                    <p:set>
                                      <p:cBhvr>
                                        <p:cTn id="77" dur="1" fill="hold">
                                          <p:stCondLst>
                                            <p:cond delay="0"/>
                                          </p:stCondLst>
                                        </p:cTn>
                                        <p:tgtEl>
                                          <p:spTgt spid="11461"/>
                                        </p:tgtEl>
                                        <p:attrNameLst>
                                          <p:attrName>style.visibility</p:attrName>
                                        </p:attrNameLst>
                                      </p:cBhvr>
                                      <p:to>
                                        <p:strVal val="visible"/>
                                      </p:to>
                                    </p:set>
                                    <p:animEffect transition="in" filter="blinds(horizontal)">
                                      <p:cBhvr>
                                        <p:cTn id="78" dur="500"/>
                                        <p:tgtEl>
                                          <p:spTgt spid="11461"/>
                                        </p:tgtEl>
                                      </p:cBhvr>
                                    </p:animEffect>
                                  </p:childTnLst>
                                </p:cTn>
                              </p:par>
                              <p:par>
                                <p:cTn id="79" presetID="3" presetClass="entr" presetSubtype="10" fill="hold" nodeType="withEffect">
                                  <p:stCondLst>
                                    <p:cond delay="0"/>
                                  </p:stCondLst>
                                  <p:childTnLst>
                                    <p:set>
                                      <p:cBhvr>
                                        <p:cTn id="80" dur="1" fill="hold">
                                          <p:stCondLst>
                                            <p:cond delay="0"/>
                                          </p:stCondLst>
                                        </p:cTn>
                                        <p:tgtEl>
                                          <p:spTgt spid="218159"/>
                                        </p:tgtEl>
                                        <p:attrNameLst>
                                          <p:attrName>style.visibility</p:attrName>
                                        </p:attrNameLst>
                                      </p:cBhvr>
                                      <p:to>
                                        <p:strVal val="visible"/>
                                      </p:to>
                                    </p:set>
                                    <p:animEffect transition="in" filter="blinds(horizontal)">
                                      <p:cBhvr>
                                        <p:cTn id="81" dur="500"/>
                                        <p:tgtEl>
                                          <p:spTgt spid="21815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442" grpId="0"/>
      <p:bldP spid="11458" grpId="0" animBg="1"/>
      <p:bldP spid="11461" grpId="0" animBg="1"/>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87" name="Rectangle 75"/>
          <p:cNvSpPr>
            <a:spLocks noChangeArrowheads="1"/>
          </p:cNvSpPr>
          <p:nvPr/>
        </p:nvSpPr>
        <p:spPr bwMode="auto">
          <a:xfrm>
            <a:off x="539750" y="1203325"/>
            <a:ext cx="8135938" cy="647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0000"/>
              </a:lnSpc>
            </a:pPr>
            <a:r>
              <a:rPr lang="en-US" altLang="zh-CN" sz="1800" b="1">
                <a:ea typeface="华文中宋" pitchFamily="2" charset="-122"/>
              </a:rPr>
              <a:t>        </a:t>
            </a:r>
            <a:r>
              <a:rPr lang="zh-CN" altLang="en-US" sz="1600" b="1">
                <a:ea typeface="华文中宋" pitchFamily="2" charset="-122"/>
              </a:rPr>
              <a:t>在平衡态下，同种气体分子质量为</a:t>
            </a:r>
            <a:r>
              <a:rPr lang="en-US" altLang="zh-CN" sz="1600" b="1" i="1">
                <a:ea typeface="华文中宋" pitchFamily="2" charset="-122"/>
              </a:rPr>
              <a:t>m</a:t>
            </a:r>
            <a:r>
              <a:rPr lang="zh-CN" altLang="en-US" sz="1600" b="1">
                <a:ea typeface="华文中宋" pitchFamily="2" charset="-122"/>
              </a:rPr>
              <a:t>，分子总数</a:t>
            </a:r>
            <a:r>
              <a:rPr lang="en-US" altLang="zh-CN" sz="1600" b="1" i="1">
                <a:ea typeface="华文中宋" pitchFamily="2" charset="-122"/>
              </a:rPr>
              <a:t>N </a:t>
            </a:r>
            <a:r>
              <a:rPr lang="zh-CN" altLang="en-US" sz="1600" b="1">
                <a:ea typeface="华文中宋" pitchFamily="2" charset="-122"/>
              </a:rPr>
              <a:t>，体积</a:t>
            </a:r>
            <a:r>
              <a:rPr lang="en-US" altLang="zh-CN" sz="1600" b="1" i="1">
                <a:ea typeface="华文中宋" pitchFamily="2" charset="-122"/>
              </a:rPr>
              <a:t>V</a:t>
            </a:r>
            <a:r>
              <a:rPr lang="zh-CN" altLang="en-US" sz="1600" b="1">
                <a:ea typeface="华文中宋" pitchFamily="2" charset="-122"/>
              </a:rPr>
              <a:t>，如图中长方体容器中的理想气体，平衡态下器壁各处压强相同，选</a:t>
            </a:r>
            <a:r>
              <a:rPr lang="en-US" altLang="zh-CN" sz="1600" b="1" i="1">
                <a:ea typeface="华文中宋" pitchFamily="2" charset="-122"/>
              </a:rPr>
              <a:t>A</a:t>
            </a:r>
            <a:r>
              <a:rPr lang="en-US" altLang="zh-CN" sz="1600" b="1" baseline="-25000">
                <a:ea typeface="华文中宋" pitchFamily="2" charset="-122"/>
              </a:rPr>
              <a:t>1</a:t>
            </a:r>
            <a:r>
              <a:rPr lang="zh-CN" altLang="en-US" sz="1600" b="1">
                <a:ea typeface="华文中宋" pitchFamily="2" charset="-122"/>
              </a:rPr>
              <a:t>面求其所受压强：</a:t>
            </a:r>
          </a:p>
        </p:txBody>
      </p:sp>
      <p:grpSp>
        <p:nvGrpSpPr>
          <p:cNvPr id="3" name="Group 175"/>
          <p:cNvGrpSpPr>
            <a:grpSpLocks/>
          </p:cNvGrpSpPr>
          <p:nvPr/>
        </p:nvGrpSpPr>
        <p:grpSpPr bwMode="auto">
          <a:xfrm>
            <a:off x="6138863" y="1811338"/>
            <a:ext cx="2825750" cy="2055812"/>
            <a:chOff x="1684" y="2132"/>
            <a:chExt cx="1780" cy="1728"/>
          </a:xfrm>
        </p:grpSpPr>
        <p:grpSp>
          <p:nvGrpSpPr>
            <p:cNvPr id="23569" name="Group 171"/>
            <p:cNvGrpSpPr>
              <a:grpSpLocks/>
            </p:cNvGrpSpPr>
            <p:nvPr/>
          </p:nvGrpSpPr>
          <p:grpSpPr bwMode="auto">
            <a:xfrm>
              <a:off x="1684" y="2132"/>
              <a:ext cx="1780" cy="1728"/>
              <a:chOff x="1684" y="2132"/>
              <a:chExt cx="1780" cy="1728"/>
            </a:xfrm>
          </p:grpSpPr>
          <p:sp>
            <p:nvSpPr>
              <p:cNvPr id="23572" name="AutoShape 96"/>
              <p:cNvSpPr>
                <a:spLocks noChangeArrowheads="1"/>
              </p:cNvSpPr>
              <p:nvPr/>
            </p:nvSpPr>
            <p:spPr bwMode="auto">
              <a:xfrm>
                <a:off x="1831" y="2387"/>
                <a:ext cx="1296" cy="1190"/>
              </a:xfrm>
              <a:prstGeom prst="cube">
                <a:avLst>
                  <a:gd name="adj" fmla="val 29917"/>
                </a:avLst>
              </a:prstGeom>
              <a:noFill/>
              <a:ln w="9525">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kumimoji="0" lang="zh-CN" altLang="zh-CN" sz="1800" b="1">
                  <a:ea typeface="宋体" pitchFamily="2" charset="-122"/>
                </a:endParaRPr>
              </a:p>
            </p:txBody>
          </p:sp>
          <p:sp>
            <p:nvSpPr>
              <p:cNvPr id="23573" name="Line 97"/>
              <p:cNvSpPr>
                <a:spLocks noChangeShapeType="1"/>
              </p:cNvSpPr>
              <p:nvPr/>
            </p:nvSpPr>
            <p:spPr bwMode="auto">
              <a:xfrm>
                <a:off x="2200" y="3209"/>
                <a:ext cx="935"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3574" name="Line 98"/>
              <p:cNvSpPr>
                <a:spLocks noChangeShapeType="1"/>
              </p:cNvSpPr>
              <p:nvPr/>
            </p:nvSpPr>
            <p:spPr bwMode="auto">
              <a:xfrm flipV="1">
                <a:off x="2199" y="2387"/>
                <a:ext cx="0" cy="822"/>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3575" name="Line 99"/>
              <p:cNvSpPr>
                <a:spLocks noChangeShapeType="1"/>
              </p:cNvSpPr>
              <p:nvPr/>
            </p:nvSpPr>
            <p:spPr bwMode="auto">
              <a:xfrm flipH="1">
                <a:off x="1831" y="3209"/>
                <a:ext cx="368" cy="368"/>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3576" name="Line 100"/>
              <p:cNvSpPr>
                <a:spLocks noChangeShapeType="1"/>
              </p:cNvSpPr>
              <p:nvPr/>
            </p:nvSpPr>
            <p:spPr bwMode="auto">
              <a:xfrm>
                <a:off x="3135" y="3209"/>
                <a:ext cx="255" cy="0"/>
              </a:xfrm>
              <a:prstGeom prst="line">
                <a:avLst/>
              </a:prstGeom>
              <a:noFill/>
              <a:ln w="9525">
                <a:solidFill>
                  <a:srgbClr val="00B0F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3577" name="Line 101"/>
              <p:cNvSpPr>
                <a:spLocks noChangeShapeType="1"/>
              </p:cNvSpPr>
              <p:nvPr/>
            </p:nvSpPr>
            <p:spPr bwMode="auto">
              <a:xfrm flipH="1">
                <a:off x="1689" y="3577"/>
                <a:ext cx="142" cy="142"/>
              </a:xfrm>
              <a:prstGeom prst="line">
                <a:avLst/>
              </a:prstGeom>
              <a:noFill/>
              <a:ln w="9525">
                <a:solidFill>
                  <a:srgbClr val="00B0F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3578" name="Line 102"/>
              <p:cNvSpPr>
                <a:spLocks noChangeShapeType="1"/>
              </p:cNvSpPr>
              <p:nvPr/>
            </p:nvSpPr>
            <p:spPr bwMode="auto">
              <a:xfrm flipV="1">
                <a:off x="2199" y="2132"/>
                <a:ext cx="0" cy="255"/>
              </a:xfrm>
              <a:prstGeom prst="line">
                <a:avLst/>
              </a:prstGeom>
              <a:noFill/>
              <a:ln w="9525">
                <a:solidFill>
                  <a:srgbClr val="00B0F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3579" name="Line 103"/>
              <p:cNvSpPr>
                <a:spLocks noChangeShapeType="1"/>
              </p:cNvSpPr>
              <p:nvPr/>
            </p:nvSpPr>
            <p:spPr bwMode="auto">
              <a:xfrm>
                <a:off x="2766" y="3577"/>
                <a:ext cx="312"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3580" name="Line 104"/>
              <p:cNvSpPr>
                <a:spLocks noChangeShapeType="1"/>
              </p:cNvSpPr>
              <p:nvPr/>
            </p:nvSpPr>
            <p:spPr bwMode="auto">
              <a:xfrm>
                <a:off x="3112" y="2273"/>
                <a:ext cx="0" cy="113"/>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3581" name="Line 105"/>
              <p:cNvSpPr>
                <a:spLocks noChangeShapeType="1"/>
              </p:cNvSpPr>
              <p:nvPr/>
            </p:nvSpPr>
            <p:spPr bwMode="auto">
              <a:xfrm>
                <a:off x="3135" y="2387"/>
                <a:ext cx="170" cy="0"/>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3582" name="Line 106"/>
              <p:cNvSpPr>
                <a:spLocks noChangeShapeType="1"/>
              </p:cNvSpPr>
              <p:nvPr/>
            </p:nvSpPr>
            <p:spPr bwMode="auto">
              <a:xfrm flipH="1">
                <a:off x="2936" y="3209"/>
                <a:ext cx="368" cy="368"/>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3583" name="Line 107"/>
              <p:cNvSpPr>
                <a:spLocks noChangeShapeType="1"/>
              </p:cNvSpPr>
              <p:nvPr/>
            </p:nvSpPr>
            <p:spPr bwMode="auto">
              <a:xfrm>
                <a:off x="3299" y="2387"/>
                <a:ext cx="0" cy="822"/>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3584" name="Line 108"/>
              <p:cNvSpPr>
                <a:spLocks noChangeShapeType="1"/>
              </p:cNvSpPr>
              <p:nvPr/>
            </p:nvSpPr>
            <p:spPr bwMode="auto">
              <a:xfrm flipH="1">
                <a:off x="2199" y="2273"/>
                <a:ext cx="936"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3585" name="Line 109"/>
              <p:cNvSpPr>
                <a:spLocks noChangeShapeType="1"/>
              </p:cNvSpPr>
              <p:nvPr/>
            </p:nvSpPr>
            <p:spPr bwMode="auto">
              <a:xfrm>
                <a:off x="2369" y="3294"/>
                <a:ext cx="369"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3586" name="Line 110"/>
              <p:cNvSpPr>
                <a:spLocks noChangeShapeType="1"/>
              </p:cNvSpPr>
              <p:nvPr/>
            </p:nvSpPr>
            <p:spPr bwMode="auto">
              <a:xfrm flipH="1">
                <a:off x="2228" y="3294"/>
                <a:ext cx="141" cy="142"/>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3587" name="Line 111"/>
              <p:cNvSpPr>
                <a:spLocks noChangeShapeType="1"/>
              </p:cNvSpPr>
              <p:nvPr/>
            </p:nvSpPr>
            <p:spPr bwMode="auto">
              <a:xfrm flipV="1">
                <a:off x="2369" y="3011"/>
                <a:ext cx="0" cy="283"/>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3588" name="Line 112"/>
              <p:cNvSpPr>
                <a:spLocks noChangeShapeType="1"/>
              </p:cNvSpPr>
              <p:nvPr/>
            </p:nvSpPr>
            <p:spPr bwMode="auto">
              <a:xfrm flipV="1">
                <a:off x="2369" y="3068"/>
                <a:ext cx="227" cy="226"/>
              </a:xfrm>
              <a:prstGeom prst="line">
                <a:avLst/>
              </a:prstGeom>
              <a:noFill/>
              <a:ln w="28575">
                <a:solidFill>
                  <a:srgbClr val="FF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3589" name="Line 113"/>
              <p:cNvSpPr>
                <a:spLocks noChangeShapeType="1"/>
              </p:cNvSpPr>
              <p:nvPr/>
            </p:nvSpPr>
            <p:spPr bwMode="auto">
              <a:xfrm flipH="1">
                <a:off x="2597" y="3294"/>
                <a:ext cx="141" cy="142"/>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3590" name="Line 114"/>
              <p:cNvSpPr>
                <a:spLocks noChangeShapeType="1"/>
              </p:cNvSpPr>
              <p:nvPr/>
            </p:nvSpPr>
            <p:spPr bwMode="auto">
              <a:xfrm>
                <a:off x="2256" y="3436"/>
                <a:ext cx="340" cy="0"/>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3591" name="Line 115"/>
              <p:cNvSpPr>
                <a:spLocks noChangeShapeType="1"/>
              </p:cNvSpPr>
              <p:nvPr/>
            </p:nvSpPr>
            <p:spPr bwMode="auto">
              <a:xfrm flipV="1">
                <a:off x="2596" y="3068"/>
                <a:ext cx="0" cy="368"/>
              </a:xfrm>
              <a:prstGeom prst="line">
                <a:avLst/>
              </a:prstGeom>
              <a:noFill/>
              <a:ln w="9525">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3592" name="Text Box 116"/>
              <p:cNvSpPr txBox="1">
                <a:spLocks noChangeArrowheads="1"/>
              </p:cNvSpPr>
              <p:nvPr/>
            </p:nvSpPr>
            <p:spPr bwMode="auto">
              <a:xfrm>
                <a:off x="2036" y="3299"/>
                <a:ext cx="240" cy="2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sym typeface="Symbol" pitchFamily="18" charset="2"/>
                  </a:rPr>
                  <a:t></a:t>
                </a:r>
                <a:r>
                  <a:rPr kumimoji="0" lang="en-US" altLang="zh-CN" sz="1500" b="1" i="1" baseline="-25000">
                    <a:ea typeface="宋体" pitchFamily="2" charset="-122"/>
                    <a:sym typeface="Symbol" pitchFamily="18" charset="2"/>
                  </a:rPr>
                  <a:t>iz</a:t>
                </a:r>
                <a:endParaRPr kumimoji="0" lang="en-US" altLang="zh-CN" sz="1500" b="1" i="1">
                  <a:ea typeface="宋体" pitchFamily="2" charset="-122"/>
                  <a:sym typeface="Symbol" pitchFamily="18" charset="2"/>
                </a:endParaRPr>
              </a:p>
            </p:txBody>
          </p:sp>
          <p:sp>
            <p:nvSpPr>
              <p:cNvPr id="23593" name="Text Box 117"/>
              <p:cNvSpPr txBox="1">
                <a:spLocks noChangeArrowheads="1"/>
              </p:cNvSpPr>
              <p:nvPr/>
            </p:nvSpPr>
            <p:spPr bwMode="auto">
              <a:xfrm>
                <a:off x="1684" y="3588"/>
                <a:ext cx="227" cy="2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z</a:t>
                </a:r>
              </a:p>
            </p:txBody>
          </p:sp>
          <p:sp>
            <p:nvSpPr>
              <p:cNvPr id="23594" name="Text Box 118"/>
              <p:cNvSpPr txBox="1">
                <a:spLocks noChangeArrowheads="1"/>
              </p:cNvSpPr>
              <p:nvPr/>
            </p:nvSpPr>
            <p:spPr bwMode="auto">
              <a:xfrm>
                <a:off x="3287" y="3168"/>
                <a:ext cx="177" cy="2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x</a:t>
                </a:r>
              </a:p>
            </p:txBody>
          </p:sp>
          <p:sp>
            <p:nvSpPr>
              <p:cNvPr id="23595" name="Text Box 119"/>
              <p:cNvSpPr txBox="1">
                <a:spLocks noChangeArrowheads="1"/>
              </p:cNvSpPr>
              <p:nvPr/>
            </p:nvSpPr>
            <p:spPr bwMode="auto">
              <a:xfrm>
                <a:off x="2035" y="2179"/>
                <a:ext cx="170" cy="2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y</a:t>
                </a:r>
              </a:p>
            </p:txBody>
          </p:sp>
          <p:sp>
            <p:nvSpPr>
              <p:cNvPr id="23596" name="Text Box 120"/>
              <p:cNvSpPr txBox="1">
                <a:spLocks noChangeArrowheads="1"/>
              </p:cNvSpPr>
              <p:nvPr/>
            </p:nvSpPr>
            <p:spPr bwMode="auto">
              <a:xfrm>
                <a:off x="2032" y="3016"/>
                <a:ext cx="18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i="1">
                    <a:ea typeface="宋体" pitchFamily="2" charset="-122"/>
                  </a:rPr>
                  <a:t>0</a:t>
                </a:r>
              </a:p>
            </p:txBody>
          </p:sp>
          <p:sp>
            <p:nvSpPr>
              <p:cNvPr id="23597" name="Text Box 121"/>
              <p:cNvSpPr txBox="1">
                <a:spLocks noChangeArrowheads="1"/>
              </p:cNvSpPr>
              <p:nvPr/>
            </p:nvSpPr>
            <p:spPr bwMode="auto">
              <a:xfrm>
                <a:off x="2710" y="3129"/>
                <a:ext cx="27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i="1">
                    <a:ea typeface="宋体" pitchFamily="2" charset="-122"/>
                    <a:sym typeface="Symbol" pitchFamily="18" charset="2"/>
                  </a:rPr>
                  <a:t></a:t>
                </a:r>
                <a:r>
                  <a:rPr kumimoji="0" lang="en-US" altLang="zh-CN" sz="1800" b="1" i="1" baseline="-25000">
                    <a:ea typeface="宋体" pitchFamily="2" charset="-122"/>
                    <a:sym typeface="Symbol" pitchFamily="18" charset="2"/>
                  </a:rPr>
                  <a:t>ix</a:t>
                </a:r>
                <a:endParaRPr kumimoji="0" lang="en-US" altLang="zh-CN" sz="1800" b="1" i="1">
                  <a:ea typeface="宋体" pitchFamily="2" charset="-122"/>
                  <a:sym typeface="Symbol" pitchFamily="18" charset="2"/>
                </a:endParaRPr>
              </a:p>
            </p:txBody>
          </p:sp>
          <p:sp>
            <p:nvSpPr>
              <p:cNvPr id="23598" name="Text Box 122"/>
              <p:cNvSpPr txBox="1">
                <a:spLocks noChangeArrowheads="1"/>
              </p:cNvSpPr>
              <p:nvPr/>
            </p:nvSpPr>
            <p:spPr bwMode="auto">
              <a:xfrm>
                <a:off x="2228" y="2784"/>
                <a:ext cx="245" cy="2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sym typeface="Symbol" pitchFamily="18" charset="2"/>
                  </a:rPr>
                  <a:t></a:t>
                </a:r>
                <a:r>
                  <a:rPr kumimoji="0" lang="en-US" altLang="zh-CN" sz="1500" b="1" i="1" baseline="-25000">
                    <a:ea typeface="宋体" pitchFamily="2" charset="-122"/>
                    <a:sym typeface="Symbol" pitchFamily="18" charset="2"/>
                  </a:rPr>
                  <a:t>iy</a:t>
                </a:r>
                <a:endParaRPr kumimoji="0" lang="en-US" altLang="zh-CN" sz="1500" b="1" i="1">
                  <a:ea typeface="宋体" pitchFamily="2" charset="-122"/>
                  <a:sym typeface="Symbol" pitchFamily="18" charset="2"/>
                </a:endParaRPr>
              </a:p>
            </p:txBody>
          </p:sp>
          <p:sp>
            <p:nvSpPr>
              <p:cNvPr id="23599" name="Text Box 123"/>
              <p:cNvSpPr txBox="1">
                <a:spLocks noChangeArrowheads="1"/>
              </p:cNvSpPr>
              <p:nvPr/>
            </p:nvSpPr>
            <p:spPr bwMode="auto">
              <a:xfrm>
                <a:off x="2880" y="2557"/>
                <a:ext cx="270"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solidFill>
                      <a:srgbClr val="0000FF"/>
                    </a:solidFill>
                    <a:ea typeface="宋体" pitchFamily="2" charset="-122"/>
                  </a:rPr>
                  <a:t>A</a:t>
                </a:r>
                <a:r>
                  <a:rPr kumimoji="0" lang="en-US" altLang="zh-CN" sz="1800" b="1" baseline="-25000">
                    <a:solidFill>
                      <a:srgbClr val="0000FF"/>
                    </a:solidFill>
                    <a:ea typeface="宋体" pitchFamily="2" charset="-122"/>
                  </a:rPr>
                  <a:t>1</a:t>
                </a:r>
                <a:endParaRPr kumimoji="0" lang="en-US" altLang="zh-CN" sz="1800" b="1">
                  <a:solidFill>
                    <a:srgbClr val="0000FF"/>
                  </a:solidFill>
                  <a:ea typeface="宋体" pitchFamily="2" charset="-122"/>
                </a:endParaRPr>
              </a:p>
            </p:txBody>
          </p:sp>
          <p:sp>
            <p:nvSpPr>
              <p:cNvPr id="23600" name="Text Box 124"/>
              <p:cNvSpPr txBox="1">
                <a:spLocks noChangeArrowheads="1"/>
              </p:cNvSpPr>
              <p:nvPr/>
            </p:nvSpPr>
            <p:spPr bwMode="auto">
              <a:xfrm>
                <a:off x="1944" y="2500"/>
                <a:ext cx="270"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solidFill>
                      <a:srgbClr val="0000FF"/>
                    </a:solidFill>
                    <a:ea typeface="宋体" pitchFamily="2" charset="-122"/>
                  </a:rPr>
                  <a:t>A</a:t>
                </a:r>
                <a:r>
                  <a:rPr kumimoji="0" lang="en-US" altLang="zh-CN" sz="1800" b="1" baseline="-25000">
                    <a:solidFill>
                      <a:srgbClr val="0000FF"/>
                    </a:solidFill>
                    <a:ea typeface="宋体" pitchFamily="2" charset="-122"/>
                  </a:rPr>
                  <a:t>2</a:t>
                </a:r>
                <a:endParaRPr kumimoji="0" lang="en-US" altLang="zh-CN" sz="1800" b="1">
                  <a:solidFill>
                    <a:srgbClr val="0000FF"/>
                  </a:solidFill>
                  <a:ea typeface="宋体" pitchFamily="2" charset="-122"/>
                </a:endParaRPr>
              </a:p>
            </p:txBody>
          </p:sp>
          <p:sp>
            <p:nvSpPr>
              <p:cNvPr id="23601" name="Text Box 125"/>
              <p:cNvSpPr txBox="1">
                <a:spLocks noChangeArrowheads="1"/>
              </p:cNvSpPr>
              <p:nvPr/>
            </p:nvSpPr>
            <p:spPr bwMode="auto">
              <a:xfrm>
                <a:off x="3056" y="3308"/>
                <a:ext cx="190" cy="272"/>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l</a:t>
                </a:r>
                <a:r>
                  <a:rPr kumimoji="0" lang="en-US" altLang="zh-CN" sz="1500" b="1" i="1" baseline="-25000">
                    <a:ea typeface="宋体" pitchFamily="2" charset="-122"/>
                  </a:rPr>
                  <a:t>3</a:t>
                </a:r>
                <a:endParaRPr kumimoji="0" lang="en-US" altLang="zh-CN" sz="1500" b="1" i="1">
                  <a:ea typeface="宋体" pitchFamily="2" charset="-122"/>
                </a:endParaRPr>
              </a:p>
            </p:txBody>
          </p:sp>
          <p:sp>
            <p:nvSpPr>
              <p:cNvPr id="23602" name="Text Box 126"/>
              <p:cNvSpPr txBox="1">
                <a:spLocks noChangeArrowheads="1"/>
              </p:cNvSpPr>
              <p:nvPr/>
            </p:nvSpPr>
            <p:spPr bwMode="auto">
              <a:xfrm>
                <a:off x="3196" y="2680"/>
                <a:ext cx="190" cy="272"/>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l</a:t>
                </a:r>
                <a:r>
                  <a:rPr kumimoji="0" lang="en-US" altLang="zh-CN" sz="1500" b="1" i="1" baseline="-25000">
                    <a:ea typeface="宋体" pitchFamily="2" charset="-122"/>
                  </a:rPr>
                  <a:t>2</a:t>
                </a:r>
                <a:endParaRPr kumimoji="0" lang="en-US" altLang="zh-CN" sz="1500" b="1" i="1">
                  <a:ea typeface="宋体" pitchFamily="2" charset="-122"/>
                </a:endParaRPr>
              </a:p>
            </p:txBody>
          </p:sp>
          <p:sp>
            <p:nvSpPr>
              <p:cNvPr id="23603" name="Text Box 127"/>
              <p:cNvSpPr txBox="1">
                <a:spLocks noChangeArrowheads="1"/>
              </p:cNvSpPr>
              <p:nvPr/>
            </p:nvSpPr>
            <p:spPr bwMode="auto">
              <a:xfrm>
                <a:off x="2524" y="2132"/>
                <a:ext cx="190" cy="272"/>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l</a:t>
                </a:r>
                <a:r>
                  <a:rPr kumimoji="0" lang="en-US" altLang="zh-CN" sz="1500" b="1" baseline="-25000">
                    <a:ea typeface="宋体" pitchFamily="2" charset="-122"/>
                  </a:rPr>
                  <a:t>1</a:t>
                </a:r>
                <a:endParaRPr kumimoji="0" lang="en-US" altLang="zh-CN" sz="1500" b="1">
                  <a:ea typeface="宋体" pitchFamily="2" charset="-122"/>
                </a:endParaRPr>
              </a:p>
            </p:txBody>
          </p:sp>
          <p:graphicFrame>
            <p:nvGraphicFramePr>
              <p:cNvPr id="23604" name="Object 128"/>
              <p:cNvGraphicFramePr>
                <a:graphicFrameLocks noChangeAspect="1"/>
              </p:cNvGraphicFramePr>
              <p:nvPr/>
            </p:nvGraphicFramePr>
            <p:xfrm>
              <a:off x="2562" y="2897"/>
              <a:ext cx="164" cy="227"/>
            </p:xfrm>
            <a:graphic>
              <a:graphicData uri="http://schemas.openxmlformats.org/presentationml/2006/ole">
                <p:oleObj spid="_x0000_s23621" name="Equation" r:id="rId3" imgW="165028" imgH="228501" progId="Equation.3">
                  <p:embed/>
                </p:oleObj>
              </a:graphicData>
            </a:graphic>
          </p:graphicFrame>
          <p:sp>
            <p:nvSpPr>
              <p:cNvPr id="23605" name="Oval 170"/>
              <p:cNvSpPr>
                <a:spLocks noChangeArrowheads="1"/>
              </p:cNvSpPr>
              <p:nvPr/>
            </p:nvSpPr>
            <p:spPr bwMode="auto">
              <a:xfrm>
                <a:off x="2341" y="3266"/>
                <a:ext cx="57" cy="57"/>
              </a:xfrm>
              <a:prstGeom prst="ellipse">
                <a:avLst/>
              </a:prstGeom>
              <a:solidFill>
                <a:srgbClr val="00B050"/>
              </a:solidFill>
              <a:ln w="9525">
                <a:solidFill>
                  <a:srgbClr val="FF00FF"/>
                </a:solidFill>
                <a:round/>
                <a:headEnd/>
                <a:tailEnd/>
              </a:ln>
            </p:spPr>
            <p:txBody>
              <a:bodyPr wrap="none" anchor="ctr"/>
              <a:lstStyle/>
              <a:p>
                <a:endParaRPr kumimoji="0" lang="zh-CN" altLang="zh-CN" sz="1800" b="1">
                  <a:ea typeface="宋体" pitchFamily="2" charset="-122"/>
                </a:endParaRPr>
              </a:p>
            </p:txBody>
          </p:sp>
        </p:grpSp>
        <p:sp>
          <p:nvSpPr>
            <p:cNvPr id="23570" name="Freeform 173"/>
            <p:cNvSpPr>
              <a:spLocks/>
            </p:cNvSpPr>
            <p:nvPr/>
          </p:nvSpPr>
          <p:spPr bwMode="auto">
            <a:xfrm>
              <a:off x="2767" y="2387"/>
              <a:ext cx="368" cy="1190"/>
            </a:xfrm>
            <a:custGeom>
              <a:avLst/>
              <a:gdLst>
                <a:gd name="T0" fmla="*/ 0 w 368"/>
                <a:gd name="T1" fmla="*/ 368 h 1190"/>
                <a:gd name="T2" fmla="*/ 368 w 368"/>
                <a:gd name="T3" fmla="*/ 0 h 1190"/>
                <a:gd name="T4" fmla="*/ 368 w 368"/>
                <a:gd name="T5" fmla="*/ 822 h 1190"/>
                <a:gd name="T6" fmla="*/ 0 w 368"/>
                <a:gd name="T7" fmla="*/ 1190 h 1190"/>
                <a:gd name="T8" fmla="*/ 0 w 368"/>
                <a:gd name="T9" fmla="*/ 368 h 1190"/>
                <a:gd name="T10" fmla="*/ 0 60000 65536"/>
                <a:gd name="T11" fmla="*/ 0 60000 65536"/>
                <a:gd name="T12" fmla="*/ 0 60000 65536"/>
                <a:gd name="T13" fmla="*/ 0 60000 65536"/>
                <a:gd name="T14" fmla="*/ 0 60000 65536"/>
                <a:gd name="T15" fmla="*/ 0 w 368"/>
                <a:gd name="T16" fmla="*/ 0 h 1190"/>
                <a:gd name="T17" fmla="*/ 368 w 368"/>
                <a:gd name="T18" fmla="*/ 1190 h 1190"/>
              </a:gdLst>
              <a:ahLst/>
              <a:cxnLst>
                <a:cxn ang="T10">
                  <a:pos x="T0" y="T1"/>
                </a:cxn>
                <a:cxn ang="T11">
                  <a:pos x="T2" y="T3"/>
                </a:cxn>
                <a:cxn ang="T12">
                  <a:pos x="T4" y="T5"/>
                </a:cxn>
                <a:cxn ang="T13">
                  <a:pos x="T6" y="T7"/>
                </a:cxn>
                <a:cxn ang="T14">
                  <a:pos x="T8" y="T9"/>
                </a:cxn>
              </a:cxnLst>
              <a:rect l="T15" t="T16" r="T17" b="T18"/>
              <a:pathLst>
                <a:path w="368" h="1190">
                  <a:moveTo>
                    <a:pt x="0" y="368"/>
                  </a:moveTo>
                  <a:lnTo>
                    <a:pt x="368" y="0"/>
                  </a:lnTo>
                  <a:lnTo>
                    <a:pt x="368" y="822"/>
                  </a:lnTo>
                  <a:lnTo>
                    <a:pt x="0" y="1190"/>
                  </a:lnTo>
                  <a:lnTo>
                    <a:pt x="0" y="368"/>
                  </a:lnTo>
                  <a:close/>
                </a:path>
              </a:pathLst>
            </a:custGeom>
            <a:solidFill>
              <a:srgbClr val="00B0F0">
                <a:alpha val="3098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sp>
          <p:nvSpPr>
            <p:cNvPr id="23571" name="Freeform 174"/>
            <p:cNvSpPr>
              <a:spLocks/>
            </p:cNvSpPr>
            <p:nvPr/>
          </p:nvSpPr>
          <p:spPr bwMode="auto">
            <a:xfrm>
              <a:off x="1832" y="2387"/>
              <a:ext cx="368" cy="1190"/>
            </a:xfrm>
            <a:custGeom>
              <a:avLst/>
              <a:gdLst>
                <a:gd name="T0" fmla="*/ 0 w 368"/>
                <a:gd name="T1" fmla="*/ 368 h 1190"/>
                <a:gd name="T2" fmla="*/ 368 w 368"/>
                <a:gd name="T3" fmla="*/ 0 h 1190"/>
                <a:gd name="T4" fmla="*/ 368 w 368"/>
                <a:gd name="T5" fmla="*/ 822 h 1190"/>
                <a:gd name="T6" fmla="*/ 0 w 368"/>
                <a:gd name="T7" fmla="*/ 1190 h 1190"/>
                <a:gd name="T8" fmla="*/ 0 w 368"/>
                <a:gd name="T9" fmla="*/ 368 h 1190"/>
                <a:gd name="T10" fmla="*/ 0 60000 65536"/>
                <a:gd name="T11" fmla="*/ 0 60000 65536"/>
                <a:gd name="T12" fmla="*/ 0 60000 65536"/>
                <a:gd name="T13" fmla="*/ 0 60000 65536"/>
                <a:gd name="T14" fmla="*/ 0 60000 65536"/>
                <a:gd name="T15" fmla="*/ 0 w 368"/>
                <a:gd name="T16" fmla="*/ 0 h 1190"/>
                <a:gd name="T17" fmla="*/ 368 w 368"/>
                <a:gd name="T18" fmla="*/ 1190 h 1190"/>
              </a:gdLst>
              <a:ahLst/>
              <a:cxnLst>
                <a:cxn ang="T10">
                  <a:pos x="T0" y="T1"/>
                </a:cxn>
                <a:cxn ang="T11">
                  <a:pos x="T2" y="T3"/>
                </a:cxn>
                <a:cxn ang="T12">
                  <a:pos x="T4" y="T5"/>
                </a:cxn>
                <a:cxn ang="T13">
                  <a:pos x="T6" y="T7"/>
                </a:cxn>
                <a:cxn ang="T14">
                  <a:pos x="T8" y="T9"/>
                </a:cxn>
              </a:cxnLst>
              <a:rect l="T15" t="T16" r="T17" b="T18"/>
              <a:pathLst>
                <a:path w="368" h="1190">
                  <a:moveTo>
                    <a:pt x="0" y="368"/>
                  </a:moveTo>
                  <a:lnTo>
                    <a:pt x="368" y="0"/>
                  </a:lnTo>
                  <a:lnTo>
                    <a:pt x="368" y="822"/>
                  </a:lnTo>
                  <a:lnTo>
                    <a:pt x="0" y="1190"/>
                  </a:lnTo>
                  <a:lnTo>
                    <a:pt x="0" y="368"/>
                  </a:lnTo>
                  <a:close/>
                </a:path>
              </a:pathLst>
            </a:custGeom>
            <a:solidFill>
              <a:srgbClr val="00B0F0">
                <a:alpha val="30980"/>
              </a:srgbClr>
            </a:solidFill>
            <a:ln>
              <a:noFill/>
            </a:ln>
            <a:extLst>
              <a:ext uri="{91240B29-F687-4F45-9708-019B960494DF}">
                <a14:hiddenLine xmlns:a14="http://schemas.microsoft.com/office/drawing/2010/main" xmlns="" w="9525">
                  <a:solidFill>
                    <a:srgbClr val="000000"/>
                  </a:solidFill>
                  <a:round/>
                  <a:headEnd/>
                  <a:tailEnd/>
                </a14:hiddenLine>
              </a:ext>
            </a:extLst>
          </p:spPr>
          <p:txBody>
            <a:bodyPr/>
            <a:lstStyle/>
            <a:p>
              <a:endParaRPr lang="zh-CN" altLang="en-US"/>
            </a:p>
          </p:txBody>
        </p:sp>
      </p:grpSp>
      <p:grpSp>
        <p:nvGrpSpPr>
          <p:cNvPr id="8" name="Group 75"/>
          <p:cNvGrpSpPr>
            <a:grpSpLocks/>
          </p:cNvGrpSpPr>
          <p:nvPr/>
        </p:nvGrpSpPr>
        <p:grpSpPr bwMode="auto">
          <a:xfrm>
            <a:off x="1404938" y="1835150"/>
            <a:ext cx="2879725" cy="592138"/>
            <a:chOff x="793" y="793"/>
            <a:chExt cx="1814" cy="498"/>
          </a:xfrm>
        </p:grpSpPr>
        <p:graphicFrame>
          <p:nvGraphicFramePr>
            <p:cNvPr id="23567" name="Object 79"/>
            <p:cNvGraphicFramePr>
              <a:graphicFrameLocks noChangeAspect="1"/>
            </p:cNvGraphicFramePr>
            <p:nvPr/>
          </p:nvGraphicFramePr>
          <p:xfrm>
            <a:off x="1292" y="1021"/>
            <a:ext cx="681" cy="270"/>
          </p:xfrm>
          <a:graphic>
            <a:graphicData uri="http://schemas.openxmlformats.org/presentationml/2006/ole">
              <p:oleObj spid="_x0000_s23622" name="公式" r:id="rId4" imgW="393359" imgH="177646" progId="Equation.3">
                <p:embed/>
              </p:oleObj>
            </a:graphicData>
          </a:graphic>
        </p:graphicFrame>
        <p:sp>
          <p:nvSpPr>
            <p:cNvPr id="23568" name="Text Box 93"/>
            <p:cNvSpPr txBox="1">
              <a:spLocks noChangeArrowheads="1"/>
            </p:cNvSpPr>
            <p:nvPr/>
          </p:nvSpPr>
          <p:spPr bwMode="auto">
            <a:xfrm>
              <a:off x="793" y="793"/>
              <a:ext cx="1814" cy="492"/>
            </a:xfrm>
            <a:prstGeom prst="rect">
              <a:avLst/>
            </a:prstGeom>
            <a:noFill/>
            <a:ln w="9525">
              <a:solidFill>
                <a:srgbClr val="FF00FF"/>
              </a:solidFill>
              <a:miter lim="800000"/>
              <a:headEnd/>
              <a:tailEnd/>
            </a:ln>
            <a:extLst>
              <a:ext uri="{909E8E84-426E-40DD-AFC4-6F175D3DCCD1}">
                <a14:hiddenFill xmlns:a14="http://schemas.microsoft.com/office/drawing/2010/main" xmlns="">
                  <a:solidFill>
                    <a:srgbClr val="FFFFFF"/>
                  </a:solidFill>
                </a14:hiddenFill>
              </a:ext>
            </a:extLst>
          </p:spPr>
          <p:txBody>
            <a:bodyPr anchor="ct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600" b="1">
                  <a:ea typeface="华文中宋" pitchFamily="2" charset="-122"/>
                </a:rPr>
                <a:t>单个个分子一次碰撞对</a:t>
              </a:r>
              <a:r>
                <a:rPr lang="en-US" altLang="zh-CN" sz="1600" b="1" i="1">
                  <a:ea typeface="华文中宋" pitchFamily="2" charset="-122"/>
                </a:rPr>
                <a:t>A</a:t>
              </a:r>
              <a:r>
                <a:rPr lang="en-US" altLang="zh-CN" sz="1600" b="1" baseline="-25000">
                  <a:ea typeface="华文中宋" pitchFamily="2" charset="-122"/>
                </a:rPr>
                <a:t>1        </a:t>
              </a:r>
              <a:r>
                <a:rPr lang="zh-CN" altLang="en-US" sz="1600" b="1">
                  <a:ea typeface="华文中宋" pitchFamily="2" charset="-122"/>
                </a:rPr>
                <a:t>的冲量   </a:t>
              </a:r>
              <a:endParaRPr lang="zh-CN" altLang="en-US" sz="1600" i="1">
                <a:solidFill>
                  <a:schemeClr val="tx2"/>
                </a:solidFill>
                <a:ea typeface="华文中宋" pitchFamily="2" charset="-122"/>
              </a:endParaRPr>
            </a:p>
          </p:txBody>
        </p:sp>
      </p:grpSp>
      <p:sp>
        <p:nvSpPr>
          <p:cNvPr id="4" name="Text Box 93"/>
          <p:cNvSpPr txBox="1">
            <a:spLocks noChangeArrowheads="1"/>
          </p:cNvSpPr>
          <p:nvPr/>
        </p:nvSpPr>
        <p:spPr bwMode="auto">
          <a:xfrm>
            <a:off x="1116013" y="2838450"/>
            <a:ext cx="3384550" cy="585788"/>
          </a:xfrm>
          <a:prstGeom prst="rect">
            <a:avLst/>
          </a:prstGeom>
          <a:noFill/>
          <a:ln w="9525">
            <a:solidFill>
              <a:srgbClr val="FF00FF"/>
            </a:solidFill>
            <a:miter lim="800000"/>
            <a:headEnd/>
            <a:tailEnd/>
          </a:ln>
          <a:extLst>
            <a:ext uri="{909E8E84-426E-40DD-AFC4-6F175D3DCCD1}">
              <a14:hiddenFill xmlns:a14="http://schemas.microsoft.com/office/drawing/2010/main" xmlns="">
                <a:solidFill>
                  <a:srgbClr val="FFFFFF"/>
                </a:solidFill>
              </a14:hiddenFill>
            </a:ext>
          </a:extLst>
        </p:spPr>
        <p:txBody>
          <a:bodyPr anchor="ct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zh-CN" altLang="en-US" sz="1600" b="1">
                <a:ea typeface="华文中宋" pitchFamily="2" charset="-122"/>
              </a:rPr>
              <a:t>单个个分子单位时间对</a:t>
            </a:r>
            <a:r>
              <a:rPr lang="en-US" altLang="zh-CN" sz="1600" b="1" i="1">
                <a:ea typeface="华文中宋" pitchFamily="2" charset="-122"/>
              </a:rPr>
              <a:t>A</a:t>
            </a:r>
            <a:r>
              <a:rPr lang="en-US" altLang="zh-CN" sz="1600" b="1" baseline="-25000">
                <a:ea typeface="华文中宋" pitchFamily="2" charset="-122"/>
              </a:rPr>
              <a:t>1</a:t>
            </a:r>
            <a:r>
              <a:rPr lang="zh-CN" altLang="en-US" sz="1600" b="1">
                <a:ea typeface="华文中宋" pitchFamily="2" charset="-122"/>
              </a:rPr>
              <a:t>的冲量（平均冲力）</a:t>
            </a:r>
            <a:endParaRPr lang="zh-CN" altLang="en-US" sz="1600" i="1">
              <a:solidFill>
                <a:schemeClr val="tx2"/>
              </a:solidFill>
              <a:ea typeface="华文中宋" pitchFamily="2" charset="-122"/>
            </a:endParaRPr>
          </a:p>
        </p:txBody>
      </p:sp>
      <p:sp>
        <p:nvSpPr>
          <p:cNvPr id="5" name="Text Box 93"/>
          <p:cNvSpPr txBox="1">
            <a:spLocks noChangeArrowheads="1"/>
          </p:cNvSpPr>
          <p:nvPr/>
        </p:nvSpPr>
        <p:spPr bwMode="auto">
          <a:xfrm>
            <a:off x="1403350" y="3971925"/>
            <a:ext cx="2879725" cy="585788"/>
          </a:xfrm>
          <a:prstGeom prst="rect">
            <a:avLst/>
          </a:prstGeom>
          <a:noFill/>
          <a:ln w="9525">
            <a:solidFill>
              <a:srgbClr val="FF00FF"/>
            </a:solidFill>
            <a:miter lim="800000"/>
            <a:headEnd/>
            <a:tailEnd/>
          </a:ln>
          <a:extLst>
            <a:ext uri="{909E8E84-426E-40DD-AFC4-6F175D3DCCD1}">
              <a14:hiddenFill xmlns:a14="http://schemas.microsoft.com/office/drawing/2010/main" xmlns="">
                <a:solidFill>
                  <a:srgbClr val="FFFFFF"/>
                </a:solidFill>
              </a14:hiddenFill>
            </a:ext>
          </a:extLst>
        </p:spPr>
        <p:txBody>
          <a:bodyPr anchor="ct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en-US" altLang="zh-CN" sz="1600" b="1" i="1">
                <a:ea typeface="华文中宋" pitchFamily="2" charset="-122"/>
              </a:rPr>
              <a:t>N</a:t>
            </a:r>
            <a:r>
              <a:rPr lang="zh-CN" altLang="en-US" sz="1600" b="1">
                <a:ea typeface="华文中宋" pitchFamily="2" charset="-122"/>
              </a:rPr>
              <a:t>个个分子单位时间对</a:t>
            </a:r>
            <a:r>
              <a:rPr lang="en-US" altLang="zh-CN" sz="1600" b="1" i="1">
                <a:ea typeface="华文中宋" pitchFamily="2" charset="-122"/>
              </a:rPr>
              <a:t>A</a:t>
            </a:r>
            <a:r>
              <a:rPr lang="en-US" altLang="zh-CN" sz="1600" b="1" baseline="-25000">
                <a:ea typeface="华文中宋" pitchFamily="2" charset="-122"/>
              </a:rPr>
              <a:t>1</a:t>
            </a:r>
            <a:r>
              <a:rPr lang="zh-CN" altLang="en-US" sz="1600" b="1">
                <a:ea typeface="华文中宋" pitchFamily="2" charset="-122"/>
              </a:rPr>
              <a:t>的平均冲力</a:t>
            </a:r>
            <a:endParaRPr lang="zh-CN" altLang="en-US" sz="1600" i="1">
              <a:solidFill>
                <a:schemeClr val="tx2"/>
              </a:solidFill>
              <a:ea typeface="华文中宋" pitchFamily="2" charset="-122"/>
            </a:endParaRPr>
          </a:p>
        </p:txBody>
      </p:sp>
      <p:sp>
        <p:nvSpPr>
          <p:cNvPr id="6" name="Text Box 93"/>
          <p:cNvSpPr txBox="1">
            <a:spLocks noChangeArrowheads="1"/>
          </p:cNvSpPr>
          <p:nvPr/>
        </p:nvSpPr>
        <p:spPr bwMode="auto">
          <a:xfrm>
            <a:off x="5724525" y="4067175"/>
            <a:ext cx="1352550" cy="338138"/>
          </a:xfrm>
          <a:prstGeom prst="rect">
            <a:avLst/>
          </a:prstGeom>
          <a:noFill/>
          <a:ln w="9525">
            <a:solidFill>
              <a:srgbClr val="FF00FF"/>
            </a:solidFill>
            <a:miter lim="800000"/>
            <a:headEnd/>
            <a:tailEnd/>
          </a:ln>
          <a:extLst>
            <a:ext uri="{909E8E84-426E-40DD-AFC4-6F175D3DCCD1}">
              <a14:hiddenFill xmlns:a14="http://schemas.microsoft.com/office/drawing/2010/main" xmlns="">
                <a:solidFill>
                  <a:srgbClr val="FFFFFF"/>
                </a:solidFill>
              </a14:hiddenFill>
            </a:ext>
          </a:extLst>
        </p:spPr>
        <p:txBody>
          <a:bodyPr anchor="ct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zh-CN" altLang="en-US" sz="1600" b="1">
                <a:latin typeface="华文中宋" pitchFamily="2" charset="-122"/>
                <a:ea typeface="华文中宋" pitchFamily="2" charset="-122"/>
              </a:rPr>
              <a:t>压强公式</a:t>
            </a:r>
            <a:endParaRPr lang="zh-CN" altLang="en-US" sz="1600" i="1">
              <a:solidFill>
                <a:schemeClr val="tx2"/>
              </a:solidFill>
              <a:latin typeface="华文中宋" pitchFamily="2" charset="-122"/>
              <a:ea typeface="华文中宋" pitchFamily="2" charset="-122"/>
            </a:endParaRPr>
          </a:p>
        </p:txBody>
      </p:sp>
      <p:sp>
        <p:nvSpPr>
          <p:cNvPr id="105541" name="Line 69"/>
          <p:cNvSpPr>
            <a:spLocks noChangeShapeType="1"/>
          </p:cNvSpPr>
          <p:nvPr/>
        </p:nvSpPr>
        <p:spPr bwMode="auto">
          <a:xfrm>
            <a:off x="2627313" y="2433638"/>
            <a:ext cx="0" cy="385762"/>
          </a:xfrm>
          <a:prstGeom prst="line">
            <a:avLst/>
          </a:prstGeom>
          <a:noFill/>
          <a:ln w="25400">
            <a:solidFill>
              <a:schemeClr val="tx1"/>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105542" name="Object 79"/>
          <p:cNvGraphicFramePr>
            <a:graphicFrameLocks noChangeAspect="1"/>
          </p:cNvGraphicFramePr>
          <p:nvPr/>
        </p:nvGraphicFramePr>
        <p:xfrm>
          <a:off x="2703513" y="2366963"/>
          <a:ext cx="1076325" cy="504825"/>
        </p:xfrm>
        <a:graphic>
          <a:graphicData uri="http://schemas.openxmlformats.org/presentationml/2006/ole">
            <p:oleObj spid="_x0000_s23623" name="公式" r:id="rId5" imgW="444114" imgH="317225" progId="Equation.3">
              <p:embed/>
            </p:oleObj>
          </a:graphicData>
        </a:graphic>
      </p:graphicFrame>
      <p:sp>
        <p:nvSpPr>
          <p:cNvPr id="105543" name="Line 71"/>
          <p:cNvSpPr>
            <a:spLocks noChangeShapeType="1"/>
          </p:cNvSpPr>
          <p:nvPr/>
        </p:nvSpPr>
        <p:spPr bwMode="auto">
          <a:xfrm>
            <a:off x="2627313" y="3465513"/>
            <a:ext cx="0" cy="487362"/>
          </a:xfrm>
          <a:prstGeom prst="line">
            <a:avLst/>
          </a:prstGeom>
          <a:noFill/>
          <a:ln w="25400">
            <a:solidFill>
              <a:schemeClr val="tx1"/>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sp>
        <p:nvSpPr>
          <p:cNvPr id="105544" name="Line 72"/>
          <p:cNvSpPr>
            <a:spLocks noChangeShapeType="1"/>
          </p:cNvSpPr>
          <p:nvPr/>
        </p:nvSpPr>
        <p:spPr bwMode="auto">
          <a:xfrm>
            <a:off x="4284663" y="4276725"/>
            <a:ext cx="1439862" cy="0"/>
          </a:xfrm>
          <a:prstGeom prst="line">
            <a:avLst/>
          </a:prstGeom>
          <a:noFill/>
          <a:ln w="25400">
            <a:solidFill>
              <a:schemeClr val="tx1"/>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105545" name="Object 79"/>
          <p:cNvGraphicFramePr>
            <a:graphicFrameLocks noChangeAspect="1"/>
          </p:cNvGraphicFramePr>
          <p:nvPr/>
        </p:nvGraphicFramePr>
        <p:xfrm>
          <a:off x="4567238" y="3736975"/>
          <a:ext cx="941387" cy="550863"/>
        </p:xfrm>
        <a:graphic>
          <a:graphicData uri="http://schemas.openxmlformats.org/presentationml/2006/ole">
            <p:oleObj spid="_x0000_s23624" name="公式" r:id="rId6" imgW="342751" imgH="304668" progId="Equation.3">
              <p:embed/>
            </p:oleObj>
          </a:graphicData>
        </a:graphic>
      </p:graphicFrame>
      <p:graphicFrame>
        <p:nvGraphicFramePr>
          <p:cNvPr id="105546" name="Object 79"/>
          <p:cNvGraphicFramePr>
            <a:graphicFrameLocks noChangeAspect="1"/>
          </p:cNvGraphicFramePr>
          <p:nvPr/>
        </p:nvGraphicFramePr>
        <p:xfrm>
          <a:off x="2678113" y="3457575"/>
          <a:ext cx="1101725" cy="482600"/>
        </p:xfrm>
        <a:graphic>
          <a:graphicData uri="http://schemas.openxmlformats.org/presentationml/2006/ole">
            <p:oleObj spid="_x0000_s23625" name="公式" r:id="rId7" imgW="558558" imgH="266584" progId="Equation.3">
              <p:embed/>
            </p:oleObj>
          </a:graphicData>
        </a:graphic>
      </p:graphicFrame>
      <p:sp>
        <p:nvSpPr>
          <p:cNvPr id="55" name="Text Box 2"/>
          <p:cNvSpPr>
            <a:spLocks noChangeArrowheads="1"/>
          </p:cNvSpPr>
          <p:nvPr/>
        </p:nvSpPr>
        <p:spPr bwMode="auto">
          <a:xfrm>
            <a:off x="827088" y="874713"/>
            <a:ext cx="3282950" cy="401637"/>
          </a:xfrm>
          <a:prstGeom prst="homePlate">
            <a:avLst>
              <a:gd name="adj" fmla="val 49725"/>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三、理想气体的压强公式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55"/>
                                        </p:tgtEl>
                                        <p:attrNameLst>
                                          <p:attrName>style.visibility</p:attrName>
                                        </p:attrNameLst>
                                      </p:cBhvr>
                                      <p:to>
                                        <p:strVal val="visible"/>
                                      </p:to>
                                    </p:set>
                                    <p:animEffect transition="in" filter="wipe(left)">
                                      <p:cBhvr>
                                        <p:cTn id="7" dur="500"/>
                                        <p:tgtEl>
                                          <p:spTgt spid="5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41387"/>
                                        </p:tgtEl>
                                        <p:attrNameLst>
                                          <p:attrName>style.visibility</p:attrName>
                                        </p:attrNameLst>
                                      </p:cBhvr>
                                      <p:to>
                                        <p:strVal val="visible"/>
                                      </p:to>
                                    </p:set>
                                    <p:animEffect transition="in" filter="wipe(left)">
                                      <p:cBhvr>
                                        <p:cTn id="12" dur="500"/>
                                        <p:tgtEl>
                                          <p:spTgt spid="14138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8"/>
                                        </p:tgtEl>
                                        <p:attrNameLst>
                                          <p:attrName>style.visibility</p:attrName>
                                        </p:attrNameLst>
                                      </p:cBhvr>
                                      <p:to>
                                        <p:strVal val="visible"/>
                                      </p:to>
                                    </p:set>
                                    <p:animEffect transition="in" filter="blinds(horizontal)">
                                      <p:cBhvr>
                                        <p:cTn id="23" dur="500"/>
                                        <p:tgtEl>
                                          <p:spTgt spid="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05541"/>
                                        </p:tgtEl>
                                        <p:attrNameLst>
                                          <p:attrName>style.visibility</p:attrName>
                                        </p:attrNameLst>
                                      </p:cBhvr>
                                      <p:to>
                                        <p:strVal val="visible"/>
                                      </p:to>
                                    </p:set>
                                    <p:animEffect transition="in" filter="blinds(horizontal)">
                                      <p:cBhvr>
                                        <p:cTn id="28" dur="500"/>
                                        <p:tgtEl>
                                          <p:spTgt spid="105541"/>
                                        </p:tgtEl>
                                      </p:cBhvr>
                                    </p:animEffect>
                                  </p:childTnLst>
                                </p:cTn>
                              </p:par>
                              <p:par>
                                <p:cTn id="29" presetID="3" presetClass="entr" presetSubtype="10" fill="hold" nodeType="withEffect">
                                  <p:stCondLst>
                                    <p:cond delay="0"/>
                                  </p:stCondLst>
                                  <p:childTnLst>
                                    <p:set>
                                      <p:cBhvr>
                                        <p:cTn id="30" dur="1" fill="hold">
                                          <p:stCondLst>
                                            <p:cond delay="0"/>
                                          </p:stCondLst>
                                        </p:cTn>
                                        <p:tgtEl>
                                          <p:spTgt spid="105542"/>
                                        </p:tgtEl>
                                        <p:attrNameLst>
                                          <p:attrName>style.visibility</p:attrName>
                                        </p:attrNameLst>
                                      </p:cBhvr>
                                      <p:to>
                                        <p:strVal val="visible"/>
                                      </p:to>
                                    </p:set>
                                    <p:animEffect transition="in" filter="blinds(horizontal)">
                                      <p:cBhvr>
                                        <p:cTn id="31" dur="500"/>
                                        <p:tgtEl>
                                          <p:spTgt spid="105542"/>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4"/>
                                        </p:tgtEl>
                                        <p:attrNameLst>
                                          <p:attrName>style.visibility</p:attrName>
                                        </p:attrNameLst>
                                      </p:cBhvr>
                                      <p:to>
                                        <p:strVal val="visible"/>
                                      </p:to>
                                    </p:set>
                                    <p:animEffect transition="in" filter="wipe(left)">
                                      <p:cBhvr>
                                        <p:cTn id="36" dur="500"/>
                                        <p:tgtEl>
                                          <p:spTgt spid="4"/>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grpId="0" nodeType="clickEffect">
                                  <p:stCondLst>
                                    <p:cond delay="0"/>
                                  </p:stCondLst>
                                  <p:childTnLst>
                                    <p:set>
                                      <p:cBhvr>
                                        <p:cTn id="40" dur="1" fill="hold">
                                          <p:stCondLst>
                                            <p:cond delay="0"/>
                                          </p:stCondLst>
                                        </p:cTn>
                                        <p:tgtEl>
                                          <p:spTgt spid="105543"/>
                                        </p:tgtEl>
                                        <p:attrNameLst>
                                          <p:attrName>style.visibility</p:attrName>
                                        </p:attrNameLst>
                                      </p:cBhvr>
                                      <p:to>
                                        <p:strVal val="visible"/>
                                      </p:to>
                                    </p:set>
                                    <p:animEffect transition="in" filter="blinds(horizontal)">
                                      <p:cBhvr>
                                        <p:cTn id="41" dur="500"/>
                                        <p:tgtEl>
                                          <p:spTgt spid="105543"/>
                                        </p:tgtEl>
                                      </p:cBhvr>
                                    </p:animEffect>
                                  </p:childTnLst>
                                </p:cTn>
                              </p:par>
                              <p:par>
                                <p:cTn id="42" presetID="3" presetClass="entr" presetSubtype="10" fill="hold" nodeType="withEffect">
                                  <p:stCondLst>
                                    <p:cond delay="0"/>
                                  </p:stCondLst>
                                  <p:childTnLst>
                                    <p:set>
                                      <p:cBhvr>
                                        <p:cTn id="43" dur="1" fill="hold">
                                          <p:stCondLst>
                                            <p:cond delay="0"/>
                                          </p:stCondLst>
                                        </p:cTn>
                                        <p:tgtEl>
                                          <p:spTgt spid="105546"/>
                                        </p:tgtEl>
                                        <p:attrNameLst>
                                          <p:attrName>style.visibility</p:attrName>
                                        </p:attrNameLst>
                                      </p:cBhvr>
                                      <p:to>
                                        <p:strVal val="visible"/>
                                      </p:to>
                                    </p:set>
                                    <p:animEffect transition="in" filter="blinds(horizontal)">
                                      <p:cBhvr>
                                        <p:cTn id="44" dur="500"/>
                                        <p:tgtEl>
                                          <p:spTgt spid="105546"/>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22" presetClass="entr" presetSubtype="8" fill="hold" grpId="0" nodeType="clickEffect">
                                  <p:stCondLst>
                                    <p:cond delay="0"/>
                                  </p:stCondLst>
                                  <p:childTnLst>
                                    <p:set>
                                      <p:cBhvr>
                                        <p:cTn id="48" dur="1" fill="hold">
                                          <p:stCondLst>
                                            <p:cond delay="0"/>
                                          </p:stCondLst>
                                        </p:cTn>
                                        <p:tgtEl>
                                          <p:spTgt spid="5"/>
                                        </p:tgtEl>
                                        <p:attrNameLst>
                                          <p:attrName>style.visibility</p:attrName>
                                        </p:attrNameLst>
                                      </p:cBhvr>
                                      <p:to>
                                        <p:strVal val="visible"/>
                                      </p:to>
                                    </p:set>
                                    <p:animEffect transition="in" filter="wipe(left)">
                                      <p:cBhvr>
                                        <p:cTn id="49" dur="500"/>
                                        <p:tgtEl>
                                          <p:spTgt spid="5"/>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nodeType="clickEffect">
                                  <p:stCondLst>
                                    <p:cond delay="0"/>
                                  </p:stCondLst>
                                  <p:childTnLst>
                                    <p:set>
                                      <p:cBhvr>
                                        <p:cTn id="53" dur="1" fill="hold">
                                          <p:stCondLst>
                                            <p:cond delay="0"/>
                                          </p:stCondLst>
                                        </p:cTn>
                                        <p:tgtEl>
                                          <p:spTgt spid="105545"/>
                                        </p:tgtEl>
                                        <p:attrNameLst>
                                          <p:attrName>style.visibility</p:attrName>
                                        </p:attrNameLst>
                                      </p:cBhvr>
                                      <p:to>
                                        <p:strVal val="visible"/>
                                      </p:to>
                                    </p:set>
                                    <p:animEffect transition="in" filter="blinds(horizontal)">
                                      <p:cBhvr>
                                        <p:cTn id="54" dur="500"/>
                                        <p:tgtEl>
                                          <p:spTgt spid="105545"/>
                                        </p:tgtEl>
                                      </p:cBhvr>
                                    </p:animEffect>
                                  </p:childTnLst>
                                </p:cTn>
                              </p:par>
                              <p:par>
                                <p:cTn id="55" presetID="3" presetClass="entr" presetSubtype="10" fill="hold" grpId="0" nodeType="withEffect">
                                  <p:stCondLst>
                                    <p:cond delay="0"/>
                                  </p:stCondLst>
                                  <p:childTnLst>
                                    <p:set>
                                      <p:cBhvr>
                                        <p:cTn id="56" dur="1" fill="hold">
                                          <p:stCondLst>
                                            <p:cond delay="0"/>
                                          </p:stCondLst>
                                        </p:cTn>
                                        <p:tgtEl>
                                          <p:spTgt spid="105544"/>
                                        </p:tgtEl>
                                        <p:attrNameLst>
                                          <p:attrName>style.visibility</p:attrName>
                                        </p:attrNameLst>
                                      </p:cBhvr>
                                      <p:to>
                                        <p:strVal val="visible"/>
                                      </p:to>
                                    </p:set>
                                    <p:animEffect transition="in" filter="blinds(horizontal)">
                                      <p:cBhvr>
                                        <p:cTn id="57" dur="500"/>
                                        <p:tgtEl>
                                          <p:spTgt spid="105544"/>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6"/>
                                        </p:tgtEl>
                                        <p:attrNameLst>
                                          <p:attrName>style.visibility</p:attrName>
                                        </p:attrNameLst>
                                      </p:cBhvr>
                                      <p:to>
                                        <p:strVal val="visible"/>
                                      </p:to>
                                    </p:set>
                                    <p:animEffect transition="in" filter="wipe(left)">
                                      <p:cBhvr>
                                        <p:cTn id="62"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1387" grpId="0"/>
      <p:bldP spid="4" grpId="0" animBg="1"/>
      <p:bldP spid="5" grpId="0" animBg="1"/>
      <p:bldP spid="6" grpId="0" animBg="1"/>
      <p:bldP spid="105541" grpId="0" animBg="1"/>
      <p:bldP spid="105543" grpId="0" animBg="1"/>
      <p:bldP spid="105544" grpId="0" animBg="1"/>
      <p:bldP spid="55" grpId="0" animBg="1"/>
    </p:bld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3245" name="Text Box 13"/>
          <p:cNvSpPr txBox="1">
            <a:spLocks noChangeArrowheads="1"/>
          </p:cNvSpPr>
          <p:nvPr/>
        </p:nvSpPr>
        <p:spPr bwMode="auto">
          <a:xfrm>
            <a:off x="539750" y="877888"/>
            <a:ext cx="3887788" cy="3984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solidFill>
                  <a:srgbClr val="0000FF"/>
                </a:solidFill>
                <a:ea typeface="华文中宋" pitchFamily="2" charset="-122"/>
              </a:rPr>
              <a:t>1</a:t>
            </a:r>
            <a:r>
              <a:rPr lang="zh-CN" altLang="en-US" sz="1800" b="1">
                <a:solidFill>
                  <a:srgbClr val="0000FF"/>
                </a:solidFill>
                <a:ea typeface="华文中宋" pitchFamily="2" charset="-122"/>
              </a:rPr>
              <a:t>、一个分子碰撞一次给</a:t>
            </a:r>
            <a:r>
              <a:rPr lang="en-US" altLang="zh-CN" sz="1800" b="1" i="1">
                <a:solidFill>
                  <a:srgbClr val="0000FF"/>
                </a:solidFill>
                <a:ea typeface="华文中宋" pitchFamily="2" charset="-122"/>
              </a:rPr>
              <a:t>A</a:t>
            </a:r>
            <a:r>
              <a:rPr lang="en-US" altLang="zh-CN" sz="1800" b="1" baseline="-25000">
                <a:solidFill>
                  <a:srgbClr val="0000FF"/>
                </a:solidFill>
                <a:ea typeface="华文中宋" pitchFamily="2" charset="-122"/>
              </a:rPr>
              <a:t>1</a:t>
            </a:r>
            <a:r>
              <a:rPr lang="zh-CN" altLang="en-US" sz="1800" b="1">
                <a:solidFill>
                  <a:srgbClr val="0000FF"/>
                </a:solidFill>
                <a:ea typeface="华文中宋" pitchFamily="2" charset="-122"/>
              </a:rPr>
              <a:t>的冲量</a:t>
            </a:r>
          </a:p>
        </p:txBody>
      </p:sp>
      <p:grpSp>
        <p:nvGrpSpPr>
          <p:cNvPr id="2" name="Group 16"/>
          <p:cNvGrpSpPr>
            <a:grpSpLocks/>
          </p:cNvGrpSpPr>
          <p:nvPr/>
        </p:nvGrpSpPr>
        <p:grpSpPr bwMode="auto">
          <a:xfrm>
            <a:off x="6516688" y="995363"/>
            <a:ext cx="2428875" cy="1601787"/>
            <a:chOff x="3425" y="2371"/>
            <a:chExt cx="1530" cy="1344"/>
          </a:xfrm>
        </p:grpSpPr>
        <p:sp>
          <p:nvSpPr>
            <p:cNvPr id="24592" name="Line 17"/>
            <p:cNvSpPr>
              <a:spLocks noChangeShapeType="1"/>
            </p:cNvSpPr>
            <p:nvPr/>
          </p:nvSpPr>
          <p:spPr bwMode="auto">
            <a:xfrm>
              <a:off x="3645" y="3436"/>
              <a:ext cx="1276" cy="0"/>
            </a:xfrm>
            <a:prstGeom prst="line">
              <a:avLst/>
            </a:prstGeom>
            <a:noFill/>
            <a:ln w="9525">
              <a:solidFill>
                <a:srgbClr val="00B0F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4593" name="Rectangle 18"/>
            <p:cNvSpPr>
              <a:spLocks noChangeArrowheads="1"/>
            </p:cNvSpPr>
            <p:nvPr/>
          </p:nvSpPr>
          <p:spPr bwMode="auto">
            <a:xfrm>
              <a:off x="3645" y="2614"/>
              <a:ext cx="964" cy="822"/>
            </a:xfrm>
            <a:prstGeom prst="rect">
              <a:avLst/>
            </a:prstGeom>
            <a:noFill/>
            <a:ln w="12700">
              <a:solidFill>
                <a:schemeClr val="tx1"/>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kumimoji="0" lang="zh-CN" altLang="zh-CN" sz="1800" b="1">
                <a:ea typeface="宋体" pitchFamily="2" charset="-122"/>
              </a:endParaRPr>
            </a:p>
          </p:txBody>
        </p:sp>
        <p:sp>
          <p:nvSpPr>
            <p:cNvPr id="24594" name="Line 19"/>
            <p:cNvSpPr>
              <a:spLocks noChangeShapeType="1"/>
            </p:cNvSpPr>
            <p:nvPr/>
          </p:nvSpPr>
          <p:spPr bwMode="auto">
            <a:xfrm flipV="1">
              <a:off x="3645" y="2443"/>
              <a:ext cx="0" cy="993"/>
            </a:xfrm>
            <a:prstGeom prst="line">
              <a:avLst/>
            </a:prstGeom>
            <a:noFill/>
            <a:ln w="9525">
              <a:solidFill>
                <a:srgbClr val="00B0F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4595" name="Line 20"/>
            <p:cNvSpPr>
              <a:spLocks noChangeShapeType="1"/>
            </p:cNvSpPr>
            <p:nvPr/>
          </p:nvSpPr>
          <p:spPr bwMode="auto">
            <a:xfrm>
              <a:off x="4297" y="2897"/>
              <a:ext cx="312" cy="0"/>
            </a:xfrm>
            <a:prstGeom prst="line">
              <a:avLst/>
            </a:prstGeom>
            <a:noFill/>
            <a:ln w="28575">
              <a:solidFill>
                <a:srgbClr val="00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4596" name="Line 21"/>
            <p:cNvSpPr>
              <a:spLocks noChangeShapeType="1"/>
            </p:cNvSpPr>
            <p:nvPr/>
          </p:nvSpPr>
          <p:spPr bwMode="auto">
            <a:xfrm flipH="1">
              <a:off x="4297" y="3010"/>
              <a:ext cx="312" cy="0"/>
            </a:xfrm>
            <a:prstGeom prst="line">
              <a:avLst/>
            </a:prstGeom>
            <a:noFill/>
            <a:ln w="28575">
              <a:solidFill>
                <a:srgbClr val="00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4597" name="Text Box 22"/>
            <p:cNvSpPr txBox="1">
              <a:spLocks noChangeArrowheads="1"/>
            </p:cNvSpPr>
            <p:nvPr/>
          </p:nvSpPr>
          <p:spPr bwMode="auto">
            <a:xfrm>
              <a:off x="3458" y="3329"/>
              <a:ext cx="221"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i="1">
                  <a:ea typeface="宋体" pitchFamily="2" charset="-122"/>
                </a:rPr>
                <a:t>O</a:t>
              </a:r>
            </a:p>
          </p:txBody>
        </p:sp>
        <p:sp>
          <p:nvSpPr>
            <p:cNvPr id="24598" name="Line 23"/>
            <p:cNvSpPr>
              <a:spLocks noChangeShapeType="1"/>
            </p:cNvSpPr>
            <p:nvPr/>
          </p:nvSpPr>
          <p:spPr bwMode="auto">
            <a:xfrm>
              <a:off x="4609" y="3436"/>
              <a:ext cx="0" cy="113"/>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4599" name="Line 24"/>
            <p:cNvSpPr>
              <a:spLocks noChangeShapeType="1"/>
            </p:cNvSpPr>
            <p:nvPr/>
          </p:nvSpPr>
          <p:spPr bwMode="auto">
            <a:xfrm>
              <a:off x="3645" y="3436"/>
              <a:ext cx="0" cy="113"/>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24600" name="Line 25"/>
            <p:cNvSpPr>
              <a:spLocks noChangeShapeType="1"/>
            </p:cNvSpPr>
            <p:nvPr/>
          </p:nvSpPr>
          <p:spPr bwMode="auto">
            <a:xfrm>
              <a:off x="3645" y="3528"/>
              <a:ext cx="964" cy="0"/>
            </a:xfrm>
            <a:prstGeom prst="line">
              <a:avLst/>
            </a:prstGeom>
            <a:noFill/>
            <a:ln w="9525">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24601" name="Text Box 26"/>
            <p:cNvSpPr txBox="1">
              <a:spLocks noChangeArrowheads="1"/>
            </p:cNvSpPr>
            <p:nvPr/>
          </p:nvSpPr>
          <p:spPr bwMode="auto">
            <a:xfrm>
              <a:off x="3425" y="2847"/>
              <a:ext cx="237"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solidFill>
                    <a:srgbClr val="FF00FF"/>
                  </a:solidFill>
                  <a:ea typeface="宋体" pitchFamily="2" charset="-122"/>
                </a:rPr>
                <a:t>A</a:t>
              </a:r>
              <a:r>
                <a:rPr kumimoji="0" lang="en-US" altLang="zh-CN" sz="1500" b="1" baseline="-25000">
                  <a:solidFill>
                    <a:srgbClr val="FF00FF"/>
                  </a:solidFill>
                  <a:ea typeface="宋体" pitchFamily="2" charset="-122"/>
                </a:rPr>
                <a:t>2</a:t>
              </a:r>
              <a:endParaRPr kumimoji="0" lang="en-US" altLang="zh-CN" sz="1500" b="1">
                <a:solidFill>
                  <a:srgbClr val="FF00FF"/>
                </a:solidFill>
                <a:ea typeface="宋体" pitchFamily="2" charset="-122"/>
              </a:endParaRPr>
            </a:p>
          </p:txBody>
        </p:sp>
        <p:sp>
          <p:nvSpPr>
            <p:cNvPr id="24602" name="Text Box 27"/>
            <p:cNvSpPr txBox="1">
              <a:spLocks noChangeArrowheads="1"/>
            </p:cNvSpPr>
            <p:nvPr/>
          </p:nvSpPr>
          <p:spPr bwMode="auto">
            <a:xfrm>
              <a:off x="4609" y="2875"/>
              <a:ext cx="237"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solidFill>
                    <a:srgbClr val="FF00FF"/>
                  </a:solidFill>
                  <a:ea typeface="宋体" pitchFamily="2" charset="-122"/>
                </a:rPr>
                <a:t>A</a:t>
              </a:r>
              <a:r>
                <a:rPr kumimoji="0" lang="en-US" altLang="zh-CN" sz="1500" b="1" baseline="-25000">
                  <a:solidFill>
                    <a:srgbClr val="FF00FF"/>
                  </a:solidFill>
                  <a:ea typeface="宋体" pitchFamily="2" charset="-122"/>
                </a:rPr>
                <a:t>1</a:t>
              </a:r>
              <a:endParaRPr kumimoji="0" lang="en-US" altLang="zh-CN" sz="1500" b="1">
                <a:solidFill>
                  <a:srgbClr val="FF00FF"/>
                </a:solidFill>
                <a:ea typeface="宋体" pitchFamily="2" charset="-122"/>
              </a:endParaRPr>
            </a:p>
          </p:txBody>
        </p:sp>
        <p:sp>
          <p:nvSpPr>
            <p:cNvPr id="24603" name="Text Box 28"/>
            <p:cNvSpPr txBox="1">
              <a:spLocks noChangeArrowheads="1"/>
            </p:cNvSpPr>
            <p:nvPr/>
          </p:nvSpPr>
          <p:spPr bwMode="auto">
            <a:xfrm>
              <a:off x="4778" y="3394"/>
              <a:ext cx="177"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x</a:t>
              </a:r>
            </a:p>
          </p:txBody>
        </p:sp>
        <p:sp>
          <p:nvSpPr>
            <p:cNvPr id="24604" name="Text Box 29"/>
            <p:cNvSpPr txBox="1">
              <a:spLocks noChangeArrowheads="1"/>
            </p:cNvSpPr>
            <p:nvPr/>
          </p:nvSpPr>
          <p:spPr bwMode="auto">
            <a:xfrm>
              <a:off x="3646" y="2371"/>
              <a:ext cx="170"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y</a:t>
              </a:r>
            </a:p>
          </p:txBody>
        </p:sp>
        <p:sp>
          <p:nvSpPr>
            <p:cNvPr id="24605" name="Text Box 30"/>
            <p:cNvSpPr txBox="1">
              <a:spLocks noChangeArrowheads="1"/>
            </p:cNvSpPr>
            <p:nvPr/>
          </p:nvSpPr>
          <p:spPr bwMode="auto">
            <a:xfrm>
              <a:off x="4042" y="2620"/>
              <a:ext cx="343"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m</a:t>
              </a:r>
              <a:r>
                <a:rPr kumimoji="0" lang="en-US" altLang="zh-CN" sz="1500" b="1" i="1">
                  <a:ea typeface="宋体" pitchFamily="2" charset="-122"/>
                  <a:sym typeface="Symbol" pitchFamily="18" charset="2"/>
                </a:rPr>
                <a:t></a:t>
              </a:r>
              <a:r>
                <a:rPr kumimoji="0" lang="en-US" altLang="zh-CN" sz="1500" b="1" i="1" baseline="-25000">
                  <a:ea typeface="宋体" pitchFamily="2" charset="-122"/>
                  <a:sym typeface="Symbol" pitchFamily="18" charset="2"/>
                </a:rPr>
                <a:t>ix</a:t>
              </a:r>
              <a:endParaRPr kumimoji="0" lang="en-US" altLang="zh-CN" sz="1500" b="1" i="1">
                <a:ea typeface="宋体" pitchFamily="2" charset="-122"/>
                <a:sym typeface="Symbol" pitchFamily="18" charset="2"/>
              </a:endParaRPr>
            </a:p>
          </p:txBody>
        </p:sp>
        <p:sp>
          <p:nvSpPr>
            <p:cNvPr id="24606" name="Text Box 31"/>
            <p:cNvSpPr txBox="1">
              <a:spLocks noChangeArrowheads="1"/>
            </p:cNvSpPr>
            <p:nvPr/>
          </p:nvSpPr>
          <p:spPr bwMode="auto">
            <a:xfrm>
              <a:off x="4099" y="3045"/>
              <a:ext cx="383"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-m</a:t>
              </a:r>
              <a:r>
                <a:rPr kumimoji="0" lang="en-US" altLang="zh-CN" sz="1500" b="1" i="1">
                  <a:ea typeface="宋体" pitchFamily="2" charset="-122"/>
                  <a:sym typeface="Symbol" pitchFamily="18" charset="2"/>
                </a:rPr>
                <a:t></a:t>
              </a:r>
              <a:r>
                <a:rPr kumimoji="0" lang="en-US" altLang="zh-CN" sz="1500" b="1" i="1" baseline="-25000">
                  <a:ea typeface="宋体" pitchFamily="2" charset="-122"/>
                  <a:sym typeface="Symbol" pitchFamily="18" charset="2"/>
                </a:rPr>
                <a:t>ix</a:t>
              </a:r>
              <a:endParaRPr kumimoji="0" lang="en-US" altLang="zh-CN" sz="1500" b="1" i="1">
                <a:ea typeface="宋体" pitchFamily="2" charset="-122"/>
                <a:sym typeface="Symbol" pitchFamily="18" charset="2"/>
              </a:endParaRPr>
            </a:p>
          </p:txBody>
        </p:sp>
        <p:sp>
          <p:nvSpPr>
            <p:cNvPr id="24607" name="Text Box 32"/>
            <p:cNvSpPr txBox="1">
              <a:spLocks noChangeArrowheads="1"/>
            </p:cNvSpPr>
            <p:nvPr/>
          </p:nvSpPr>
          <p:spPr bwMode="auto">
            <a:xfrm>
              <a:off x="4042" y="3444"/>
              <a:ext cx="190" cy="271"/>
            </a:xfrm>
            <a:prstGeom prst="rect">
              <a:avLst/>
            </a:prstGeom>
            <a:solidFill>
              <a:schemeClr val="bg1"/>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l</a:t>
              </a:r>
              <a:r>
                <a:rPr kumimoji="0" lang="en-US" altLang="zh-CN" sz="1500" b="1" baseline="-25000">
                  <a:ea typeface="宋体" pitchFamily="2" charset="-122"/>
                </a:rPr>
                <a:t>1</a:t>
              </a:r>
              <a:endParaRPr kumimoji="0" lang="en-US" altLang="zh-CN" sz="1500" b="1">
                <a:ea typeface="宋体" pitchFamily="2" charset="-122"/>
              </a:endParaRPr>
            </a:p>
          </p:txBody>
        </p:sp>
      </p:grpSp>
      <p:sp>
        <p:nvSpPr>
          <p:cNvPr id="31" name="Rectangle 45"/>
          <p:cNvSpPr>
            <a:spLocks noChangeArrowheads="1"/>
          </p:cNvSpPr>
          <p:nvPr/>
        </p:nvSpPr>
        <p:spPr bwMode="auto">
          <a:xfrm>
            <a:off x="846138" y="1276350"/>
            <a:ext cx="221138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1800" b="1">
                <a:ea typeface="华文中宋" pitchFamily="2" charset="-122"/>
              </a:rPr>
              <a:t> </a:t>
            </a:r>
            <a:r>
              <a:rPr lang="en-US" altLang="zh-CN" sz="1800" b="1" i="1">
                <a:ea typeface="华文中宋" pitchFamily="2" charset="-122"/>
              </a:rPr>
              <a:t>i</a:t>
            </a:r>
            <a:r>
              <a:rPr lang="zh-CN" altLang="en-US" sz="1800" b="1">
                <a:ea typeface="华文中宋" pitchFamily="2" charset="-122"/>
              </a:rPr>
              <a:t>分子受的冲量为 ：</a:t>
            </a:r>
          </a:p>
        </p:txBody>
      </p:sp>
      <p:graphicFrame>
        <p:nvGraphicFramePr>
          <p:cNvPr id="42" name="Object 56"/>
          <p:cNvGraphicFramePr>
            <a:graphicFrameLocks noChangeAspect="1"/>
          </p:cNvGraphicFramePr>
          <p:nvPr/>
        </p:nvGraphicFramePr>
        <p:xfrm>
          <a:off x="2841625" y="1322388"/>
          <a:ext cx="3025775" cy="328612"/>
        </p:xfrm>
        <a:graphic>
          <a:graphicData uri="http://schemas.openxmlformats.org/presentationml/2006/ole">
            <p:oleObj spid="_x0000_s24620" name="Equation" r:id="rId3" imgW="1371600" imgH="177800" progId="Equation.DSMT4">
              <p:embed/>
            </p:oleObj>
          </a:graphicData>
        </a:graphic>
      </p:graphicFrame>
      <p:sp>
        <p:nvSpPr>
          <p:cNvPr id="43" name="Text Box 57"/>
          <p:cNvSpPr txBox="1">
            <a:spLocks noChangeArrowheads="1"/>
          </p:cNvSpPr>
          <p:nvPr/>
        </p:nvSpPr>
        <p:spPr bwMode="auto">
          <a:xfrm>
            <a:off x="1214438" y="1692275"/>
            <a:ext cx="4725987" cy="3984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lang="zh-CN" altLang="en-US" sz="1800" b="1">
                <a:ea typeface="华文中宋" pitchFamily="2" charset="-122"/>
              </a:rPr>
              <a:t>器壁受的冲量为：</a:t>
            </a:r>
            <a:r>
              <a:rPr lang="en-US" altLang="zh-CN" sz="1800" b="1" i="1">
                <a:ea typeface="华文中宋" pitchFamily="2" charset="-122"/>
              </a:rPr>
              <a:t>I</a:t>
            </a:r>
            <a:r>
              <a:rPr lang="en-US" altLang="zh-CN" sz="1800" b="1" baseline="-25000">
                <a:ea typeface="华文中宋" pitchFamily="2" charset="-122"/>
              </a:rPr>
              <a:t>A</a:t>
            </a:r>
            <a:r>
              <a:rPr lang="en-US" altLang="zh-CN" sz="1800" b="1">
                <a:ea typeface="华文中宋" pitchFamily="2" charset="-122"/>
              </a:rPr>
              <a:t> =-</a:t>
            </a:r>
            <a:r>
              <a:rPr lang="en-US" altLang="zh-CN" sz="1800" b="1" i="1">
                <a:ea typeface="华文中宋" pitchFamily="2" charset="-122"/>
              </a:rPr>
              <a:t>I</a:t>
            </a:r>
            <a:r>
              <a:rPr lang="en-US" altLang="zh-CN" sz="1800" b="1" i="1" baseline="-25000">
                <a:ea typeface="华文中宋" pitchFamily="2" charset="-122"/>
              </a:rPr>
              <a:t>i</a:t>
            </a:r>
            <a:r>
              <a:rPr lang="en-US" altLang="zh-CN" sz="1800" b="1">
                <a:ea typeface="华文中宋" pitchFamily="2" charset="-122"/>
              </a:rPr>
              <a:t>=</a:t>
            </a:r>
            <a:r>
              <a:rPr lang="en-US" altLang="zh-CN" sz="1800" b="1">
                <a:solidFill>
                  <a:srgbClr val="FF0000"/>
                </a:solidFill>
                <a:ea typeface="华文中宋" pitchFamily="2" charset="-122"/>
              </a:rPr>
              <a:t>2m</a:t>
            </a:r>
            <a:r>
              <a:rPr lang="en-US" altLang="zh-CN" sz="1800" b="1" i="1">
                <a:solidFill>
                  <a:srgbClr val="FF0000"/>
                </a:solidFill>
                <a:ea typeface="华文中宋" pitchFamily="2" charset="-122"/>
                <a:sym typeface="Symbol" pitchFamily="18" charset="2"/>
              </a:rPr>
              <a:t></a:t>
            </a:r>
            <a:r>
              <a:rPr lang="en-US" altLang="zh-CN" sz="1800" b="1" i="1" baseline="-25000">
                <a:solidFill>
                  <a:srgbClr val="FF0000"/>
                </a:solidFill>
                <a:ea typeface="华文中宋" pitchFamily="2" charset="-122"/>
              </a:rPr>
              <a:t>ix</a:t>
            </a:r>
          </a:p>
        </p:txBody>
      </p:sp>
      <p:sp>
        <p:nvSpPr>
          <p:cNvPr id="44" name="Text Box 58"/>
          <p:cNvSpPr txBox="1">
            <a:spLocks noChangeArrowheads="1"/>
          </p:cNvSpPr>
          <p:nvPr/>
        </p:nvSpPr>
        <p:spPr bwMode="auto">
          <a:xfrm>
            <a:off x="558800" y="2098675"/>
            <a:ext cx="5453063"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solidFill>
                  <a:srgbClr val="0000FF"/>
                </a:solidFill>
                <a:ea typeface="华文中宋" pitchFamily="2" charset="-122"/>
              </a:rPr>
              <a:t>2</a:t>
            </a:r>
            <a:r>
              <a:rPr lang="zh-CN" altLang="en-US" sz="1800" b="1">
                <a:solidFill>
                  <a:srgbClr val="0000FF"/>
                </a:solidFill>
                <a:ea typeface="华文中宋" pitchFamily="2" charset="-122"/>
              </a:rPr>
              <a:t>、一个分子单位</a:t>
            </a:r>
            <a:r>
              <a:rPr lang="zh-CN" altLang="en-US" sz="1800" b="1">
                <a:solidFill>
                  <a:srgbClr val="3333FF"/>
                </a:solidFill>
                <a:ea typeface="华文中宋" pitchFamily="2" charset="-122"/>
              </a:rPr>
              <a:t>时间内</a:t>
            </a:r>
            <a:r>
              <a:rPr lang="zh-CN" altLang="en-US" sz="1800" b="1">
                <a:solidFill>
                  <a:srgbClr val="0000FF"/>
                </a:solidFill>
                <a:ea typeface="华文中宋" pitchFamily="2" charset="-122"/>
              </a:rPr>
              <a:t>对</a:t>
            </a:r>
            <a:r>
              <a:rPr lang="en-US" altLang="zh-CN" sz="1800" b="1" i="1">
                <a:solidFill>
                  <a:srgbClr val="0000FF"/>
                </a:solidFill>
                <a:ea typeface="华文中宋" pitchFamily="2" charset="-122"/>
              </a:rPr>
              <a:t>A</a:t>
            </a:r>
            <a:r>
              <a:rPr lang="en-US" altLang="zh-CN" sz="1800" b="1" baseline="-25000">
                <a:solidFill>
                  <a:srgbClr val="0000FF"/>
                </a:solidFill>
                <a:ea typeface="华文中宋" pitchFamily="2" charset="-122"/>
              </a:rPr>
              <a:t>1</a:t>
            </a:r>
            <a:r>
              <a:rPr lang="zh-CN" altLang="en-US" sz="1800" b="1">
                <a:solidFill>
                  <a:srgbClr val="0000FF"/>
                </a:solidFill>
                <a:ea typeface="华文中宋" pitchFamily="2" charset="-122"/>
              </a:rPr>
              <a:t>的冲量（平均冲力）：</a:t>
            </a:r>
          </a:p>
        </p:txBody>
      </p:sp>
      <p:grpSp>
        <p:nvGrpSpPr>
          <p:cNvPr id="3" name="Group 31"/>
          <p:cNvGrpSpPr>
            <a:grpSpLocks/>
          </p:cNvGrpSpPr>
          <p:nvPr/>
        </p:nvGrpSpPr>
        <p:grpSpPr bwMode="auto">
          <a:xfrm>
            <a:off x="1289050" y="2570163"/>
            <a:ext cx="5562600" cy="403225"/>
            <a:chOff x="812" y="2159"/>
            <a:chExt cx="3504" cy="339"/>
          </a:xfrm>
        </p:grpSpPr>
        <p:sp>
          <p:nvSpPr>
            <p:cNvPr id="24590" name="Text Box 60"/>
            <p:cNvSpPr txBox="1">
              <a:spLocks noChangeArrowheads="1"/>
            </p:cNvSpPr>
            <p:nvPr/>
          </p:nvSpPr>
          <p:spPr bwMode="auto">
            <a:xfrm>
              <a:off x="812" y="2188"/>
              <a:ext cx="3504"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lang="en-US" altLang="zh-CN" sz="1800" b="1" i="1">
                  <a:ea typeface="华文中宋" pitchFamily="2" charset="-122"/>
                </a:rPr>
                <a:t>i</a:t>
              </a:r>
              <a:r>
                <a:rPr lang="zh-CN" altLang="en-US" sz="1800" b="1">
                  <a:ea typeface="华文中宋" pitchFamily="2" charset="-122"/>
                </a:rPr>
                <a:t>分子相继与</a:t>
              </a:r>
              <a:r>
                <a:rPr lang="en-US" altLang="zh-CN" sz="1800" b="1" i="1">
                  <a:ea typeface="华文中宋" pitchFamily="2" charset="-122"/>
                </a:rPr>
                <a:t>A</a:t>
              </a:r>
              <a:r>
                <a:rPr lang="en-US" altLang="zh-CN" sz="1800" b="1" baseline="-25000">
                  <a:ea typeface="华文中宋" pitchFamily="2" charset="-122"/>
                </a:rPr>
                <a:t>1</a:t>
              </a:r>
              <a:r>
                <a:rPr lang="zh-CN" altLang="en-US" sz="1800" b="1">
                  <a:ea typeface="华文中宋" pitchFamily="2" charset="-122"/>
                </a:rPr>
                <a:t>面碰撞的时间间隔</a:t>
              </a:r>
            </a:p>
          </p:txBody>
        </p:sp>
        <p:graphicFrame>
          <p:nvGraphicFramePr>
            <p:cNvPr id="24591" name="Object 31"/>
            <p:cNvGraphicFramePr>
              <a:graphicFrameLocks noChangeAspect="1"/>
            </p:cNvGraphicFramePr>
            <p:nvPr/>
          </p:nvGraphicFramePr>
          <p:xfrm>
            <a:off x="3370" y="2159"/>
            <a:ext cx="508" cy="320"/>
          </p:xfrm>
          <a:graphic>
            <a:graphicData uri="http://schemas.openxmlformats.org/presentationml/2006/ole">
              <p:oleObj spid="_x0000_s24621" name="Equation" r:id="rId4" imgW="368140" imgH="177723" progId="Equation.DSMT4">
                <p:embed/>
              </p:oleObj>
            </a:graphicData>
          </a:graphic>
        </p:graphicFrame>
      </p:grpSp>
      <p:grpSp>
        <p:nvGrpSpPr>
          <p:cNvPr id="4" name="Group 32"/>
          <p:cNvGrpSpPr>
            <a:grpSpLocks/>
          </p:cNvGrpSpPr>
          <p:nvPr/>
        </p:nvGrpSpPr>
        <p:grpSpPr bwMode="auto">
          <a:xfrm>
            <a:off x="1258888" y="3057525"/>
            <a:ext cx="4968875" cy="373063"/>
            <a:chOff x="735" y="2679"/>
            <a:chExt cx="3130" cy="313"/>
          </a:xfrm>
        </p:grpSpPr>
        <p:sp>
          <p:nvSpPr>
            <p:cNvPr id="24588" name="Text Box 65"/>
            <p:cNvSpPr txBox="1">
              <a:spLocks noChangeArrowheads="1"/>
            </p:cNvSpPr>
            <p:nvPr/>
          </p:nvSpPr>
          <p:spPr bwMode="auto">
            <a:xfrm>
              <a:off x="735" y="2682"/>
              <a:ext cx="2484"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ea typeface="华文中宋" pitchFamily="2" charset="-122"/>
                  <a:sym typeface="Symbol" pitchFamily="18" charset="2"/>
                </a:rPr>
                <a:t>单位时间</a:t>
              </a:r>
              <a:r>
                <a:rPr kumimoji="0" lang="en-US" altLang="zh-CN" sz="1800" b="1" i="1">
                  <a:ea typeface="华文中宋" pitchFamily="2" charset="-122"/>
                  <a:sym typeface="Symbol" pitchFamily="18" charset="2"/>
                </a:rPr>
                <a:t>i</a:t>
              </a:r>
              <a:r>
                <a:rPr kumimoji="0" lang="zh-CN" altLang="en-US" sz="1800" b="1">
                  <a:ea typeface="华文中宋" pitchFamily="2" charset="-122"/>
                  <a:sym typeface="Symbol" pitchFamily="18" charset="2"/>
                </a:rPr>
                <a:t>分子碰</a:t>
              </a:r>
              <a:r>
                <a:rPr lang="zh-CN" altLang="en-US" sz="1800" b="1">
                  <a:ea typeface="华文中宋" pitchFamily="2" charset="-122"/>
                </a:rPr>
                <a:t>撞</a:t>
              </a:r>
              <a:r>
                <a:rPr kumimoji="0" lang="en-US" altLang="zh-CN" sz="1800" b="1" i="1">
                  <a:ea typeface="华文中宋" pitchFamily="2" charset="-122"/>
                  <a:sym typeface="Symbol" pitchFamily="18" charset="2"/>
                </a:rPr>
                <a:t>A</a:t>
              </a:r>
              <a:r>
                <a:rPr kumimoji="0" lang="en-US" altLang="zh-CN" sz="1800" b="1" baseline="-25000">
                  <a:ea typeface="华文中宋" pitchFamily="2" charset="-122"/>
                  <a:sym typeface="Symbol" pitchFamily="18" charset="2"/>
                </a:rPr>
                <a:t>1</a:t>
              </a:r>
              <a:r>
                <a:rPr kumimoji="0" lang="zh-CN" altLang="en-US" sz="1800" b="1">
                  <a:ea typeface="华文中宋" pitchFamily="2" charset="-122"/>
                  <a:sym typeface="Symbol" pitchFamily="18" charset="2"/>
                </a:rPr>
                <a:t>的次数</a:t>
              </a:r>
            </a:p>
          </p:txBody>
        </p:sp>
        <p:graphicFrame>
          <p:nvGraphicFramePr>
            <p:cNvPr id="24589" name="Object 34"/>
            <p:cNvGraphicFramePr>
              <a:graphicFrameLocks noChangeAspect="1"/>
            </p:cNvGraphicFramePr>
            <p:nvPr/>
          </p:nvGraphicFramePr>
          <p:xfrm>
            <a:off x="3320" y="2679"/>
            <a:ext cx="545" cy="297"/>
          </p:xfrm>
          <a:graphic>
            <a:graphicData uri="http://schemas.openxmlformats.org/presentationml/2006/ole">
              <p:oleObj spid="_x0000_s24622" name="公式" r:id="rId5" imgW="368140" imgH="177723" progId="Equation.3">
                <p:embed/>
              </p:oleObj>
            </a:graphicData>
          </a:graphic>
        </p:graphicFrame>
      </p:grpSp>
      <p:sp>
        <p:nvSpPr>
          <p:cNvPr id="38" name="Text Box 67"/>
          <p:cNvSpPr txBox="1">
            <a:spLocks noChangeArrowheads="1"/>
          </p:cNvSpPr>
          <p:nvPr/>
        </p:nvSpPr>
        <p:spPr bwMode="auto">
          <a:xfrm>
            <a:off x="1274763" y="3614738"/>
            <a:ext cx="5745162"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zh-CN" altLang="en-US" sz="1800" b="1">
                <a:ea typeface="华文中宋" pitchFamily="2" charset="-122"/>
                <a:sym typeface="Symbol" pitchFamily="18" charset="2"/>
              </a:rPr>
              <a:t>单位时间</a:t>
            </a:r>
            <a:r>
              <a:rPr lang="zh-CN" altLang="en-US" sz="1800" b="1">
                <a:ea typeface="华文中宋" pitchFamily="2" charset="-122"/>
              </a:rPr>
              <a:t>器壁受的冲量（平均冲力）为</a:t>
            </a:r>
          </a:p>
        </p:txBody>
      </p:sp>
      <p:graphicFrame>
        <p:nvGraphicFramePr>
          <p:cNvPr id="39" name="Object 36"/>
          <p:cNvGraphicFramePr>
            <a:graphicFrameLocks noChangeAspect="1"/>
          </p:cNvGraphicFramePr>
          <p:nvPr/>
        </p:nvGraphicFramePr>
        <p:xfrm>
          <a:off x="2771775" y="3868738"/>
          <a:ext cx="3384550" cy="657225"/>
        </p:xfrm>
        <a:graphic>
          <a:graphicData uri="http://schemas.openxmlformats.org/presentationml/2006/ole">
            <p:oleObj spid="_x0000_s24623" name="公式" r:id="rId6" imgW="1371600" imgH="3556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3245"/>
                                        </p:tgtEl>
                                        <p:attrNameLst>
                                          <p:attrName>style.visibility</p:attrName>
                                        </p:attrNameLst>
                                      </p:cBhvr>
                                      <p:to>
                                        <p:strVal val="visible"/>
                                      </p:to>
                                    </p:set>
                                    <p:animEffect transition="in" filter="wipe(left)">
                                      <p:cBhvr>
                                        <p:cTn id="7" dur="500"/>
                                        <p:tgtEl>
                                          <p:spTgt spid="2232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wipe(left)">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42"/>
                                        </p:tgtEl>
                                        <p:attrNameLst>
                                          <p:attrName>style.visibility</p:attrName>
                                        </p:attrNameLst>
                                      </p:cBhvr>
                                      <p:to>
                                        <p:strVal val="visible"/>
                                      </p:to>
                                    </p:set>
                                    <p:animEffect transition="in" filter="wipe(left)">
                                      <p:cBhvr>
                                        <p:cTn id="22" dur="500"/>
                                        <p:tgtEl>
                                          <p:spTgt spid="4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43"/>
                                        </p:tgtEl>
                                        <p:attrNameLst>
                                          <p:attrName>style.visibility</p:attrName>
                                        </p:attrNameLst>
                                      </p:cBhvr>
                                      <p:to>
                                        <p:strVal val="visible"/>
                                      </p:to>
                                    </p:set>
                                    <p:animEffect transition="in" filter="wipe(left)">
                                      <p:cBhvr>
                                        <p:cTn id="27" dur="500"/>
                                        <p:tgtEl>
                                          <p:spTgt spid="4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44"/>
                                        </p:tgtEl>
                                        <p:attrNameLst>
                                          <p:attrName>style.visibility</p:attrName>
                                        </p:attrNameLst>
                                      </p:cBhvr>
                                      <p:to>
                                        <p:strVal val="visible"/>
                                      </p:to>
                                    </p:set>
                                    <p:animEffect transition="in" filter="wipe(left)">
                                      <p:cBhvr>
                                        <p:cTn id="32" dur="500"/>
                                        <p:tgtEl>
                                          <p:spTgt spid="4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3"/>
                                        </p:tgtEl>
                                        <p:attrNameLst>
                                          <p:attrName>style.visibility</p:attrName>
                                        </p:attrNameLst>
                                      </p:cBhvr>
                                      <p:to>
                                        <p:strVal val="visible"/>
                                      </p:to>
                                    </p:set>
                                    <p:animEffect transition="in" filter="blinds(horizontal)">
                                      <p:cBhvr>
                                        <p:cTn id="37" dur="500"/>
                                        <p:tgtEl>
                                          <p:spTgt spid="3"/>
                                        </p:tgtEl>
                                      </p:cBhvr>
                                    </p:animEffect>
                                  </p:childTnLst>
                                </p:cTn>
                              </p:par>
                              <p:par>
                                <p:cTn id="38" presetID="3" presetClass="entr" presetSubtype="10" fill="hold" nodeType="withEffect">
                                  <p:stCondLst>
                                    <p:cond delay="0"/>
                                  </p:stCondLst>
                                  <p:childTnLst>
                                    <p:set>
                                      <p:cBhvr>
                                        <p:cTn id="39" dur="1" fill="hold">
                                          <p:stCondLst>
                                            <p:cond delay="0"/>
                                          </p:stCondLst>
                                        </p:cTn>
                                        <p:tgtEl>
                                          <p:spTgt spid="4"/>
                                        </p:tgtEl>
                                        <p:attrNameLst>
                                          <p:attrName>style.visibility</p:attrName>
                                        </p:attrNameLst>
                                      </p:cBhvr>
                                      <p:to>
                                        <p:strVal val="visible"/>
                                      </p:to>
                                    </p:set>
                                    <p:animEffect transition="in" filter="blinds(horizontal)">
                                      <p:cBhvr>
                                        <p:cTn id="40" dur="500"/>
                                        <p:tgtEl>
                                          <p:spTgt spid="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38"/>
                                        </p:tgtEl>
                                        <p:attrNameLst>
                                          <p:attrName>style.visibility</p:attrName>
                                        </p:attrNameLst>
                                      </p:cBhvr>
                                      <p:to>
                                        <p:strVal val="visible"/>
                                      </p:to>
                                    </p:set>
                                    <p:animEffect transition="in" filter="wipe(left)">
                                      <p:cBhvr>
                                        <p:cTn id="45" dur="500"/>
                                        <p:tgtEl>
                                          <p:spTgt spid="38"/>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nodeType="clickEffect">
                                  <p:stCondLst>
                                    <p:cond delay="0"/>
                                  </p:stCondLst>
                                  <p:childTnLst>
                                    <p:set>
                                      <p:cBhvr>
                                        <p:cTn id="49" dur="1" fill="hold">
                                          <p:stCondLst>
                                            <p:cond delay="0"/>
                                          </p:stCondLst>
                                        </p:cTn>
                                        <p:tgtEl>
                                          <p:spTgt spid="39"/>
                                        </p:tgtEl>
                                        <p:attrNameLst>
                                          <p:attrName>style.visibility</p:attrName>
                                        </p:attrNameLst>
                                      </p:cBhvr>
                                      <p:to>
                                        <p:strVal val="visible"/>
                                      </p:to>
                                    </p:set>
                                    <p:animEffect transition="in" filter="wipe(left)">
                                      <p:cBhvr>
                                        <p:cTn id="50" dur="500"/>
                                        <p:tgtEl>
                                          <p:spTgt spid="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3245" grpId="0"/>
      <p:bldP spid="31" grpId="0"/>
      <p:bldP spid="43" grpId="0"/>
      <p:bldP spid="44" grpId="0"/>
      <p:bldP spid="38" grpId="0"/>
    </p:bld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285" name="Text Box 5"/>
          <p:cNvSpPr txBox="1">
            <a:spLocks noChangeArrowheads="1"/>
          </p:cNvSpPr>
          <p:nvPr/>
        </p:nvSpPr>
        <p:spPr bwMode="auto">
          <a:xfrm>
            <a:off x="611188" y="982663"/>
            <a:ext cx="5976937" cy="3984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solidFill>
                  <a:srgbClr val="0000FF"/>
                </a:solidFill>
                <a:ea typeface="华文中宋" pitchFamily="2" charset="-122"/>
              </a:rPr>
              <a:t>3</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N</a:t>
            </a:r>
            <a:r>
              <a:rPr lang="zh-CN" altLang="en-US" sz="1800" b="1">
                <a:solidFill>
                  <a:srgbClr val="0000FF"/>
                </a:solidFill>
                <a:ea typeface="华文中宋" pitchFamily="2" charset="-122"/>
              </a:rPr>
              <a:t>个分子单位时间内对</a:t>
            </a:r>
            <a:r>
              <a:rPr lang="en-US" altLang="zh-CN" sz="1800" b="1" i="1">
                <a:solidFill>
                  <a:srgbClr val="0000FF"/>
                </a:solidFill>
                <a:ea typeface="华文中宋" pitchFamily="2" charset="-122"/>
              </a:rPr>
              <a:t>A</a:t>
            </a:r>
            <a:r>
              <a:rPr lang="en-US" altLang="zh-CN" sz="1800" b="1" baseline="-25000">
                <a:solidFill>
                  <a:srgbClr val="0000FF"/>
                </a:solidFill>
                <a:ea typeface="华文中宋" pitchFamily="2" charset="-122"/>
              </a:rPr>
              <a:t>1</a:t>
            </a:r>
            <a:r>
              <a:rPr lang="zh-CN" altLang="en-US" sz="1800" b="1">
                <a:solidFill>
                  <a:srgbClr val="0000FF"/>
                </a:solidFill>
                <a:ea typeface="华文中宋" pitchFamily="2" charset="-122"/>
              </a:rPr>
              <a:t>的总平均冲量（总平均冲力）</a:t>
            </a:r>
          </a:p>
        </p:txBody>
      </p:sp>
      <p:graphicFrame>
        <p:nvGraphicFramePr>
          <p:cNvPr id="22542" name="Object 14"/>
          <p:cNvGraphicFramePr>
            <a:graphicFrameLocks noChangeAspect="1"/>
          </p:cNvGraphicFramePr>
          <p:nvPr/>
        </p:nvGraphicFramePr>
        <p:xfrm>
          <a:off x="6605588" y="876300"/>
          <a:ext cx="1998662" cy="687388"/>
        </p:xfrm>
        <a:graphic>
          <a:graphicData uri="http://schemas.openxmlformats.org/presentationml/2006/ole">
            <p:oleObj spid="_x0000_s25634" name="公式" r:id="rId3" imgW="939392" imgH="431613" progId="Equation.3">
              <p:embed/>
            </p:oleObj>
          </a:graphicData>
        </a:graphic>
      </p:graphicFrame>
      <p:sp>
        <p:nvSpPr>
          <p:cNvPr id="21" name="Text Box 9"/>
          <p:cNvSpPr txBox="1">
            <a:spLocks noChangeArrowheads="1"/>
          </p:cNvSpPr>
          <p:nvPr/>
        </p:nvSpPr>
        <p:spPr bwMode="auto">
          <a:xfrm>
            <a:off x="592138" y="1489075"/>
            <a:ext cx="621188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lang="en-US" altLang="zh-CN" sz="1800" b="1">
                <a:solidFill>
                  <a:srgbClr val="0000FF"/>
                </a:solidFill>
                <a:ea typeface="华文中宋" pitchFamily="2" charset="-122"/>
              </a:rPr>
              <a:t>4</a:t>
            </a:r>
            <a:r>
              <a:rPr lang="zh-CN" altLang="en-US" sz="1800" b="1">
                <a:solidFill>
                  <a:srgbClr val="0000FF"/>
                </a:solidFill>
                <a:ea typeface="华文中宋" pitchFamily="2" charset="-122"/>
              </a:rPr>
              <a:t>、在单位时间整个气体对器壁的压强</a:t>
            </a:r>
          </a:p>
        </p:txBody>
      </p:sp>
      <p:graphicFrame>
        <p:nvGraphicFramePr>
          <p:cNvPr id="31" name="Object 27"/>
          <p:cNvGraphicFramePr>
            <a:graphicFrameLocks noChangeAspect="1"/>
          </p:cNvGraphicFramePr>
          <p:nvPr/>
        </p:nvGraphicFramePr>
        <p:xfrm>
          <a:off x="2071688" y="1887538"/>
          <a:ext cx="4156075" cy="758825"/>
        </p:xfrm>
        <a:graphic>
          <a:graphicData uri="http://schemas.openxmlformats.org/presentationml/2006/ole">
            <p:oleObj spid="_x0000_s25635" name="公式" r:id="rId4" imgW="2222500" imgH="457200" progId="Equation.3">
              <p:embed/>
            </p:oleObj>
          </a:graphicData>
        </a:graphic>
      </p:graphicFrame>
      <p:graphicFrame>
        <p:nvGraphicFramePr>
          <p:cNvPr id="32" name="Object 28"/>
          <p:cNvGraphicFramePr>
            <a:graphicFrameLocks noChangeAspect="1"/>
          </p:cNvGraphicFramePr>
          <p:nvPr/>
        </p:nvGraphicFramePr>
        <p:xfrm>
          <a:off x="2609850" y="2616200"/>
          <a:ext cx="1817688" cy="820738"/>
        </p:xfrm>
        <a:graphic>
          <a:graphicData uri="http://schemas.openxmlformats.org/presentationml/2006/ole">
            <p:oleObj spid="_x0000_s25636" name="公式" r:id="rId5" imgW="927100" imgH="558800" progId="Equation.3">
              <p:embed/>
            </p:oleObj>
          </a:graphicData>
        </a:graphic>
      </p:graphicFrame>
      <p:graphicFrame>
        <p:nvGraphicFramePr>
          <p:cNvPr id="33" name="Object 29"/>
          <p:cNvGraphicFramePr>
            <a:graphicFrameLocks noChangeAspect="1"/>
          </p:cNvGraphicFramePr>
          <p:nvPr/>
        </p:nvGraphicFramePr>
        <p:xfrm>
          <a:off x="4716463" y="2857500"/>
          <a:ext cx="1079500" cy="579438"/>
        </p:xfrm>
        <a:graphic>
          <a:graphicData uri="http://schemas.openxmlformats.org/presentationml/2006/ole">
            <p:oleObj spid="_x0000_s25637" name="Equation" r:id="rId6" imgW="622030" imgH="444307" progId="Equation.3">
              <p:embed/>
            </p:oleObj>
          </a:graphicData>
        </a:graphic>
      </p:graphicFrame>
      <p:graphicFrame>
        <p:nvGraphicFramePr>
          <p:cNvPr id="34" name="Object 30"/>
          <p:cNvGraphicFramePr>
            <a:graphicFrameLocks noChangeAspect="1"/>
          </p:cNvGraphicFramePr>
          <p:nvPr/>
        </p:nvGraphicFramePr>
        <p:xfrm>
          <a:off x="3086100" y="3549650"/>
          <a:ext cx="2365375" cy="534988"/>
        </p:xfrm>
        <a:graphic>
          <a:graphicData uri="http://schemas.openxmlformats.org/presentationml/2006/ole">
            <p:oleObj spid="_x0000_s25638" name="公式" r:id="rId7" imgW="965200" imgH="292100" progId="Equation.3">
              <p:embed/>
            </p:oleObj>
          </a:graphicData>
        </a:graphic>
      </p:graphicFrame>
      <p:grpSp>
        <p:nvGrpSpPr>
          <p:cNvPr id="2" name="Group 15"/>
          <p:cNvGrpSpPr>
            <a:grpSpLocks/>
          </p:cNvGrpSpPr>
          <p:nvPr/>
        </p:nvGrpSpPr>
        <p:grpSpPr bwMode="auto">
          <a:xfrm>
            <a:off x="1079500" y="4210050"/>
            <a:ext cx="3779838" cy="468313"/>
            <a:chOff x="680" y="3385"/>
            <a:chExt cx="2381" cy="393"/>
          </a:xfrm>
        </p:grpSpPr>
        <p:sp>
          <p:nvSpPr>
            <p:cNvPr id="25611" name="Text Box 30"/>
            <p:cNvSpPr txBox="1">
              <a:spLocks noChangeArrowheads="1"/>
            </p:cNvSpPr>
            <p:nvPr/>
          </p:nvSpPr>
          <p:spPr bwMode="auto">
            <a:xfrm>
              <a:off x="680" y="3413"/>
              <a:ext cx="2381" cy="31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spcBef>
                  <a:spcPct val="50000"/>
                </a:spcBef>
              </a:pPr>
              <a:r>
                <a:rPr lang="zh-CN" altLang="en-US" sz="1800" b="1">
                  <a:ea typeface="华文中宋" pitchFamily="2" charset="-122"/>
                </a:rPr>
                <a:t>分子的平均平动动能</a:t>
              </a:r>
            </a:p>
          </p:txBody>
        </p:sp>
        <p:graphicFrame>
          <p:nvGraphicFramePr>
            <p:cNvPr id="25612" name="Object 32"/>
            <p:cNvGraphicFramePr>
              <a:graphicFrameLocks noChangeAspect="1"/>
            </p:cNvGraphicFramePr>
            <p:nvPr/>
          </p:nvGraphicFramePr>
          <p:xfrm>
            <a:off x="2109" y="3385"/>
            <a:ext cx="701" cy="393"/>
          </p:xfrm>
          <a:graphic>
            <a:graphicData uri="http://schemas.openxmlformats.org/presentationml/2006/ole">
              <p:oleObj spid="_x0000_s25639" name="Equation" r:id="rId8" imgW="723586" imgH="406224" progId="Equation.3">
                <p:embed/>
              </p:oleObj>
            </a:graphicData>
          </a:graphic>
        </p:graphicFrame>
      </p:grpSp>
      <p:graphicFrame>
        <p:nvGraphicFramePr>
          <p:cNvPr id="225312" name="Object 32"/>
          <p:cNvGraphicFramePr>
            <a:graphicFrameLocks noChangeAspect="1"/>
          </p:cNvGraphicFramePr>
          <p:nvPr/>
        </p:nvGraphicFramePr>
        <p:xfrm>
          <a:off x="4787900" y="4098925"/>
          <a:ext cx="1296988" cy="488950"/>
        </p:xfrm>
        <a:graphic>
          <a:graphicData uri="http://schemas.openxmlformats.org/presentationml/2006/ole">
            <p:oleObj spid="_x0000_s25640" name="公式" r:id="rId9" imgW="457200" imgH="2921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5285"/>
                                        </p:tgtEl>
                                        <p:attrNameLst>
                                          <p:attrName>style.visibility</p:attrName>
                                        </p:attrNameLst>
                                      </p:cBhvr>
                                      <p:to>
                                        <p:strVal val="visible"/>
                                      </p:to>
                                    </p:set>
                                    <p:animEffect transition="in" filter="wipe(left)">
                                      <p:cBhvr>
                                        <p:cTn id="7" dur="500"/>
                                        <p:tgtEl>
                                          <p:spTgt spid="2252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nodeType="clickEffect">
                                  <p:stCondLst>
                                    <p:cond delay="0"/>
                                  </p:stCondLst>
                                  <p:childTnLst>
                                    <p:set>
                                      <p:cBhvr>
                                        <p:cTn id="11" dur="1" fill="hold">
                                          <p:stCondLst>
                                            <p:cond delay="0"/>
                                          </p:stCondLst>
                                        </p:cTn>
                                        <p:tgtEl>
                                          <p:spTgt spid="22542"/>
                                        </p:tgtEl>
                                        <p:attrNameLst>
                                          <p:attrName>style.visibility</p:attrName>
                                        </p:attrNameLst>
                                      </p:cBhvr>
                                      <p:to>
                                        <p:strVal val="visible"/>
                                      </p:to>
                                    </p:set>
                                    <p:animEffect transition="in" filter="wipe(left)">
                                      <p:cBhvr>
                                        <p:cTn id="12" dur="500"/>
                                        <p:tgtEl>
                                          <p:spTgt spid="2254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21"/>
                                        </p:tgtEl>
                                        <p:attrNameLst>
                                          <p:attrName>style.visibility</p:attrName>
                                        </p:attrNameLst>
                                      </p:cBhvr>
                                      <p:to>
                                        <p:strVal val="visible"/>
                                      </p:to>
                                    </p:set>
                                    <p:animEffect transition="in" filter="wipe(left)">
                                      <p:cBhvr>
                                        <p:cTn id="17" dur="500"/>
                                        <p:tgtEl>
                                          <p:spTgt spid="2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1"/>
                                        </p:tgtEl>
                                        <p:attrNameLst>
                                          <p:attrName>style.visibility</p:attrName>
                                        </p:attrNameLst>
                                      </p:cBhvr>
                                      <p:to>
                                        <p:strVal val="visible"/>
                                      </p:to>
                                    </p:set>
                                    <p:animEffect transition="in" filter="wipe(left)">
                                      <p:cBhvr>
                                        <p:cTn id="22" dur="500"/>
                                        <p:tgtEl>
                                          <p:spTgt spid="3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2"/>
                                        </p:tgtEl>
                                        <p:attrNameLst>
                                          <p:attrName>style.visibility</p:attrName>
                                        </p:attrNameLst>
                                      </p:cBhvr>
                                      <p:to>
                                        <p:strVal val="visible"/>
                                      </p:to>
                                    </p:set>
                                    <p:animEffect transition="in" filter="wipe(left)">
                                      <p:cBhvr>
                                        <p:cTn id="27" dur="500"/>
                                        <p:tgtEl>
                                          <p:spTgt spid="32"/>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3"/>
                                        </p:tgtEl>
                                        <p:attrNameLst>
                                          <p:attrName>style.visibility</p:attrName>
                                        </p:attrNameLst>
                                      </p:cBhvr>
                                      <p:to>
                                        <p:strVal val="visible"/>
                                      </p:to>
                                    </p:set>
                                    <p:animEffect transition="in" filter="wipe(left)">
                                      <p:cBhvr>
                                        <p:cTn id="32" dur="500"/>
                                        <p:tgtEl>
                                          <p:spTgt spid="3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4"/>
                                        </p:tgtEl>
                                        <p:attrNameLst>
                                          <p:attrName>style.visibility</p:attrName>
                                        </p:attrNameLst>
                                      </p:cBhvr>
                                      <p:to>
                                        <p:strVal val="visible"/>
                                      </p:to>
                                    </p:set>
                                    <p:animEffect transition="in" filter="wipe(left)">
                                      <p:cBhvr>
                                        <p:cTn id="37" dur="500"/>
                                        <p:tgtEl>
                                          <p:spTgt spid="3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nodeType="clickEffect">
                                  <p:stCondLst>
                                    <p:cond delay="0"/>
                                  </p:stCondLst>
                                  <p:childTnLst>
                                    <p:set>
                                      <p:cBhvr>
                                        <p:cTn id="41" dur="1" fill="hold">
                                          <p:stCondLst>
                                            <p:cond delay="0"/>
                                          </p:stCondLst>
                                        </p:cTn>
                                        <p:tgtEl>
                                          <p:spTgt spid="2"/>
                                        </p:tgtEl>
                                        <p:attrNameLst>
                                          <p:attrName>style.visibility</p:attrName>
                                        </p:attrNameLst>
                                      </p:cBhvr>
                                      <p:to>
                                        <p:strVal val="visible"/>
                                      </p:to>
                                    </p:set>
                                    <p:animEffect transition="in" filter="blinds(horizontal)">
                                      <p:cBhvr>
                                        <p:cTn id="42" dur="500"/>
                                        <p:tgtEl>
                                          <p:spTgt spid="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25312"/>
                                        </p:tgtEl>
                                        <p:attrNameLst>
                                          <p:attrName>style.visibility</p:attrName>
                                        </p:attrNameLst>
                                      </p:cBhvr>
                                      <p:to>
                                        <p:strVal val="visible"/>
                                      </p:to>
                                    </p:set>
                                    <p:animEffect transition="in" filter="wipe(left)">
                                      <p:cBhvr>
                                        <p:cTn id="47" dur="500"/>
                                        <p:tgtEl>
                                          <p:spTgt spid="2253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285" grpId="0"/>
      <p:bldP spid="21" grpId="0" autoUpdateAnimBg="0"/>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4"/>
          <p:cNvSpPr txBox="1">
            <a:spLocks noChangeArrowheads="1"/>
          </p:cNvSpPr>
          <p:nvPr/>
        </p:nvSpPr>
        <p:spPr bwMode="auto">
          <a:xfrm>
            <a:off x="1042988" y="2157413"/>
            <a:ext cx="7354887" cy="701675"/>
          </a:xfrm>
          <a:prstGeom prst="rect">
            <a:avLst/>
          </a:prstGeom>
          <a:noFill/>
          <a:ln w="19050">
            <a:solidFill>
              <a:srgbClr val="FF0000"/>
            </a:solidFill>
            <a:prstDash val="dashDot"/>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lnSpc>
                <a:spcPct val="110000"/>
              </a:lnSpc>
            </a:pPr>
            <a:r>
              <a:rPr lang="zh-CN" altLang="en-US" sz="1800" b="1">
                <a:latin typeface="华文中宋" pitchFamily="2" charset="-122"/>
                <a:ea typeface="华文中宋" pitchFamily="2" charset="-122"/>
              </a:rPr>
              <a:t>压强是对大量分子的</a:t>
            </a:r>
            <a:r>
              <a:rPr lang="zh-CN" altLang="en-US" sz="1800" b="1">
                <a:solidFill>
                  <a:srgbClr val="3333FF"/>
                </a:solidFill>
                <a:latin typeface="华文中宋" pitchFamily="2" charset="-122"/>
                <a:ea typeface="华文中宋" pitchFamily="2" charset="-122"/>
              </a:rPr>
              <a:t>分子数密度</a:t>
            </a:r>
            <a:r>
              <a:rPr lang="zh-CN" altLang="en-US" sz="1800" b="1">
                <a:latin typeface="华文中宋" pitchFamily="2" charset="-122"/>
                <a:ea typeface="华文中宋" pitchFamily="2" charset="-122"/>
              </a:rPr>
              <a:t>和分子</a:t>
            </a:r>
            <a:r>
              <a:rPr lang="zh-CN" altLang="en-US" sz="1800" b="1">
                <a:solidFill>
                  <a:srgbClr val="3333FF"/>
                </a:solidFill>
                <a:latin typeface="华文中宋" pitchFamily="2" charset="-122"/>
                <a:ea typeface="华文中宋" pitchFamily="2" charset="-122"/>
              </a:rPr>
              <a:t>平均平动动能</a:t>
            </a:r>
            <a:r>
              <a:rPr lang="zh-CN" altLang="en-US" sz="1800" b="1">
                <a:latin typeface="华文中宋" pitchFamily="2" charset="-122"/>
                <a:ea typeface="华文中宋" pitchFamily="2" charset="-122"/>
              </a:rPr>
              <a:t>的统计平均结果。</a:t>
            </a:r>
          </a:p>
          <a:p>
            <a:pPr algn="r" eaLnBrk="1" hangingPunct="1">
              <a:lnSpc>
                <a:spcPct val="110000"/>
              </a:lnSpc>
            </a:pPr>
            <a:r>
              <a:rPr lang="zh-CN" altLang="en-US" sz="1800" b="1">
                <a:latin typeface="华文中宋" pitchFamily="2" charset="-122"/>
                <a:ea typeface="华文中宋" pitchFamily="2" charset="-122"/>
              </a:rPr>
              <a:t>                    </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这就是宏观量</a:t>
            </a:r>
            <a:r>
              <a:rPr lang="en-US" altLang="zh-CN" sz="1800" b="1" i="1">
                <a:ea typeface="华文中宋" pitchFamily="2" charset="-122"/>
              </a:rPr>
              <a:t>P</a:t>
            </a:r>
            <a:r>
              <a:rPr lang="zh-CN" altLang="en-US" sz="1800" b="1">
                <a:latin typeface="华文中宋" pitchFamily="2" charset="-122"/>
                <a:ea typeface="华文中宋" pitchFamily="2" charset="-122"/>
              </a:rPr>
              <a:t>与微观量之间的关系</a:t>
            </a:r>
          </a:p>
        </p:txBody>
      </p:sp>
      <p:sp>
        <p:nvSpPr>
          <p:cNvPr id="7" name="Text Box 5"/>
          <p:cNvSpPr txBox="1">
            <a:spLocks noChangeArrowheads="1"/>
          </p:cNvSpPr>
          <p:nvPr/>
        </p:nvSpPr>
        <p:spPr bwMode="auto">
          <a:xfrm>
            <a:off x="1403350" y="2979738"/>
            <a:ext cx="6975475"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lang="zh-CN" altLang="en-US" sz="1800" b="1">
                <a:solidFill>
                  <a:srgbClr val="0000FF"/>
                </a:solidFill>
                <a:latin typeface="华文中宋" pitchFamily="2" charset="-122"/>
                <a:ea typeface="华文中宋" pitchFamily="2" charset="-122"/>
              </a:rPr>
              <a:t>    （</a:t>
            </a:r>
            <a:r>
              <a:rPr lang="en-US" altLang="zh-CN" sz="1800" b="1">
                <a:solidFill>
                  <a:srgbClr val="0000FF"/>
                </a:solidFill>
                <a:latin typeface="华文中宋" pitchFamily="2" charset="-122"/>
                <a:ea typeface="华文中宋" pitchFamily="2" charset="-122"/>
              </a:rPr>
              <a:t>1</a:t>
            </a:r>
            <a:r>
              <a:rPr lang="zh-CN" altLang="en-US" sz="1800" b="1">
                <a:solidFill>
                  <a:srgbClr val="0000FF"/>
                </a:solidFill>
                <a:latin typeface="华文中宋" pitchFamily="2" charset="-122"/>
                <a:ea typeface="华文中宋" pitchFamily="2" charset="-122"/>
              </a:rPr>
              <a:t>）压强是统计结果，只有统计意义。</a:t>
            </a:r>
            <a:endParaRPr lang="en-US" altLang="zh-CN" sz="1800" b="1">
              <a:solidFill>
                <a:srgbClr val="0000FF"/>
              </a:solidFill>
              <a:latin typeface="华文中宋" pitchFamily="2" charset="-122"/>
              <a:ea typeface="华文中宋" pitchFamily="2" charset="-122"/>
            </a:endParaRPr>
          </a:p>
          <a:p>
            <a:pPr>
              <a:lnSpc>
                <a:spcPct val="110000"/>
              </a:lnSpc>
            </a:pPr>
            <a:r>
              <a:rPr lang="zh-CN" altLang="en-US" sz="1800" b="1">
                <a:latin typeface="华文中宋" pitchFamily="2" charset="-122"/>
                <a:ea typeface="华文中宋" pitchFamily="2" charset="-122"/>
              </a:rPr>
              <a:t>对少量分子或个别分子上述公式不成立。</a:t>
            </a:r>
          </a:p>
        </p:txBody>
      </p:sp>
      <p:sp>
        <p:nvSpPr>
          <p:cNvPr id="8" name="Text Box 6"/>
          <p:cNvSpPr txBox="1">
            <a:spLocks noChangeArrowheads="1"/>
          </p:cNvSpPr>
          <p:nvPr/>
        </p:nvSpPr>
        <p:spPr bwMode="auto">
          <a:xfrm>
            <a:off x="1682750" y="3651250"/>
            <a:ext cx="5761038" cy="376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0000FF"/>
                </a:solidFill>
                <a:latin typeface="华文中宋" pitchFamily="2" charset="-122"/>
                <a:ea typeface="华文中宋" pitchFamily="2" charset="-122"/>
              </a:rPr>
              <a:t>（</a:t>
            </a:r>
            <a:r>
              <a:rPr lang="en-US" altLang="zh-CN" sz="1800" b="1">
                <a:solidFill>
                  <a:srgbClr val="0000FF"/>
                </a:solidFill>
                <a:latin typeface="华文中宋" pitchFamily="2" charset="-122"/>
                <a:ea typeface="华文中宋" pitchFamily="2" charset="-122"/>
              </a:rPr>
              <a:t>2</a:t>
            </a:r>
            <a:r>
              <a:rPr lang="zh-CN" altLang="en-US" sz="1800" b="1">
                <a:solidFill>
                  <a:srgbClr val="0000FF"/>
                </a:solidFill>
                <a:latin typeface="华文中宋" pitchFamily="2" charset="-122"/>
                <a:ea typeface="华文中宋" pitchFamily="2" charset="-122"/>
              </a:rPr>
              <a:t>）气体压强与大气压强的区别：</a:t>
            </a:r>
          </a:p>
        </p:txBody>
      </p:sp>
      <p:sp>
        <p:nvSpPr>
          <p:cNvPr id="9" name="Text Box 7"/>
          <p:cNvSpPr txBox="1">
            <a:spLocks noChangeArrowheads="1"/>
          </p:cNvSpPr>
          <p:nvPr/>
        </p:nvSpPr>
        <p:spPr bwMode="auto">
          <a:xfrm>
            <a:off x="1358900" y="3975100"/>
            <a:ext cx="7605713"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latin typeface="华文中宋" pitchFamily="2" charset="-122"/>
                <a:ea typeface="华文中宋" pitchFamily="2" charset="-122"/>
              </a:rPr>
              <a:t>气体压强是容器壁的单位面积上受到的大量分子碰撞冲力的时间平均值；</a:t>
            </a:r>
          </a:p>
          <a:p>
            <a:pPr eaLnBrk="1" hangingPunct="1">
              <a:lnSpc>
                <a:spcPct val="110000"/>
              </a:lnSpc>
            </a:pPr>
            <a:r>
              <a:rPr lang="zh-CN" altLang="en-US" sz="1800" b="1">
                <a:latin typeface="华文中宋" pitchFamily="2" charset="-122"/>
                <a:ea typeface="华文中宋" pitchFamily="2" charset="-122"/>
              </a:rPr>
              <a:t>大气压强是空气重量所致。</a:t>
            </a:r>
          </a:p>
        </p:txBody>
      </p:sp>
      <p:sp>
        <p:nvSpPr>
          <p:cNvPr id="2" name="Text Box 5"/>
          <p:cNvSpPr txBox="1">
            <a:spLocks noChangeArrowheads="1"/>
          </p:cNvSpPr>
          <p:nvPr/>
        </p:nvSpPr>
        <p:spPr bwMode="auto">
          <a:xfrm>
            <a:off x="804863" y="2987675"/>
            <a:ext cx="9588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lang="zh-CN" altLang="en-US" sz="1800" b="1">
                <a:solidFill>
                  <a:srgbClr val="FF0000"/>
                </a:solidFill>
                <a:latin typeface="华文中宋" pitchFamily="2" charset="-122"/>
                <a:ea typeface="华文中宋" pitchFamily="2" charset="-122"/>
              </a:rPr>
              <a:t>讨论：</a:t>
            </a:r>
            <a:endParaRPr lang="zh-CN" altLang="en-US" sz="1800" b="1">
              <a:latin typeface="华文中宋" pitchFamily="2" charset="-122"/>
              <a:ea typeface="华文中宋" pitchFamily="2" charset="-122"/>
            </a:endParaRPr>
          </a:p>
        </p:txBody>
      </p:sp>
      <p:graphicFrame>
        <p:nvGraphicFramePr>
          <p:cNvPr id="26631" name="Object 10"/>
          <p:cNvGraphicFramePr>
            <a:graphicFrameLocks noChangeAspect="1"/>
          </p:cNvGraphicFramePr>
          <p:nvPr/>
        </p:nvGraphicFramePr>
        <p:xfrm>
          <a:off x="5003800" y="884238"/>
          <a:ext cx="1439863" cy="573087"/>
        </p:xfrm>
        <a:graphic>
          <a:graphicData uri="http://schemas.openxmlformats.org/presentationml/2006/ole">
            <p:oleObj spid="_x0000_s26641" name="公式" r:id="rId3" imgW="482391" imgH="291973" progId="Equation.3">
              <p:embed/>
            </p:oleObj>
          </a:graphicData>
        </a:graphic>
      </p:graphicFrame>
      <p:sp>
        <p:nvSpPr>
          <p:cNvPr id="26632" name="Text Box 11"/>
          <p:cNvSpPr txBox="1">
            <a:spLocks noChangeArrowheads="1"/>
          </p:cNvSpPr>
          <p:nvPr/>
        </p:nvSpPr>
        <p:spPr bwMode="auto">
          <a:xfrm>
            <a:off x="1331913" y="1025525"/>
            <a:ext cx="2124075" cy="323850"/>
          </a:xfrm>
          <a:prstGeom prst="rect">
            <a:avLst/>
          </a:prstGeom>
          <a:gradFill rotWithShape="0">
            <a:gsLst>
              <a:gs pos="0">
                <a:srgbClr val="FFFFDD"/>
              </a:gs>
              <a:gs pos="50000">
                <a:srgbClr val="FFFFFF"/>
              </a:gs>
              <a:gs pos="100000">
                <a:srgbClr val="FFFFDD"/>
              </a:gs>
            </a:gsLst>
            <a:lin ang="5400000" scaled="1"/>
          </a:gradFill>
          <a:ln w="9525">
            <a:solidFill>
              <a:srgbClr val="996633"/>
            </a:solidFill>
            <a:miter lim="800000"/>
            <a:headEnd/>
            <a:tailEnd/>
          </a:ln>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spcBef>
                <a:spcPct val="50000"/>
              </a:spcBef>
            </a:pPr>
            <a:r>
              <a:rPr kumimoji="0" lang="en-US" altLang="zh-CN" sz="1500" b="1">
                <a:solidFill>
                  <a:srgbClr val="CC0000"/>
                </a:solidFill>
                <a:latin typeface="华文中宋" pitchFamily="2" charset="-122"/>
                <a:ea typeface="华文中宋" pitchFamily="2" charset="-122"/>
              </a:rPr>
              <a:t> </a:t>
            </a:r>
            <a:r>
              <a:rPr kumimoji="0" lang="zh-CN" altLang="en-US" sz="1500" b="1">
                <a:solidFill>
                  <a:srgbClr val="1C1C1C"/>
                </a:solidFill>
                <a:latin typeface="华文中宋" pitchFamily="2" charset="-122"/>
                <a:ea typeface="华文中宋" pitchFamily="2" charset="-122"/>
              </a:rPr>
              <a:t>统计关系式</a:t>
            </a:r>
          </a:p>
        </p:txBody>
      </p:sp>
      <p:sp>
        <p:nvSpPr>
          <p:cNvPr id="26633" name="AutoShape 12"/>
          <p:cNvSpPr>
            <a:spLocks noChangeArrowheads="1"/>
          </p:cNvSpPr>
          <p:nvPr/>
        </p:nvSpPr>
        <p:spPr bwMode="auto">
          <a:xfrm>
            <a:off x="3560763" y="1125538"/>
            <a:ext cx="1371600" cy="114300"/>
          </a:xfrm>
          <a:prstGeom prst="leftRightArrow">
            <a:avLst>
              <a:gd name="adj1" fmla="val 50000"/>
              <a:gd name="adj2" fmla="val 180000"/>
            </a:avLst>
          </a:prstGeom>
          <a:solidFill>
            <a:srgbClr val="FFFFDD"/>
          </a:solidFill>
          <a:ln w="28575">
            <a:solidFill>
              <a:srgbClr val="996633"/>
            </a:solidFill>
            <a:miter lim="800000"/>
            <a:headEnd/>
            <a:tailEnd/>
          </a:ln>
        </p:spPr>
        <p:txBody>
          <a:bodyPr wrap="none" anchor="ctr"/>
          <a:lstStyle/>
          <a:p>
            <a:endParaRPr lang="zh-CN" altLang="en-US"/>
          </a:p>
        </p:txBody>
      </p:sp>
      <p:grpSp>
        <p:nvGrpSpPr>
          <p:cNvPr id="3" name="Group 20"/>
          <p:cNvGrpSpPr>
            <a:grpSpLocks/>
          </p:cNvGrpSpPr>
          <p:nvPr/>
        </p:nvGrpSpPr>
        <p:grpSpPr bwMode="auto">
          <a:xfrm>
            <a:off x="4427538" y="1338263"/>
            <a:ext cx="2952750" cy="711200"/>
            <a:chOff x="2789" y="744"/>
            <a:chExt cx="1860" cy="599"/>
          </a:xfrm>
        </p:grpSpPr>
        <p:sp>
          <p:nvSpPr>
            <p:cNvPr id="26636" name="Freeform 17"/>
            <p:cNvSpPr>
              <a:spLocks/>
            </p:cNvSpPr>
            <p:nvPr/>
          </p:nvSpPr>
          <p:spPr bwMode="auto">
            <a:xfrm>
              <a:off x="2789" y="744"/>
              <a:ext cx="1860" cy="388"/>
            </a:xfrm>
            <a:custGeom>
              <a:avLst/>
              <a:gdLst>
                <a:gd name="T0" fmla="*/ 0 w 2304"/>
                <a:gd name="T1" fmla="*/ 30 h 747"/>
                <a:gd name="T2" fmla="*/ 0 w 2304"/>
                <a:gd name="T3" fmla="*/ 55 h 747"/>
                <a:gd name="T4" fmla="*/ 1037 w 2304"/>
                <a:gd name="T5" fmla="*/ 55 h 747"/>
                <a:gd name="T6" fmla="*/ 1037 w 2304"/>
                <a:gd name="T7" fmla="*/ 26 h 747"/>
                <a:gd name="T8" fmla="*/ 777 w 2304"/>
                <a:gd name="T9" fmla="*/ 26 h 747"/>
                <a:gd name="T10" fmla="*/ 669 w 2304"/>
                <a:gd name="T11" fmla="*/ 2 h 747"/>
                <a:gd name="T12" fmla="*/ 734 w 2304"/>
                <a:gd name="T13" fmla="*/ 26 h 747"/>
                <a:gd name="T14" fmla="*/ 561 w 2304"/>
                <a:gd name="T15" fmla="*/ 26 h 747"/>
                <a:gd name="T16" fmla="*/ 539 w 2304"/>
                <a:gd name="T17" fmla="*/ 0 h 747"/>
                <a:gd name="T18" fmla="*/ 518 w 2304"/>
                <a:gd name="T19" fmla="*/ 26 h 747"/>
                <a:gd name="T20" fmla="*/ 0 w 2304"/>
                <a:gd name="T21" fmla="*/ 26 h 747"/>
                <a:gd name="T22" fmla="*/ 0 w 2304"/>
                <a:gd name="T23" fmla="*/ 37 h 747"/>
                <a:gd name="T24" fmla="*/ 0 60000 65536"/>
                <a:gd name="T25" fmla="*/ 0 60000 65536"/>
                <a:gd name="T26" fmla="*/ 0 60000 65536"/>
                <a:gd name="T27" fmla="*/ 0 60000 65536"/>
                <a:gd name="T28" fmla="*/ 0 60000 65536"/>
                <a:gd name="T29" fmla="*/ 0 60000 65536"/>
                <a:gd name="T30" fmla="*/ 0 60000 65536"/>
                <a:gd name="T31" fmla="*/ 0 60000 65536"/>
                <a:gd name="T32" fmla="*/ 0 60000 65536"/>
                <a:gd name="T33" fmla="*/ 0 60000 65536"/>
                <a:gd name="T34" fmla="*/ 0 60000 65536"/>
                <a:gd name="T35" fmla="*/ 0 60000 65536"/>
                <a:gd name="T36" fmla="*/ 0 w 2304"/>
                <a:gd name="T37" fmla="*/ 0 h 747"/>
                <a:gd name="T38" fmla="*/ 2304 w 2304"/>
                <a:gd name="T39" fmla="*/ 747 h 747"/>
              </a:gdLst>
              <a:ahLst/>
              <a:cxnLst>
                <a:cxn ang="T24">
                  <a:pos x="T0" y="T1"/>
                </a:cxn>
                <a:cxn ang="T25">
                  <a:pos x="T2" y="T3"/>
                </a:cxn>
                <a:cxn ang="T26">
                  <a:pos x="T4" y="T5"/>
                </a:cxn>
                <a:cxn ang="T27">
                  <a:pos x="T6" y="T7"/>
                </a:cxn>
                <a:cxn ang="T28">
                  <a:pos x="T8" y="T9"/>
                </a:cxn>
                <a:cxn ang="T29">
                  <a:pos x="T10" y="T11"/>
                </a:cxn>
                <a:cxn ang="T30">
                  <a:pos x="T12" y="T13"/>
                </a:cxn>
                <a:cxn ang="T31">
                  <a:pos x="T14" y="T15"/>
                </a:cxn>
                <a:cxn ang="T32">
                  <a:pos x="T16" y="T17"/>
                </a:cxn>
                <a:cxn ang="T33">
                  <a:pos x="T18" y="T19"/>
                </a:cxn>
                <a:cxn ang="T34">
                  <a:pos x="T20" y="T21"/>
                </a:cxn>
                <a:cxn ang="T35">
                  <a:pos x="T22" y="T23"/>
                </a:cxn>
              </a:cxnLst>
              <a:rect l="T36" t="T37" r="T38" b="T39"/>
              <a:pathLst>
                <a:path w="2304" h="747">
                  <a:moveTo>
                    <a:pt x="0" y="411"/>
                  </a:moveTo>
                  <a:lnTo>
                    <a:pt x="0" y="747"/>
                  </a:lnTo>
                  <a:lnTo>
                    <a:pt x="2304" y="747"/>
                  </a:lnTo>
                  <a:lnTo>
                    <a:pt x="2304" y="363"/>
                  </a:lnTo>
                  <a:lnTo>
                    <a:pt x="1728" y="363"/>
                  </a:lnTo>
                  <a:lnTo>
                    <a:pt x="1488" y="27"/>
                  </a:lnTo>
                  <a:lnTo>
                    <a:pt x="1632" y="363"/>
                  </a:lnTo>
                  <a:lnTo>
                    <a:pt x="1248" y="363"/>
                  </a:lnTo>
                  <a:lnTo>
                    <a:pt x="1200" y="0"/>
                  </a:lnTo>
                  <a:lnTo>
                    <a:pt x="1152" y="363"/>
                  </a:lnTo>
                  <a:lnTo>
                    <a:pt x="0" y="363"/>
                  </a:lnTo>
                  <a:lnTo>
                    <a:pt x="0" y="507"/>
                  </a:lnTo>
                </a:path>
              </a:pathLst>
            </a:custGeom>
            <a:solidFill>
              <a:srgbClr val="FFCCCC"/>
            </a:solidFill>
            <a:ln w="12700" cap="flat" cmpd="sng">
              <a:solidFill>
                <a:srgbClr val="CC0099"/>
              </a:solidFill>
              <a:prstDash val="solid"/>
              <a:round/>
              <a:headEnd type="none" w="med" len="med"/>
              <a:tailEnd type="none" w="med" len="med"/>
            </a:ln>
          </p:spPr>
          <p:txBody>
            <a:bodyPr>
              <a:spAutoFit/>
            </a:bodyPr>
            <a:lstStyle/>
            <a:p>
              <a:endParaRPr lang="zh-CN" altLang="en-US"/>
            </a:p>
          </p:txBody>
        </p:sp>
        <p:sp>
          <p:nvSpPr>
            <p:cNvPr id="26637" name="Text Box 18"/>
            <p:cNvSpPr txBox="1">
              <a:spLocks noChangeArrowheads="1"/>
            </p:cNvSpPr>
            <p:nvPr/>
          </p:nvSpPr>
          <p:spPr bwMode="auto">
            <a:xfrm>
              <a:off x="2789" y="1071"/>
              <a:ext cx="1860" cy="272"/>
            </a:xfrm>
            <a:prstGeom prst="rect">
              <a:avLst/>
            </a:prstGeom>
            <a:solidFill>
              <a:srgbClr val="FFCCCC"/>
            </a:solidFill>
            <a:ln>
              <a:noFill/>
            </a:ln>
            <a:extLst>
              <a:ext uri="{91240B29-F687-4F45-9708-019B960494DF}">
                <a14:hiddenLine xmlns:a14="http://schemas.microsoft.com/office/drawing/2010/main" xmlns="" w="317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kumimoji="0" lang="zh-CN" altLang="en-US" sz="1500" b="1">
                  <a:solidFill>
                    <a:srgbClr val="1C1C1C"/>
                  </a:solidFill>
                  <a:latin typeface="华文中宋" pitchFamily="2" charset="-122"/>
                  <a:ea typeface="华文中宋" pitchFamily="2" charset="-122"/>
                </a:rPr>
                <a:t>微观量的统计平均值</a:t>
              </a:r>
            </a:p>
          </p:txBody>
        </p:sp>
      </p:grpSp>
      <p:sp>
        <p:nvSpPr>
          <p:cNvPr id="108563" name="AutoShape 19"/>
          <p:cNvSpPr>
            <a:spLocks noChangeArrowheads="1"/>
          </p:cNvSpPr>
          <p:nvPr/>
        </p:nvSpPr>
        <p:spPr bwMode="auto">
          <a:xfrm rot="10800000">
            <a:off x="1474788" y="1687513"/>
            <a:ext cx="2162175" cy="323850"/>
          </a:xfrm>
          <a:prstGeom prst="wedgeRectCallout">
            <a:avLst>
              <a:gd name="adj1" fmla="val -118556"/>
              <a:gd name="adj2" fmla="val 155361"/>
            </a:avLst>
          </a:prstGeom>
          <a:solidFill>
            <a:srgbClr val="FFCCCC"/>
          </a:solidFill>
          <a:ln w="9525">
            <a:solidFill>
              <a:schemeClr val="tx1"/>
            </a:solidFill>
            <a:miter lim="800000"/>
            <a:headEnd/>
            <a:tailEnd/>
          </a:ln>
        </p:spPr>
        <p:txBody>
          <a:bodyPr rot="10800000">
            <a:spAutoFit/>
          </a:bodyPr>
          <a:lstStyle/>
          <a:p>
            <a:pPr algn="ctr"/>
            <a:r>
              <a:rPr kumimoji="0" lang="zh-CN" altLang="en-US" sz="1500" b="1">
                <a:solidFill>
                  <a:srgbClr val="1C1C1C"/>
                </a:solidFill>
                <a:latin typeface="华文中宋" pitchFamily="2" charset="-122"/>
                <a:ea typeface="华文中宋" pitchFamily="2" charset="-122"/>
              </a:rPr>
              <a:t>宏观可测量量</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08563"/>
                                        </p:tgtEl>
                                        <p:attrNameLst>
                                          <p:attrName>style.visibility</p:attrName>
                                        </p:attrNameLst>
                                      </p:cBhvr>
                                      <p:to>
                                        <p:strVal val="visible"/>
                                      </p:to>
                                    </p:set>
                                    <p:animEffect transition="in" filter="blinds(horizontal)">
                                      <p:cBhvr>
                                        <p:cTn id="12" dur="500"/>
                                        <p:tgtEl>
                                          <p:spTgt spid="108563"/>
                                        </p:tgtEl>
                                      </p:cBhvr>
                                    </p:animEffect>
                                  </p:childTnLst>
                                </p:cTn>
                              </p:par>
                              <p:par>
                                <p:cTn id="13" presetID="3" presetClass="entr" presetSubtype="10" fill="hold" nodeType="withEffect">
                                  <p:stCondLst>
                                    <p:cond delay="0"/>
                                  </p:stCondLst>
                                  <p:childTnLst>
                                    <p:set>
                                      <p:cBhvr>
                                        <p:cTn id="14" dur="1" fill="hold">
                                          <p:stCondLst>
                                            <p:cond delay="0"/>
                                          </p:stCondLst>
                                        </p:cTn>
                                        <p:tgtEl>
                                          <p:spTgt spid="3"/>
                                        </p:tgtEl>
                                        <p:attrNameLst>
                                          <p:attrName>style.visibility</p:attrName>
                                        </p:attrNameLst>
                                      </p:cBhvr>
                                      <p:to>
                                        <p:strVal val="visible"/>
                                      </p:to>
                                    </p:set>
                                    <p:animEffect transition="in" filter="blinds(horizontal)">
                                      <p:cBhvr>
                                        <p:cTn id="15" dur="500"/>
                                        <p:tgtEl>
                                          <p:spTgt spid="3"/>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22" presetClass="entr" presetSubtype="8" fill="hold" grpId="0"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wipe(left)">
                                      <p:cBhvr>
                                        <p:cTn id="20" dur="5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wipe(left)">
                                      <p:cBhvr>
                                        <p:cTn id="25" dur="500"/>
                                        <p:tgtEl>
                                          <p:spTgt spid="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8"/>
                                        </p:tgtEl>
                                        <p:attrNameLst>
                                          <p:attrName>style.visibility</p:attrName>
                                        </p:attrNameLst>
                                      </p:cBhvr>
                                      <p:to>
                                        <p:strVal val="visible"/>
                                      </p:to>
                                    </p:set>
                                    <p:animEffect transition="in" filter="wipe(left)">
                                      <p:cBhvr>
                                        <p:cTn id="30" dur="500"/>
                                        <p:tgtEl>
                                          <p:spTgt spid="8"/>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9">
                                            <p:txEl>
                                              <p:pRg st="0" end="0"/>
                                            </p:txEl>
                                          </p:spTgt>
                                        </p:tgtEl>
                                        <p:attrNameLst>
                                          <p:attrName>style.visibility</p:attrName>
                                        </p:attrNameLst>
                                      </p:cBhvr>
                                      <p:to>
                                        <p:strVal val="visible"/>
                                      </p:to>
                                    </p:set>
                                    <p:animEffect transition="in" filter="wipe(left)">
                                      <p:cBhvr>
                                        <p:cTn id="35" dur="500"/>
                                        <p:tgtEl>
                                          <p:spTgt spid="9">
                                            <p:txEl>
                                              <p:pRg st="0" end="0"/>
                                            </p:txEl>
                                          </p:spTgt>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9">
                                            <p:txEl>
                                              <p:pRg st="1" end="1"/>
                                            </p:txEl>
                                          </p:spTgt>
                                        </p:tgtEl>
                                        <p:attrNameLst>
                                          <p:attrName>style.visibility</p:attrName>
                                        </p:attrNameLst>
                                      </p:cBhvr>
                                      <p:to>
                                        <p:strVal val="visible"/>
                                      </p:to>
                                    </p:set>
                                    <p:animEffect transition="in" filter="wipe(left)">
                                      <p:cBhvr>
                                        <p:cTn id="40" dur="500"/>
                                        <p:tgtEl>
                                          <p:spTgt spid="9">
                                            <p:txEl>
                                              <p:pRg st="1" end="1"/>
                                            </p:txEl>
                                          </p:spTgt>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animBg="1"/>
      <p:bldP spid="7" grpId="0"/>
      <p:bldP spid="8" grpId="0"/>
      <p:bldP spid="9" grpId="0" build="p"/>
      <p:bldP spid="2" grpId="0"/>
      <p:bldP spid="108563" grpId="0" animBg="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8851" name="Text Box 3"/>
          <p:cNvSpPr txBox="1">
            <a:spLocks noChangeArrowheads="1"/>
          </p:cNvSpPr>
          <p:nvPr/>
        </p:nvSpPr>
        <p:spPr bwMode="auto">
          <a:xfrm>
            <a:off x="304800" y="795338"/>
            <a:ext cx="8382000" cy="1200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00FF"/>
                </a:solidFill>
                <a:ea typeface="华文中宋" pitchFamily="2" charset="-122"/>
              </a:rPr>
              <a:t>例  在一密闭容器中，储有</a:t>
            </a:r>
            <a:r>
              <a:rPr lang="en-US" altLang="zh-CN" sz="1800" b="1" i="1">
                <a:solidFill>
                  <a:srgbClr val="0000FF"/>
                </a:solidFill>
                <a:ea typeface="华文中宋" pitchFamily="2" charset="-122"/>
              </a:rPr>
              <a:t>A</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B</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C</a:t>
            </a:r>
            <a:r>
              <a:rPr lang="zh-CN" altLang="en-US" sz="1800" b="1">
                <a:solidFill>
                  <a:srgbClr val="0000FF"/>
                </a:solidFill>
                <a:ea typeface="华文中宋" pitchFamily="2" charset="-122"/>
              </a:rPr>
              <a:t>三种理想气体，处于平衡状态。</a:t>
            </a:r>
            <a:r>
              <a:rPr lang="en-US" altLang="zh-CN" sz="1800" b="1" i="1">
                <a:solidFill>
                  <a:srgbClr val="0000FF"/>
                </a:solidFill>
                <a:ea typeface="华文中宋" pitchFamily="2" charset="-122"/>
              </a:rPr>
              <a:t>A</a:t>
            </a:r>
            <a:r>
              <a:rPr lang="zh-CN" altLang="en-US" sz="1800" b="1">
                <a:solidFill>
                  <a:srgbClr val="0000FF"/>
                </a:solidFill>
                <a:ea typeface="华文中宋" pitchFamily="2" charset="-122"/>
              </a:rPr>
              <a:t>种气体的分子数密度为</a:t>
            </a:r>
            <a:r>
              <a:rPr lang="en-US" altLang="zh-CN" sz="1800" b="1" i="1">
                <a:solidFill>
                  <a:srgbClr val="0000FF"/>
                </a:solidFill>
                <a:ea typeface="华文中宋" pitchFamily="2" charset="-122"/>
              </a:rPr>
              <a:t>n</a:t>
            </a:r>
            <a:r>
              <a:rPr lang="en-US" altLang="zh-CN" sz="1800" b="1" baseline="-30000">
                <a:solidFill>
                  <a:srgbClr val="0000FF"/>
                </a:solidFill>
                <a:ea typeface="华文中宋" pitchFamily="2" charset="-122"/>
              </a:rPr>
              <a:t>1</a:t>
            </a:r>
            <a:r>
              <a:rPr lang="zh-CN" altLang="en-US" sz="1800" b="1">
                <a:solidFill>
                  <a:srgbClr val="0000FF"/>
                </a:solidFill>
                <a:ea typeface="华文中宋" pitchFamily="2" charset="-122"/>
              </a:rPr>
              <a:t>，它产生的压强为</a:t>
            </a:r>
            <a:r>
              <a:rPr lang="en-US" altLang="zh-CN" sz="1800" b="1" i="1">
                <a:solidFill>
                  <a:srgbClr val="0000FF"/>
                </a:solidFill>
                <a:ea typeface="华文中宋" pitchFamily="2" charset="-122"/>
              </a:rPr>
              <a:t>P</a:t>
            </a:r>
            <a:r>
              <a:rPr lang="en-US" altLang="zh-CN" sz="1800" b="1" baseline="-30000">
                <a:solidFill>
                  <a:srgbClr val="0000FF"/>
                </a:solidFill>
                <a:ea typeface="华文中宋" pitchFamily="2" charset="-122"/>
              </a:rPr>
              <a:t>1</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B</a:t>
            </a:r>
            <a:r>
              <a:rPr lang="zh-CN" altLang="en-US" sz="1800" b="1">
                <a:solidFill>
                  <a:srgbClr val="0000FF"/>
                </a:solidFill>
                <a:ea typeface="华文中宋" pitchFamily="2" charset="-122"/>
              </a:rPr>
              <a:t>种气体的分子数密度为</a:t>
            </a:r>
            <a:r>
              <a:rPr lang="en-US" altLang="zh-CN" sz="1800" b="1">
                <a:solidFill>
                  <a:srgbClr val="0000FF"/>
                </a:solidFill>
                <a:ea typeface="华文中宋" pitchFamily="2" charset="-122"/>
              </a:rPr>
              <a:t>2</a:t>
            </a:r>
            <a:r>
              <a:rPr lang="en-US" altLang="zh-CN" sz="1800" b="1" i="1">
                <a:solidFill>
                  <a:srgbClr val="0000FF"/>
                </a:solidFill>
                <a:ea typeface="华文中宋" pitchFamily="2" charset="-122"/>
              </a:rPr>
              <a:t>n</a:t>
            </a:r>
            <a:r>
              <a:rPr lang="en-US" altLang="zh-CN" sz="1800" b="1" baseline="-30000">
                <a:solidFill>
                  <a:srgbClr val="0000FF"/>
                </a:solidFill>
                <a:ea typeface="华文中宋" pitchFamily="2" charset="-122"/>
              </a:rPr>
              <a:t>1</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C</a:t>
            </a:r>
            <a:r>
              <a:rPr lang="zh-CN" altLang="en-US" sz="1800" b="1">
                <a:solidFill>
                  <a:srgbClr val="0000FF"/>
                </a:solidFill>
                <a:ea typeface="华文中宋" pitchFamily="2" charset="-122"/>
              </a:rPr>
              <a:t>种气体的分子数密度为</a:t>
            </a:r>
            <a:r>
              <a:rPr lang="en-US" altLang="zh-CN" sz="1800" b="1">
                <a:solidFill>
                  <a:srgbClr val="0000FF"/>
                </a:solidFill>
                <a:ea typeface="华文中宋" pitchFamily="2" charset="-122"/>
              </a:rPr>
              <a:t>3</a:t>
            </a:r>
            <a:r>
              <a:rPr lang="en-US" altLang="zh-CN" sz="1800" b="1" i="1">
                <a:solidFill>
                  <a:srgbClr val="0000FF"/>
                </a:solidFill>
                <a:ea typeface="华文中宋" pitchFamily="2" charset="-122"/>
              </a:rPr>
              <a:t>n</a:t>
            </a:r>
            <a:r>
              <a:rPr lang="en-US" altLang="zh-CN" sz="1800" b="1" baseline="-30000">
                <a:solidFill>
                  <a:srgbClr val="0000FF"/>
                </a:solidFill>
                <a:ea typeface="华文中宋" pitchFamily="2" charset="-122"/>
              </a:rPr>
              <a:t>1</a:t>
            </a:r>
            <a:r>
              <a:rPr lang="zh-CN" altLang="en-US" sz="1800" b="1">
                <a:solidFill>
                  <a:srgbClr val="0000FF"/>
                </a:solidFill>
                <a:ea typeface="华文中宋" pitchFamily="2" charset="-122"/>
              </a:rPr>
              <a:t>，则混合气体的压强</a:t>
            </a:r>
            <a:r>
              <a:rPr lang="en-US" altLang="zh-CN" sz="1800" b="1" i="1">
                <a:solidFill>
                  <a:srgbClr val="0000FF"/>
                </a:solidFill>
                <a:ea typeface="华文中宋" pitchFamily="2" charset="-122"/>
              </a:rPr>
              <a:t>P</a:t>
            </a:r>
            <a:r>
              <a:rPr lang="zh-CN" altLang="en-US" sz="1800" b="1">
                <a:solidFill>
                  <a:srgbClr val="0000FF"/>
                </a:solidFill>
                <a:ea typeface="华文中宋" pitchFamily="2" charset="-122"/>
              </a:rPr>
              <a:t>为（        ）</a:t>
            </a:r>
          </a:p>
          <a:p>
            <a:pPr algn="ctr" eaLnBrk="1" hangingPunct="1"/>
            <a:r>
              <a:rPr lang="zh-CN" altLang="en-US" sz="1800" b="1">
                <a:solidFill>
                  <a:srgbClr val="0000FF"/>
                </a:solidFill>
                <a:ea typeface="华文中宋" pitchFamily="2" charset="-122"/>
              </a:rPr>
              <a:t>                   </a:t>
            </a:r>
            <a:r>
              <a:rPr lang="en-US" altLang="zh-CN" sz="1800" b="1">
                <a:solidFill>
                  <a:srgbClr val="0000FF"/>
                </a:solidFill>
                <a:ea typeface="华文中宋" pitchFamily="2" charset="-122"/>
              </a:rPr>
              <a:t>(A) 3</a:t>
            </a:r>
            <a:r>
              <a:rPr lang="en-US" altLang="zh-CN" sz="1800" b="1" i="1">
                <a:solidFill>
                  <a:srgbClr val="0000FF"/>
                </a:solidFill>
                <a:ea typeface="华文中宋" pitchFamily="2" charset="-122"/>
              </a:rPr>
              <a:t>P</a:t>
            </a:r>
            <a:r>
              <a:rPr lang="en-US" altLang="zh-CN" sz="1800" b="1" baseline="-30000">
                <a:solidFill>
                  <a:srgbClr val="0000FF"/>
                </a:solidFill>
                <a:ea typeface="华文中宋" pitchFamily="2" charset="-122"/>
              </a:rPr>
              <a:t>1</a:t>
            </a:r>
            <a:r>
              <a:rPr lang="en-US" altLang="zh-CN" sz="1800" b="1">
                <a:solidFill>
                  <a:srgbClr val="0000FF"/>
                </a:solidFill>
                <a:ea typeface="华文中宋" pitchFamily="2" charset="-122"/>
              </a:rPr>
              <a:t>        (B) 4</a:t>
            </a:r>
            <a:r>
              <a:rPr lang="en-US" altLang="zh-CN" sz="1800" b="1" i="1">
                <a:solidFill>
                  <a:srgbClr val="0000FF"/>
                </a:solidFill>
                <a:ea typeface="华文中宋" pitchFamily="2" charset="-122"/>
              </a:rPr>
              <a:t>P</a:t>
            </a:r>
            <a:r>
              <a:rPr lang="en-US" altLang="zh-CN" sz="1800" b="1" baseline="-30000">
                <a:solidFill>
                  <a:srgbClr val="0000FF"/>
                </a:solidFill>
                <a:ea typeface="华文中宋" pitchFamily="2" charset="-122"/>
              </a:rPr>
              <a:t>1</a:t>
            </a:r>
            <a:r>
              <a:rPr lang="en-US" altLang="zh-CN" sz="1800" b="1">
                <a:solidFill>
                  <a:srgbClr val="0000FF"/>
                </a:solidFill>
                <a:ea typeface="华文中宋" pitchFamily="2" charset="-122"/>
              </a:rPr>
              <a:t>        (C) 5</a:t>
            </a:r>
            <a:r>
              <a:rPr lang="en-US" altLang="zh-CN" sz="1800" b="1" i="1">
                <a:solidFill>
                  <a:srgbClr val="0000FF"/>
                </a:solidFill>
                <a:ea typeface="华文中宋" pitchFamily="2" charset="-122"/>
              </a:rPr>
              <a:t>P</a:t>
            </a:r>
            <a:r>
              <a:rPr lang="en-US" altLang="zh-CN" sz="1800" b="1" baseline="-30000">
                <a:solidFill>
                  <a:srgbClr val="0000FF"/>
                </a:solidFill>
                <a:ea typeface="华文中宋" pitchFamily="2" charset="-122"/>
              </a:rPr>
              <a:t>1</a:t>
            </a:r>
            <a:r>
              <a:rPr lang="en-US" altLang="zh-CN" sz="1800" b="1">
                <a:solidFill>
                  <a:srgbClr val="0000FF"/>
                </a:solidFill>
                <a:ea typeface="华文中宋" pitchFamily="2" charset="-122"/>
              </a:rPr>
              <a:t>       (D) 6</a:t>
            </a:r>
            <a:r>
              <a:rPr lang="en-US" altLang="zh-CN" sz="1800" b="1" i="1">
                <a:solidFill>
                  <a:srgbClr val="0000FF"/>
                </a:solidFill>
                <a:ea typeface="华文中宋" pitchFamily="2" charset="-122"/>
              </a:rPr>
              <a:t>P</a:t>
            </a:r>
            <a:r>
              <a:rPr lang="en-US" altLang="zh-CN" sz="1800" b="1" baseline="-30000">
                <a:solidFill>
                  <a:srgbClr val="0000FF"/>
                </a:solidFill>
                <a:ea typeface="华文中宋" pitchFamily="2" charset="-122"/>
              </a:rPr>
              <a:t>1</a:t>
            </a:r>
            <a:r>
              <a:rPr lang="en-US" altLang="zh-CN" sz="1800" b="1">
                <a:solidFill>
                  <a:srgbClr val="0000FF"/>
                </a:solidFill>
                <a:ea typeface="华文中宋" pitchFamily="2" charset="-122"/>
              </a:rPr>
              <a:t> </a:t>
            </a:r>
          </a:p>
        </p:txBody>
      </p:sp>
      <p:sp>
        <p:nvSpPr>
          <p:cNvPr id="78852" name="Text Box 4"/>
          <p:cNvSpPr txBox="1">
            <a:spLocks noChangeArrowheads="1"/>
          </p:cNvSpPr>
          <p:nvPr/>
        </p:nvSpPr>
        <p:spPr bwMode="auto">
          <a:xfrm>
            <a:off x="539750" y="2046288"/>
            <a:ext cx="7969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FF0000"/>
                </a:solidFill>
                <a:ea typeface="华文中宋" pitchFamily="2" charset="-122"/>
              </a:rPr>
              <a:t>解：</a:t>
            </a:r>
          </a:p>
        </p:txBody>
      </p:sp>
      <p:graphicFrame>
        <p:nvGraphicFramePr>
          <p:cNvPr id="78857" name="Object 9"/>
          <p:cNvGraphicFramePr>
            <a:graphicFrameLocks noChangeAspect="1"/>
          </p:cNvGraphicFramePr>
          <p:nvPr/>
        </p:nvGraphicFramePr>
        <p:xfrm>
          <a:off x="3613150" y="2768600"/>
          <a:ext cx="1319213" cy="342900"/>
        </p:xfrm>
        <a:graphic>
          <a:graphicData uri="http://schemas.openxmlformats.org/presentationml/2006/ole">
            <p:oleObj spid="_x0000_s27673" name="公式" r:id="rId3" imgW="482391" imgH="165028" progId="Equation.3">
              <p:embed/>
            </p:oleObj>
          </a:graphicData>
        </a:graphic>
      </p:graphicFrame>
      <p:graphicFrame>
        <p:nvGraphicFramePr>
          <p:cNvPr id="78858" name="Object 10"/>
          <p:cNvGraphicFramePr>
            <a:graphicFrameLocks noChangeAspect="1"/>
          </p:cNvGraphicFramePr>
          <p:nvPr/>
        </p:nvGraphicFramePr>
        <p:xfrm>
          <a:off x="3608388" y="3200400"/>
          <a:ext cx="2043112" cy="341313"/>
        </p:xfrm>
        <a:graphic>
          <a:graphicData uri="http://schemas.openxmlformats.org/presentationml/2006/ole">
            <p:oleObj spid="_x0000_s27674" name="公式" r:id="rId4" imgW="748975" imgH="165028" progId="Equation.3">
              <p:embed/>
            </p:oleObj>
          </a:graphicData>
        </a:graphic>
      </p:graphicFrame>
      <p:graphicFrame>
        <p:nvGraphicFramePr>
          <p:cNvPr id="78859" name="Object 11"/>
          <p:cNvGraphicFramePr>
            <a:graphicFrameLocks noChangeAspect="1"/>
          </p:cNvGraphicFramePr>
          <p:nvPr/>
        </p:nvGraphicFramePr>
        <p:xfrm>
          <a:off x="3584575" y="3635375"/>
          <a:ext cx="2139950" cy="374650"/>
        </p:xfrm>
        <a:graphic>
          <a:graphicData uri="http://schemas.openxmlformats.org/presentationml/2006/ole">
            <p:oleObj spid="_x0000_s27675" name="公式" r:id="rId5" imgW="748975" imgH="177723" progId="Equation.3">
              <p:embed/>
            </p:oleObj>
          </a:graphicData>
        </a:graphic>
      </p:graphicFrame>
      <p:graphicFrame>
        <p:nvGraphicFramePr>
          <p:cNvPr id="78860" name="Object 12"/>
          <p:cNvGraphicFramePr>
            <a:graphicFrameLocks noChangeAspect="1"/>
          </p:cNvGraphicFramePr>
          <p:nvPr/>
        </p:nvGraphicFramePr>
        <p:xfrm>
          <a:off x="3606800" y="4064000"/>
          <a:ext cx="2836863" cy="379413"/>
        </p:xfrm>
        <a:graphic>
          <a:graphicData uri="http://schemas.openxmlformats.org/presentationml/2006/ole">
            <p:oleObj spid="_x0000_s27676" name="公式" r:id="rId6" imgW="1002865" imgH="177723" progId="Equation.3">
              <p:embed/>
            </p:oleObj>
          </a:graphicData>
        </a:graphic>
      </p:graphicFrame>
      <p:graphicFrame>
        <p:nvGraphicFramePr>
          <p:cNvPr id="78861" name="Object 13"/>
          <p:cNvGraphicFramePr>
            <a:graphicFrameLocks noChangeAspect="1"/>
          </p:cNvGraphicFramePr>
          <p:nvPr/>
        </p:nvGraphicFramePr>
        <p:xfrm>
          <a:off x="3348038" y="2379663"/>
          <a:ext cx="1512887" cy="320675"/>
        </p:xfrm>
        <a:graphic>
          <a:graphicData uri="http://schemas.openxmlformats.org/presentationml/2006/ole">
            <p:oleObj spid="_x0000_s27677" name="公式" r:id="rId7" imgW="495085" imgH="139639" progId="Equation.3">
              <p:embed/>
            </p:oleObj>
          </a:graphicData>
        </a:graphic>
      </p:graphicFrame>
      <p:sp>
        <p:nvSpPr>
          <p:cNvPr id="78862" name="Text Box 14"/>
          <p:cNvSpPr txBox="1">
            <a:spLocks noChangeArrowheads="1"/>
          </p:cNvSpPr>
          <p:nvPr/>
        </p:nvSpPr>
        <p:spPr bwMode="auto">
          <a:xfrm>
            <a:off x="4243388" y="1317625"/>
            <a:ext cx="5048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en-US" altLang="zh-CN" sz="1800" b="1">
                <a:ea typeface="华文中宋" pitchFamily="2" charset="-122"/>
              </a:rPr>
              <a:t>D</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78851"/>
                                        </p:tgtEl>
                                        <p:attrNameLst>
                                          <p:attrName>style.visibility</p:attrName>
                                        </p:attrNameLst>
                                      </p:cBhvr>
                                      <p:to>
                                        <p:strVal val="visible"/>
                                      </p:to>
                                    </p:set>
                                    <p:animEffect transition="in" filter="blinds(horizontal)">
                                      <p:cBhvr>
                                        <p:cTn id="7" dur="500"/>
                                        <p:tgtEl>
                                          <p:spTgt spid="7885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78852"/>
                                        </p:tgtEl>
                                        <p:attrNameLst>
                                          <p:attrName>style.visibility</p:attrName>
                                        </p:attrNameLst>
                                      </p:cBhvr>
                                      <p:to>
                                        <p:strVal val="visible"/>
                                      </p:to>
                                    </p:set>
                                    <p:animEffect transition="in" filter="blinds(horizontal)">
                                      <p:cBhvr>
                                        <p:cTn id="12" dur="500"/>
                                        <p:tgtEl>
                                          <p:spTgt spid="7885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5" fill="hold" nodeType="clickEffect">
                                  <p:stCondLst>
                                    <p:cond delay="0"/>
                                  </p:stCondLst>
                                  <p:childTnLst>
                                    <p:set>
                                      <p:cBhvr>
                                        <p:cTn id="16" dur="1" fill="hold">
                                          <p:stCondLst>
                                            <p:cond delay="0"/>
                                          </p:stCondLst>
                                        </p:cTn>
                                        <p:tgtEl>
                                          <p:spTgt spid="78861"/>
                                        </p:tgtEl>
                                        <p:attrNameLst>
                                          <p:attrName>style.visibility</p:attrName>
                                        </p:attrNameLst>
                                      </p:cBhvr>
                                      <p:to>
                                        <p:strVal val="visible"/>
                                      </p:to>
                                    </p:set>
                                    <p:animEffect transition="in" filter="blinds(vertical)">
                                      <p:cBhvr>
                                        <p:cTn id="17" dur="500"/>
                                        <p:tgtEl>
                                          <p:spTgt spid="7886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78857"/>
                                        </p:tgtEl>
                                        <p:attrNameLst>
                                          <p:attrName>style.visibility</p:attrName>
                                        </p:attrNameLst>
                                      </p:cBhvr>
                                      <p:to>
                                        <p:strVal val="visible"/>
                                      </p:to>
                                    </p:set>
                                    <p:animEffect transition="in" filter="blinds(horizontal)">
                                      <p:cBhvr>
                                        <p:cTn id="22" dur="500"/>
                                        <p:tgtEl>
                                          <p:spTgt spid="78857"/>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78858"/>
                                        </p:tgtEl>
                                        <p:attrNameLst>
                                          <p:attrName>style.visibility</p:attrName>
                                        </p:attrNameLst>
                                      </p:cBhvr>
                                      <p:to>
                                        <p:strVal val="visible"/>
                                      </p:to>
                                    </p:set>
                                    <p:animEffect transition="in" filter="blinds(horizontal)">
                                      <p:cBhvr>
                                        <p:cTn id="27" dur="500"/>
                                        <p:tgtEl>
                                          <p:spTgt spid="7885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78859"/>
                                        </p:tgtEl>
                                        <p:attrNameLst>
                                          <p:attrName>style.visibility</p:attrName>
                                        </p:attrNameLst>
                                      </p:cBhvr>
                                      <p:to>
                                        <p:strVal val="visible"/>
                                      </p:to>
                                    </p:set>
                                    <p:animEffect transition="in" filter="blinds(horizontal)">
                                      <p:cBhvr>
                                        <p:cTn id="32" dur="500"/>
                                        <p:tgtEl>
                                          <p:spTgt spid="7885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nodeType="clickEffect">
                                  <p:stCondLst>
                                    <p:cond delay="0"/>
                                  </p:stCondLst>
                                  <p:childTnLst>
                                    <p:set>
                                      <p:cBhvr>
                                        <p:cTn id="36" dur="1" fill="hold">
                                          <p:stCondLst>
                                            <p:cond delay="0"/>
                                          </p:stCondLst>
                                        </p:cTn>
                                        <p:tgtEl>
                                          <p:spTgt spid="78860"/>
                                        </p:tgtEl>
                                        <p:attrNameLst>
                                          <p:attrName>style.visibility</p:attrName>
                                        </p:attrNameLst>
                                      </p:cBhvr>
                                      <p:to>
                                        <p:strVal val="visible"/>
                                      </p:to>
                                    </p:set>
                                    <p:animEffect transition="in" filter="blinds(horizontal)">
                                      <p:cBhvr>
                                        <p:cTn id="37" dur="500"/>
                                        <p:tgtEl>
                                          <p:spTgt spid="7886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78862"/>
                                        </p:tgtEl>
                                        <p:attrNameLst>
                                          <p:attrName>style.visibility</p:attrName>
                                        </p:attrNameLst>
                                      </p:cBhvr>
                                      <p:to>
                                        <p:strVal val="visible"/>
                                      </p:to>
                                    </p:set>
                                    <p:animEffect transition="in" filter="blinds(horizontal)">
                                      <p:cBhvr>
                                        <p:cTn id="42" dur="500"/>
                                        <p:tgtEl>
                                          <p:spTgt spid="7886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8851" grpId="0" autoUpdateAnimBg="0"/>
      <p:bldP spid="78852" grpId="0" autoUpdateAnimBg="0"/>
      <p:bldP spid="78862" grpId="0" autoUpdateAnimBg="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2" name="Text Box 4"/>
          <p:cNvSpPr txBox="1">
            <a:spLocks noChangeArrowheads="1"/>
          </p:cNvSpPr>
          <p:nvPr/>
        </p:nvSpPr>
        <p:spPr bwMode="auto">
          <a:xfrm>
            <a:off x="250825" y="784905"/>
            <a:ext cx="8642350" cy="11387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700" b="1" dirty="0">
                <a:solidFill>
                  <a:srgbClr val="0000FF"/>
                </a:solidFill>
                <a:ea typeface="华文中宋" pitchFamily="2" charset="-122"/>
              </a:rPr>
              <a:t>例  对一定质量的气体来说，</a:t>
            </a:r>
          </a:p>
          <a:p>
            <a:pPr eaLnBrk="1" hangingPunct="1"/>
            <a:r>
              <a:rPr kumimoji="0" lang="zh-CN" altLang="en-US" sz="1700" b="1" dirty="0">
                <a:solidFill>
                  <a:srgbClr val="0000FF"/>
                </a:solidFill>
                <a:ea typeface="华文中宋" pitchFamily="2" charset="-122"/>
              </a:rPr>
              <a:t>    </a:t>
            </a:r>
            <a:r>
              <a:rPr kumimoji="0" lang="zh-CN" altLang="en-US" sz="1700" b="1" dirty="0" smtClean="0">
                <a:solidFill>
                  <a:srgbClr val="0000FF"/>
                </a:solidFill>
                <a:ea typeface="华文中宋" pitchFamily="2" charset="-122"/>
              </a:rPr>
              <a:t>  当</a:t>
            </a:r>
            <a:r>
              <a:rPr kumimoji="0" lang="zh-CN" altLang="en-US" sz="1700" b="1" dirty="0">
                <a:solidFill>
                  <a:srgbClr val="0000FF"/>
                </a:solidFill>
                <a:ea typeface="华文中宋" pitchFamily="2" charset="-122"/>
              </a:rPr>
              <a:t>温度不变时，气体的压强随体积减小而增大</a:t>
            </a:r>
            <a:r>
              <a:rPr kumimoji="0" lang="en-US" altLang="zh-CN" sz="1700" b="1" dirty="0">
                <a:solidFill>
                  <a:srgbClr val="0000FF"/>
                </a:solidFill>
                <a:ea typeface="华文中宋" pitchFamily="2" charset="-122"/>
              </a:rPr>
              <a:t>(</a:t>
            </a:r>
            <a:r>
              <a:rPr kumimoji="0" lang="zh-CN" altLang="en-US" sz="1700" b="1" dirty="0">
                <a:solidFill>
                  <a:srgbClr val="0000FF"/>
                </a:solidFill>
                <a:ea typeface="华文中宋" pitchFamily="2" charset="-122"/>
              </a:rPr>
              <a:t>玻意耳定律</a:t>
            </a:r>
            <a:r>
              <a:rPr kumimoji="0" lang="en-US" altLang="zh-CN" sz="1700" b="1" dirty="0">
                <a:solidFill>
                  <a:srgbClr val="0000FF"/>
                </a:solidFill>
                <a:ea typeface="华文中宋" pitchFamily="2" charset="-122"/>
              </a:rPr>
              <a:t>)</a:t>
            </a:r>
            <a:r>
              <a:rPr kumimoji="0" lang="zh-CN" altLang="en-US" sz="1700" b="1" dirty="0">
                <a:solidFill>
                  <a:srgbClr val="0000FF"/>
                </a:solidFill>
                <a:ea typeface="华文中宋" pitchFamily="2" charset="-122"/>
              </a:rPr>
              <a:t>；</a:t>
            </a:r>
          </a:p>
          <a:p>
            <a:pPr eaLnBrk="1" hangingPunct="1"/>
            <a:r>
              <a:rPr kumimoji="0" lang="zh-CN" altLang="en-US" sz="1700" b="1" dirty="0">
                <a:solidFill>
                  <a:srgbClr val="0000FF"/>
                </a:solidFill>
                <a:ea typeface="华文中宋" pitchFamily="2" charset="-122"/>
              </a:rPr>
              <a:t>   </a:t>
            </a:r>
            <a:r>
              <a:rPr kumimoji="0" lang="zh-CN" altLang="en-US" sz="1700" b="1" dirty="0" smtClean="0">
                <a:solidFill>
                  <a:srgbClr val="0000FF"/>
                </a:solidFill>
                <a:ea typeface="华文中宋" pitchFamily="2" charset="-122"/>
              </a:rPr>
              <a:t>   </a:t>
            </a:r>
            <a:r>
              <a:rPr kumimoji="0" lang="zh-CN" altLang="en-US" sz="1700" b="1" dirty="0">
                <a:solidFill>
                  <a:srgbClr val="0000FF"/>
                </a:solidFill>
                <a:ea typeface="华文中宋" pitchFamily="2" charset="-122"/>
              </a:rPr>
              <a:t>当体积不变时，气体的压强随温度升高而增大</a:t>
            </a:r>
            <a:r>
              <a:rPr kumimoji="0" lang="en-US" altLang="zh-CN" sz="1700" b="1" dirty="0">
                <a:solidFill>
                  <a:srgbClr val="0000FF"/>
                </a:solidFill>
                <a:ea typeface="华文中宋" pitchFamily="2" charset="-122"/>
              </a:rPr>
              <a:t>(</a:t>
            </a:r>
            <a:r>
              <a:rPr kumimoji="0" lang="zh-CN" altLang="en-US" sz="1700" b="1" dirty="0">
                <a:solidFill>
                  <a:srgbClr val="0000FF"/>
                </a:solidFill>
                <a:ea typeface="华文中宋" pitchFamily="2" charset="-122"/>
              </a:rPr>
              <a:t>查理定律</a:t>
            </a:r>
            <a:r>
              <a:rPr kumimoji="0" lang="en-US" altLang="zh-CN" sz="1700" b="1" dirty="0">
                <a:solidFill>
                  <a:srgbClr val="0000FF"/>
                </a:solidFill>
                <a:ea typeface="华文中宋" pitchFamily="2" charset="-122"/>
              </a:rPr>
              <a:t>)</a:t>
            </a:r>
            <a:r>
              <a:rPr kumimoji="0" lang="zh-CN" altLang="en-US" sz="1700" b="1" dirty="0">
                <a:solidFill>
                  <a:srgbClr val="0000FF"/>
                </a:solidFill>
                <a:ea typeface="华文中宋" pitchFamily="2" charset="-122"/>
              </a:rPr>
              <a:t>。</a:t>
            </a:r>
          </a:p>
          <a:p>
            <a:pPr eaLnBrk="1" hangingPunct="1"/>
            <a:r>
              <a:rPr kumimoji="0" lang="zh-CN" altLang="en-US" sz="1700" b="1" dirty="0">
                <a:solidFill>
                  <a:srgbClr val="0000FF"/>
                </a:solidFill>
                <a:ea typeface="华文中宋" pitchFamily="2" charset="-122"/>
              </a:rPr>
              <a:t>    </a:t>
            </a:r>
            <a:r>
              <a:rPr kumimoji="0" lang="zh-CN" altLang="en-US" sz="1700" b="1" dirty="0" smtClean="0">
                <a:solidFill>
                  <a:srgbClr val="0000FF"/>
                </a:solidFill>
                <a:ea typeface="华文中宋" pitchFamily="2" charset="-122"/>
              </a:rPr>
              <a:t>  从</a:t>
            </a:r>
            <a:r>
              <a:rPr kumimoji="0" lang="zh-CN" altLang="en-US" sz="1700" b="1" dirty="0">
                <a:solidFill>
                  <a:srgbClr val="0000FF"/>
                </a:solidFill>
                <a:ea typeface="华文中宋" pitchFamily="2" charset="-122"/>
              </a:rPr>
              <a:t>宏观来看，这两种变化同样使压强增大，从微观分子运动看，它们的区别在</a:t>
            </a:r>
            <a:r>
              <a:rPr kumimoji="0" lang="zh-CN" altLang="en-US" sz="1700" b="1" dirty="0" smtClean="0">
                <a:solidFill>
                  <a:srgbClr val="0000FF"/>
                </a:solidFill>
                <a:ea typeface="华文中宋" pitchFamily="2" charset="-122"/>
              </a:rPr>
              <a:t>哪里？</a:t>
            </a:r>
            <a:endParaRPr kumimoji="0" lang="zh-CN" altLang="en-US" sz="1700" b="1" dirty="0">
              <a:solidFill>
                <a:srgbClr val="0000FF"/>
              </a:solidFill>
              <a:ea typeface="华文中宋" pitchFamily="2" charset="-122"/>
            </a:endParaRPr>
          </a:p>
        </p:txBody>
      </p:sp>
      <p:graphicFrame>
        <p:nvGraphicFramePr>
          <p:cNvPr id="123908" name="Object 4"/>
          <p:cNvGraphicFramePr>
            <a:graphicFrameLocks noChangeAspect="1"/>
          </p:cNvGraphicFramePr>
          <p:nvPr/>
        </p:nvGraphicFramePr>
        <p:xfrm>
          <a:off x="3392488" y="1798638"/>
          <a:ext cx="1108075" cy="557212"/>
        </p:xfrm>
        <a:graphic>
          <a:graphicData uri="http://schemas.openxmlformats.org/presentationml/2006/ole">
            <p:oleObj spid="_x0000_s28712" name="公式" r:id="rId3" imgW="622030" imgH="406224" progId="Equation.3">
              <p:embed/>
            </p:oleObj>
          </a:graphicData>
        </a:graphic>
      </p:graphicFrame>
      <p:sp>
        <p:nvSpPr>
          <p:cNvPr id="123909" name="Rectangle 11"/>
          <p:cNvSpPr>
            <a:spLocks noChangeArrowheads="1"/>
          </p:cNvSpPr>
          <p:nvPr/>
        </p:nvSpPr>
        <p:spPr bwMode="auto">
          <a:xfrm>
            <a:off x="931863" y="1909763"/>
            <a:ext cx="263525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en-US" sz="1800" b="1">
                <a:solidFill>
                  <a:srgbClr val="FF0000"/>
                </a:solidFill>
                <a:ea typeface="华文中宋" pitchFamily="2" charset="-122"/>
              </a:rPr>
              <a:t>解：      </a:t>
            </a:r>
            <a:r>
              <a:rPr kumimoji="0" lang="zh-CN" altLang="en-US" sz="1800" b="1">
                <a:ea typeface="华文中宋" pitchFamily="2" charset="-122"/>
              </a:rPr>
              <a:t>由压强公式</a:t>
            </a:r>
          </a:p>
        </p:txBody>
      </p:sp>
      <p:grpSp>
        <p:nvGrpSpPr>
          <p:cNvPr id="2" name="Group 15"/>
          <p:cNvGrpSpPr>
            <a:grpSpLocks/>
          </p:cNvGrpSpPr>
          <p:nvPr/>
        </p:nvGrpSpPr>
        <p:grpSpPr bwMode="auto">
          <a:xfrm>
            <a:off x="1804988" y="2265363"/>
            <a:ext cx="3487737" cy="550862"/>
            <a:chOff x="1413" y="2387"/>
            <a:chExt cx="2197" cy="462"/>
          </a:xfrm>
        </p:grpSpPr>
        <p:graphicFrame>
          <p:nvGraphicFramePr>
            <p:cNvPr id="28697" name="Object 8"/>
            <p:cNvGraphicFramePr>
              <a:graphicFrameLocks noChangeAspect="1"/>
            </p:cNvGraphicFramePr>
            <p:nvPr/>
          </p:nvGraphicFramePr>
          <p:xfrm>
            <a:off x="2430" y="2387"/>
            <a:ext cx="705" cy="462"/>
          </p:xfrm>
          <a:graphic>
            <a:graphicData uri="http://schemas.openxmlformats.org/presentationml/2006/ole">
              <p:oleObj spid="_x0000_s28713" name="公式" r:id="rId4" imgW="634725" imgH="406224" progId="Equation.3">
                <p:embed/>
              </p:oleObj>
            </a:graphicData>
          </a:graphic>
        </p:graphicFrame>
        <p:sp>
          <p:nvSpPr>
            <p:cNvPr id="28698" name="Rectangle 15"/>
            <p:cNvSpPr>
              <a:spLocks noChangeArrowheads="1"/>
            </p:cNvSpPr>
            <p:nvPr/>
          </p:nvSpPr>
          <p:spPr bwMode="auto">
            <a:xfrm>
              <a:off x="1413" y="2462"/>
              <a:ext cx="1467"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en-US" sz="1800" b="1">
                  <a:ea typeface="华文中宋" pitchFamily="2" charset="-122"/>
                </a:rPr>
                <a:t>当温度不变时，</a:t>
              </a:r>
            </a:p>
          </p:txBody>
        </p:sp>
        <p:sp>
          <p:nvSpPr>
            <p:cNvPr id="28699" name="Rectangle 16"/>
            <p:cNvSpPr>
              <a:spLocks noChangeArrowheads="1"/>
            </p:cNvSpPr>
            <p:nvPr/>
          </p:nvSpPr>
          <p:spPr bwMode="auto">
            <a:xfrm>
              <a:off x="3108" y="2450"/>
              <a:ext cx="502"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en-US" sz="1800" b="1">
                  <a:ea typeface="华文中宋" pitchFamily="2" charset="-122"/>
                </a:rPr>
                <a:t>不变</a:t>
              </a:r>
            </a:p>
          </p:txBody>
        </p:sp>
      </p:grpSp>
      <p:sp>
        <p:nvSpPr>
          <p:cNvPr id="150550" name="Text Box 22"/>
          <p:cNvSpPr txBox="1">
            <a:spLocks noChangeArrowheads="1"/>
          </p:cNvSpPr>
          <p:nvPr/>
        </p:nvSpPr>
        <p:spPr bwMode="auto">
          <a:xfrm>
            <a:off x="1816100" y="2801938"/>
            <a:ext cx="1674813"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ea typeface="华文中宋" pitchFamily="2" charset="-122"/>
              </a:rPr>
              <a:t>体积</a:t>
            </a:r>
            <a:r>
              <a:rPr kumimoji="0" lang="en-US" altLang="zh-CN" sz="1800" b="1" i="1">
                <a:ea typeface="华文中宋" pitchFamily="2" charset="-122"/>
              </a:rPr>
              <a:t>V </a:t>
            </a:r>
            <a:r>
              <a:rPr kumimoji="0" lang="en-US" altLang="zh-CN" sz="1800" b="1">
                <a:ea typeface="华文中宋" pitchFamily="2" charset="-122"/>
              </a:rPr>
              <a:t>↓</a:t>
            </a:r>
          </a:p>
        </p:txBody>
      </p:sp>
      <p:sp>
        <p:nvSpPr>
          <p:cNvPr id="17" name="Text Box 22"/>
          <p:cNvSpPr txBox="1">
            <a:spLocks noChangeArrowheads="1"/>
          </p:cNvSpPr>
          <p:nvPr/>
        </p:nvSpPr>
        <p:spPr bwMode="auto">
          <a:xfrm>
            <a:off x="2699792" y="2787650"/>
            <a:ext cx="792162" cy="369888"/>
          </a:xfrm>
          <a:prstGeom prst="rect">
            <a:avLst/>
          </a:prstGeom>
          <a:noFill/>
          <a:ln w="9525">
            <a:solidFill>
              <a:srgbClr val="FF0000"/>
            </a:solidFill>
            <a:miter lim="800000"/>
            <a:headEnd/>
            <a:tailEnd/>
          </a:ln>
          <a:extLst>
            <a:ext uri="{909E8E84-426E-40DD-AFC4-6F175D3DCCD1}">
              <a14:hiddenFill xmlns:a14="http://schemas.microsoft.com/office/drawing/2010/main" xmlns="">
                <a:solidFill>
                  <a:srgbClr val="FFFFFF"/>
                </a:solidFill>
              </a14:hiddenFill>
            </a:ext>
          </a:extLst>
        </p:spPr>
        <p:txBody>
          <a:bodyPr wrap="squar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kumimoji="0" lang="en-US" altLang="zh-CN" sz="1800" b="1" dirty="0">
                <a:ea typeface="宋体" pitchFamily="2" charset="-122"/>
              </a:rPr>
              <a:t>→</a:t>
            </a:r>
            <a:r>
              <a:rPr kumimoji="0" lang="en-US" altLang="zh-CN" sz="1800" b="1" i="1" dirty="0">
                <a:ea typeface="宋体" pitchFamily="2" charset="-122"/>
              </a:rPr>
              <a:t> n </a:t>
            </a:r>
            <a:r>
              <a:rPr kumimoji="0" lang="en-US" altLang="zh-CN" sz="1800" b="1" dirty="0">
                <a:ea typeface="宋体" pitchFamily="2" charset="-122"/>
              </a:rPr>
              <a:t>↑</a:t>
            </a:r>
          </a:p>
        </p:txBody>
      </p:sp>
      <p:sp>
        <p:nvSpPr>
          <p:cNvPr id="18" name="Text Box 22"/>
          <p:cNvSpPr txBox="1">
            <a:spLocks noChangeArrowheads="1"/>
          </p:cNvSpPr>
          <p:nvPr/>
        </p:nvSpPr>
        <p:spPr bwMode="auto">
          <a:xfrm>
            <a:off x="3419475" y="2787650"/>
            <a:ext cx="14795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kumimoji="0" lang="en-US" altLang="zh-CN" sz="1800" b="1">
                <a:ea typeface="华文中宋" pitchFamily="2" charset="-122"/>
              </a:rPr>
              <a:t>→</a:t>
            </a:r>
            <a:r>
              <a:rPr kumimoji="0" lang="zh-CN" altLang="en-US" sz="1800" b="1">
                <a:solidFill>
                  <a:srgbClr val="C00000"/>
                </a:solidFill>
                <a:ea typeface="华文中宋" pitchFamily="2" charset="-122"/>
              </a:rPr>
              <a:t>碰撞次数</a:t>
            </a:r>
            <a:r>
              <a:rPr kumimoji="0" lang="zh-CN" altLang="en-US" sz="1800" b="1">
                <a:ea typeface="华文中宋" pitchFamily="2" charset="-122"/>
              </a:rPr>
              <a:t>↑</a:t>
            </a:r>
          </a:p>
        </p:txBody>
      </p:sp>
      <p:sp>
        <p:nvSpPr>
          <p:cNvPr id="32" name="矩形 31"/>
          <p:cNvSpPr>
            <a:spLocks noChangeArrowheads="1"/>
          </p:cNvSpPr>
          <p:nvPr/>
        </p:nvSpPr>
        <p:spPr bwMode="auto">
          <a:xfrm>
            <a:off x="4716463" y="2787650"/>
            <a:ext cx="115093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kumimoji="0" lang="en-US" altLang="zh-CN" sz="1800" b="1">
                <a:ea typeface="华文中宋" pitchFamily="2" charset="-122"/>
              </a:rPr>
              <a:t>→</a:t>
            </a:r>
            <a:r>
              <a:rPr kumimoji="0" lang="zh-CN" altLang="en-US" sz="1800" b="1">
                <a:solidFill>
                  <a:srgbClr val="000000"/>
                </a:solidFill>
                <a:ea typeface="华文中宋" pitchFamily="2" charset="-122"/>
              </a:rPr>
              <a:t>压强</a:t>
            </a:r>
            <a:r>
              <a:rPr kumimoji="0" lang="en-US" altLang="zh-CN" sz="1800" b="1" i="1">
                <a:solidFill>
                  <a:srgbClr val="000000"/>
                </a:solidFill>
                <a:ea typeface="华文中宋" pitchFamily="2" charset="-122"/>
              </a:rPr>
              <a:t>p</a:t>
            </a:r>
            <a:r>
              <a:rPr kumimoji="0" lang="en-US" altLang="zh-CN" sz="1800" b="1">
                <a:solidFill>
                  <a:srgbClr val="000000"/>
                </a:solidFill>
                <a:ea typeface="华文中宋" pitchFamily="2" charset="-122"/>
              </a:rPr>
              <a:t>↑</a:t>
            </a:r>
            <a:endParaRPr kumimoji="0" lang="en-US" altLang="zh-CN" sz="1800" b="1">
              <a:ea typeface="华文中宋" pitchFamily="2" charset="-122"/>
            </a:endParaRPr>
          </a:p>
        </p:txBody>
      </p:sp>
      <p:sp>
        <p:nvSpPr>
          <p:cNvPr id="5" name="矩形 18"/>
          <p:cNvSpPr>
            <a:spLocks noChangeArrowheads="1"/>
          </p:cNvSpPr>
          <p:nvPr/>
        </p:nvSpPr>
        <p:spPr bwMode="auto">
          <a:xfrm>
            <a:off x="1773238" y="3157538"/>
            <a:ext cx="452596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en-US" sz="1800" b="1">
                <a:solidFill>
                  <a:srgbClr val="000000"/>
                </a:solidFill>
                <a:ea typeface="华文中宋" pitchFamily="2" charset="-122"/>
              </a:rPr>
              <a:t>当体积不变时，则</a:t>
            </a:r>
            <a:r>
              <a:rPr kumimoji="0" lang="en-US" altLang="zh-CN" sz="1800" b="1" i="1">
                <a:solidFill>
                  <a:srgbClr val="000000"/>
                </a:solidFill>
                <a:ea typeface="华文中宋" pitchFamily="2" charset="-122"/>
              </a:rPr>
              <a:t>n</a:t>
            </a:r>
            <a:r>
              <a:rPr kumimoji="0" lang="zh-CN" altLang="en-US" sz="1800" b="1">
                <a:solidFill>
                  <a:srgbClr val="000000"/>
                </a:solidFill>
                <a:ea typeface="华文中宋" pitchFamily="2" charset="-122"/>
              </a:rPr>
              <a:t>不变</a:t>
            </a:r>
            <a:endParaRPr kumimoji="0" lang="zh-CN" altLang="en-US" sz="1800" b="1">
              <a:ea typeface="华文中宋" pitchFamily="2" charset="-122"/>
            </a:endParaRPr>
          </a:p>
        </p:txBody>
      </p:sp>
      <p:sp>
        <p:nvSpPr>
          <p:cNvPr id="6" name="矩形 17"/>
          <p:cNvSpPr>
            <a:spLocks noChangeArrowheads="1"/>
          </p:cNvSpPr>
          <p:nvPr/>
        </p:nvSpPr>
        <p:spPr bwMode="auto">
          <a:xfrm>
            <a:off x="1763713" y="3584575"/>
            <a:ext cx="12065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en-US" sz="1800" b="1">
                <a:solidFill>
                  <a:srgbClr val="000000"/>
                </a:solidFill>
                <a:ea typeface="华文中宋" pitchFamily="2" charset="-122"/>
              </a:rPr>
              <a:t>当温度</a:t>
            </a:r>
            <a:r>
              <a:rPr kumimoji="0" lang="en-US" altLang="zh-CN" sz="1800" b="1" i="1">
                <a:solidFill>
                  <a:srgbClr val="000000"/>
                </a:solidFill>
                <a:ea typeface="华文中宋" pitchFamily="2" charset="-122"/>
              </a:rPr>
              <a:t>T</a:t>
            </a:r>
            <a:r>
              <a:rPr kumimoji="0" lang="en-US" altLang="zh-CN" sz="1800" b="1">
                <a:solidFill>
                  <a:srgbClr val="000000"/>
                </a:solidFill>
                <a:ea typeface="华文中宋" pitchFamily="2" charset="-122"/>
              </a:rPr>
              <a:t>↑</a:t>
            </a:r>
            <a:endParaRPr kumimoji="0" lang="en-US" altLang="zh-CN" sz="1800" b="1">
              <a:ea typeface="华文中宋" pitchFamily="2" charset="-122"/>
            </a:endParaRPr>
          </a:p>
        </p:txBody>
      </p:sp>
      <p:grpSp>
        <p:nvGrpSpPr>
          <p:cNvPr id="3" name="组合 7"/>
          <p:cNvGrpSpPr>
            <a:grpSpLocks/>
          </p:cNvGrpSpPr>
          <p:nvPr/>
        </p:nvGrpSpPr>
        <p:grpSpPr bwMode="auto">
          <a:xfrm>
            <a:off x="2830513" y="3570288"/>
            <a:ext cx="793750" cy="369887"/>
            <a:chOff x="2378075" y="1609725"/>
            <a:chExt cx="1227138" cy="652435"/>
          </a:xfrm>
        </p:grpSpPr>
        <p:sp>
          <p:nvSpPr>
            <p:cNvPr id="28695" name="矩形 22"/>
            <p:cNvSpPr>
              <a:spLocks noChangeArrowheads="1"/>
            </p:cNvSpPr>
            <p:nvPr/>
          </p:nvSpPr>
          <p:spPr bwMode="auto">
            <a:xfrm>
              <a:off x="2378075" y="1609725"/>
              <a:ext cx="1227138" cy="652435"/>
            </a:xfrm>
            <a:prstGeom prst="rect">
              <a:avLst/>
            </a:prstGeom>
            <a:noFill/>
            <a:ln w="9525">
              <a:solidFill>
                <a:srgbClr val="FF0000"/>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p>
              <a:r>
                <a:rPr kumimoji="0" lang="en-US" altLang="zh-CN" sz="1800" b="1">
                  <a:ea typeface="宋体" pitchFamily="2" charset="-122"/>
                </a:rPr>
                <a:t>→</a:t>
              </a:r>
            </a:p>
          </p:txBody>
        </p:sp>
        <p:graphicFrame>
          <p:nvGraphicFramePr>
            <p:cNvPr id="28696" name="对象 6"/>
            <p:cNvGraphicFramePr>
              <a:graphicFrameLocks noChangeAspect="1"/>
            </p:cNvGraphicFramePr>
            <p:nvPr/>
          </p:nvGraphicFramePr>
          <p:xfrm>
            <a:off x="2910305" y="1724843"/>
            <a:ext cx="469753" cy="461639"/>
          </p:xfrm>
          <a:graphic>
            <a:graphicData uri="http://schemas.openxmlformats.org/presentationml/2006/ole">
              <p:oleObj spid="_x0000_s28714" name="Equation" r:id="rId5" imgW="291973" imgH="203112" progId="Equation.DSMT4">
                <p:embed/>
              </p:oleObj>
            </a:graphicData>
          </a:graphic>
        </p:graphicFrame>
      </p:grpSp>
      <p:grpSp>
        <p:nvGrpSpPr>
          <p:cNvPr id="4" name="组合 23"/>
          <p:cNvGrpSpPr>
            <a:grpSpLocks/>
          </p:cNvGrpSpPr>
          <p:nvPr/>
        </p:nvGrpSpPr>
        <p:grpSpPr bwMode="auto">
          <a:xfrm>
            <a:off x="3551238" y="3436938"/>
            <a:ext cx="3019425" cy="647700"/>
            <a:chOff x="4155099" y="2913954"/>
            <a:chExt cx="3020777" cy="862555"/>
          </a:xfrm>
        </p:grpSpPr>
        <p:sp>
          <p:nvSpPr>
            <p:cNvPr id="28692" name="Text Box 13"/>
            <p:cNvSpPr txBox="1">
              <a:spLocks noChangeArrowheads="1"/>
            </p:cNvSpPr>
            <p:nvPr/>
          </p:nvSpPr>
          <p:spPr bwMode="auto">
            <a:xfrm>
              <a:off x="4790347" y="2913954"/>
              <a:ext cx="2385529" cy="86255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dirty="0">
                  <a:solidFill>
                    <a:srgbClr val="C00000"/>
                  </a:solidFill>
                  <a:ea typeface="华文中宋" pitchFamily="2" charset="-122"/>
                </a:rPr>
                <a:t>碰撞次数增加</a:t>
              </a:r>
            </a:p>
            <a:p>
              <a:pPr eaLnBrk="1" hangingPunct="1"/>
              <a:r>
                <a:rPr kumimoji="0" lang="zh-CN" altLang="en-US" sz="1800" b="1" dirty="0">
                  <a:solidFill>
                    <a:srgbClr val="C00000"/>
                  </a:solidFill>
                  <a:ea typeface="华文中宋" pitchFamily="2" charset="-122"/>
                </a:rPr>
                <a:t>冲量也增加</a:t>
              </a:r>
            </a:p>
          </p:txBody>
        </p:sp>
        <p:sp>
          <p:nvSpPr>
            <p:cNvPr id="28693" name="左大括号 22"/>
            <p:cNvSpPr>
              <a:spLocks/>
            </p:cNvSpPr>
            <p:nvPr/>
          </p:nvSpPr>
          <p:spPr bwMode="auto">
            <a:xfrm>
              <a:off x="4580746" y="3031463"/>
              <a:ext cx="193765" cy="615566"/>
            </a:xfrm>
            <a:prstGeom prst="leftBrace">
              <a:avLst>
                <a:gd name="adj1" fmla="val 3471"/>
                <a:gd name="adj2" fmla="val 50000"/>
              </a:avLst>
            </a:prstGeom>
            <a:noFill/>
            <a:ln w="9525"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pPr algn="ctr"/>
              <a:endParaRPr kumimoji="0" lang="zh-CN" altLang="zh-CN" b="1">
                <a:ea typeface="华文中宋" pitchFamily="2" charset="-122"/>
              </a:endParaRPr>
            </a:p>
          </p:txBody>
        </p:sp>
        <p:sp>
          <p:nvSpPr>
            <p:cNvPr id="28694" name="TextBox 26"/>
            <p:cNvSpPr txBox="1">
              <a:spLocks noChangeArrowheads="1"/>
            </p:cNvSpPr>
            <p:nvPr/>
          </p:nvSpPr>
          <p:spPr bwMode="auto">
            <a:xfrm>
              <a:off x="4155099" y="3069366"/>
              <a:ext cx="490765" cy="492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ea typeface="华文中宋" pitchFamily="2" charset="-122"/>
                </a:rPr>
                <a:t>→</a:t>
              </a:r>
            </a:p>
          </p:txBody>
        </p:sp>
      </p:grpSp>
      <p:grpSp>
        <p:nvGrpSpPr>
          <p:cNvPr id="7" name="组合 27"/>
          <p:cNvGrpSpPr>
            <a:grpSpLocks/>
          </p:cNvGrpSpPr>
          <p:nvPr/>
        </p:nvGrpSpPr>
        <p:grpSpPr bwMode="auto">
          <a:xfrm>
            <a:off x="5791200" y="3511550"/>
            <a:ext cx="1949450" cy="466725"/>
            <a:chOff x="6297015" y="3094772"/>
            <a:chExt cx="1950320" cy="621862"/>
          </a:xfrm>
        </p:grpSpPr>
        <p:sp>
          <p:nvSpPr>
            <p:cNvPr id="28690" name="矩形 28"/>
            <p:cNvSpPr>
              <a:spLocks noChangeArrowheads="1"/>
            </p:cNvSpPr>
            <p:nvPr/>
          </p:nvSpPr>
          <p:spPr bwMode="auto">
            <a:xfrm>
              <a:off x="6582679" y="3159648"/>
              <a:ext cx="1664656" cy="49210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en-US" altLang="zh-CN" sz="1800" b="1">
                  <a:ea typeface="华文中宋" pitchFamily="2" charset="-122"/>
                </a:rPr>
                <a:t>→</a:t>
              </a:r>
              <a:r>
                <a:rPr kumimoji="0" lang="zh-CN" altLang="en-US" sz="1800" b="1">
                  <a:solidFill>
                    <a:srgbClr val="000000"/>
                  </a:solidFill>
                  <a:ea typeface="华文中宋" pitchFamily="2" charset="-122"/>
                </a:rPr>
                <a:t>压强</a:t>
              </a:r>
              <a:r>
                <a:rPr kumimoji="0" lang="en-US" altLang="zh-CN" sz="1800" b="1" i="1">
                  <a:solidFill>
                    <a:srgbClr val="000000"/>
                  </a:solidFill>
                  <a:ea typeface="华文中宋" pitchFamily="2" charset="-122"/>
                </a:rPr>
                <a:t>p</a:t>
              </a:r>
              <a:r>
                <a:rPr kumimoji="0" lang="en-US" altLang="zh-CN" sz="1800" b="1">
                  <a:solidFill>
                    <a:srgbClr val="000000"/>
                  </a:solidFill>
                  <a:ea typeface="华文中宋" pitchFamily="2" charset="-122"/>
                </a:rPr>
                <a:t>↑</a:t>
              </a:r>
              <a:endParaRPr kumimoji="0" lang="en-US" altLang="zh-CN" sz="1800" b="1">
                <a:ea typeface="华文中宋" pitchFamily="2" charset="-122"/>
              </a:endParaRPr>
            </a:p>
          </p:txBody>
        </p:sp>
        <p:sp>
          <p:nvSpPr>
            <p:cNvPr id="28691" name="右大括号 28"/>
            <p:cNvSpPr>
              <a:spLocks/>
            </p:cNvSpPr>
            <p:nvPr/>
          </p:nvSpPr>
          <p:spPr bwMode="auto">
            <a:xfrm>
              <a:off x="6297015" y="3094772"/>
              <a:ext cx="193786" cy="621862"/>
            </a:xfrm>
            <a:prstGeom prst="rightBrace">
              <a:avLst>
                <a:gd name="adj1" fmla="val 4041"/>
                <a:gd name="adj2" fmla="val 50000"/>
              </a:avLst>
            </a:prstGeom>
            <a:noFill/>
            <a:ln w="9525"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pPr algn="ctr"/>
              <a:endParaRPr kumimoji="0" lang="zh-CN" altLang="zh-CN" b="1">
                <a:ea typeface="华文中宋" pitchFamily="2" charset="-122"/>
              </a:endParaRPr>
            </a:p>
          </p:txBody>
        </p:sp>
      </p:grpSp>
      <p:grpSp>
        <p:nvGrpSpPr>
          <p:cNvPr id="8" name="Group 28"/>
          <p:cNvGrpSpPr>
            <a:grpSpLocks/>
          </p:cNvGrpSpPr>
          <p:nvPr/>
        </p:nvGrpSpPr>
        <p:grpSpPr bwMode="auto">
          <a:xfrm>
            <a:off x="179388" y="3867150"/>
            <a:ext cx="8569325" cy="801688"/>
            <a:chOff x="204" y="1797"/>
            <a:chExt cx="5398" cy="673"/>
          </a:xfrm>
        </p:grpSpPr>
        <p:sp>
          <p:nvSpPr>
            <p:cNvPr id="28688" name="Text Box 5"/>
            <p:cNvSpPr txBox="1">
              <a:spLocks noChangeArrowheads="1"/>
            </p:cNvSpPr>
            <p:nvPr/>
          </p:nvSpPr>
          <p:spPr bwMode="auto">
            <a:xfrm>
              <a:off x="204" y="1797"/>
              <a:ext cx="5398" cy="67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2800" b="1" dirty="0">
                  <a:ea typeface="华文中宋" pitchFamily="2" charset="-122"/>
                </a:rPr>
                <a:t>      </a:t>
              </a:r>
              <a:r>
                <a:rPr kumimoji="0" lang="zh-CN" altLang="en-US" sz="1800" b="1" dirty="0">
                  <a:ea typeface="华文中宋" pitchFamily="2" charset="-122"/>
                </a:rPr>
                <a:t>可见，两种情形中虽然在宏观上都是使</a:t>
              </a:r>
              <a:r>
                <a:rPr kumimoji="0" lang="en-US" altLang="zh-CN" sz="1800" b="1" i="1" dirty="0">
                  <a:ea typeface="华文中宋" pitchFamily="2" charset="-122"/>
                </a:rPr>
                <a:t>p</a:t>
              </a:r>
              <a:r>
                <a:rPr kumimoji="0" lang="zh-CN" altLang="en-US" sz="1800" b="1" dirty="0">
                  <a:ea typeface="华文中宋" pitchFamily="2" charset="-122"/>
                </a:rPr>
                <a:t>增大，但在微观上使</a:t>
              </a:r>
              <a:r>
                <a:rPr kumimoji="0" lang="en-US" altLang="zh-CN" sz="1800" b="1" i="1" dirty="0">
                  <a:ea typeface="华文中宋" pitchFamily="2" charset="-122"/>
                </a:rPr>
                <a:t>p</a:t>
              </a:r>
              <a:r>
                <a:rPr kumimoji="0" lang="zh-CN" altLang="en-US" sz="1800" b="1" dirty="0">
                  <a:ea typeface="华文中宋" pitchFamily="2" charset="-122"/>
                </a:rPr>
                <a:t>增大的原因是不同的，前者是</a:t>
              </a:r>
              <a:r>
                <a:rPr kumimoji="0" lang="en-US" altLang="zh-CN" sz="1800" b="1" i="1" dirty="0">
                  <a:ea typeface="华文中宋" pitchFamily="2" charset="-122"/>
                </a:rPr>
                <a:t>n</a:t>
              </a:r>
              <a:r>
                <a:rPr kumimoji="0" lang="zh-CN" altLang="en-US" sz="1800" b="1" dirty="0">
                  <a:ea typeface="华文中宋" pitchFamily="2" charset="-122"/>
                </a:rPr>
                <a:t>增大，而后者是    增大。</a:t>
              </a:r>
            </a:p>
          </p:txBody>
        </p:sp>
        <p:graphicFrame>
          <p:nvGraphicFramePr>
            <p:cNvPr id="28689" name="Object 7"/>
            <p:cNvGraphicFramePr>
              <a:graphicFrameLocks noChangeAspect="1"/>
            </p:cNvGraphicFramePr>
            <p:nvPr/>
          </p:nvGraphicFramePr>
          <p:xfrm>
            <a:off x="2200" y="2188"/>
            <a:ext cx="206" cy="227"/>
          </p:xfrm>
          <a:graphic>
            <a:graphicData uri="http://schemas.openxmlformats.org/presentationml/2006/ole">
              <p:oleObj spid="_x0000_s28715" name="公式" r:id="rId6" imgW="164885" imgH="164885"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0532"/>
                                        </p:tgtEl>
                                        <p:attrNameLst>
                                          <p:attrName>style.visibility</p:attrName>
                                        </p:attrNameLst>
                                      </p:cBhvr>
                                      <p:to>
                                        <p:strVal val="visible"/>
                                      </p:to>
                                    </p:set>
                                    <p:animEffect transition="in" filter="wipe(left)">
                                      <p:cBhvr>
                                        <p:cTn id="7" dur="500"/>
                                        <p:tgtEl>
                                          <p:spTgt spid="15053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123909"/>
                                        </p:tgtEl>
                                        <p:attrNameLst>
                                          <p:attrName>style.visibility</p:attrName>
                                        </p:attrNameLst>
                                      </p:cBhvr>
                                      <p:to>
                                        <p:strVal val="visible"/>
                                      </p:to>
                                    </p:set>
                                    <p:animEffect transition="in" filter="blinds(horizontal)">
                                      <p:cBhvr>
                                        <p:cTn id="12" dur="500"/>
                                        <p:tgtEl>
                                          <p:spTgt spid="123909"/>
                                        </p:tgtEl>
                                      </p:cBhvr>
                                    </p:animEffect>
                                  </p:childTnLst>
                                </p:cTn>
                              </p:par>
                              <p:par>
                                <p:cTn id="13" presetID="3" presetClass="entr" presetSubtype="10" fill="hold" nodeType="withEffect">
                                  <p:stCondLst>
                                    <p:cond delay="0"/>
                                  </p:stCondLst>
                                  <p:childTnLst>
                                    <p:set>
                                      <p:cBhvr>
                                        <p:cTn id="14" dur="1" fill="hold">
                                          <p:stCondLst>
                                            <p:cond delay="0"/>
                                          </p:stCondLst>
                                        </p:cTn>
                                        <p:tgtEl>
                                          <p:spTgt spid="123908"/>
                                        </p:tgtEl>
                                        <p:attrNameLst>
                                          <p:attrName>style.visibility</p:attrName>
                                        </p:attrNameLst>
                                      </p:cBhvr>
                                      <p:to>
                                        <p:strVal val="visible"/>
                                      </p:to>
                                    </p:set>
                                    <p:animEffect transition="in" filter="blinds(horizontal)">
                                      <p:cBhvr>
                                        <p:cTn id="15" dur="500"/>
                                        <p:tgtEl>
                                          <p:spTgt spid="123908"/>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3" presetClass="entr" presetSubtype="10" fill="hold" nodeType="clickEffect">
                                  <p:stCondLst>
                                    <p:cond delay="0"/>
                                  </p:stCondLst>
                                  <p:childTnLst>
                                    <p:set>
                                      <p:cBhvr>
                                        <p:cTn id="19" dur="1" fill="hold">
                                          <p:stCondLst>
                                            <p:cond delay="0"/>
                                          </p:stCondLst>
                                        </p:cTn>
                                        <p:tgtEl>
                                          <p:spTgt spid="2"/>
                                        </p:tgtEl>
                                        <p:attrNameLst>
                                          <p:attrName>style.visibility</p:attrName>
                                        </p:attrNameLst>
                                      </p:cBhvr>
                                      <p:to>
                                        <p:strVal val="visible"/>
                                      </p:to>
                                    </p:set>
                                    <p:animEffect transition="in" filter="blinds(horizontal)">
                                      <p:cBhvr>
                                        <p:cTn id="20" dur="500"/>
                                        <p:tgtEl>
                                          <p:spTgt spid="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50550"/>
                                        </p:tgtEl>
                                        <p:attrNameLst>
                                          <p:attrName>style.visibility</p:attrName>
                                        </p:attrNameLst>
                                      </p:cBhvr>
                                      <p:to>
                                        <p:strVal val="visible"/>
                                      </p:to>
                                    </p:set>
                                    <p:animEffect transition="in" filter="wipe(left)">
                                      <p:cBhvr>
                                        <p:cTn id="25" dur="500"/>
                                        <p:tgtEl>
                                          <p:spTgt spid="15055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7"/>
                                        </p:tgtEl>
                                        <p:attrNameLst>
                                          <p:attrName>style.visibility</p:attrName>
                                        </p:attrNameLst>
                                      </p:cBhvr>
                                      <p:to>
                                        <p:strVal val="visible"/>
                                      </p:to>
                                    </p:set>
                                    <p:animEffect transition="in" filter="wipe(left)">
                                      <p:cBhvr>
                                        <p:cTn id="30" dur="500"/>
                                        <p:tgtEl>
                                          <p:spTgt spid="1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8"/>
                                        </p:tgtEl>
                                        <p:attrNameLst>
                                          <p:attrName>style.visibility</p:attrName>
                                        </p:attrNameLst>
                                      </p:cBhvr>
                                      <p:to>
                                        <p:strVal val="visible"/>
                                      </p:to>
                                    </p:set>
                                    <p:animEffect transition="in" filter="wipe(left)">
                                      <p:cBhvr>
                                        <p:cTn id="35" dur="500"/>
                                        <p:tgtEl>
                                          <p:spTgt spid="18"/>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32"/>
                                        </p:tgtEl>
                                        <p:attrNameLst>
                                          <p:attrName>style.visibility</p:attrName>
                                        </p:attrNameLst>
                                      </p:cBhvr>
                                      <p:to>
                                        <p:strVal val="visible"/>
                                      </p:to>
                                    </p:set>
                                    <p:animEffect transition="in" filter="wipe(left)">
                                      <p:cBhvr>
                                        <p:cTn id="40" dur="500"/>
                                        <p:tgtEl>
                                          <p:spTgt spid="32"/>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22" presetClass="entr" presetSubtype="8" fill="hold" grpId="0" nodeType="clickEffect">
                                  <p:stCondLst>
                                    <p:cond delay="0"/>
                                  </p:stCondLst>
                                  <p:childTnLst>
                                    <p:set>
                                      <p:cBhvr>
                                        <p:cTn id="44" dur="1" fill="hold">
                                          <p:stCondLst>
                                            <p:cond delay="0"/>
                                          </p:stCondLst>
                                        </p:cTn>
                                        <p:tgtEl>
                                          <p:spTgt spid="5"/>
                                        </p:tgtEl>
                                        <p:attrNameLst>
                                          <p:attrName>style.visibility</p:attrName>
                                        </p:attrNameLst>
                                      </p:cBhvr>
                                      <p:to>
                                        <p:strVal val="visible"/>
                                      </p:to>
                                    </p:set>
                                    <p:animEffect transition="in" filter="wipe(left)">
                                      <p:cBhvr>
                                        <p:cTn id="45" dur="500"/>
                                        <p:tgtEl>
                                          <p:spTgt spid="5"/>
                                        </p:tgtEl>
                                      </p:cBhvr>
                                    </p:animEffect>
                                  </p:childTnLst>
                                </p:cTn>
                              </p:par>
                            </p:childTnLst>
                          </p:cTn>
                        </p:par>
                      </p:childTnLst>
                    </p:cTn>
                  </p:par>
                  <p:par>
                    <p:cTn id="46" fill="hold" nodeType="clickPar">
                      <p:stCondLst>
                        <p:cond delay="indefinite"/>
                      </p:stCondLst>
                      <p:childTnLst>
                        <p:par>
                          <p:cTn id="47" fill="hold" nodeType="withGroup">
                            <p:stCondLst>
                              <p:cond delay="0"/>
                            </p:stCondLst>
                            <p:childTnLst>
                              <p:par>
                                <p:cTn id="48" presetID="22" presetClass="entr" presetSubtype="8" fill="hold" grpId="0" nodeType="clickEffect">
                                  <p:stCondLst>
                                    <p:cond delay="0"/>
                                  </p:stCondLst>
                                  <p:childTnLst>
                                    <p:set>
                                      <p:cBhvr>
                                        <p:cTn id="49" dur="1" fill="hold">
                                          <p:stCondLst>
                                            <p:cond delay="0"/>
                                          </p:stCondLst>
                                        </p:cTn>
                                        <p:tgtEl>
                                          <p:spTgt spid="6"/>
                                        </p:tgtEl>
                                        <p:attrNameLst>
                                          <p:attrName>style.visibility</p:attrName>
                                        </p:attrNameLst>
                                      </p:cBhvr>
                                      <p:to>
                                        <p:strVal val="visible"/>
                                      </p:to>
                                    </p:set>
                                    <p:animEffect transition="in" filter="wipe(left)">
                                      <p:cBhvr>
                                        <p:cTn id="50" dur="500"/>
                                        <p:tgtEl>
                                          <p:spTgt spid="6"/>
                                        </p:tgtEl>
                                      </p:cBhvr>
                                    </p:animEffect>
                                  </p:childTnLst>
                                </p:cTn>
                              </p:par>
                            </p:childTnLst>
                          </p:cTn>
                        </p:par>
                      </p:childTnLst>
                    </p:cTn>
                  </p:par>
                  <p:par>
                    <p:cTn id="51" fill="hold" nodeType="clickPar">
                      <p:stCondLst>
                        <p:cond delay="indefinite"/>
                      </p:stCondLst>
                      <p:childTnLst>
                        <p:par>
                          <p:cTn id="52" fill="hold" nodeType="withGroup">
                            <p:stCondLst>
                              <p:cond delay="0"/>
                            </p:stCondLst>
                            <p:childTnLst>
                              <p:par>
                                <p:cTn id="53" presetID="22" presetClass="entr" presetSubtype="8" fill="hold" nodeType="clickEffect">
                                  <p:stCondLst>
                                    <p:cond delay="0"/>
                                  </p:stCondLst>
                                  <p:childTnLst>
                                    <p:set>
                                      <p:cBhvr>
                                        <p:cTn id="54" dur="1" fill="hold">
                                          <p:stCondLst>
                                            <p:cond delay="0"/>
                                          </p:stCondLst>
                                        </p:cTn>
                                        <p:tgtEl>
                                          <p:spTgt spid="3"/>
                                        </p:tgtEl>
                                        <p:attrNameLst>
                                          <p:attrName>style.visibility</p:attrName>
                                        </p:attrNameLst>
                                      </p:cBhvr>
                                      <p:to>
                                        <p:strVal val="visible"/>
                                      </p:to>
                                    </p:set>
                                    <p:animEffect transition="in" filter="wipe(left)">
                                      <p:cBhvr>
                                        <p:cTn id="55" dur="500"/>
                                        <p:tgtEl>
                                          <p:spTgt spid="3"/>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nodeType="clickEffect">
                                  <p:stCondLst>
                                    <p:cond delay="0"/>
                                  </p:stCondLst>
                                  <p:childTnLst>
                                    <p:set>
                                      <p:cBhvr>
                                        <p:cTn id="59" dur="1" fill="hold">
                                          <p:stCondLst>
                                            <p:cond delay="0"/>
                                          </p:stCondLst>
                                        </p:cTn>
                                        <p:tgtEl>
                                          <p:spTgt spid="4"/>
                                        </p:tgtEl>
                                        <p:attrNameLst>
                                          <p:attrName>style.visibility</p:attrName>
                                        </p:attrNameLst>
                                      </p:cBhvr>
                                      <p:to>
                                        <p:strVal val="visible"/>
                                      </p:to>
                                    </p:set>
                                    <p:animEffect transition="in" filter="wipe(left)">
                                      <p:cBhvr>
                                        <p:cTn id="60" dur="500"/>
                                        <p:tgtEl>
                                          <p:spTgt spid="4"/>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7"/>
                                        </p:tgtEl>
                                        <p:attrNameLst>
                                          <p:attrName>style.visibility</p:attrName>
                                        </p:attrNameLst>
                                      </p:cBhvr>
                                      <p:to>
                                        <p:strVal val="visible"/>
                                      </p:to>
                                    </p:set>
                                    <p:animEffect transition="in" filter="wipe(left)">
                                      <p:cBhvr>
                                        <p:cTn id="65" dur="500"/>
                                        <p:tgtEl>
                                          <p:spTgt spid="7"/>
                                        </p:tgtEl>
                                      </p:cBhvr>
                                    </p:animEffect>
                                  </p:childTnLst>
                                </p:cTn>
                              </p:par>
                            </p:childTnLst>
                          </p:cTn>
                        </p:par>
                      </p:childTnLst>
                    </p:cTn>
                  </p:par>
                  <p:par>
                    <p:cTn id="66" fill="hold" nodeType="clickPar">
                      <p:stCondLst>
                        <p:cond delay="indefinite"/>
                      </p:stCondLst>
                      <p:childTnLst>
                        <p:par>
                          <p:cTn id="67" fill="hold" nodeType="withGroup">
                            <p:stCondLst>
                              <p:cond delay="0"/>
                            </p:stCondLst>
                            <p:childTnLst>
                              <p:par>
                                <p:cTn id="68" presetID="3" presetClass="entr" presetSubtype="10" fill="hold" nodeType="clickEffect">
                                  <p:stCondLst>
                                    <p:cond delay="0"/>
                                  </p:stCondLst>
                                  <p:childTnLst>
                                    <p:set>
                                      <p:cBhvr>
                                        <p:cTn id="69" dur="1" fill="hold">
                                          <p:stCondLst>
                                            <p:cond delay="0"/>
                                          </p:stCondLst>
                                        </p:cTn>
                                        <p:tgtEl>
                                          <p:spTgt spid="8"/>
                                        </p:tgtEl>
                                        <p:attrNameLst>
                                          <p:attrName>style.visibility</p:attrName>
                                        </p:attrNameLst>
                                      </p:cBhvr>
                                      <p:to>
                                        <p:strVal val="visible"/>
                                      </p:to>
                                    </p:set>
                                    <p:animEffect transition="in" filter="blinds(horizontal)">
                                      <p:cBhvr>
                                        <p:cTn id="70"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2" grpId="0"/>
      <p:bldP spid="123909" grpId="0"/>
      <p:bldP spid="150550" grpId="0"/>
      <p:bldP spid="17" grpId="0" animBg="1"/>
      <p:bldP spid="18" grpId="0"/>
      <p:bldP spid="32" grpId="0"/>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2587" name="Object 59"/>
          <p:cNvGraphicFramePr>
            <a:graphicFrameLocks noChangeAspect="1"/>
          </p:cNvGraphicFramePr>
          <p:nvPr/>
        </p:nvGraphicFramePr>
        <p:xfrm>
          <a:off x="2241550" y="1635125"/>
          <a:ext cx="1754188" cy="573088"/>
        </p:xfrm>
        <a:graphic>
          <a:graphicData uri="http://schemas.openxmlformats.org/presentationml/2006/ole">
            <p:oleObj spid="_x0000_s29749" name="Equation" r:id="rId3" imgW="952087" imgH="431613" progId="Equation.DSMT4">
              <p:embed/>
            </p:oleObj>
          </a:graphicData>
        </a:graphic>
      </p:graphicFrame>
      <p:graphicFrame>
        <p:nvGraphicFramePr>
          <p:cNvPr id="22588" name="Object 60"/>
          <p:cNvGraphicFramePr>
            <a:graphicFrameLocks noChangeAspect="1"/>
          </p:cNvGraphicFramePr>
          <p:nvPr/>
        </p:nvGraphicFramePr>
        <p:xfrm>
          <a:off x="4778375" y="1635125"/>
          <a:ext cx="1665288" cy="574675"/>
        </p:xfrm>
        <a:graphic>
          <a:graphicData uri="http://schemas.openxmlformats.org/presentationml/2006/ole">
            <p:oleObj spid="_x0000_s29750" name="Equation" r:id="rId4" imgW="1016000" imgH="431800" progId="Equation.DSMT4">
              <p:embed/>
            </p:oleObj>
          </a:graphicData>
        </a:graphic>
      </p:graphicFrame>
      <p:graphicFrame>
        <p:nvGraphicFramePr>
          <p:cNvPr id="22590" name="Object 62"/>
          <p:cNvGraphicFramePr>
            <a:graphicFrameLocks noChangeAspect="1"/>
          </p:cNvGraphicFramePr>
          <p:nvPr/>
        </p:nvGraphicFramePr>
        <p:xfrm>
          <a:off x="2339975" y="2292350"/>
          <a:ext cx="1081088" cy="268288"/>
        </p:xfrm>
        <a:graphic>
          <a:graphicData uri="http://schemas.openxmlformats.org/presentationml/2006/ole">
            <p:oleObj spid="_x0000_s29751" name="Equation" r:id="rId5" imgW="431613" imgH="139639" progId="Equation.DSMT4">
              <p:embed/>
            </p:oleObj>
          </a:graphicData>
        </a:graphic>
      </p:graphicFrame>
      <p:graphicFrame>
        <p:nvGraphicFramePr>
          <p:cNvPr id="22591" name="Object 63"/>
          <p:cNvGraphicFramePr>
            <a:graphicFrameLocks noChangeAspect="1"/>
          </p:cNvGraphicFramePr>
          <p:nvPr/>
        </p:nvGraphicFramePr>
        <p:xfrm>
          <a:off x="3630613" y="2211388"/>
          <a:ext cx="1590675" cy="387350"/>
        </p:xfrm>
        <a:graphic>
          <a:graphicData uri="http://schemas.openxmlformats.org/presentationml/2006/ole">
            <p:oleObj spid="_x0000_s29752" name="Equation" r:id="rId6" imgW="774364" imgH="228501" progId="Equation.DSMT4">
              <p:embed/>
            </p:oleObj>
          </a:graphicData>
        </a:graphic>
      </p:graphicFrame>
      <p:sp>
        <p:nvSpPr>
          <p:cNvPr id="22592" name="Text Box 64"/>
          <p:cNvSpPr txBox="1">
            <a:spLocks noChangeArrowheads="1"/>
          </p:cNvSpPr>
          <p:nvPr/>
        </p:nvSpPr>
        <p:spPr bwMode="auto">
          <a:xfrm>
            <a:off x="5219700" y="2247900"/>
            <a:ext cx="2500313" cy="323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r>
              <a:rPr kumimoji="0" lang="zh-CN" altLang="en-US" sz="1500" b="1">
                <a:latin typeface="华文中宋" pitchFamily="2" charset="-122"/>
                <a:ea typeface="华文中宋" pitchFamily="2" charset="-122"/>
              </a:rPr>
              <a:t>（</a:t>
            </a:r>
            <a:r>
              <a:rPr kumimoji="0" lang="en-US" altLang="zh-CN" sz="1500" b="1" i="1">
                <a:ea typeface="华文中宋" pitchFamily="2" charset="-122"/>
                <a:cs typeface="Times New Roman" pitchFamily="18" charset="0"/>
              </a:rPr>
              <a:t>N</a:t>
            </a:r>
            <a:r>
              <a:rPr kumimoji="0" lang="en-US" altLang="zh-CN" sz="1500" b="1" baseline="-25000">
                <a:ea typeface="华文中宋" pitchFamily="2" charset="-122"/>
                <a:cs typeface="Times New Roman" pitchFamily="18" charset="0"/>
              </a:rPr>
              <a:t>o</a:t>
            </a:r>
            <a:r>
              <a:rPr kumimoji="0" lang="zh-CN" altLang="en-US" sz="1500" b="1">
                <a:latin typeface="华文中宋" pitchFamily="2" charset="-122"/>
                <a:ea typeface="华文中宋" pitchFamily="2" charset="-122"/>
              </a:rPr>
              <a:t>为阿伏加德罗常数）</a:t>
            </a:r>
          </a:p>
        </p:txBody>
      </p:sp>
      <p:graphicFrame>
        <p:nvGraphicFramePr>
          <p:cNvPr id="22593" name="Object 65"/>
          <p:cNvGraphicFramePr>
            <a:graphicFrameLocks noChangeAspect="1"/>
          </p:cNvGraphicFramePr>
          <p:nvPr/>
        </p:nvGraphicFramePr>
        <p:xfrm>
          <a:off x="2430463" y="2682875"/>
          <a:ext cx="2032000" cy="546100"/>
        </p:xfrm>
        <a:graphic>
          <a:graphicData uri="http://schemas.openxmlformats.org/presentationml/2006/ole">
            <p:oleObj spid="_x0000_s29753" name="公式" r:id="rId7" imgW="837836" imgH="317362" progId="Equation.3">
              <p:embed/>
            </p:oleObj>
          </a:graphicData>
        </a:graphic>
      </p:graphicFrame>
      <p:sp>
        <p:nvSpPr>
          <p:cNvPr id="22595" name="Text Box 67"/>
          <p:cNvSpPr txBox="1">
            <a:spLocks noChangeArrowheads="1"/>
          </p:cNvSpPr>
          <p:nvPr/>
        </p:nvSpPr>
        <p:spPr bwMode="auto">
          <a:xfrm>
            <a:off x="801688" y="3867150"/>
            <a:ext cx="261778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状态方程的另一种表述：</a:t>
            </a:r>
          </a:p>
        </p:txBody>
      </p:sp>
      <p:graphicFrame>
        <p:nvGraphicFramePr>
          <p:cNvPr id="22596" name="Object 68"/>
          <p:cNvGraphicFramePr>
            <a:graphicFrameLocks noChangeAspect="1"/>
          </p:cNvGraphicFramePr>
          <p:nvPr/>
        </p:nvGraphicFramePr>
        <p:xfrm>
          <a:off x="3790950" y="3930650"/>
          <a:ext cx="1455738" cy="303213"/>
        </p:xfrm>
        <a:graphic>
          <a:graphicData uri="http://schemas.openxmlformats.org/presentationml/2006/ole">
            <p:oleObj spid="_x0000_s29754" name="公式" r:id="rId8" imgW="406224" imgH="139639" progId="Equation.3">
              <p:embed/>
            </p:oleObj>
          </a:graphicData>
        </a:graphic>
      </p:graphicFrame>
      <p:graphicFrame>
        <p:nvGraphicFramePr>
          <p:cNvPr id="22598" name="Object 70"/>
          <p:cNvGraphicFramePr>
            <a:graphicFrameLocks noChangeAspect="1"/>
          </p:cNvGraphicFramePr>
          <p:nvPr/>
        </p:nvGraphicFramePr>
        <p:xfrm>
          <a:off x="2484438" y="3292475"/>
          <a:ext cx="4570412" cy="557213"/>
        </p:xfrm>
        <a:graphic>
          <a:graphicData uri="http://schemas.openxmlformats.org/presentationml/2006/ole">
            <p:oleObj spid="_x0000_s29755" name="Equation" r:id="rId9" imgW="2514600" imgH="431800" progId="Equation.DSMT4">
              <p:embed/>
            </p:oleObj>
          </a:graphicData>
        </a:graphic>
      </p:graphicFrame>
      <p:sp>
        <p:nvSpPr>
          <p:cNvPr id="22599" name="Text Box 71"/>
          <p:cNvSpPr txBox="1">
            <a:spLocks noChangeArrowheads="1"/>
          </p:cNvSpPr>
          <p:nvPr/>
        </p:nvSpPr>
        <p:spPr bwMode="auto">
          <a:xfrm>
            <a:off x="796925" y="3343275"/>
            <a:ext cx="20224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玻尔兹曼恒量</a:t>
            </a:r>
          </a:p>
        </p:txBody>
      </p:sp>
      <p:graphicFrame>
        <p:nvGraphicFramePr>
          <p:cNvPr id="22601" name="Object 73"/>
          <p:cNvGraphicFramePr>
            <a:graphicFrameLocks noChangeAspect="1"/>
          </p:cNvGraphicFramePr>
          <p:nvPr/>
        </p:nvGraphicFramePr>
        <p:xfrm>
          <a:off x="4356100" y="2679700"/>
          <a:ext cx="1354138" cy="547688"/>
        </p:xfrm>
        <a:graphic>
          <a:graphicData uri="http://schemas.openxmlformats.org/presentationml/2006/ole">
            <p:oleObj spid="_x0000_s29756" name="公式" r:id="rId10" imgW="558558" imgH="317362" progId="Equation.3">
              <p:embed/>
            </p:oleObj>
          </a:graphicData>
        </a:graphic>
      </p:graphicFrame>
      <p:graphicFrame>
        <p:nvGraphicFramePr>
          <p:cNvPr id="22602" name="Object 74"/>
          <p:cNvGraphicFramePr>
            <a:graphicFrameLocks noChangeAspect="1"/>
          </p:cNvGraphicFramePr>
          <p:nvPr/>
        </p:nvGraphicFramePr>
        <p:xfrm>
          <a:off x="5746750" y="2841625"/>
          <a:ext cx="769938" cy="241300"/>
        </p:xfrm>
        <a:graphic>
          <a:graphicData uri="http://schemas.openxmlformats.org/presentationml/2006/ole">
            <p:oleObj spid="_x0000_s29757" name="公式" r:id="rId11" imgW="317225" imgH="139579" progId="Equation.3">
              <p:embed/>
            </p:oleObj>
          </a:graphicData>
        </a:graphic>
      </p:graphicFrame>
      <p:sp>
        <p:nvSpPr>
          <p:cNvPr id="22607" name="Rectangle 79"/>
          <p:cNvSpPr>
            <a:spLocks noChangeArrowheads="1"/>
          </p:cNvSpPr>
          <p:nvPr/>
        </p:nvSpPr>
        <p:spPr bwMode="auto">
          <a:xfrm>
            <a:off x="1331913" y="1266825"/>
            <a:ext cx="38608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latin typeface="华文中宋" pitchFamily="2" charset="-122"/>
                <a:ea typeface="华文中宋" pitchFamily="2" charset="-122"/>
              </a:rPr>
              <a:t>回顾理想气体的状态方程：</a:t>
            </a:r>
          </a:p>
        </p:txBody>
      </p:sp>
      <p:graphicFrame>
        <p:nvGraphicFramePr>
          <p:cNvPr id="225312" name="Object 32"/>
          <p:cNvGraphicFramePr>
            <a:graphicFrameLocks noChangeAspect="1"/>
          </p:cNvGraphicFramePr>
          <p:nvPr/>
        </p:nvGraphicFramePr>
        <p:xfrm>
          <a:off x="3803650" y="4241800"/>
          <a:ext cx="1152525" cy="417513"/>
        </p:xfrm>
        <a:graphic>
          <a:graphicData uri="http://schemas.openxmlformats.org/presentationml/2006/ole">
            <p:oleObj spid="_x0000_s29758" name="Equation" r:id="rId12" imgW="622030" imgH="406224" progId="Equation.3">
              <p:embed/>
            </p:oleObj>
          </a:graphicData>
        </a:graphic>
      </p:graphicFrame>
      <p:sp>
        <p:nvSpPr>
          <p:cNvPr id="22609" name="Text Box 81"/>
          <p:cNvSpPr txBox="1">
            <a:spLocks noChangeArrowheads="1"/>
          </p:cNvSpPr>
          <p:nvPr/>
        </p:nvSpPr>
        <p:spPr bwMode="auto">
          <a:xfrm>
            <a:off x="827088" y="4329113"/>
            <a:ext cx="262413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理想气体的压强公式：</a:t>
            </a:r>
          </a:p>
        </p:txBody>
      </p:sp>
      <p:sp>
        <p:nvSpPr>
          <p:cNvPr id="22610" name="AutoShape 82"/>
          <p:cNvSpPr>
            <a:spLocks/>
          </p:cNvSpPr>
          <p:nvPr/>
        </p:nvSpPr>
        <p:spPr bwMode="auto">
          <a:xfrm>
            <a:off x="5100638" y="4052888"/>
            <a:ext cx="215900" cy="498475"/>
          </a:xfrm>
          <a:prstGeom prst="rightBrace">
            <a:avLst>
              <a:gd name="adj1" fmla="val 30645"/>
              <a:gd name="adj2" fmla="val 50000"/>
            </a:avLst>
          </a:pr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a:p>
        </p:txBody>
      </p:sp>
      <p:graphicFrame>
        <p:nvGraphicFramePr>
          <p:cNvPr id="22611" name="Object 83"/>
          <p:cNvGraphicFramePr>
            <a:graphicFrameLocks noChangeAspect="1"/>
          </p:cNvGraphicFramePr>
          <p:nvPr/>
        </p:nvGraphicFramePr>
        <p:xfrm>
          <a:off x="5387975" y="4041775"/>
          <a:ext cx="2424113" cy="574675"/>
        </p:xfrm>
        <a:graphic>
          <a:graphicData uri="http://schemas.openxmlformats.org/presentationml/2006/ole">
            <p:oleObj spid="_x0000_s29759" name="公式" r:id="rId13" imgW="914400" imgH="292100" progId="Equation.3">
              <p:embed/>
            </p:oleObj>
          </a:graphicData>
        </a:graphic>
      </p:graphicFrame>
      <p:sp>
        <p:nvSpPr>
          <p:cNvPr id="21" name="Text Box 2"/>
          <p:cNvSpPr>
            <a:spLocks noChangeArrowheads="1"/>
          </p:cNvSpPr>
          <p:nvPr/>
        </p:nvSpPr>
        <p:spPr bwMode="auto">
          <a:xfrm>
            <a:off x="827088" y="874713"/>
            <a:ext cx="2736850" cy="401637"/>
          </a:xfrm>
          <a:prstGeom prst="homePlate">
            <a:avLst>
              <a:gd name="adj" fmla="val 49719"/>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一、温度的统计解释</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22607"/>
                                        </p:tgtEl>
                                        <p:attrNameLst>
                                          <p:attrName>style.visibility</p:attrName>
                                        </p:attrNameLst>
                                      </p:cBhvr>
                                      <p:to>
                                        <p:strVal val="visible"/>
                                      </p:to>
                                    </p:set>
                                    <p:anim calcmode="lin" valueType="num">
                                      <p:cBhvr>
                                        <p:cTn id="12" dur="500" fill="hold"/>
                                        <p:tgtEl>
                                          <p:spTgt spid="22607"/>
                                        </p:tgtEl>
                                        <p:attrNameLst>
                                          <p:attrName>ppt_w</p:attrName>
                                        </p:attrNameLst>
                                      </p:cBhvr>
                                      <p:tavLst>
                                        <p:tav tm="0">
                                          <p:val>
                                            <p:fltVal val="0"/>
                                          </p:val>
                                        </p:tav>
                                        <p:tav tm="100000">
                                          <p:val>
                                            <p:strVal val="#ppt_w"/>
                                          </p:val>
                                        </p:tav>
                                      </p:tavLst>
                                    </p:anim>
                                    <p:anim calcmode="lin" valueType="num">
                                      <p:cBhvr>
                                        <p:cTn id="13" dur="500" fill="hold"/>
                                        <p:tgtEl>
                                          <p:spTgt spid="22607"/>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22587"/>
                                        </p:tgtEl>
                                        <p:attrNameLst>
                                          <p:attrName>style.visibility</p:attrName>
                                        </p:attrNameLst>
                                      </p:cBhvr>
                                      <p:to>
                                        <p:strVal val="visible"/>
                                      </p:to>
                                    </p:set>
                                    <p:anim calcmode="lin" valueType="num">
                                      <p:cBhvr>
                                        <p:cTn id="18" dur="500" fill="hold"/>
                                        <p:tgtEl>
                                          <p:spTgt spid="22587"/>
                                        </p:tgtEl>
                                        <p:attrNameLst>
                                          <p:attrName>ppt_w</p:attrName>
                                        </p:attrNameLst>
                                      </p:cBhvr>
                                      <p:tavLst>
                                        <p:tav tm="0">
                                          <p:val>
                                            <p:fltVal val="0"/>
                                          </p:val>
                                        </p:tav>
                                        <p:tav tm="100000">
                                          <p:val>
                                            <p:strVal val="#ppt_w"/>
                                          </p:val>
                                        </p:tav>
                                      </p:tavLst>
                                    </p:anim>
                                    <p:anim calcmode="lin" valueType="num">
                                      <p:cBhvr>
                                        <p:cTn id="19" dur="500" fill="hold"/>
                                        <p:tgtEl>
                                          <p:spTgt spid="22587"/>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nodeType="clickEffect">
                                  <p:stCondLst>
                                    <p:cond delay="0"/>
                                  </p:stCondLst>
                                  <p:childTnLst>
                                    <p:set>
                                      <p:cBhvr>
                                        <p:cTn id="23" dur="1" fill="hold">
                                          <p:stCondLst>
                                            <p:cond delay="0"/>
                                          </p:stCondLst>
                                        </p:cTn>
                                        <p:tgtEl>
                                          <p:spTgt spid="22588"/>
                                        </p:tgtEl>
                                        <p:attrNameLst>
                                          <p:attrName>style.visibility</p:attrName>
                                        </p:attrNameLst>
                                      </p:cBhvr>
                                      <p:to>
                                        <p:strVal val="visible"/>
                                      </p:to>
                                    </p:set>
                                    <p:anim calcmode="lin" valueType="num">
                                      <p:cBhvr>
                                        <p:cTn id="24" dur="500" fill="hold"/>
                                        <p:tgtEl>
                                          <p:spTgt spid="22588"/>
                                        </p:tgtEl>
                                        <p:attrNameLst>
                                          <p:attrName>ppt_w</p:attrName>
                                        </p:attrNameLst>
                                      </p:cBhvr>
                                      <p:tavLst>
                                        <p:tav tm="0">
                                          <p:val>
                                            <p:fltVal val="0"/>
                                          </p:val>
                                        </p:tav>
                                        <p:tav tm="100000">
                                          <p:val>
                                            <p:strVal val="#ppt_w"/>
                                          </p:val>
                                        </p:tav>
                                      </p:tavLst>
                                    </p:anim>
                                    <p:anim calcmode="lin" valueType="num">
                                      <p:cBhvr>
                                        <p:cTn id="25" dur="500" fill="hold"/>
                                        <p:tgtEl>
                                          <p:spTgt spid="22588"/>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272" fill="hold" nodeType="clickEffect">
                                  <p:stCondLst>
                                    <p:cond delay="0"/>
                                  </p:stCondLst>
                                  <p:childTnLst>
                                    <p:set>
                                      <p:cBhvr>
                                        <p:cTn id="29" dur="1" fill="hold">
                                          <p:stCondLst>
                                            <p:cond delay="0"/>
                                          </p:stCondLst>
                                        </p:cTn>
                                        <p:tgtEl>
                                          <p:spTgt spid="22590"/>
                                        </p:tgtEl>
                                        <p:attrNameLst>
                                          <p:attrName>style.visibility</p:attrName>
                                        </p:attrNameLst>
                                      </p:cBhvr>
                                      <p:to>
                                        <p:strVal val="visible"/>
                                      </p:to>
                                    </p:set>
                                    <p:anim calcmode="lin" valueType="num">
                                      <p:cBhvr>
                                        <p:cTn id="30" dur="500" fill="hold"/>
                                        <p:tgtEl>
                                          <p:spTgt spid="22590"/>
                                        </p:tgtEl>
                                        <p:attrNameLst>
                                          <p:attrName>ppt_w</p:attrName>
                                        </p:attrNameLst>
                                      </p:cBhvr>
                                      <p:tavLst>
                                        <p:tav tm="0">
                                          <p:val>
                                            <p:strVal val="2/3*#ppt_w"/>
                                          </p:val>
                                        </p:tav>
                                        <p:tav tm="100000">
                                          <p:val>
                                            <p:strVal val="#ppt_w"/>
                                          </p:val>
                                        </p:tav>
                                      </p:tavLst>
                                    </p:anim>
                                    <p:anim calcmode="lin" valueType="num">
                                      <p:cBhvr>
                                        <p:cTn id="31" dur="500" fill="hold"/>
                                        <p:tgtEl>
                                          <p:spTgt spid="22590"/>
                                        </p:tgtEl>
                                        <p:attrNameLst>
                                          <p:attrName>ppt_h</p:attrName>
                                        </p:attrNameLst>
                                      </p:cBhvr>
                                      <p:tavLst>
                                        <p:tav tm="0">
                                          <p:val>
                                            <p:strVal val="2/3*#ppt_h"/>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272" fill="hold" nodeType="clickEffect">
                                  <p:stCondLst>
                                    <p:cond delay="0"/>
                                  </p:stCondLst>
                                  <p:childTnLst>
                                    <p:set>
                                      <p:cBhvr>
                                        <p:cTn id="35" dur="1" fill="hold">
                                          <p:stCondLst>
                                            <p:cond delay="0"/>
                                          </p:stCondLst>
                                        </p:cTn>
                                        <p:tgtEl>
                                          <p:spTgt spid="22591"/>
                                        </p:tgtEl>
                                        <p:attrNameLst>
                                          <p:attrName>style.visibility</p:attrName>
                                        </p:attrNameLst>
                                      </p:cBhvr>
                                      <p:to>
                                        <p:strVal val="visible"/>
                                      </p:to>
                                    </p:set>
                                    <p:anim calcmode="lin" valueType="num">
                                      <p:cBhvr>
                                        <p:cTn id="36" dur="500" fill="hold"/>
                                        <p:tgtEl>
                                          <p:spTgt spid="22591"/>
                                        </p:tgtEl>
                                        <p:attrNameLst>
                                          <p:attrName>ppt_w</p:attrName>
                                        </p:attrNameLst>
                                      </p:cBhvr>
                                      <p:tavLst>
                                        <p:tav tm="0">
                                          <p:val>
                                            <p:strVal val="2/3*#ppt_w"/>
                                          </p:val>
                                        </p:tav>
                                        <p:tav tm="100000">
                                          <p:val>
                                            <p:strVal val="#ppt_w"/>
                                          </p:val>
                                        </p:tav>
                                      </p:tavLst>
                                    </p:anim>
                                    <p:anim calcmode="lin" valueType="num">
                                      <p:cBhvr>
                                        <p:cTn id="37" dur="500" fill="hold"/>
                                        <p:tgtEl>
                                          <p:spTgt spid="22591"/>
                                        </p:tgtEl>
                                        <p:attrNameLst>
                                          <p:attrName>ppt_h</p:attrName>
                                        </p:attrNameLst>
                                      </p:cBhvr>
                                      <p:tavLst>
                                        <p:tav tm="0">
                                          <p:val>
                                            <p:strVal val="2/3*#ppt_h"/>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272" fill="hold" grpId="0" nodeType="clickEffect">
                                  <p:stCondLst>
                                    <p:cond delay="0"/>
                                  </p:stCondLst>
                                  <p:childTnLst>
                                    <p:set>
                                      <p:cBhvr>
                                        <p:cTn id="41" dur="1" fill="hold">
                                          <p:stCondLst>
                                            <p:cond delay="0"/>
                                          </p:stCondLst>
                                        </p:cTn>
                                        <p:tgtEl>
                                          <p:spTgt spid="22592"/>
                                        </p:tgtEl>
                                        <p:attrNameLst>
                                          <p:attrName>style.visibility</p:attrName>
                                        </p:attrNameLst>
                                      </p:cBhvr>
                                      <p:to>
                                        <p:strVal val="visible"/>
                                      </p:to>
                                    </p:set>
                                    <p:anim calcmode="lin" valueType="num">
                                      <p:cBhvr>
                                        <p:cTn id="42" dur="500" fill="hold"/>
                                        <p:tgtEl>
                                          <p:spTgt spid="22592"/>
                                        </p:tgtEl>
                                        <p:attrNameLst>
                                          <p:attrName>ppt_w</p:attrName>
                                        </p:attrNameLst>
                                      </p:cBhvr>
                                      <p:tavLst>
                                        <p:tav tm="0">
                                          <p:val>
                                            <p:strVal val="2/3*#ppt_w"/>
                                          </p:val>
                                        </p:tav>
                                        <p:tav tm="100000">
                                          <p:val>
                                            <p:strVal val="#ppt_w"/>
                                          </p:val>
                                        </p:tav>
                                      </p:tavLst>
                                    </p:anim>
                                    <p:anim calcmode="lin" valueType="num">
                                      <p:cBhvr>
                                        <p:cTn id="43" dur="500" fill="hold"/>
                                        <p:tgtEl>
                                          <p:spTgt spid="22592"/>
                                        </p:tgtEl>
                                        <p:attrNameLst>
                                          <p:attrName>ppt_h</p:attrName>
                                        </p:attrNameLst>
                                      </p:cBhvr>
                                      <p:tavLst>
                                        <p:tav tm="0">
                                          <p:val>
                                            <p:strVal val="2/3*#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22593"/>
                                        </p:tgtEl>
                                        <p:attrNameLst>
                                          <p:attrName>style.visibility</p:attrName>
                                        </p:attrNameLst>
                                      </p:cBhvr>
                                      <p:to>
                                        <p:strVal val="visible"/>
                                      </p:to>
                                    </p:set>
                                    <p:anim calcmode="lin" valueType="num">
                                      <p:cBhvr>
                                        <p:cTn id="48" dur="500" fill="hold"/>
                                        <p:tgtEl>
                                          <p:spTgt spid="22593"/>
                                        </p:tgtEl>
                                        <p:attrNameLst>
                                          <p:attrName>ppt_w</p:attrName>
                                        </p:attrNameLst>
                                      </p:cBhvr>
                                      <p:tavLst>
                                        <p:tav tm="0">
                                          <p:val>
                                            <p:fltVal val="0"/>
                                          </p:val>
                                        </p:tav>
                                        <p:tav tm="100000">
                                          <p:val>
                                            <p:strVal val="#ppt_w"/>
                                          </p:val>
                                        </p:tav>
                                      </p:tavLst>
                                    </p:anim>
                                    <p:anim calcmode="lin" valueType="num">
                                      <p:cBhvr>
                                        <p:cTn id="49" dur="500" fill="hold"/>
                                        <p:tgtEl>
                                          <p:spTgt spid="22593"/>
                                        </p:tgtEl>
                                        <p:attrNameLst>
                                          <p:attrName>ppt_h</p:attrName>
                                        </p:attrNameLst>
                                      </p:cBhvr>
                                      <p:tavLst>
                                        <p:tav tm="0">
                                          <p:val>
                                            <p:fltVal val="0"/>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16" fill="hold" nodeType="clickEffect">
                                  <p:stCondLst>
                                    <p:cond delay="0"/>
                                  </p:stCondLst>
                                  <p:childTnLst>
                                    <p:set>
                                      <p:cBhvr>
                                        <p:cTn id="53" dur="1" fill="hold">
                                          <p:stCondLst>
                                            <p:cond delay="0"/>
                                          </p:stCondLst>
                                        </p:cTn>
                                        <p:tgtEl>
                                          <p:spTgt spid="22601"/>
                                        </p:tgtEl>
                                        <p:attrNameLst>
                                          <p:attrName>style.visibility</p:attrName>
                                        </p:attrNameLst>
                                      </p:cBhvr>
                                      <p:to>
                                        <p:strVal val="visible"/>
                                      </p:to>
                                    </p:set>
                                    <p:anim calcmode="lin" valueType="num">
                                      <p:cBhvr>
                                        <p:cTn id="54" dur="500" fill="hold"/>
                                        <p:tgtEl>
                                          <p:spTgt spid="22601"/>
                                        </p:tgtEl>
                                        <p:attrNameLst>
                                          <p:attrName>ppt_w</p:attrName>
                                        </p:attrNameLst>
                                      </p:cBhvr>
                                      <p:tavLst>
                                        <p:tav tm="0">
                                          <p:val>
                                            <p:fltVal val="0"/>
                                          </p:val>
                                        </p:tav>
                                        <p:tav tm="100000">
                                          <p:val>
                                            <p:strVal val="#ppt_w"/>
                                          </p:val>
                                        </p:tav>
                                      </p:tavLst>
                                    </p:anim>
                                    <p:anim calcmode="lin" valueType="num">
                                      <p:cBhvr>
                                        <p:cTn id="55" dur="500" fill="hold"/>
                                        <p:tgtEl>
                                          <p:spTgt spid="22601"/>
                                        </p:tgtEl>
                                        <p:attrNameLst>
                                          <p:attrName>ppt_h</p:attrName>
                                        </p:attrNameLst>
                                      </p:cBhvr>
                                      <p:tavLst>
                                        <p:tav tm="0">
                                          <p:val>
                                            <p:fltVal val="0"/>
                                          </p:val>
                                        </p:tav>
                                        <p:tav tm="100000">
                                          <p:val>
                                            <p:strVal val="#ppt_h"/>
                                          </p:val>
                                        </p:tav>
                                      </p:tavLst>
                                    </p:anim>
                                  </p:childTnLst>
                                </p:cTn>
                              </p:par>
                            </p:childTnLst>
                          </p:cTn>
                        </p:par>
                      </p:childTnLst>
                    </p:cTn>
                  </p:par>
                  <p:par>
                    <p:cTn id="56" fill="hold" nodeType="clickPar">
                      <p:stCondLst>
                        <p:cond delay="indefinite"/>
                      </p:stCondLst>
                      <p:childTnLst>
                        <p:par>
                          <p:cTn id="57" fill="hold" nodeType="withGroup">
                            <p:stCondLst>
                              <p:cond delay="0"/>
                            </p:stCondLst>
                            <p:childTnLst>
                              <p:par>
                                <p:cTn id="58" presetID="23" presetClass="entr" presetSubtype="16" fill="hold" nodeType="clickEffect">
                                  <p:stCondLst>
                                    <p:cond delay="0"/>
                                  </p:stCondLst>
                                  <p:childTnLst>
                                    <p:set>
                                      <p:cBhvr>
                                        <p:cTn id="59" dur="1" fill="hold">
                                          <p:stCondLst>
                                            <p:cond delay="0"/>
                                          </p:stCondLst>
                                        </p:cTn>
                                        <p:tgtEl>
                                          <p:spTgt spid="22602"/>
                                        </p:tgtEl>
                                        <p:attrNameLst>
                                          <p:attrName>style.visibility</p:attrName>
                                        </p:attrNameLst>
                                      </p:cBhvr>
                                      <p:to>
                                        <p:strVal val="visible"/>
                                      </p:to>
                                    </p:set>
                                    <p:anim calcmode="lin" valueType="num">
                                      <p:cBhvr>
                                        <p:cTn id="60" dur="500" fill="hold"/>
                                        <p:tgtEl>
                                          <p:spTgt spid="22602"/>
                                        </p:tgtEl>
                                        <p:attrNameLst>
                                          <p:attrName>ppt_w</p:attrName>
                                        </p:attrNameLst>
                                      </p:cBhvr>
                                      <p:tavLst>
                                        <p:tav tm="0">
                                          <p:val>
                                            <p:fltVal val="0"/>
                                          </p:val>
                                        </p:tav>
                                        <p:tav tm="100000">
                                          <p:val>
                                            <p:strVal val="#ppt_w"/>
                                          </p:val>
                                        </p:tav>
                                      </p:tavLst>
                                    </p:anim>
                                    <p:anim calcmode="lin" valueType="num">
                                      <p:cBhvr>
                                        <p:cTn id="61" dur="500" fill="hold"/>
                                        <p:tgtEl>
                                          <p:spTgt spid="22602"/>
                                        </p:tgtEl>
                                        <p:attrNameLst>
                                          <p:attrName>ppt_h</p:attrName>
                                        </p:attrNameLst>
                                      </p:cBhvr>
                                      <p:tavLst>
                                        <p:tav tm="0">
                                          <p:val>
                                            <p:fltVal val="0"/>
                                          </p:val>
                                        </p:tav>
                                        <p:tav tm="100000">
                                          <p:val>
                                            <p:strVal val="#ppt_h"/>
                                          </p:val>
                                        </p:tav>
                                      </p:tavLst>
                                    </p:anim>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grpId="0" nodeType="clickEffect">
                                  <p:stCondLst>
                                    <p:cond delay="0"/>
                                  </p:stCondLst>
                                  <p:childTnLst>
                                    <p:set>
                                      <p:cBhvr>
                                        <p:cTn id="65" dur="1" fill="hold">
                                          <p:stCondLst>
                                            <p:cond delay="0"/>
                                          </p:stCondLst>
                                        </p:cTn>
                                        <p:tgtEl>
                                          <p:spTgt spid="22599"/>
                                        </p:tgtEl>
                                        <p:attrNameLst>
                                          <p:attrName>style.visibility</p:attrName>
                                        </p:attrNameLst>
                                      </p:cBhvr>
                                      <p:to>
                                        <p:strVal val="visible"/>
                                      </p:to>
                                    </p:set>
                                    <p:animEffect transition="in" filter="blinds(horizontal)">
                                      <p:cBhvr>
                                        <p:cTn id="66" dur="500"/>
                                        <p:tgtEl>
                                          <p:spTgt spid="22599"/>
                                        </p:tgtEl>
                                      </p:cBhvr>
                                    </p:animEffect>
                                  </p:childTnLst>
                                </p:cTn>
                              </p:par>
                              <p:par>
                                <p:cTn id="67" presetID="3" presetClass="entr" presetSubtype="10" fill="hold" nodeType="withEffect">
                                  <p:stCondLst>
                                    <p:cond delay="0"/>
                                  </p:stCondLst>
                                  <p:childTnLst>
                                    <p:set>
                                      <p:cBhvr>
                                        <p:cTn id="68" dur="1" fill="hold">
                                          <p:stCondLst>
                                            <p:cond delay="0"/>
                                          </p:stCondLst>
                                        </p:cTn>
                                        <p:tgtEl>
                                          <p:spTgt spid="22598"/>
                                        </p:tgtEl>
                                        <p:attrNameLst>
                                          <p:attrName>style.visibility</p:attrName>
                                        </p:attrNameLst>
                                      </p:cBhvr>
                                      <p:to>
                                        <p:strVal val="visible"/>
                                      </p:to>
                                    </p:set>
                                    <p:animEffect transition="in" filter="blinds(horizontal)">
                                      <p:cBhvr>
                                        <p:cTn id="69" dur="500"/>
                                        <p:tgtEl>
                                          <p:spTgt spid="22598"/>
                                        </p:tgtEl>
                                      </p:cBhvr>
                                    </p:animEffect>
                                  </p:childTnLst>
                                </p:cTn>
                              </p:par>
                            </p:childTnLst>
                          </p:cTn>
                        </p:par>
                      </p:childTnLst>
                    </p:cTn>
                  </p:par>
                  <p:par>
                    <p:cTn id="70" fill="hold" nodeType="clickPar">
                      <p:stCondLst>
                        <p:cond delay="indefinite"/>
                      </p:stCondLst>
                      <p:childTnLst>
                        <p:par>
                          <p:cTn id="71" fill="hold" nodeType="withGroup">
                            <p:stCondLst>
                              <p:cond delay="0"/>
                            </p:stCondLst>
                            <p:childTnLst>
                              <p:par>
                                <p:cTn id="72" presetID="3" presetClass="entr" presetSubtype="10" fill="hold" grpId="0" nodeType="clickEffect">
                                  <p:stCondLst>
                                    <p:cond delay="0"/>
                                  </p:stCondLst>
                                  <p:childTnLst>
                                    <p:set>
                                      <p:cBhvr>
                                        <p:cTn id="73" dur="1" fill="hold">
                                          <p:stCondLst>
                                            <p:cond delay="0"/>
                                          </p:stCondLst>
                                        </p:cTn>
                                        <p:tgtEl>
                                          <p:spTgt spid="22595"/>
                                        </p:tgtEl>
                                        <p:attrNameLst>
                                          <p:attrName>style.visibility</p:attrName>
                                        </p:attrNameLst>
                                      </p:cBhvr>
                                      <p:to>
                                        <p:strVal val="visible"/>
                                      </p:to>
                                    </p:set>
                                    <p:animEffect transition="in" filter="blinds(horizontal)">
                                      <p:cBhvr>
                                        <p:cTn id="74" dur="500"/>
                                        <p:tgtEl>
                                          <p:spTgt spid="22595"/>
                                        </p:tgtEl>
                                      </p:cBhvr>
                                    </p:animEffect>
                                  </p:childTnLst>
                                </p:cTn>
                              </p:par>
                              <p:par>
                                <p:cTn id="75" presetID="3" presetClass="entr" presetSubtype="10" fill="hold" nodeType="withEffect">
                                  <p:stCondLst>
                                    <p:cond delay="0"/>
                                  </p:stCondLst>
                                  <p:childTnLst>
                                    <p:set>
                                      <p:cBhvr>
                                        <p:cTn id="76" dur="1" fill="hold">
                                          <p:stCondLst>
                                            <p:cond delay="0"/>
                                          </p:stCondLst>
                                        </p:cTn>
                                        <p:tgtEl>
                                          <p:spTgt spid="22596"/>
                                        </p:tgtEl>
                                        <p:attrNameLst>
                                          <p:attrName>style.visibility</p:attrName>
                                        </p:attrNameLst>
                                      </p:cBhvr>
                                      <p:to>
                                        <p:strVal val="visible"/>
                                      </p:to>
                                    </p:set>
                                    <p:animEffect transition="in" filter="blinds(horizontal)">
                                      <p:cBhvr>
                                        <p:cTn id="77" dur="500"/>
                                        <p:tgtEl>
                                          <p:spTgt spid="22596"/>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3" presetClass="entr" presetSubtype="10" fill="hold" grpId="0" nodeType="clickEffect">
                                  <p:stCondLst>
                                    <p:cond delay="0"/>
                                  </p:stCondLst>
                                  <p:childTnLst>
                                    <p:set>
                                      <p:cBhvr>
                                        <p:cTn id="81" dur="1" fill="hold">
                                          <p:stCondLst>
                                            <p:cond delay="0"/>
                                          </p:stCondLst>
                                        </p:cTn>
                                        <p:tgtEl>
                                          <p:spTgt spid="22609"/>
                                        </p:tgtEl>
                                        <p:attrNameLst>
                                          <p:attrName>style.visibility</p:attrName>
                                        </p:attrNameLst>
                                      </p:cBhvr>
                                      <p:to>
                                        <p:strVal val="visible"/>
                                      </p:to>
                                    </p:set>
                                    <p:animEffect transition="in" filter="blinds(horizontal)">
                                      <p:cBhvr>
                                        <p:cTn id="82" dur="500"/>
                                        <p:tgtEl>
                                          <p:spTgt spid="22609"/>
                                        </p:tgtEl>
                                      </p:cBhvr>
                                    </p:animEffect>
                                  </p:childTnLst>
                                </p:cTn>
                              </p:par>
                              <p:par>
                                <p:cTn id="83" presetID="3" presetClass="entr" presetSubtype="10" fill="hold" nodeType="withEffect">
                                  <p:stCondLst>
                                    <p:cond delay="0"/>
                                  </p:stCondLst>
                                  <p:childTnLst>
                                    <p:set>
                                      <p:cBhvr>
                                        <p:cTn id="84" dur="1" fill="hold">
                                          <p:stCondLst>
                                            <p:cond delay="0"/>
                                          </p:stCondLst>
                                        </p:cTn>
                                        <p:tgtEl>
                                          <p:spTgt spid="225312"/>
                                        </p:tgtEl>
                                        <p:attrNameLst>
                                          <p:attrName>style.visibility</p:attrName>
                                        </p:attrNameLst>
                                      </p:cBhvr>
                                      <p:to>
                                        <p:strVal val="visible"/>
                                      </p:to>
                                    </p:set>
                                    <p:animEffect transition="in" filter="blinds(horizontal)">
                                      <p:cBhvr>
                                        <p:cTn id="85" dur="500"/>
                                        <p:tgtEl>
                                          <p:spTgt spid="225312"/>
                                        </p:tgtEl>
                                      </p:cBhvr>
                                    </p:animEffect>
                                  </p:childTnLst>
                                </p:cTn>
                              </p:par>
                            </p:childTnLst>
                          </p:cTn>
                        </p:par>
                      </p:childTnLst>
                    </p:cTn>
                  </p:par>
                  <p:par>
                    <p:cTn id="86" fill="hold" nodeType="clickPar">
                      <p:stCondLst>
                        <p:cond delay="indefinite"/>
                      </p:stCondLst>
                      <p:childTnLst>
                        <p:par>
                          <p:cTn id="87" fill="hold" nodeType="withGroup">
                            <p:stCondLst>
                              <p:cond delay="0"/>
                            </p:stCondLst>
                            <p:childTnLst>
                              <p:par>
                                <p:cTn id="88" presetID="3" presetClass="entr" presetSubtype="10" fill="hold" grpId="0" nodeType="clickEffect">
                                  <p:stCondLst>
                                    <p:cond delay="0"/>
                                  </p:stCondLst>
                                  <p:childTnLst>
                                    <p:set>
                                      <p:cBhvr>
                                        <p:cTn id="89" dur="1" fill="hold">
                                          <p:stCondLst>
                                            <p:cond delay="0"/>
                                          </p:stCondLst>
                                        </p:cTn>
                                        <p:tgtEl>
                                          <p:spTgt spid="22610"/>
                                        </p:tgtEl>
                                        <p:attrNameLst>
                                          <p:attrName>style.visibility</p:attrName>
                                        </p:attrNameLst>
                                      </p:cBhvr>
                                      <p:to>
                                        <p:strVal val="visible"/>
                                      </p:to>
                                    </p:set>
                                    <p:animEffect transition="in" filter="blinds(horizontal)">
                                      <p:cBhvr>
                                        <p:cTn id="90" dur="500"/>
                                        <p:tgtEl>
                                          <p:spTgt spid="22610"/>
                                        </p:tgtEl>
                                      </p:cBhvr>
                                    </p:animEffect>
                                  </p:childTnLst>
                                </p:cTn>
                              </p:par>
                              <p:par>
                                <p:cTn id="91" presetID="3" presetClass="entr" presetSubtype="10" fill="hold" nodeType="withEffect">
                                  <p:stCondLst>
                                    <p:cond delay="0"/>
                                  </p:stCondLst>
                                  <p:childTnLst>
                                    <p:set>
                                      <p:cBhvr>
                                        <p:cTn id="92" dur="1" fill="hold">
                                          <p:stCondLst>
                                            <p:cond delay="0"/>
                                          </p:stCondLst>
                                        </p:cTn>
                                        <p:tgtEl>
                                          <p:spTgt spid="22611"/>
                                        </p:tgtEl>
                                        <p:attrNameLst>
                                          <p:attrName>style.visibility</p:attrName>
                                        </p:attrNameLst>
                                      </p:cBhvr>
                                      <p:to>
                                        <p:strVal val="visible"/>
                                      </p:to>
                                    </p:set>
                                    <p:animEffect transition="in" filter="blinds(horizontal)">
                                      <p:cBhvr>
                                        <p:cTn id="93" dur="500"/>
                                        <p:tgtEl>
                                          <p:spTgt spid="226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2592" grpId="0" autoUpdateAnimBg="0"/>
      <p:bldP spid="22595" grpId="0"/>
      <p:bldP spid="22599" grpId="0"/>
      <p:bldP spid="22607" grpId="0" autoUpdateAnimBg="0"/>
      <p:bldP spid="22609" grpId="0"/>
      <p:bldP spid="22610" grpId="0" animBg="1"/>
      <p:bldP spid="21" grpId="0" animBg="1"/>
    </p:bld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0722" name="Object 18"/>
          <p:cNvGraphicFramePr>
            <a:graphicFrameLocks noChangeAspect="1"/>
          </p:cNvGraphicFramePr>
          <p:nvPr/>
        </p:nvGraphicFramePr>
        <p:xfrm>
          <a:off x="5075238" y="950913"/>
          <a:ext cx="1190625" cy="581025"/>
        </p:xfrm>
        <a:graphic>
          <a:graphicData uri="http://schemas.openxmlformats.org/presentationml/2006/ole">
            <p:oleObj spid="_x0000_s30747" name="公式" r:id="rId3" imgW="444307" imgH="291973" progId="Equation.3">
              <p:embed/>
            </p:oleObj>
          </a:graphicData>
        </a:graphic>
      </p:graphicFrame>
      <p:graphicFrame>
        <p:nvGraphicFramePr>
          <p:cNvPr id="23571" name="Object 19"/>
          <p:cNvGraphicFramePr>
            <a:graphicFrameLocks noChangeAspect="1"/>
          </p:cNvGraphicFramePr>
          <p:nvPr/>
        </p:nvGraphicFramePr>
        <p:xfrm>
          <a:off x="6659563" y="979488"/>
          <a:ext cx="1674812" cy="555625"/>
        </p:xfrm>
        <a:graphic>
          <a:graphicData uri="http://schemas.openxmlformats.org/presentationml/2006/ole">
            <p:oleObj spid="_x0000_s30748" name="公式" r:id="rId4" imgW="660113" imgH="291973" progId="Equation.3">
              <p:embed/>
            </p:oleObj>
          </a:graphicData>
        </a:graphic>
      </p:graphicFrame>
      <p:sp>
        <p:nvSpPr>
          <p:cNvPr id="23572" name="Text Box 20"/>
          <p:cNvSpPr txBox="1">
            <a:spLocks noChangeArrowheads="1"/>
          </p:cNvSpPr>
          <p:nvPr/>
        </p:nvSpPr>
        <p:spPr bwMode="auto">
          <a:xfrm>
            <a:off x="4373563" y="1055688"/>
            <a:ext cx="48895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或</a:t>
            </a:r>
          </a:p>
        </p:txBody>
      </p:sp>
      <p:grpSp>
        <p:nvGrpSpPr>
          <p:cNvPr id="2" name="Group 44"/>
          <p:cNvGrpSpPr>
            <a:grpSpLocks/>
          </p:cNvGrpSpPr>
          <p:nvPr/>
        </p:nvGrpSpPr>
        <p:grpSpPr bwMode="auto">
          <a:xfrm>
            <a:off x="381000" y="1554163"/>
            <a:ext cx="5576888" cy="369887"/>
            <a:chOff x="240" y="1177"/>
            <a:chExt cx="3513" cy="310"/>
          </a:xfrm>
        </p:grpSpPr>
        <p:graphicFrame>
          <p:nvGraphicFramePr>
            <p:cNvPr id="30733" name="Object 22"/>
            <p:cNvGraphicFramePr>
              <a:graphicFrameLocks noChangeAspect="1"/>
            </p:cNvGraphicFramePr>
            <p:nvPr/>
          </p:nvGraphicFramePr>
          <p:xfrm>
            <a:off x="1639" y="1207"/>
            <a:ext cx="243" cy="272"/>
          </p:xfrm>
          <a:graphic>
            <a:graphicData uri="http://schemas.openxmlformats.org/presentationml/2006/ole">
              <p:oleObj spid="_x0000_s30749" name="公式" r:id="rId5" imgW="126835" imgH="139518" progId="Equation.3">
                <p:embed/>
              </p:oleObj>
            </a:graphicData>
          </a:graphic>
        </p:graphicFrame>
        <p:sp>
          <p:nvSpPr>
            <p:cNvPr id="30734" name="Rectangle 23"/>
            <p:cNvSpPr>
              <a:spLocks noChangeArrowheads="1"/>
            </p:cNvSpPr>
            <p:nvPr/>
          </p:nvSpPr>
          <p:spPr bwMode="auto">
            <a:xfrm>
              <a:off x="240" y="1177"/>
              <a:ext cx="3513"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ea typeface="华文中宋" pitchFamily="2" charset="-122"/>
                </a:rPr>
                <a:t>此即宏观量</a:t>
              </a:r>
              <a:r>
                <a:rPr lang="en-US" altLang="zh-CN" sz="1800" b="1" i="1">
                  <a:ea typeface="华文中宋" pitchFamily="2" charset="-122"/>
                </a:rPr>
                <a:t>T</a:t>
              </a:r>
              <a:r>
                <a:rPr lang="zh-CN" altLang="en-US" sz="1800" b="1">
                  <a:ea typeface="华文中宋" pitchFamily="2" charset="-122"/>
                </a:rPr>
                <a:t>与微观量    的关系，这说明 </a:t>
              </a:r>
            </a:p>
          </p:txBody>
        </p:sp>
      </p:grpSp>
      <p:sp>
        <p:nvSpPr>
          <p:cNvPr id="23576" name="Text Box 24"/>
          <p:cNvSpPr txBox="1">
            <a:spLocks noChangeArrowheads="1"/>
          </p:cNvSpPr>
          <p:nvPr/>
        </p:nvSpPr>
        <p:spPr bwMode="auto">
          <a:xfrm>
            <a:off x="228600" y="1924050"/>
            <a:ext cx="80930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chemeClr val="accent2"/>
                </a:solidFill>
                <a:latin typeface="华文中宋" pitchFamily="2" charset="-122"/>
                <a:ea typeface="华文中宋" pitchFamily="2" charset="-122"/>
              </a:rPr>
              <a:t>１、温度是描述热力学系统平衡态的一个物理量。</a:t>
            </a:r>
            <a:endParaRPr lang="zh-CN" altLang="en-US" sz="1800" b="1">
              <a:latin typeface="华文中宋" pitchFamily="2" charset="-122"/>
              <a:ea typeface="华文中宋" pitchFamily="2" charset="-122"/>
            </a:endParaRPr>
          </a:p>
        </p:txBody>
      </p:sp>
      <p:sp>
        <p:nvSpPr>
          <p:cNvPr id="23577" name="Text Box 25"/>
          <p:cNvSpPr txBox="1">
            <a:spLocks noChangeArrowheads="1"/>
          </p:cNvSpPr>
          <p:nvPr/>
        </p:nvSpPr>
        <p:spPr bwMode="auto">
          <a:xfrm>
            <a:off x="250825" y="2679700"/>
            <a:ext cx="62484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chemeClr val="accent2"/>
                </a:solidFill>
                <a:latin typeface="华文中宋" pitchFamily="2" charset="-122"/>
                <a:ea typeface="华文中宋" pitchFamily="2" charset="-122"/>
              </a:rPr>
              <a:t>２、宏观量温度</a:t>
            </a:r>
            <a:r>
              <a:rPr lang="en-US" altLang="zh-CN" sz="1800" b="1" i="1">
                <a:solidFill>
                  <a:schemeClr val="accent2"/>
                </a:solidFill>
                <a:ea typeface="华文中宋" pitchFamily="2" charset="-122"/>
              </a:rPr>
              <a:t>T</a:t>
            </a:r>
            <a:r>
              <a:rPr lang="zh-CN" altLang="en-US" sz="1800" b="1">
                <a:solidFill>
                  <a:schemeClr val="accent2"/>
                </a:solidFill>
                <a:latin typeface="华文中宋" pitchFamily="2" charset="-122"/>
                <a:ea typeface="华文中宋" pitchFamily="2" charset="-122"/>
              </a:rPr>
              <a:t>是一个统计概念</a:t>
            </a:r>
            <a:r>
              <a:rPr lang="zh-CN" altLang="en-US" sz="1800" b="1">
                <a:latin typeface="华文中宋" pitchFamily="2" charset="-122"/>
                <a:ea typeface="华文中宋" pitchFamily="2" charset="-122"/>
              </a:rPr>
              <a:t>。</a:t>
            </a:r>
            <a:endParaRPr lang="zh-CN" altLang="en-US" sz="1800" b="1">
              <a:solidFill>
                <a:srgbClr val="800000"/>
              </a:solidFill>
              <a:latin typeface="华文中宋" pitchFamily="2" charset="-122"/>
              <a:ea typeface="华文中宋" pitchFamily="2" charset="-122"/>
            </a:endParaRPr>
          </a:p>
        </p:txBody>
      </p:sp>
      <p:sp>
        <p:nvSpPr>
          <p:cNvPr id="23578" name="Text Box 26"/>
          <p:cNvSpPr txBox="1">
            <a:spLocks noChangeArrowheads="1"/>
          </p:cNvSpPr>
          <p:nvPr/>
        </p:nvSpPr>
        <p:spPr bwMode="auto">
          <a:xfrm>
            <a:off x="250825" y="3579813"/>
            <a:ext cx="355758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chemeClr val="accent2"/>
                </a:solidFill>
                <a:latin typeface="华文中宋" pitchFamily="2" charset="-122"/>
                <a:ea typeface="华文中宋" pitchFamily="2" charset="-122"/>
              </a:rPr>
              <a:t>３、零点能的问题</a:t>
            </a:r>
            <a:r>
              <a:rPr lang="zh-CN" altLang="en-US" sz="1800" b="1">
                <a:latin typeface="华文中宋" pitchFamily="2" charset="-122"/>
                <a:ea typeface="华文中宋" pitchFamily="2" charset="-122"/>
              </a:rPr>
              <a:t>	</a:t>
            </a:r>
          </a:p>
        </p:txBody>
      </p:sp>
      <p:sp>
        <p:nvSpPr>
          <p:cNvPr id="23579" name="Text Box 27"/>
          <p:cNvSpPr txBox="1">
            <a:spLocks noChangeArrowheads="1"/>
          </p:cNvSpPr>
          <p:nvPr/>
        </p:nvSpPr>
        <p:spPr bwMode="auto">
          <a:xfrm>
            <a:off x="438150" y="3959225"/>
            <a:ext cx="8526463"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ea typeface="华文中宋" pitchFamily="2" charset="-122"/>
              </a:rPr>
              <a:t>             </a:t>
            </a:r>
            <a:r>
              <a:rPr lang="en-US" altLang="zh-CN" sz="1800" b="1" i="1">
                <a:ea typeface="华文中宋" pitchFamily="2" charset="-122"/>
              </a:rPr>
              <a:t>T</a:t>
            </a:r>
            <a:r>
              <a:rPr lang="en-US" altLang="zh-CN" sz="1800" b="1">
                <a:ea typeface="华文中宋" pitchFamily="2" charset="-122"/>
              </a:rPr>
              <a:t>=0K</a:t>
            </a:r>
            <a:r>
              <a:rPr lang="zh-CN" altLang="en-US" sz="1800" b="1">
                <a:ea typeface="华文中宋" pitchFamily="2" charset="-122"/>
              </a:rPr>
              <a:t>时，平均平动动能为零，即热运动停止，不可能达到，而实际上是上述理论是从理想气体假设而得到的，理论不适用。</a:t>
            </a:r>
          </a:p>
        </p:txBody>
      </p:sp>
      <p:sp>
        <p:nvSpPr>
          <p:cNvPr id="23580" name="Text Box 28"/>
          <p:cNvSpPr txBox="1">
            <a:spLocks noChangeArrowheads="1"/>
          </p:cNvSpPr>
          <p:nvPr/>
        </p:nvSpPr>
        <p:spPr bwMode="auto">
          <a:xfrm>
            <a:off x="1177925" y="2301875"/>
            <a:ext cx="490696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非平衡态系统不能用温度来描述。</a:t>
            </a:r>
          </a:p>
        </p:txBody>
      </p:sp>
      <p:sp>
        <p:nvSpPr>
          <p:cNvPr id="23581" name="Text Box 29"/>
          <p:cNvSpPr txBox="1">
            <a:spLocks noChangeArrowheads="1"/>
          </p:cNvSpPr>
          <p:nvPr/>
        </p:nvSpPr>
        <p:spPr bwMode="auto">
          <a:xfrm>
            <a:off x="1182688" y="3113088"/>
            <a:ext cx="73501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是</a:t>
            </a:r>
            <a:r>
              <a:rPr lang="zh-CN" altLang="en-US" sz="1800" b="1">
                <a:solidFill>
                  <a:srgbClr val="CC3300"/>
                </a:solidFill>
                <a:latin typeface="华文中宋" pitchFamily="2" charset="-122"/>
                <a:ea typeface="华文中宋" pitchFamily="2" charset="-122"/>
              </a:rPr>
              <a:t>大量分子</a:t>
            </a:r>
            <a:r>
              <a:rPr lang="zh-CN" altLang="en-US" sz="1800" b="1">
                <a:latin typeface="华文中宋" pitchFamily="2" charset="-122"/>
                <a:ea typeface="华文中宋" pitchFamily="2" charset="-122"/>
              </a:rPr>
              <a:t>无规则热运动的集体表现，</a:t>
            </a:r>
            <a:r>
              <a:rPr lang="zh-CN" altLang="en-US" sz="1800" b="1">
                <a:solidFill>
                  <a:srgbClr val="800000"/>
                </a:solidFill>
                <a:latin typeface="华文中宋" pitchFamily="2" charset="-122"/>
                <a:ea typeface="华文中宋" pitchFamily="2" charset="-122"/>
              </a:rPr>
              <a:t>是分子平均平动动能的量度</a:t>
            </a:r>
          </a:p>
        </p:txBody>
      </p:sp>
      <p:graphicFrame>
        <p:nvGraphicFramePr>
          <p:cNvPr id="30732" name="Object 43"/>
          <p:cNvGraphicFramePr>
            <a:graphicFrameLocks noChangeAspect="1"/>
          </p:cNvGraphicFramePr>
          <p:nvPr/>
        </p:nvGraphicFramePr>
        <p:xfrm>
          <a:off x="1547813" y="990600"/>
          <a:ext cx="2424112" cy="573088"/>
        </p:xfrm>
        <a:graphic>
          <a:graphicData uri="http://schemas.openxmlformats.org/presentationml/2006/ole">
            <p:oleObj spid="_x0000_s30750" name="公式" r:id="rId6" imgW="914400" imgH="292100"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3572"/>
                                        </p:tgtEl>
                                        <p:attrNameLst>
                                          <p:attrName>style.visibility</p:attrName>
                                        </p:attrNameLst>
                                      </p:cBhvr>
                                      <p:to>
                                        <p:strVal val="visible"/>
                                      </p:to>
                                    </p:set>
                                    <p:anim calcmode="lin" valueType="num">
                                      <p:cBhvr>
                                        <p:cTn id="7" dur="500" fill="hold"/>
                                        <p:tgtEl>
                                          <p:spTgt spid="23572"/>
                                        </p:tgtEl>
                                        <p:attrNameLst>
                                          <p:attrName>ppt_w</p:attrName>
                                        </p:attrNameLst>
                                      </p:cBhvr>
                                      <p:tavLst>
                                        <p:tav tm="0">
                                          <p:val>
                                            <p:fltVal val="0"/>
                                          </p:val>
                                        </p:tav>
                                        <p:tav tm="100000">
                                          <p:val>
                                            <p:strVal val="#ppt_w"/>
                                          </p:val>
                                        </p:tav>
                                      </p:tavLst>
                                    </p:anim>
                                    <p:anim calcmode="lin" valueType="num">
                                      <p:cBhvr>
                                        <p:cTn id="8" dur="500" fill="hold"/>
                                        <p:tgtEl>
                                          <p:spTgt spid="2357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23571"/>
                                        </p:tgtEl>
                                        <p:attrNameLst>
                                          <p:attrName>style.visibility</p:attrName>
                                        </p:attrNameLst>
                                      </p:cBhvr>
                                      <p:to>
                                        <p:strVal val="visible"/>
                                      </p:to>
                                    </p:set>
                                    <p:anim calcmode="lin" valueType="num">
                                      <p:cBhvr>
                                        <p:cTn id="13" dur="500" fill="hold"/>
                                        <p:tgtEl>
                                          <p:spTgt spid="23571"/>
                                        </p:tgtEl>
                                        <p:attrNameLst>
                                          <p:attrName>ppt_w</p:attrName>
                                        </p:attrNameLst>
                                      </p:cBhvr>
                                      <p:tavLst>
                                        <p:tav tm="0">
                                          <p:val>
                                            <p:fltVal val="0"/>
                                          </p:val>
                                        </p:tav>
                                        <p:tav tm="100000">
                                          <p:val>
                                            <p:strVal val="#ppt_w"/>
                                          </p:val>
                                        </p:tav>
                                      </p:tavLst>
                                    </p:anim>
                                    <p:anim calcmode="lin" valueType="num">
                                      <p:cBhvr>
                                        <p:cTn id="14" dur="500" fill="hold"/>
                                        <p:tgtEl>
                                          <p:spTgt spid="23571"/>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2"/>
                                        </p:tgtEl>
                                        <p:attrNameLst>
                                          <p:attrName>style.visibility</p:attrName>
                                        </p:attrNameLst>
                                      </p:cBhvr>
                                      <p:to>
                                        <p:strVal val="visible"/>
                                      </p:to>
                                    </p:set>
                                    <p:animEffect transition="in" filter="blinds(horizontal)">
                                      <p:cBhvr>
                                        <p:cTn id="19" dur="500"/>
                                        <p:tgtEl>
                                          <p:spTgt spid="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nodeType="clickEffect">
                                  <p:stCondLst>
                                    <p:cond delay="0"/>
                                  </p:stCondLst>
                                  <p:childTnLst>
                                    <p:set>
                                      <p:cBhvr>
                                        <p:cTn id="23" dur="1" fill="hold">
                                          <p:stCondLst>
                                            <p:cond delay="0"/>
                                          </p:stCondLst>
                                        </p:cTn>
                                        <p:tgtEl>
                                          <p:spTgt spid="23576"/>
                                        </p:tgtEl>
                                        <p:attrNameLst>
                                          <p:attrName>style.visibility</p:attrName>
                                        </p:attrNameLst>
                                      </p:cBhvr>
                                      <p:to>
                                        <p:strVal val="visible"/>
                                      </p:to>
                                    </p:set>
                                    <p:anim calcmode="lin" valueType="num">
                                      <p:cBhvr>
                                        <p:cTn id="24" dur="500" fill="hold"/>
                                        <p:tgtEl>
                                          <p:spTgt spid="23576"/>
                                        </p:tgtEl>
                                        <p:attrNameLst>
                                          <p:attrName>ppt_w</p:attrName>
                                        </p:attrNameLst>
                                      </p:cBhvr>
                                      <p:tavLst>
                                        <p:tav tm="0">
                                          <p:val>
                                            <p:fltVal val="0"/>
                                          </p:val>
                                        </p:tav>
                                        <p:tav tm="100000">
                                          <p:val>
                                            <p:strVal val="#ppt_w"/>
                                          </p:val>
                                        </p:tav>
                                      </p:tavLst>
                                    </p:anim>
                                    <p:anim calcmode="lin" valueType="num">
                                      <p:cBhvr>
                                        <p:cTn id="25" dur="500" fill="hold"/>
                                        <p:tgtEl>
                                          <p:spTgt spid="23576"/>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3" presetClass="entr" presetSubtype="16" fill="hold" nodeType="clickEffect">
                                  <p:stCondLst>
                                    <p:cond delay="0"/>
                                  </p:stCondLst>
                                  <p:childTnLst>
                                    <p:set>
                                      <p:cBhvr>
                                        <p:cTn id="29" dur="1" fill="hold">
                                          <p:stCondLst>
                                            <p:cond delay="0"/>
                                          </p:stCondLst>
                                        </p:cTn>
                                        <p:tgtEl>
                                          <p:spTgt spid="23580"/>
                                        </p:tgtEl>
                                        <p:attrNameLst>
                                          <p:attrName>style.visibility</p:attrName>
                                        </p:attrNameLst>
                                      </p:cBhvr>
                                      <p:to>
                                        <p:strVal val="visible"/>
                                      </p:to>
                                    </p:set>
                                    <p:anim calcmode="lin" valueType="num">
                                      <p:cBhvr>
                                        <p:cTn id="30" dur="500" fill="hold"/>
                                        <p:tgtEl>
                                          <p:spTgt spid="23580"/>
                                        </p:tgtEl>
                                        <p:attrNameLst>
                                          <p:attrName>ppt_w</p:attrName>
                                        </p:attrNameLst>
                                      </p:cBhvr>
                                      <p:tavLst>
                                        <p:tav tm="0">
                                          <p:val>
                                            <p:fltVal val="0"/>
                                          </p:val>
                                        </p:tav>
                                        <p:tav tm="100000">
                                          <p:val>
                                            <p:strVal val="#ppt_w"/>
                                          </p:val>
                                        </p:tav>
                                      </p:tavLst>
                                    </p:anim>
                                    <p:anim calcmode="lin" valueType="num">
                                      <p:cBhvr>
                                        <p:cTn id="31" dur="500" fill="hold"/>
                                        <p:tgtEl>
                                          <p:spTgt spid="23580"/>
                                        </p:tgtEl>
                                        <p:attrNameLst>
                                          <p:attrName>ppt_h</p:attrName>
                                        </p:attrNameLst>
                                      </p:cBhvr>
                                      <p:tavLst>
                                        <p:tav tm="0">
                                          <p:val>
                                            <p:fltVal val="0"/>
                                          </p:val>
                                        </p:tav>
                                        <p:tav tm="100000">
                                          <p:val>
                                            <p:strVal val="#ppt_h"/>
                                          </p:val>
                                        </p:tav>
                                      </p:tavLst>
                                    </p:anim>
                                  </p:childTnLst>
                                </p:cTn>
                              </p:par>
                            </p:childTnLst>
                          </p:cTn>
                        </p:par>
                      </p:childTnLst>
                    </p:cTn>
                  </p:par>
                  <p:par>
                    <p:cTn id="32" fill="hold" nodeType="clickPar">
                      <p:stCondLst>
                        <p:cond delay="indefinite"/>
                      </p:stCondLst>
                      <p:childTnLst>
                        <p:par>
                          <p:cTn id="33" fill="hold" nodeType="withGroup">
                            <p:stCondLst>
                              <p:cond delay="0"/>
                            </p:stCondLst>
                            <p:childTnLst>
                              <p:par>
                                <p:cTn id="34" presetID="23" presetClass="entr" presetSubtype="16" fill="hold" nodeType="clickEffect">
                                  <p:stCondLst>
                                    <p:cond delay="0"/>
                                  </p:stCondLst>
                                  <p:childTnLst>
                                    <p:set>
                                      <p:cBhvr>
                                        <p:cTn id="35" dur="1" fill="hold">
                                          <p:stCondLst>
                                            <p:cond delay="0"/>
                                          </p:stCondLst>
                                        </p:cTn>
                                        <p:tgtEl>
                                          <p:spTgt spid="23577"/>
                                        </p:tgtEl>
                                        <p:attrNameLst>
                                          <p:attrName>style.visibility</p:attrName>
                                        </p:attrNameLst>
                                      </p:cBhvr>
                                      <p:to>
                                        <p:strVal val="visible"/>
                                      </p:to>
                                    </p:set>
                                    <p:anim calcmode="lin" valueType="num">
                                      <p:cBhvr>
                                        <p:cTn id="36" dur="500" fill="hold"/>
                                        <p:tgtEl>
                                          <p:spTgt spid="23577"/>
                                        </p:tgtEl>
                                        <p:attrNameLst>
                                          <p:attrName>ppt_w</p:attrName>
                                        </p:attrNameLst>
                                      </p:cBhvr>
                                      <p:tavLst>
                                        <p:tav tm="0">
                                          <p:val>
                                            <p:fltVal val="0"/>
                                          </p:val>
                                        </p:tav>
                                        <p:tav tm="100000">
                                          <p:val>
                                            <p:strVal val="#ppt_w"/>
                                          </p:val>
                                        </p:tav>
                                      </p:tavLst>
                                    </p:anim>
                                    <p:anim calcmode="lin" valueType="num">
                                      <p:cBhvr>
                                        <p:cTn id="37" dur="500" fill="hold"/>
                                        <p:tgtEl>
                                          <p:spTgt spid="23577"/>
                                        </p:tgtEl>
                                        <p:attrNameLst>
                                          <p:attrName>ppt_h</p:attrName>
                                        </p:attrNameLst>
                                      </p:cBhvr>
                                      <p:tavLst>
                                        <p:tav tm="0">
                                          <p:val>
                                            <p:fltVal val="0"/>
                                          </p:val>
                                        </p:tav>
                                        <p:tav tm="100000">
                                          <p:val>
                                            <p:strVal val="#ppt_h"/>
                                          </p:val>
                                        </p:tav>
                                      </p:tavLst>
                                    </p:anim>
                                  </p:childTnLst>
                                </p:cTn>
                              </p:par>
                            </p:childTnLst>
                          </p:cTn>
                        </p:par>
                      </p:childTnLst>
                    </p:cTn>
                  </p:par>
                  <p:par>
                    <p:cTn id="38" fill="hold" nodeType="clickPar">
                      <p:stCondLst>
                        <p:cond delay="indefinite"/>
                      </p:stCondLst>
                      <p:childTnLst>
                        <p:par>
                          <p:cTn id="39" fill="hold" nodeType="withGroup">
                            <p:stCondLst>
                              <p:cond delay="0"/>
                            </p:stCondLst>
                            <p:childTnLst>
                              <p:par>
                                <p:cTn id="40" presetID="23" presetClass="entr" presetSubtype="16" fill="hold" nodeType="clickEffect">
                                  <p:stCondLst>
                                    <p:cond delay="0"/>
                                  </p:stCondLst>
                                  <p:childTnLst>
                                    <p:set>
                                      <p:cBhvr>
                                        <p:cTn id="41" dur="1" fill="hold">
                                          <p:stCondLst>
                                            <p:cond delay="0"/>
                                          </p:stCondLst>
                                        </p:cTn>
                                        <p:tgtEl>
                                          <p:spTgt spid="23581"/>
                                        </p:tgtEl>
                                        <p:attrNameLst>
                                          <p:attrName>style.visibility</p:attrName>
                                        </p:attrNameLst>
                                      </p:cBhvr>
                                      <p:to>
                                        <p:strVal val="visible"/>
                                      </p:to>
                                    </p:set>
                                    <p:anim calcmode="lin" valueType="num">
                                      <p:cBhvr>
                                        <p:cTn id="42" dur="500" fill="hold"/>
                                        <p:tgtEl>
                                          <p:spTgt spid="23581"/>
                                        </p:tgtEl>
                                        <p:attrNameLst>
                                          <p:attrName>ppt_w</p:attrName>
                                        </p:attrNameLst>
                                      </p:cBhvr>
                                      <p:tavLst>
                                        <p:tav tm="0">
                                          <p:val>
                                            <p:fltVal val="0"/>
                                          </p:val>
                                        </p:tav>
                                        <p:tav tm="100000">
                                          <p:val>
                                            <p:strVal val="#ppt_w"/>
                                          </p:val>
                                        </p:tav>
                                      </p:tavLst>
                                    </p:anim>
                                    <p:anim calcmode="lin" valueType="num">
                                      <p:cBhvr>
                                        <p:cTn id="43" dur="500" fill="hold"/>
                                        <p:tgtEl>
                                          <p:spTgt spid="23581"/>
                                        </p:tgtEl>
                                        <p:attrNameLst>
                                          <p:attrName>ppt_h</p:attrName>
                                        </p:attrNameLst>
                                      </p:cBhvr>
                                      <p:tavLst>
                                        <p:tav tm="0">
                                          <p:val>
                                            <p:fltVal val="0"/>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23" presetClass="entr" presetSubtype="16" fill="hold" nodeType="clickEffect">
                                  <p:stCondLst>
                                    <p:cond delay="0"/>
                                  </p:stCondLst>
                                  <p:childTnLst>
                                    <p:set>
                                      <p:cBhvr>
                                        <p:cTn id="47" dur="1" fill="hold">
                                          <p:stCondLst>
                                            <p:cond delay="0"/>
                                          </p:stCondLst>
                                        </p:cTn>
                                        <p:tgtEl>
                                          <p:spTgt spid="23578"/>
                                        </p:tgtEl>
                                        <p:attrNameLst>
                                          <p:attrName>style.visibility</p:attrName>
                                        </p:attrNameLst>
                                      </p:cBhvr>
                                      <p:to>
                                        <p:strVal val="visible"/>
                                      </p:to>
                                    </p:set>
                                    <p:anim calcmode="lin" valueType="num">
                                      <p:cBhvr>
                                        <p:cTn id="48" dur="500" fill="hold"/>
                                        <p:tgtEl>
                                          <p:spTgt spid="23578"/>
                                        </p:tgtEl>
                                        <p:attrNameLst>
                                          <p:attrName>ppt_w</p:attrName>
                                        </p:attrNameLst>
                                      </p:cBhvr>
                                      <p:tavLst>
                                        <p:tav tm="0">
                                          <p:val>
                                            <p:fltVal val="0"/>
                                          </p:val>
                                        </p:tav>
                                        <p:tav tm="100000">
                                          <p:val>
                                            <p:strVal val="#ppt_w"/>
                                          </p:val>
                                        </p:tav>
                                      </p:tavLst>
                                    </p:anim>
                                    <p:anim calcmode="lin" valueType="num">
                                      <p:cBhvr>
                                        <p:cTn id="49" dur="500" fill="hold"/>
                                        <p:tgtEl>
                                          <p:spTgt spid="23578"/>
                                        </p:tgtEl>
                                        <p:attrNameLst>
                                          <p:attrName>ppt_h</p:attrName>
                                        </p:attrNameLst>
                                      </p:cBhvr>
                                      <p:tavLst>
                                        <p:tav tm="0">
                                          <p:val>
                                            <p:fltVal val="0"/>
                                          </p:val>
                                        </p:tav>
                                        <p:tav tm="100000">
                                          <p:val>
                                            <p:strVal val="#ppt_h"/>
                                          </p:val>
                                        </p:tav>
                                      </p:tavLst>
                                    </p:anim>
                                  </p:childTnLst>
                                </p:cTn>
                              </p:par>
                            </p:childTnLst>
                          </p:cTn>
                        </p:par>
                      </p:childTnLst>
                    </p:cTn>
                  </p:par>
                  <p:par>
                    <p:cTn id="50" fill="hold" nodeType="clickPar">
                      <p:stCondLst>
                        <p:cond delay="indefinite"/>
                      </p:stCondLst>
                      <p:childTnLst>
                        <p:par>
                          <p:cTn id="51" fill="hold" nodeType="withGroup">
                            <p:stCondLst>
                              <p:cond delay="0"/>
                            </p:stCondLst>
                            <p:childTnLst>
                              <p:par>
                                <p:cTn id="52" presetID="23" presetClass="entr" presetSubtype="16" fill="hold" nodeType="clickEffect">
                                  <p:stCondLst>
                                    <p:cond delay="0"/>
                                  </p:stCondLst>
                                  <p:childTnLst>
                                    <p:set>
                                      <p:cBhvr>
                                        <p:cTn id="53" dur="1" fill="hold">
                                          <p:stCondLst>
                                            <p:cond delay="0"/>
                                          </p:stCondLst>
                                        </p:cTn>
                                        <p:tgtEl>
                                          <p:spTgt spid="23579"/>
                                        </p:tgtEl>
                                        <p:attrNameLst>
                                          <p:attrName>style.visibility</p:attrName>
                                        </p:attrNameLst>
                                      </p:cBhvr>
                                      <p:to>
                                        <p:strVal val="visible"/>
                                      </p:to>
                                    </p:set>
                                    <p:anim calcmode="lin" valueType="num">
                                      <p:cBhvr>
                                        <p:cTn id="54" dur="500" fill="hold"/>
                                        <p:tgtEl>
                                          <p:spTgt spid="23579"/>
                                        </p:tgtEl>
                                        <p:attrNameLst>
                                          <p:attrName>ppt_w</p:attrName>
                                        </p:attrNameLst>
                                      </p:cBhvr>
                                      <p:tavLst>
                                        <p:tav tm="0">
                                          <p:val>
                                            <p:fltVal val="0"/>
                                          </p:val>
                                        </p:tav>
                                        <p:tav tm="100000">
                                          <p:val>
                                            <p:strVal val="#ppt_w"/>
                                          </p:val>
                                        </p:tav>
                                      </p:tavLst>
                                    </p:anim>
                                    <p:anim calcmode="lin" valueType="num">
                                      <p:cBhvr>
                                        <p:cTn id="55" dur="500" fill="hold"/>
                                        <p:tgtEl>
                                          <p:spTgt spid="2357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572" grpId="0" autoUpdateAnimBg="0"/>
    </p:bld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4" name="Text Box 2"/>
          <p:cNvSpPr txBox="1">
            <a:spLocks noChangeArrowheads="1"/>
          </p:cNvSpPr>
          <p:nvPr/>
        </p:nvSpPr>
        <p:spPr bwMode="auto">
          <a:xfrm>
            <a:off x="250825" y="844550"/>
            <a:ext cx="604996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chemeClr val="accent2"/>
                </a:solidFill>
                <a:latin typeface="华文中宋" pitchFamily="2" charset="-122"/>
                <a:ea typeface="华文中宋" pitchFamily="2" charset="-122"/>
              </a:rPr>
              <a:t>4</a:t>
            </a:r>
            <a:r>
              <a:rPr lang="zh-CN" altLang="en-US" sz="1800" b="1">
                <a:solidFill>
                  <a:schemeClr val="accent2"/>
                </a:solidFill>
                <a:latin typeface="华文中宋" pitchFamily="2" charset="-122"/>
                <a:ea typeface="华文中宋" pitchFamily="2" charset="-122"/>
              </a:rPr>
              <a:t>、温度所描述的运动是分子无规则运动。</a:t>
            </a:r>
            <a:endParaRPr lang="zh-CN" altLang="en-US" sz="1800" b="1">
              <a:latin typeface="华文中宋" pitchFamily="2" charset="-122"/>
              <a:ea typeface="华文中宋" pitchFamily="2" charset="-122"/>
            </a:endParaRPr>
          </a:p>
        </p:txBody>
      </p:sp>
      <p:sp>
        <p:nvSpPr>
          <p:cNvPr id="28675" name="Text Box 3"/>
          <p:cNvSpPr txBox="1">
            <a:spLocks noChangeArrowheads="1"/>
          </p:cNvSpPr>
          <p:nvPr/>
        </p:nvSpPr>
        <p:spPr bwMode="auto">
          <a:xfrm>
            <a:off x="290513" y="1925638"/>
            <a:ext cx="84582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chemeClr val="accent2"/>
                </a:solidFill>
                <a:latin typeface="华文中宋" pitchFamily="2" charset="-122"/>
                <a:ea typeface="华文中宋" pitchFamily="2" charset="-122"/>
              </a:rPr>
              <a:t>5</a:t>
            </a:r>
            <a:r>
              <a:rPr lang="zh-CN" altLang="en-US" sz="1800" b="1">
                <a:solidFill>
                  <a:schemeClr val="accent2"/>
                </a:solidFill>
                <a:latin typeface="华文中宋" pitchFamily="2" charset="-122"/>
                <a:ea typeface="华文中宋" pitchFamily="2" charset="-122"/>
              </a:rPr>
              <a:t>、上式结果与分子的种类无关。</a:t>
            </a:r>
          </a:p>
          <a:p>
            <a:pPr eaLnBrk="1" hangingPunct="1"/>
            <a:r>
              <a:rPr lang="zh-CN" altLang="en-US" sz="1800" b="1">
                <a:solidFill>
                  <a:schemeClr val="accent2"/>
                </a:solidFill>
                <a:latin typeface="华文中宋" pitchFamily="2" charset="-122"/>
                <a:ea typeface="华文中宋" pitchFamily="2" charset="-122"/>
              </a:rPr>
              <a:t>            </a:t>
            </a:r>
            <a:r>
              <a:rPr lang="zh-CN" altLang="en-US" sz="1800" b="1">
                <a:latin typeface="华文中宋" pitchFamily="2" charset="-122"/>
                <a:ea typeface="华文中宋" pitchFamily="2" charset="-122"/>
              </a:rPr>
              <a:t>只要温度相同，则分子的平均平动动能就相同。</a:t>
            </a:r>
          </a:p>
        </p:txBody>
      </p:sp>
      <p:sp>
        <p:nvSpPr>
          <p:cNvPr id="28680" name="Text Box 8"/>
          <p:cNvSpPr txBox="1">
            <a:spLocks noChangeArrowheads="1"/>
          </p:cNvSpPr>
          <p:nvPr/>
        </p:nvSpPr>
        <p:spPr bwMode="auto">
          <a:xfrm>
            <a:off x="539750" y="1200150"/>
            <a:ext cx="806450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solidFill>
                  <a:srgbClr val="800000"/>
                </a:solidFill>
                <a:latin typeface="华文中宋" pitchFamily="2" charset="-122"/>
                <a:ea typeface="华文中宋" pitchFamily="2" charset="-122"/>
              </a:rPr>
              <a:t>热运动，是相对质心参照系</a:t>
            </a:r>
            <a:r>
              <a:rPr lang="zh-CN" altLang="en-US" sz="1800" b="1">
                <a:latin typeface="华文中宋" pitchFamily="2" charset="-122"/>
                <a:ea typeface="华文中宋" pitchFamily="2" charset="-122"/>
              </a:rPr>
              <a:t>，平动动能是系统的内动能，温度和系统的整体运动无关。</a:t>
            </a:r>
          </a:p>
        </p:txBody>
      </p:sp>
      <p:graphicFrame>
        <p:nvGraphicFramePr>
          <p:cNvPr id="28693" name="Object 21"/>
          <p:cNvGraphicFramePr>
            <a:graphicFrameLocks noChangeAspect="1"/>
          </p:cNvGraphicFramePr>
          <p:nvPr/>
        </p:nvGraphicFramePr>
        <p:xfrm>
          <a:off x="2987675" y="2951163"/>
          <a:ext cx="2233613" cy="576262"/>
        </p:xfrm>
        <a:graphic>
          <a:graphicData uri="http://schemas.openxmlformats.org/presentationml/2006/ole">
            <p:oleObj spid="_x0000_s31763" name="公式" r:id="rId3" imgW="850531" imgH="291973" progId="Equation.3">
              <p:embed/>
            </p:oleObj>
          </a:graphicData>
        </a:graphic>
      </p:graphicFrame>
      <p:graphicFrame>
        <p:nvGraphicFramePr>
          <p:cNvPr id="28694" name="Object 22"/>
          <p:cNvGraphicFramePr>
            <a:graphicFrameLocks noChangeAspect="1"/>
          </p:cNvGraphicFramePr>
          <p:nvPr/>
        </p:nvGraphicFramePr>
        <p:xfrm>
          <a:off x="2700338" y="3546475"/>
          <a:ext cx="2676525" cy="681038"/>
        </p:xfrm>
        <a:graphic>
          <a:graphicData uri="http://schemas.openxmlformats.org/presentationml/2006/ole">
            <p:oleObj spid="_x0000_s31764" name="Equation" r:id="rId4" imgW="1435100" imgH="482600" progId="Equation.DSMT4">
              <p:embed/>
            </p:oleObj>
          </a:graphicData>
        </a:graphic>
      </p:graphicFrame>
      <p:sp>
        <p:nvSpPr>
          <p:cNvPr id="28695" name="Text Box 23"/>
          <p:cNvSpPr txBox="1">
            <a:spLocks noChangeArrowheads="1"/>
          </p:cNvSpPr>
          <p:nvPr/>
        </p:nvSpPr>
        <p:spPr bwMode="auto">
          <a:xfrm>
            <a:off x="755650" y="4217988"/>
            <a:ext cx="79216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称之为气体分子的方均根速率</a:t>
            </a:r>
            <a:r>
              <a:rPr lang="zh-CN" altLang="en-US" sz="1800" b="1">
                <a:latin typeface="华文中宋" pitchFamily="2" charset="-122"/>
                <a:ea typeface="华文中宋" pitchFamily="2" charset="-122"/>
              </a:rPr>
              <a:t>（其数量级是</a:t>
            </a:r>
            <a:r>
              <a:rPr lang="en-US" altLang="zh-CN" sz="1800" b="1" i="1">
                <a:ea typeface="华文中宋" pitchFamily="2" charset="-122"/>
              </a:rPr>
              <a:t>n</a:t>
            </a:r>
            <a:r>
              <a:rPr lang="en-US" altLang="zh-CN" sz="1800" b="1">
                <a:ea typeface="华文中宋" pitchFamily="2" charset="-122"/>
              </a:rPr>
              <a:t>×100 m/s</a:t>
            </a:r>
            <a:r>
              <a:rPr lang="zh-CN" altLang="en-US" sz="1800" b="1">
                <a:latin typeface="华文中宋" pitchFamily="2" charset="-122"/>
                <a:ea typeface="华文中宋" pitchFamily="2" charset="-122"/>
              </a:rPr>
              <a:t>）</a:t>
            </a:r>
            <a:endParaRPr kumimoji="0" lang="zh-CN" altLang="en-US" sz="1800" b="1">
              <a:latin typeface="华文中宋" pitchFamily="2" charset="-122"/>
              <a:ea typeface="华文中宋" pitchFamily="2" charset="-122"/>
            </a:endParaRPr>
          </a:p>
        </p:txBody>
      </p:sp>
      <p:graphicFrame>
        <p:nvGraphicFramePr>
          <p:cNvPr id="28697" name="Object 25"/>
          <p:cNvGraphicFramePr>
            <a:graphicFrameLocks noChangeAspect="1"/>
          </p:cNvGraphicFramePr>
          <p:nvPr/>
        </p:nvGraphicFramePr>
        <p:xfrm>
          <a:off x="5940425" y="3600450"/>
          <a:ext cx="1008063" cy="604838"/>
        </p:xfrm>
        <a:graphic>
          <a:graphicData uri="http://schemas.openxmlformats.org/presentationml/2006/ole">
            <p:oleObj spid="_x0000_s31765" name="公式" r:id="rId5" imgW="380670" imgH="317225" progId="Equation.3">
              <p:embed/>
            </p:oleObj>
          </a:graphicData>
        </a:graphic>
      </p:graphicFrame>
      <p:sp>
        <p:nvSpPr>
          <p:cNvPr id="10" name="Text Box 2"/>
          <p:cNvSpPr>
            <a:spLocks noChangeArrowheads="1"/>
          </p:cNvSpPr>
          <p:nvPr/>
        </p:nvSpPr>
        <p:spPr bwMode="auto">
          <a:xfrm>
            <a:off x="827088" y="2532063"/>
            <a:ext cx="3457575" cy="400050"/>
          </a:xfrm>
          <a:prstGeom prst="homePlate">
            <a:avLst>
              <a:gd name="adj" fmla="val 49937"/>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二、气体分子的方均根速率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28674"/>
                                        </p:tgtEl>
                                        <p:attrNameLst>
                                          <p:attrName>style.visibility</p:attrName>
                                        </p:attrNameLst>
                                      </p:cBhvr>
                                      <p:to>
                                        <p:strVal val="visible"/>
                                      </p:to>
                                    </p:set>
                                    <p:anim calcmode="lin" valueType="num">
                                      <p:cBhvr>
                                        <p:cTn id="7" dur="500" fill="hold"/>
                                        <p:tgtEl>
                                          <p:spTgt spid="28674"/>
                                        </p:tgtEl>
                                        <p:attrNameLst>
                                          <p:attrName>ppt_w</p:attrName>
                                        </p:attrNameLst>
                                      </p:cBhvr>
                                      <p:tavLst>
                                        <p:tav tm="0">
                                          <p:val>
                                            <p:fltVal val="0"/>
                                          </p:val>
                                        </p:tav>
                                        <p:tav tm="100000">
                                          <p:val>
                                            <p:strVal val="#ppt_w"/>
                                          </p:val>
                                        </p:tav>
                                      </p:tavLst>
                                    </p:anim>
                                    <p:anim calcmode="lin" valueType="num">
                                      <p:cBhvr>
                                        <p:cTn id="8" dur="500" fill="hold"/>
                                        <p:tgtEl>
                                          <p:spTgt spid="2867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28680"/>
                                        </p:tgtEl>
                                        <p:attrNameLst>
                                          <p:attrName>style.visibility</p:attrName>
                                        </p:attrNameLst>
                                      </p:cBhvr>
                                      <p:to>
                                        <p:strVal val="visible"/>
                                      </p:to>
                                    </p:set>
                                    <p:anim calcmode="lin" valueType="num">
                                      <p:cBhvr>
                                        <p:cTn id="13" dur="500" fill="hold"/>
                                        <p:tgtEl>
                                          <p:spTgt spid="28680"/>
                                        </p:tgtEl>
                                        <p:attrNameLst>
                                          <p:attrName>ppt_w</p:attrName>
                                        </p:attrNameLst>
                                      </p:cBhvr>
                                      <p:tavLst>
                                        <p:tav tm="0">
                                          <p:val>
                                            <p:fltVal val="0"/>
                                          </p:val>
                                        </p:tav>
                                        <p:tav tm="100000">
                                          <p:val>
                                            <p:strVal val="#ppt_w"/>
                                          </p:val>
                                        </p:tav>
                                      </p:tavLst>
                                    </p:anim>
                                    <p:anim calcmode="lin" valueType="num">
                                      <p:cBhvr>
                                        <p:cTn id="14" dur="500" fill="hold"/>
                                        <p:tgtEl>
                                          <p:spTgt spid="28680"/>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grpId="0" nodeType="clickEffect">
                                  <p:stCondLst>
                                    <p:cond delay="0"/>
                                  </p:stCondLst>
                                  <p:childTnLst>
                                    <p:set>
                                      <p:cBhvr>
                                        <p:cTn id="18" dur="1" fill="hold">
                                          <p:stCondLst>
                                            <p:cond delay="0"/>
                                          </p:stCondLst>
                                        </p:cTn>
                                        <p:tgtEl>
                                          <p:spTgt spid="28675"/>
                                        </p:tgtEl>
                                        <p:attrNameLst>
                                          <p:attrName>style.visibility</p:attrName>
                                        </p:attrNameLst>
                                      </p:cBhvr>
                                      <p:to>
                                        <p:strVal val="visible"/>
                                      </p:to>
                                    </p:set>
                                    <p:anim calcmode="lin" valueType="num">
                                      <p:cBhvr>
                                        <p:cTn id="19" dur="500" fill="hold"/>
                                        <p:tgtEl>
                                          <p:spTgt spid="28675"/>
                                        </p:tgtEl>
                                        <p:attrNameLst>
                                          <p:attrName>ppt_w</p:attrName>
                                        </p:attrNameLst>
                                      </p:cBhvr>
                                      <p:tavLst>
                                        <p:tav tm="0">
                                          <p:val>
                                            <p:fltVal val="0"/>
                                          </p:val>
                                        </p:tav>
                                        <p:tav tm="100000">
                                          <p:val>
                                            <p:strVal val="#ppt_w"/>
                                          </p:val>
                                        </p:tav>
                                      </p:tavLst>
                                    </p:anim>
                                    <p:anim calcmode="lin" valueType="num">
                                      <p:cBhvr>
                                        <p:cTn id="20" dur="500" fill="hold"/>
                                        <p:tgtEl>
                                          <p:spTgt spid="28675"/>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2" presetClass="entr" presetSubtype="8" fill="hold" grpId="0" nodeType="clickEffect">
                                  <p:stCondLst>
                                    <p:cond delay="0"/>
                                  </p:stCondLst>
                                  <p:childTnLst>
                                    <p:set>
                                      <p:cBhvr>
                                        <p:cTn id="24" dur="1" fill="hold">
                                          <p:stCondLst>
                                            <p:cond delay="0"/>
                                          </p:stCondLst>
                                        </p:cTn>
                                        <p:tgtEl>
                                          <p:spTgt spid="10"/>
                                        </p:tgtEl>
                                        <p:attrNameLst>
                                          <p:attrName>style.visibility</p:attrName>
                                        </p:attrNameLst>
                                      </p:cBhvr>
                                      <p:to>
                                        <p:strVal val="visible"/>
                                      </p:to>
                                    </p:set>
                                    <p:animEffect transition="in" filter="wipe(left)">
                                      <p:cBhvr>
                                        <p:cTn id="25" dur="500"/>
                                        <p:tgtEl>
                                          <p:spTgt spid="1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12" presetClass="entr" presetSubtype="4" fill="hold" nodeType="clickEffect">
                                  <p:stCondLst>
                                    <p:cond delay="0"/>
                                  </p:stCondLst>
                                  <p:childTnLst>
                                    <p:set>
                                      <p:cBhvr>
                                        <p:cTn id="29" dur="1" fill="hold">
                                          <p:stCondLst>
                                            <p:cond delay="0"/>
                                          </p:stCondLst>
                                        </p:cTn>
                                        <p:tgtEl>
                                          <p:spTgt spid="28693"/>
                                        </p:tgtEl>
                                        <p:attrNameLst>
                                          <p:attrName>style.visibility</p:attrName>
                                        </p:attrNameLst>
                                      </p:cBhvr>
                                      <p:to>
                                        <p:strVal val="visible"/>
                                      </p:to>
                                    </p:set>
                                    <p:animEffect transition="in" filter="slide(fromBottom)">
                                      <p:cBhvr>
                                        <p:cTn id="30" dur="500"/>
                                        <p:tgtEl>
                                          <p:spTgt spid="2869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12" presetClass="entr" presetSubtype="4" fill="hold" nodeType="clickEffect">
                                  <p:stCondLst>
                                    <p:cond delay="0"/>
                                  </p:stCondLst>
                                  <p:childTnLst>
                                    <p:set>
                                      <p:cBhvr>
                                        <p:cTn id="34" dur="1" fill="hold">
                                          <p:stCondLst>
                                            <p:cond delay="0"/>
                                          </p:stCondLst>
                                        </p:cTn>
                                        <p:tgtEl>
                                          <p:spTgt spid="28694"/>
                                        </p:tgtEl>
                                        <p:attrNameLst>
                                          <p:attrName>style.visibility</p:attrName>
                                        </p:attrNameLst>
                                      </p:cBhvr>
                                      <p:to>
                                        <p:strVal val="visible"/>
                                      </p:to>
                                    </p:set>
                                    <p:animEffect transition="in" filter="slide(fromBottom)">
                                      <p:cBhvr>
                                        <p:cTn id="35" dur="500"/>
                                        <p:tgtEl>
                                          <p:spTgt spid="28694"/>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12" presetClass="entr" presetSubtype="4" fill="hold" nodeType="clickEffect">
                                  <p:stCondLst>
                                    <p:cond delay="0"/>
                                  </p:stCondLst>
                                  <p:childTnLst>
                                    <p:set>
                                      <p:cBhvr>
                                        <p:cTn id="39" dur="1" fill="hold">
                                          <p:stCondLst>
                                            <p:cond delay="0"/>
                                          </p:stCondLst>
                                        </p:cTn>
                                        <p:tgtEl>
                                          <p:spTgt spid="28697"/>
                                        </p:tgtEl>
                                        <p:attrNameLst>
                                          <p:attrName>style.visibility</p:attrName>
                                        </p:attrNameLst>
                                      </p:cBhvr>
                                      <p:to>
                                        <p:strVal val="visible"/>
                                      </p:to>
                                    </p:set>
                                    <p:animEffect transition="in" filter="slide(fromBottom)">
                                      <p:cBhvr>
                                        <p:cTn id="40" dur="500"/>
                                        <p:tgtEl>
                                          <p:spTgt spid="28697"/>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12" presetClass="entr" presetSubtype="4" fill="hold" grpId="0" nodeType="clickEffect">
                                  <p:stCondLst>
                                    <p:cond delay="0"/>
                                  </p:stCondLst>
                                  <p:childTnLst>
                                    <p:set>
                                      <p:cBhvr>
                                        <p:cTn id="44" dur="1" fill="hold">
                                          <p:stCondLst>
                                            <p:cond delay="0"/>
                                          </p:stCondLst>
                                        </p:cTn>
                                        <p:tgtEl>
                                          <p:spTgt spid="28695"/>
                                        </p:tgtEl>
                                        <p:attrNameLst>
                                          <p:attrName>style.visibility</p:attrName>
                                        </p:attrNameLst>
                                      </p:cBhvr>
                                      <p:to>
                                        <p:strVal val="visible"/>
                                      </p:to>
                                    </p:set>
                                    <p:animEffect transition="in" filter="slide(fromBottom)">
                                      <p:cBhvr>
                                        <p:cTn id="45" dur="500"/>
                                        <p:tgtEl>
                                          <p:spTgt spid="2869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8674" grpId="0" autoUpdateAnimBg="0"/>
      <p:bldP spid="28675" grpId="0" autoUpdateAnimBg="0"/>
      <p:bldP spid="28680" grpId="0" autoUpdateAnimBg="0"/>
      <p:bldP spid="28695" grpId="0" autoUpdateAnimBg="0"/>
      <p:bldP spid="10" grpId="0" animBg="1"/>
    </p:bld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9" name="TextBox 2"/>
          <p:cNvSpPr txBox="1">
            <a:spLocks noChangeArrowheads="1"/>
          </p:cNvSpPr>
          <p:nvPr/>
        </p:nvSpPr>
        <p:spPr bwMode="auto">
          <a:xfrm>
            <a:off x="322263" y="771525"/>
            <a:ext cx="8497887" cy="1138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0000FF"/>
                </a:solidFill>
                <a:ea typeface="华文中宋" pitchFamily="2" charset="-122"/>
              </a:rPr>
              <a:t>例    </a:t>
            </a:r>
            <a:r>
              <a:rPr kumimoji="0" lang="zh-CN" altLang="zh-CN" sz="1800" b="1">
                <a:solidFill>
                  <a:srgbClr val="0000FF"/>
                </a:solidFill>
                <a:ea typeface="华文中宋" pitchFamily="2" charset="-122"/>
              </a:rPr>
              <a:t>一瓶氦气和一瓶氮气密度相同，分子平均平动动能相同，而且它们都处于平衡状态，则它们</a:t>
            </a:r>
            <a:r>
              <a:rPr kumimoji="0" lang="zh-CN" altLang="en-US" sz="1800" b="1">
                <a:solidFill>
                  <a:srgbClr val="0000FF"/>
                </a:solidFill>
                <a:ea typeface="华文中宋" pitchFamily="2" charset="-122"/>
              </a:rPr>
              <a:t>（        ）</a:t>
            </a:r>
            <a:endParaRPr kumimoji="0" lang="en-US" altLang="zh-CN" sz="1800" b="1">
              <a:solidFill>
                <a:srgbClr val="0000FF"/>
              </a:solidFill>
              <a:ea typeface="华文中宋" pitchFamily="2" charset="-122"/>
            </a:endParaRPr>
          </a:p>
          <a:p>
            <a:pPr eaLnBrk="1" hangingPunct="1"/>
            <a:r>
              <a:rPr kumimoji="0" lang="en-US" altLang="zh-CN" sz="1600" b="1">
                <a:solidFill>
                  <a:srgbClr val="0000FF"/>
                </a:solidFill>
                <a:ea typeface="华文中宋" pitchFamily="2" charset="-122"/>
              </a:rPr>
              <a:t> (A) </a:t>
            </a:r>
            <a:r>
              <a:rPr kumimoji="0" lang="zh-CN" altLang="zh-CN" sz="1600" b="1">
                <a:solidFill>
                  <a:srgbClr val="0000FF"/>
                </a:solidFill>
                <a:ea typeface="华文中宋" pitchFamily="2" charset="-122"/>
              </a:rPr>
              <a:t>温度相同、压强相同。</a:t>
            </a:r>
            <a:r>
              <a:rPr kumimoji="0" lang="zh-CN" altLang="en-US" sz="1600" b="1">
                <a:solidFill>
                  <a:srgbClr val="0000FF"/>
                </a:solidFill>
                <a:ea typeface="华文中宋" pitchFamily="2" charset="-122"/>
              </a:rPr>
              <a:t>                                   </a:t>
            </a:r>
            <a:r>
              <a:rPr kumimoji="0" lang="en-US" altLang="zh-CN" sz="1600" b="1">
                <a:solidFill>
                  <a:srgbClr val="0000FF"/>
                </a:solidFill>
                <a:ea typeface="华文中宋" pitchFamily="2" charset="-122"/>
              </a:rPr>
              <a:t>(B) </a:t>
            </a:r>
            <a:r>
              <a:rPr kumimoji="0" lang="zh-CN" altLang="zh-CN" sz="1600" b="1">
                <a:solidFill>
                  <a:srgbClr val="0000FF"/>
                </a:solidFill>
                <a:ea typeface="华文中宋" pitchFamily="2" charset="-122"/>
              </a:rPr>
              <a:t>温度、压强都不相同。</a:t>
            </a:r>
            <a:r>
              <a:rPr kumimoji="0" lang="zh-CN" altLang="en-US" sz="1600" b="1">
                <a:solidFill>
                  <a:srgbClr val="0000FF"/>
                </a:solidFill>
                <a:ea typeface="华文中宋" pitchFamily="2" charset="-122"/>
              </a:rPr>
              <a:t>                                    </a:t>
            </a:r>
            <a:endParaRPr kumimoji="0" lang="zh-CN" altLang="zh-CN" sz="1600" b="1">
              <a:solidFill>
                <a:srgbClr val="0000FF"/>
              </a:solidFill>
              <a:ea typeface="华文中宋" pitchFamily="2" charset="-122"/>
            </a:endParaRPr>
          </a:p>
          <a:p>
            <a:pPr eaLnBrk="1" hangingPunct="1"/>
            <a:r>
              <a:rPr kumimoji="0" lang="zh-CN" altLang="en-US" sz="1600" b="1">
                <a:solidFill>
                  <a:srgbClr val="0000FF"/>
                </a:solidFill>
                <a:ea typeface="华文中宋" pitchFamily="2" charset="-122"/>
              </a:rPr>
              <a:t> </a:t>
            </a:r>
            <a:r>
              <a:rPr kumimoji="0" lang="en-US" altLang="zh-CN" sz="1600" b="1">
                <a:solidFill>
                  <a:srgbClr val="0000FF"/>
                </a:solidFill>
                <a:ea typeface="华文中宋" pitchFamily="2" charset="-122"/>
              </a:rPr>
              <a:t>(C) </a:t>
            </a:r>
            <a:r>
              <a:rPr kumimoji="0" lang="zh-CN" altLang="zh-CN" sz="1600" b="1">
                <a:solidFill>
                  <a:srgbClr val="0000FF"/>
                </a:solidFill>
                <a:ea typeface="华文中宋" pitchFamily="2" charset="-122"/>
              </a:rPr>
              <a:t>温度相同，但氦气的压强大于氮气的压强</a:t>
            </a:r>
            <a:r>
              <a:rPr kumimoji="0" lang="en-US" altLang="zh-CN" sz="1600" b="1">
                <a:solidFill>
                  <a:srgbClr val="0000FF"/>
                </a:solidFill>
                <a:ea typeface="华文中宋" pitchFamily="2" charset="-122"/>
              </a:rPr>
              <a:t>.</a:t>
            </a:r>
            <a:r>
              <a:rPr kumimoji="0" lang="zh-CN" altLang="en-US" sz="1600" b="1">
                <a:solidFill>
                  <a:srgbClr val="0000FF"/>
                </a:solidFill>
                <a:ea typeface="华文中宋" pitchFamily="2" charset="-122"/>
              </a:rPr>
              <a:t>  </a:t>
            </a:r>
            <a:r>
              <a:rPr kumimoji="0" lang="en-US" altLang="zh-CN" sz="1600" b="1">
                <a:solidFill>
                  <a:srgbClr val="0000FF"/>
                </a:solidFill>
                <a:ea typeface="华文中宋" pitchFamily="2" charset="-122"/>
              </a:rPr>
              <a:t>(D) </a:t>
            </a:r>
            <a:r>
              <a:rPr kumimoji="0" lang="zh-CN" altLang="zh-CN" sz="1600" b="1">
                <a:solidFill>
                  <a:srgbClr val="0000FF"/>
                </a:solidFill>
                <a:ea typeface="华文中宋" pitchFamily="2" charset="-122"/>
              </a:rPr>
              <a:t>温度相同，但氦气的压强小于氮气的压强。</a:t>
            </a:r>
            <a:endParaRPr kumimoji="0" lang="zh-CN" altLang="en-US" sz="1600" b="1">
              <a:solidFill>
                <a:srgbClr val="0000FF"/>
              </a:solidFill>
              <a:ea typeface="华文中宋" pitchFamily="2" charset="-122"/>
            </a:endParaRPr>
          </a:p>
        </p:txBody>
      </p:sp>
      <p:graphicFrame>
        <p:nvGraphicFramePr>
          <p:cNvPr id="4" name="对象 3"/>
          <p:cNvGraphicFramePr>
            <a:graphicFrameLocks noChangeAspect="1"/>
          </p:cNvGraphicFramePr>
          <p:nvPr/>
        </p:nvGraphicFramePr>
        <p:xfrm>
          <a:off x="4932363" y="2157413"/>
          <a:ext cx="863600" cy="414337"/>
        </p:xfrm>
        <a:graphic>
          <a:graphicData uri="http://schemas.openxmlformats.org/presentationml/2006/ole">
            <p:oleObj spid="_x0000_s32839" name="Equation" r:id="rId3" imgW="634725" imgH="406224" progId="Equation.3">
              <p:embed/>
            </p:oleObj>
          </a:graphicData>
        </a:graphic>
      </p:graphicFrame>
      <p:graphicFrame>
        <p:nvGraphicFramePr>
          <p:cNvPr id="5" name="对象 4"/>
          <p:cNvGraphicFramePr>
            <a:graphicFrameLocks noChangeAspect="1"/>
          </p:cNvGraphicFramePr>
          <p:nvPr/>
        </p:nvGraphicFramePr>
        <p:xfrm>
          <a:off x="3589338" y="1814513"/>
          <a:ext cx="1284287" cy="396875"/>
        </p:xfrm>
        <a:graphic>
          <a:graphicData uri="http://schemas.openxmlformats.org/presentationml/2006/ole">
            <p:oleObj spid="_x0000_s32840" name="Equation" r:id="rId4" imgW="952087" imgH="431613" progId="Equation.DSMT4">
              <p:embed/>
            </p:oleObj>
          </a:graphicData>
        </a:graphic>
      </p:graphicFrame>
      <p:graphicFrame>
        <p:nvGraphicFramePr>
          <p:cNvPr id="6" name="对象 5"/>
          <p:cNvGraphicFramePr>
            <a:graphicFrameLocks noChangeAspect="1"/>
          </p:cNvGraphicFramePr>
          <p:nvPr/>
        </p:nvGraphicFramePr>
        <p:xfrm>
          <a:off x="4957763" y="1851025"/>
          <a:ext cx="868362" cy="341313"/>
        </p:xfrm>
        <a:graphic>
          <a:graphicData uri="http://schemas.openxmlformats.org/presentationml/2006/ole">
            <p:oleObj spid="_x0000_s32841" name="Equation" r:id="rId5" imgW="748975" imgH="393529" progId="Equation.DSMT4">
              <p:embed/>
            </p:oleObj>
          </a:graphicData>
        </a:graphic>
      </p:graphicFrame>
      <p:sp>
        <p:nvSpPr>
          <p:cNvPr id="17" name="TextBox 16"/>
          <p:cNvSpPr txBox="1">
            <a:spLocks noChangeArrowheads="1"/>
          </p:cNvSpPr>
          <p:nvPr/>
        </p:nvSpPr>
        <p:spPr bwMode="auto">
          <a:xfrm>
            <a:off x="2051050" y="1050925"/>
            <a:ext cx="44132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kumimoji="0" lang="en-US" altLang="zh-CN" sz="1800" b="1">
                <a:solidFill>
                  <a:srgbClr val="FF0000"/>
                </a:solidFill>
                <a:ea typeface="华文中宋" pitchFamily="2" charset="-122"/>
              </a:rPr>
              <a:t>C</a:t>
            </a:r>
          </a:p>
        </p:txBody>
      </p:sp>
      <p:sp>
        <p:nvSpPr>
          <p:cNvPr id="121867" name="Rectangle 11"/>
          <p:cNvSpPr>
            <a:spLocks noChangeArrowheads="1"/>
          </p:cNvSpPr>
          <p:nvPr/>
        </p:nvSpPr>
        <p:spPr bwMode="auto">
          <a:xfrm>
            <a:off x="1214438" y="1816100"/>
            <a:ext cx="3860800" cy="3381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zh-CN" sz="1600" b="1">
                <a:solidFill>
                  <a:srgbClr val="FF0000"/>
                </a:solidFill>
                <a:ea typeface="华文中宋" pitchFamily="2" charset="-122"/>
              </a:rPr>
              <a:t>解：</a:t>
            </a:r>
            <a:r>
              <a:rPr kumimoji="0" lang="zh-CN" altLang="zh-CN" sz="1600" b="1">
                <a:ea typeface="华文中宋" pitchFamily="2" charset="-122"/>
              </a:rPr>
              <a:t>密度与压强的关系为</a:t>
            </a:r>
            <a:endParaRPr kumimoji="0" lang="zh-CN" altLang="en-US" sz="1600" b="1">
              <a:ea typeface="华文中宋" pitchFamily="2" charset="-122"/>
            </a:endParaRPr>
          </a:p>
        </p:txBody>
      </p:sp>
      <p:sp>
        <p:nvSpPr>
          <p:cNvPr id="121868" name="Rectangle 12"/>
          <p:cNvSpPr>
            <a:spLocks noChangeArrowheads="1"/>
          </p:cNvSpPr>
          <p:nvPr/>
        </p:nvSpPr>
        <p:spPr bwMode="auto">
          <a:xfrm>
            <a:off x="1646238" y="2160588"/>
            <a:ext cx="5086350" cy="3397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zh-CN" sz="1600" b="1">
                <a:ea typeface="华文中宋" pitchFamily="2" charset="-122"/>
              </a:rPr>
              <a:t>分子平均平动动能与温度的关系为</a:t>
            </a:r>
            <a:endParaRPr kumimoji="0" lang="zh-CN" altLang="en-US" sz="1600" b="1">
              <a:ea typeface="华文中宋" pitchFamily="2" charset="-122"/>
            </a:endParaRPr>
          </a:p>
        </p:txBody>
      </p:sp>
      <p:sp>
        <p:nvSpPr>
          <p:cNvPr id="121869" name="Rectangle 5"/>
          <p:cNvSpPr>
            <a:spLocks noChangeArrowheads="1"/>
          </p:cNvSpPr>
          <p:nvPr/>
        </p:nvSpPr>
        <p:spPr bwMode="auto">
          <a:xfrm>
            <a:off x="323850" y="2478088"/>
            <a:ext cx="8424863" cy="647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eaLnBrk="0" hangingPunct="0"/>
            <a:r>
              <a:rPr kumimoji="0" lang="zh-CN" altLang="en-US" sz="1800" b="1">
                <a:solidFill>
                  <a:srgbClr val="0000FF"/>
                </a:solidFill>
                <a:ea typeface="华文中宋" pitchFamily="2" charset="-122"/>
              </a:rPr>
              <a:t>例  一定量的理想气体贮于某一容器中，温度为</a:t>
            </a:r>
            <a:r>
              <a:rPr kumimoji="0" lang="en-US" altLang="zh-CN" sz="1800" b="1" i="1">
                <a:solidFill>
                  <a:srgbClr val="0000FF"/>
                </a:solidFill>
                <a:ea typeface="华文中宋" pitchFamily="2" charset="-122"/>
              </a:rPr>
              <a:t>T</a:t>
            </a:r>
            <a:r>
              <a:rPr kumimoji="0" lang="zh-CN" altLang="en-US" sz="1800" b="1">
                <a:solidFill>
                  <a:srgbClr val="0000FF"/>
                </a:solidFill>
                <a:ea typeface="华文中宋" pitchFamily="2" charset="-122"/>
              </a:rPr>
              <a:t>，气体分子的质量为</a:t>
            </a:r>
            <a:r>
              <a:rPr kumimoji="0" lang="en-US" altLang="zh-CN" sz="1800" b="1" i="1">
                <a:solidFill>
                  <a:srgbClr val="0000FF"/>
                </a:solidFill>
                <a:ea typeface="华文中宋" pitchFamily="2" charset="-122"/>
              </a:rPr>
              <a:t>m</a:t>
            </a:r>
            <a:r>
              <a:rPr kumimoji="0" lang="zh-CN" altLang="en-US" sz="1800" b="1">
                <a:solidFill>
                  <a:srgbClr val="0000FF"/>
                </a:solidFill>
                <a:ea typeface="华文中宋" pitchFamily="2" charset="-122"/>
              </a:rPr>
              <a:t>。根据理想气体的分子模型和统计假设，分子速度在</a:t>
            </a:r>
            <a:r>
              <a:rPr kumimoji="0" lang="en-US" altLang="zh-CN" sz="1800" b="1" i="1">
                <a:solidFill>
                  <a:srgbClr val="0000FF"/>
                </a:solidFill>
                <a:ea typeface="华文中宋" pitchFamily="2" charset="-122"/>
              </a:rPr>
              <a:t>x</a:t>
            </a:r>
            <a:r>
              <a:rPr kumimoji="0" lang="zh-CN" altLang="en-US" sz="1800" b="1">
                <a:solidFill>
                  <a:srgbClr val="0000FF"/>
                </a:solidFill>
                <a:ea typeface="华文中宋" pitchFamily="2" charset="-122"/>
              </a:rPr>
              <a:t>方向的分量平方的平均值（         ）</a:t>
            </a:r>
            <a:endParaRPr kumimoji="0" lang="en-US" altLang="zh-CN" sz="1800" b="1">
              <a:solidFill>
                <a:srgbClr val="0000FF"/>
              </a:solidFill>
              <a:ea typeface="华文中宋" pitchFamily="2" charset="-122"/>
            </a:endParaRPr>
          </a:p>
        </p:txBody>
      </p:sp>
      <p:grpSp>
        <p:nvGrpSpPr>
          <p:cNvPr id="3" name="Group 33"/>
          <p:cNvGrpSpPr>
            <a:grpSpLocks/>
          </p:cNvGrpSpPr>
          <p:nvPr/>
        </p:nvGrpSpPr>
        <p:grpSpPr bwMode="auto">
          <a:xfrm>
            <a:off x="250825" y="3148013"/>
            <a:ext cx="8281988" cy="512762"/>
            <a:chOff x="158" y="2693"/>
            <a:chExt cx="5252" cy="522"/>
          </a:xfrm>
        </p:grpSpPr>
        <p:grpSp>
          <p:nvGrpSpPr>
            <p:cNvPr id="32789" name="Group 16"/>
            <p:cNvGrpSpPr>
              <a:grpSpLocks/>
            </p:cNvGrpSpPr>
            <p:nvPr/>
          </p:nvGrpSpPr>
          <p:grpSpPr bwMode="auto">
            <a:xfrm>
              <a:off x="158" y="2704"/>
              <a:ext cx="1361" cy="511"/>
              <a:chOff x="476" y="3067"/>
              <a:chExt cx="1361" cy="511"/>
            </a:xfrm>
          </p:grpSpPr>
          <p:sp>
            <p:nvSpPr>
              <p:cNvPr id="32798" name="矩形 11"/>
              <p:cNvSpPr>
                <a:spLocks noChangeArrowheads="1"/>
              </p:cNvSpPr>
              <p:nvPr/>
            </p:nvSpPr>
            <p:spPr bwMode="auto">
              <a:xfrm>
                <a:off x="476" y="3148"/>
                <a:ext cx="487" cy="3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en-US" altLang="zh-CN" sz="1600" b="1">
                    <a:solidFill>
                      <a:srgbClr val="000000"/>
                    </a:solidFill>
                    <a:ea typeface="华文中宋" pitchFamily="2" charset="-122"/>
                  </a:rPr>
                  <a:t> (A) </a:t>
                </a:r>
                <a:endParaRPr kumimoji="0" lang="en-US" altLang="zh-CN" sz="1600" b="1">
                  <a:ea typeface="华文中宋" pitchFamily="2" charset="-122"/>
                </a:endParaRPr>
              </a:p>
            </p:txBody>
          </p:sp>
          <p:graphicFrame>
            <p:nvGraphicFramePr>
              <p:cNvPr id="32799" name="对象 4"/>
              <p:cNvGraphicFramePr>
                <a:graphicFrameLocks noChangeAspect="1"/>
              </p:cNvGraphicFramePr>
              <p:nvPr/>
            </p:nvGraphicFramePr>
            <p:xfrm>
              <a:off x="884" y="3067"/>
              <a:ext cx="953" cy="511"/>
            </p:xfrm>
            <a:graphic>
              <a:graphicData uri="http://schemas.openxmlformats.org/presentationml/2006/ole">
                <p:oleObj spid="_x0000_s32842" name="公式" r:id="rId6" imgW="761669" imgH="444307" progId="Equation.3">
                  <p:embed/>
                </p:oleObj>
              </a:graphicData>
            </a:graphic>
          </p:graphicFrame>
        </p:grpSp>
        <p:sp>
          <p:nvSpPr>
            <p:cNvPr id="32790" name="Rectangle 6"/>
            <p:cNvSpPr>
              <a:spLocks noChangeArrowheads="1"/>
            </p:cNvSpPr>
            <p:nvPr/>
          </p:nvSpPr>
          <p:spPr bwMode="auto">
            <a:xfrm>
              <a:off x="1519" y="2775"/>
              <a:ext cx="510" cy="3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eaLnBrk="0" hangingPunct="0"/>
              <a:r>
                <a:rPr kumimoji="0" lang="en-US" altLang="zh-CN" sz="1600" b="1">
                  <a:ea typeface="华文中宋" pitchFamily="2" charset="-122"/>
                </a:rPr>
                <a:t> (B) </a:t>
              </a:r>
            </a:p>
          </p:txBody>
        </p:sp>
        <p:graphicFrame>
          <p:nvGraphicFramePr>
            <p:cNvPr id="32791" name="对象 19"/>
            <p:cNvGraphicFramePr>
              <a:graphicFrameLocks noChangeAspect="1"/>
            </p:cNvGraphicFramePr>
            <p:nvPr/>
          </p:nvGraphicFramePr>
          <p:xfrm>
            <a:off x="1927" y="2693"/>
            <a:ext cx="1113" cy="510"/>
          </p:xfrm>
          <a:graphic>
            <a:graphicData uri="http://schemas.openxmlformats.org/presentationml/2006/ole">
              <p:oleObj spid="_x0000_s32843" name="公式" r:id="rId7" imgW="888614" imgH="444307" progId="Equation.3">
                <p:embed/>
              </p:oleObj>
            </a:graphicData>
          </a:graphic>
        </p:graphicFrame>
        <p:grpSp>
          <p:nvGrpSpPr>
            <p:cNvPr id="32792" name="Group 24"/>
            <p:cNvGrpSpPr>
              <a:grpSpLocks/>
            </p:cNvGrpSpPr>
            <p:nvPr/>
          </p:nvGrpSpPr>
          <p:grpSpPr bwMode="auto">
            <a:xfrm>
              <a:off x="3107" y="2704"/>
              <a:ext cx="1134" cy="467"/>
              <a:chOff x="3107" y="3067"/>
              <a:chExt cx="1134" cy="467"/>
            </a:xfrm>
          </p:grpSpPr>
          <p:sp>
            <p:nvSpPr>
              <p:cNvPr id="32796" name="Rectangle 7"/>
              <p:cNvSpPr>
                <a:spLocks noChangeArrowheads="1"/>
              </p:cNvSpPr>
              <p:nvPr/>
            </p:nvSpPr>
            <p:spPr bwMode="auto">
              <a:xfrm>
                <a:off x="3107" y="3130"/>
                <a:ext cx="454" cy="3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eaLnBrk="0" hangingPunct="0"/>
                <a:r>
                  <a:rPr kumimoji="0" lang="en-US" altLang="zh-CN" sz="1600" b="1">
                    <a:ea typeface="华文中宋" pitchFamily="2" charset="-122"/>
                  </a:rPr>
                  <a:t>(C) </a:t>
                </a:r>
              </a:p>
            </p:txBody>
          </p:sp>
          <p:graphicFrame>
            <p:nvGraphicFramePr>
              <p:cNvPr id="32797" name="Object 19"/>
              <p:cNvGraphicFramePr>
                <a:graphicFrameLocks noChangeAspect="1"/>
              </p:cNvGraphicFramePr>
              <p:nvPr/>
            </p:nvGraphicFramePr>
            <p:xfrm>
              <a:off x="3430" y="3067"/>
              <a:ext cx="811" cy="467"/>
            </p:xfrm>
            <a:graphic>
              <a:graphicData uri="http://schemas.openxmlformats.org/presentationml/2006/ole">
                <p:oleObj spid="_x0000_s32844" name="公式" r:id="rId8" imgW="647419" imgH="406224" progId="Equation.3">
                  <p:embed/>
                </p:oleObj>
              </a:graphicData>
            </a:graphic>
          </p:graphicFrame>
        </p:grpSp>
        <p:grpSp>
          <p:nvGrpSpPr>
            <p:cNvPr id="32793" name="Group 25"/>
            <p:cNvGrpSpPr>
              <a:grpSpLocks/>
            </p:cNvGrpSpPr>
            <p:nvPr/>
          </p:nvGrpSpPr>
          <p:grpSpPr bwMode="auto">
            <a:xfrm>
              <a:off x="4286" y="2704"/>
              <a:ext cx="1124" cy="467"/>
              <a:chOff x="4286" y="3067"/>
              <a:chExt cx="1124" cy="467"/>
            </a:xfrm>
          </p:grpSpPr>
          <p:sp>
            <p:nvSpPr>
              <p:cNvPr id="32794" name="Rectangle 8"/>
              <p:cNvSpPr>
                <a:spLocks noChangeArrowheads="1"/>
              </p:cNvSpPr>
              <p:nvPr/>
            </p:nvSpPr>
            <p:spPr bwMode="auto">
              <a:xfrm>
                <a:off x="4286" y="3133"/>
                <a:ext cx="680" cy="34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nchor="ctr">
                <a:spAutoFit/>
              </a:bodyPr>
              <a:lstStyle/>
              <a:p>
                <a:pPr eaLnBrk="0" hangingPunct="0"/>
                <a:r>
                  <a:rPr kumimoji="0" lang="en-US" altLang="zh-CN" sz="1600" b="1">
                    <a:ea typeface="华文中宋" pitchFamily="2" charset="-122"/>
                  </a:rPr>
                  <a:t>(D) </a:t>
                </a:r>
              </a:p>
            </p:txBody>
          </p:sp>
          <p:graphicFrame>
            <p:nvGraphicFramePr>
              <p:cNvPr id="32795" name="对象 21"/>
              <p:cNvGraphicFramePr>
                <a:graphicFrameLocks noChangeAspect="1"/>
              </p:cNvGraphicFramePr>
              <p:nvPr/>
            </p:nvGraphicFramePr>
            <p:xfrm>
              <a:off x="4694" y="3067"/>
              <a:ext cx="716" cy="467"/>
            </p:xfrm>
            <a:graphic>
              <a:graphicData uri="http://schemas.openxmlformats.org/presentationml/2006/ole">
                <p:oleObj spid="_x0000_s32845" name="公式" r:id="rId9" imgW="571252" imgH="406224" progId="Equation.3">
                  <p:embed/>
                </p:oleObj>
              </a:graphicData>
            </a:graphic>
          </p:graphicFrame>
        </p:grpSp>
      </p:grpSp>
      <p:sp>
        <p:nvSpPr>
          <p:cNvPr id="20" name="TextBox 19"/>
          <p:cNvSpPr txBox="1">
            <a:spLocks noChangeArrowheads="1"/>
          </p:cNvSpPr>
          <p:nvPr/>
        </p:nvSpPr>
        <p:spPr bwMode="auto">
          <a:xfrm>
            <a:off x="7421563" y="2757488"/>
            <a:ext cx="44132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kumimoji="0" lang="en-US" altLang="zh-CN" sz="1800" b="1">
                <a:solidFill>
                  <a:srgbClr val="FF0000"/>
                </a:solidFill>
                <a:ea typeface="华文中宋" pitchFamily="2" charset="-122"/>
              </a:rPr>
              <a:t>D</a:t>
            </a:r>
          </a:p>
        </p:txBody>
      </p:sp>
      <p:graphicFrame>
        <p:nvGraphicFramePr>
          <p:cNvPr id="12" name="对象 11"/>
          <p:cNvGraphicFramePr>
            <a:graphicFrameLocks noChangeAspect="1"/>
          </p:cNvGraphicFramePr>
          <p:nvPr/>
        </p:nvGraphicFramePr>
        <p:xfrm>
          <a:off x="1044575" y="4173538"/>
          <a:ext cx="1308100" cy="349250"/>
        </p:xfrm>
        <a:graphic>
          <a:graphicData uri="http://schemas.openxmlformats.org/presentationml/2006/ole">
            <p:oleObj spid="_x0000_s32846" name="公式" r:id="rId10" imgW="825500" imgH="292100" progId="Equation.3">
              <p:embed/>
            </p:oleObj>
          </a:graphicData>
        </a:graphic>
      </p:graphicFrame>
      <p:graphicFrame>
        <p:nvGraphicFramePr>
          <p:cNvPr id="2" name="对象 11"/>
          <p:cNvGraphicFramePr>
            <a:graphicFrameLocks noChangeAspect="1"/>
          </p:cNvGraphicFramePr>
          <p:nvPr/>
        </p:nvGraphicFramePr>
        <p:xfrm>
          <a:off x="698500" y="3727450"/>
          <a:ext cx="1833563" cy="390525"/>
        </p:xfrm>
        <a:graphic>
          <a:graphicData uri="http://schemas.openxmlformats.org/presentationml/2006/ole">
            <p:oleObj spid="_x0000_s32847" name="公式" r:id="rId11" imgW="812447" imgH="228501" progId="Equation.3">
              <p:embed/>
            </p:oleObj>
          </a:graphicData>
        </a:graphic>
      </p:graphicFrame>
      <p:sp>
        <p:nvSpPr>
          <p:cNvPr id="121885" name="AutoShape 29"/>
          <p:cNvSpPr>
            <a:spLocks/>
          </p:cNvSpPr>
          <p:nvPr/>
        </p:nvSpPr>
        <p:spPr bwMode="auto">
          <a:xfrm>
            <a:off x="2709863" y="3968750"/>
            <a:ext cx="177800" cy="311150"/>
          </a:xfrm>
          <a:prstGeom prst="rightBrace">
            <a:avLst>
              <a:gd name="adj1" fmla="val 29637"/>
              <a:gd name="adj2" fmla="val 16667"/>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a:p>
        </p:txBody>
      </p:sp>
      <p:graphicFrame>
        <p:nvGraphicFramePr>
          <p:cNvPr id="10" name="对象 9"/>
          <p:cNvGraphicFramePr>
            <a:graphicFrameLocks noChangeAspect="1"/>
          </p:cNvGraphicFramePr>
          <p:nvPr/>
        </p:nvGraphicFramePr>
        <p:xfrm>
          <a:off x="6804025" y="3773488"/>
          <a:ext cx="1368425" cy="454025"/>
        </p:xfrm>
        <a:graphic>
          <a:graphicData uri="http://schemas.openxmlformats.org/presentationml/2006/ole">
            <p:oleObj spid="_x0000_s32848" name="公式" r:id="rId12" imgW="660113" imgH="291973" progId="Equation.3">
              <p:embed/>
            </p:oleObj>
          </a:graphicData>
        </a:graphic>
      </p:graphicFrame>
      <p:graphicFrame>
        <p:nvGraphicFramePr>
          <p:cNvPr id="11" name="对象 10"/>
          <p:cNvGraphicFramePr>
            <a:graphicFrameLocks noChangeAspect="1"/>
          </p:cNvGraphicFramePr>
          <p:nvPr/>
        </p:nvGraphicFramePr>
        <p:xfrm>
          <a:off x="5003800" y="3790950"/>
          <a:ext cx="1071563" cy="458788"/>
        </p:xfrm>
        <a:graphic>
          <a:graphicData uri="http://schemas.openxmlformats.org/presentationml/2006/ole">
            <p:oleObj spid="_x0000_s32849" name="公式" r:id="rId13" imgW="469696" imgH="291973" progId="Equation.3">
              <p:embed/>
            </p:oleObj>
          </a:graphicData>
        </a:graphic>
      </p:graphicFrame>
      <p:graphicFrame>
        <p:nvGraphicFramePr>
          <p:cNvPr id="21" name="对象 20"/>
          <p:cNvGraphicFramePr>
            <a:graphicFrameLocks noChangeAspect="1"/>
          </p:cNvGraphicFramePr>
          <p:nvPr/>
        </p:nvGraphicFramePr>
        <p:xfrm>
          <a:off x="3203575" y="3810000"/>
          <a:ext cx="893763" cy="363538"/>
        </p:xfrm>
        <a:graphic>
          <a:graphicData uri="http://schemas.openxmlformats.org/presentationml/2006/ole">
            <p:oleObj spid="_x0000_s32850" name="公式" r:id="rId14" imgW="444307" imgH="241195" progId="Equation.3">
              <p:embed/>
            </p:oleObj>
          </a:graphicData>
        </a:graphic>
      </p:graphicFrame>
      <p:sp>
        <p:nvSpPr>
          <p:cNvPr id="121890" name="Line 34"/>
          <p:cNvSpPr>
            <a:spLocks noChangeShapeType="1"/>
          </p:cNvSpPr>
          <p:nvPr/>
        </p:nvSpPr>
        <p:spPr bwMode="auto">
          <a:xfrm flipH="1">
            <a:off x="6372225" y="3970338"/>
            <a:ext cx="298450" cy="0"/>
          </a:xfrm>
          <a:prstGeom prst="line">
            <a:avLst/>
          </a:prstGeom>
          <a:noFill/>
          <a:ln w="25400">
            <a:solidFill>
              <a:schemeClr val="tx1"/>
            </a:solidFill>
            <a:round/>
            <a:headEnd/>
            <a:tailEnd type="stealth" w="lg" len="lg"/>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121891" name="AutoShape 35"/>
          <p:cNvSpPr>
            <a:spLocks/>
          </p:cNvSpPr>
          <p:nvPr/>
        </p:nvSpPr>
        <p:spPr bwMode="auto">
          <a:xfrm rot="-5400000">
            <a:off x="4475163" y="4098925"/>
            <a:ext cx="173037" cy="436563"/>
          </a:xfrm>
          <a:prstGeom prst="leftBrace">
            <a:avLst>
              <a:gd name="adj1" fmla="val 45028"/>
              <a:gd name="adj2" fmla="val 50000"/>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nchor="ctr">
            <a:spAutoFit/>
          </a:bodyPr>
          <a:lstStyle/>
          <a:p>
            <a:endParaRPr lang="zh-CN" altLang="en-US"/>
          </a:p>
        </p:txBody>
      </p:sp>
      <p:graphicFrame>
        <p:nvGraphicFramePr>
          <p:cNvPr id="121892" name="对象 21"/>
          <p:cNvGraphicFramePr>
            <a:graphicFrameLocks noChangeAspect="1"/>
          </p:cNvGraphicFramePr>
          <p:nvPr/>
        </p:nvGraphicFramePr>
        <p:xfrm>
          <a:off x="4116388" y="4516438"/>
          <a:ext cx="892175" cy="434975"/>
        </p:xfrm>
        <a:graphic>
          <a:graphicData uri="http://schemas.openxmlformats.org/presentationml/2006/ole">
            <p:oleObj spid="_x0000_s32851" name="公式" r:id="rId15" imgW="571252" imgH="406224"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grpId="0" nodeType="clickEffect">
                                  <p:stCondLst>
                                    <p:cond delay="0"/>
                                  </p:stCondLst>
                                  <p:childTnLst>
                                    <p:set>
                                      <p:cBhvr>
                                        <p:cTn id="6" dur="1" fill="hold">
                                          <p:stCondLst>
                                            <p:cond delay="0"/>
                                          </p:stCondLst>
                                        </p:cTn>
                                        <p:tgtEl>
                                          <p:spTgt spid="17419"/>
                                        </p:tgtEl>
                                        <p:attrNameLst>
                                          <p:attrName>style.visibility</p:attrName>
                                        </p:attrNameLst>
                                      </p:cBhvr>
                                      <p:to>
                                        <p:strVal val="visible"/>
                                      </p:to>
                                    </p:set>
                                    <p:anim calcmode="lin" valueType="num">
                                      <p:cBhvr>
                                        <p:cTn id="7" dur="500" fill="hold"/>
                                        <p:tgtEl>
                                          <p:spTgt spid="17419"/>
                                        </p:tgtEl>
                                        <p:attrNameLst>
                                          <p:attrName>ppt_w</p:attrName>
                                        </p:attrNameLst>
                                      </p:cBhvr>
                                      <p:tavLst>
                                        <p:tav tm="0">
                                          <p:val>
                                            <p:fltVal val="0"/>
                                          </p:val>
                                        </p:tav>
                                        <p:tav tm="100000">
                                          <p:val>
                                            <p:strVal val="#ppt_w"/>
                                          </p:val>
                                        </p:tav>
                                      </p:tavLst>
                                    </p:anim>
                                    <p:anim calcmode="lin" valueType="num">
                                      <p:cBhvr>
                                        <p:cTn id="8" dur="500" fill="hold"/>
                                        <p:tgtEl>
                                          <p:spTgt spid="17419"/>
                                        </p:tgtEl>
                                        <p:attrNameLst>
                                          <p:attrName>ppt_h</p:attrName>
                                        </p:attrNameLst>
                                      </p:cBhvr>
                                      <p:tavLst>
                                        <p:tav tm="0">
                                          <p:val>
                                            <p:fltVal val="0"/>
                                          </p:val>
                                        </p:tav>
                                        <p:tav tm="100000">
                                          <p:val>
                                            <p:strVal val="#ppt_h"/>
                                          </p:val>
                                        </p:tav>
                                      </p:tavLst>
                                    </p:anim>
                                    <p:animEffect transition="in" filter="fade">
                                      <p:cBhvr>
                                        <p:cTn id="9" dur="500"/>
                                        <p:tgtEl>
                                          <p:spTgt spid="17419"/>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3" presetClass="entr" presetSubtype="10" fill="hold" grpId="0" nodeType="clickEffect">
                                  <p:stCondLst>
                                    <p:cond delay="0"/>
                                  </p:stCondLst>
                                  <p:childTnLst>
                                    <p:set>
                                      <p:cBhvr>
                                        <p:cTn id="13" dur="1" fill="hold">
                                          <p:stCondLst>
                                            <p:cond delay="0"/>
                                          </p:stCondLst>
                                        </p:cTn>
                                        <p:tgtEl>
                                          <p:spTgt spid="121867"/>
                                        </p:tgtEl>
                                        <p:attrNameLst>
                                          <p:attrName>style.visibility</p:attrName>
                                        </p:attrNameLst>
                                      </p:cBhvr>
                                      <p:to>
                                        <p:strVal val="visible"/>
                                      </p:to>
                                    </p:set>
                                    <p:animEffect transition="in" filter="blinds(horizontal)">
                                      <p:cBhvr>
                                        <p:cTn id="14" dur="500"/>
                                        <p:tgtEl>
                                          <p:spTgt spid="121867"/>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5"/>
                                        </p:tgtEl>
                                        <p:attrNameLst>
                                          <p:attrName>style.visibility</p:attrName>
                                        </p:attrNameLst>
                                      </p:cBhvr>
                                      <p:to>
                                        <p:strVal val="visible"/>
                                      </p:to>
                                    </p:set>
                                    <p:animEffect transition="in" filter="wipe(left)">
                                      <p:cBhvr>
                                        <p:cTn id="19" dur="500"/>
                                        <p:tgtEl>
                                          <p:spTgt spid="5"/>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6"/>
                                        </p:tgtEl>
                                        <p:attrNameLst>
                                          <p:attrName>style.visibility</p:attrName>
                                        </p:attrNameLst>
                                      </p:cBhvr>
                                      <p:to>
                                        <p:strVal val="visible"/>
                                      </p:to>
                                    </p:set>
                                    <p:animEffect transition="in" filter="wipe(left)">
                                      <p:cBhvr>
                                        <p:cTn id="24" dur="500"/>
                                        <p:tgtEl>
                                          <p:spTgt spid="6"/>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grpId="0" nodeType="clickEffect">
                                  <p:stCondLst>
                                    <p:cond delay="0"/>
                                  </p:stCondLst>
                                  <p:childTnLst>
                                    <p:set>
                                      <p:cBhvr>
                                        <p:cTn id="28" dur="1" fill="hold">
                                          <p:stCondLst>
                                            <p:cond delay="0"/>
                                          </p:stCondLst>
                                        </p:cTn>
                                        <p:tgtEl>
                                          <p:spTgt spid="121868"/>
                                        </p:tgtEl>
                                        <p:attrNameLst>
                                          <p:attrName>style.visibility</p:attrName>
                                        </p:attrNameLst>
                                      </p:cBhvr>
                                      <p:to>
                                        <p:strVal val="visible"/>
                                      </p:to>
                                    </p:set>
                                    <p:animEffect transition="in" filter="blinds(horizontal)">
                                      <p:cBhvr>
                                        <p:cTn id="29" dur="500"/>
                                        <p:tgtEl>
                                          <p:spTgt spid="121868"/>
                                        </p:tgtEl>
                                      </p:cBhvr>
                                    </p:animEffect>
                                  </p:childTnLst>
                                </p:cTn>
                              </p:par>
                              <p:par>
                                <p:cTn id="30" presetID="3" presetClass="entr" presetSubtype="10" fill="hold" nodeType="withEffect">
                                  <p:stCondLst>
                                    <p:cond delay="0"/>
                                  </p:stCondLst>
                                  <p:childTnLst>
                                    <p:set>
                                      <p:cBhvr>
                                        <p:cTn id="31" dur="1" fill="hold">
                                          <p:stCondLst>
                                            <p:cond delay="0"/>
                                          </p:stCondLst>
                                        </p:cTn>
                                        <p:tgtEl>
                                          <p:spTgt spid="4"/>
                                        </p:tgtEl>
                                        <p:attrNameLst>
                                          <p:attrName>style.visibility</p:attrName>
                                        </p:attrNameLst>
                                      </p:cBhvr>
                                      <p:to>
                                        <p:strVal val="visible"/>
                                      </p:to>
                                    </p:set>
                                    <p:animEffect transition="in" filter="blinds(horizontal)">
                                      <p:cBhvr>
                                        <p:cTn id="32" dur="500"/>
                                        <p:tgtEl>
                                          <p:spTgt spid="4"/>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17"/>
                                        </p:tgtEl>
                                        <p:attrNameLst>
                                          <p:attrName>style.visibility</p:attrName>
                                        </p:attrNameLst>
                                      </p:cBhvr>
                                      <p:to>
                                        <p:strVal val="visible"/>
                                      </p:to>
                                    </p:set>
                                    <p:anim calcmode="lin" valueType="num">
                                      <p:cBhvr>
                                        <p:cTn id="37" dur="500" fill="hold"/>
                                        <p:tgtEl>
                                          <p:spTgt spid="17"/>
                                        </p:tgtEl>
                                        <p:attrNameLst>
                                          <p:attrName>ppt_w</p:attrName>
                                        </p:attrNameLst>
                                      </p:cBhvr>
                                      <p:tavLst>
                                        <p:tav tm="0">
                                          <p:val>
                                            <p:fltVal val="0"/>
                                          </p:val>
                                        </p:tav>
                                        <p:tav tm="100000">
                                          <p:val>
                                            <p:strVal val="#ppt_w"/>
                                          </p:val>
                                        </p:tav>
                                      </p:tavLst>
                                    </p:anim>
                                    <p:anim calcmode="lin" valueType="num">
                                      <p:cBhvr>
                                        <p:cTn id="38" dur="500" fill="hold"/>
                                        <p:tgtEl>
                                          <p:spTgt spid="17"/>
                                        </p:tgtEl>
                                        <p:attrNameLst>
                                          <p:attrName>ppt_h</p:attrName>
                                        </p:attrNameLst>
                                      </p:cBhvr>
                                      <p:tavLst>
                                        <p:tav tm="0">
                                          <p:val>
                                            <p:fltVal val="0"/>
                                          </p:val>
                                        </p:tav>
                                        <p:tav tm="100000">
                                          <p:val>
                                            <p:strVal val="#ppt_h"/>
                                          </p:val>
                                        </p:tav>
                                      </p:tavLst>
                                    </p:anim>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121869"/>
                                        </p:tgtEl>
                                        <p:attrNameLst>
                                          <p:attrName>style.visibility</p:attrName>
                                        </p:attrNameLst>
                                      </p:cBhvr>
                                      <p:to>
                                        <p:strVal val="visible"/>
                                      </p:to>
                                    </p:set>
                                    <p:animEffect transition="in" filter="blinds(horizontal)">
                                      <p:cBhvr>
                                        <p:cTn id="43" dur="500"/>
                                        <p:tgtEl>
                                          <p:spTgt spid="121869"/>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blinds(horizontal)">
                                      <p:cBhvr>
                                        <p:cTn id="48" dur="500"/>
                                        <p:tgtEl>
                                          <p:spTgt spid="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nodeType="clickEffect">
                                  <p:stCondLst>
                                    <p:cond delay="0"/>
                                  </p:stCondLst>
                                  <p:childTnLst>
                                    <p:set>
                                      <p:cBhvr>
                                        <p:cTn id="52" dur="1" fill="hold">
                                          <p:stCondLst>
                                            <p:cond delay="0"/>
                                          </p:stCondLst>
                                        </p:cTn>
                                        <p:tgtEl>
                                          <p:spTgt spid="2"/>
                                        </p:tgtEl>
                                        <p:attrNameLst>
                                          <p:attrName>style.visibility</p:attrName>
                                        </p:attrNameLst>
                                      </p:cBhvr>
                                      <p:to>
                                        <p:strVal val="visible"/>
                                      </p:to>
                                    </p:set>
                                    <p:animEffect transition="in" filter="wipe(left)">
                                      <p:cBhvr>
                                        <p:cTn id="53" dur="500"/>
                                        <p:tgtEl>
                                          <p:spTgt spid="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nodeType="clickEffect">
                                  <p:stCondLst>
                                    <p:cond delay="0"/>
                                  </p:stCondLst>
                                  <p:childTnLst>
                                    <p:set>
                                      <p:cBhvr>
                                        <p:cTn id="57" dur="1" fill="hold">
                                          <p:stCondLst>
                                            <p:cond delay="0"/>
                                          </p:stCondLst>
                                        </p:cTn>
                                        <p:tgtEl>
                                          <p:spTgt spid="12"/>
                                        </p:tgtEl>
                                        <p:attrNameLst>
                                          <p:attrName>style.visibility</p:attrName>
                                        </p:attrNameLst>
                                      </p:cBhvr>
                                      <p:to>
                                        <p:strVal val="visible"/>
                                      </p:to>
                                    </p:set>
                                    <p:animEffect transition="in" filter="wipe(left)">
                                      <p:cBhvr>
                                        <p:cTn id="58" dur="500"/>
                                        <p:tgtEl>
                                          <p:spTgt spid="12"/>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3" presetClass="entr" presetSubtype="10" fill="hold" nodeType="clickEffect">
                                  <p:stCondLst>
                                    <p:cond delay="0"/>
                                  </p:stCondLst>
                                  <p:childTnLst>
                                    <p:set>
                                      <p:cBhvr>
                                        <p:cTn id="62" dur="1" fill="hold">
                                          <p:stCondLst>
                                            <p:cond delay="0"/>
                                          </p:stCondLst>
                                        </p:cTn>
                                        <p:tgtEl>
                                          <p:spTgt spid="21"/>
                                        </p:tgtEl>
                                        <p:attrNameLst>
                                          <p:attrName>style.visibility</p:attrName>
                                        </p:attrNameLst>
                                      </p:cBhvr>
                                      <p:to>
                                        <p:strVal val="visible"/>
                                      </p:to>
                                    </p:set>
                                    <p:animEffect transition="in" filter="blinds(horizontal)">
                                      <p:cBhvr>
                                        <p:cTn id="63" dur="500"/>
                                        <p:tgtEl>
                                          <p:spTgt spid="21"/>
                                        </p:tgtEl>
                                      </p:cBhvr>
                                    </p:animEffect>
                                  </p:childTnLst>
                                </p:cTn>
                              </p:par>
                              <p:par>
                                <p:cTn id="64" presetID="3" presetClass="entr" presetSubtype="10" fill="hold" grpId="0" nodeType="withEffect">
                                  <p:stCondLst>
                                    <p:cond delay="0"/>
                                  </p:stCondLst>
                                  <p:childTnLst>
                                    <p:set>
                                      <p:cBhvr>
                                        <p:cTn id="65" dur="1" fill="hold">
                                          <p:stCondLst>
                                            <p:cond delay="0"/>
                                          </p:stCondLst>
                                        </p:cTn>
                                        <p:tgtEl>
                                          <p:spTgt spid="121885"/>
                                        </p:tgtEl>
                                        <p:attrNameLst>
                                          <p:attrName>style.visibility</p:attrName>
                                        </p:attrNameLst>
                                      </p:cBhvr>
                                      <p:to>
                                        <p:strVal val="visible"/>
                                      </p:to>
                                    </p:set>
                                    <p:animEffect transition="in" filter="blinds(horizontal)">
                                      <p:cBhvr>
                                        <p:cTn id="66" dur="500"/>
                                        <p:tgtEl>
                                          <p:spTgt spid="121885"/>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22" presetClass="entr" presetSubtype="8" fill="hold" nodeType="clickEffect">
                                  <p:stCondLst>
                                    <p:cond delay="0"/>
                                  </p:stCondLst>
                                  <p:childTnLst>
                                    <p:set>
                                      <p:cBhvr>
                                        <p:cTn id="70" dur="1" fill="hold">
                                          <p:stCondLst>
                                            <p:cond delay="0"/>
                                          </p:stCondLst>
                                        </p:cTn>
                                        <p:tgtEl>
                                          <p:spTgt spid="10"/>
                                        </p:tgtEl>
                                        <p:attrNameLst>
                                          <p:attrName>style.visibility</p:attrName>
                                        </p:attrNameLst>
                                      </p:cBhvr>
                                      <p:to>
                                        <p:strVal val="visible"/>
                                      </p:to>
                                    </p:set>
                                    <p:animEffect transition="in" filter="wipe(left)">
                                      <p:cBhvr>
                                        <p:cTn id="71" dur="500"/>
                                        <p:tgtEl>
                                          <p:spTgt spid="10"/>
                                        </p:tgtEl>
                                      </p:cBhvr>
                                    </p:animEffect>
                                  </p:childTnLst>
                                </p:cTn>
                              </p:par>
                            </p:childTnLst>
                          </p:cTn>
                        </p:par>
                      </p:childTnLst>
                    </p:cTn>
                  </p:par>
                  <p:par>
                    <p:cTn id="72" fill="hold" nodeType="clickPar">
                      <p:stCondLst>
                        <p:cond delay="indefinite"/>
                      </p:stCondLst>
                      <p:childTnLst>
                        <p:par>
                          <p:cTn id="73" fill="hold" nodeType="withGroup">
                            <p:stCondLst>
                              <p:cond delay="0"/>
                            </p:stCondLst>
                            <p:childTnLst>
                              <p:par>
                                <p:cTn id="74" presetID="3" presetClass="entr" presetSubtype="10" fill="hold" grpId="0" nodeType="clickEffect">
                                  <p:stCondLst>
                                    <p:cond delay="0"/>
                                  </p:stCondLst>
                                  <p:childTnLst>
                                    <p:set>
                                      <p:cBhvr>
                                        <p:cTn id="75" dur="1" fill="hold">
                                          <p:stCondLst>
                                            <p:cond delay="0"/>
                                          </p:stCondLst>
                                        </p:cTn>
                                        <p:tgtEl>
                                          <p:spTgt spid="121890"/>
                                        </p:tgtEl>
                                        <p:attrNameLst>
                                          <p:attrName>style.visibility</p:attrName>
                                        </p:attrNameLst>
                                      </p:cBhvr>
                                      <p:to>
                                        <p:strVal val="visible"/>
                                      </p:to>
                                    </p:set>
                                    <p:animEffect transition="in" filter="blinds(horizontal)">
                                      <p:cBhvr>
                                        <p:cTn id="76" dur="500"/>
                                        <p:tgtEl>
                                          <p:spTgt spid="121890"/>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nodeType="clickEffect">
                                  <p:stCondLst>
                                    <p:cond delay="0"/>
                                  </p:stCondLst>
                                  <p:childTnLst>
                                    <p:set>
                                      <p:cBhvr>
                                        <p:cTn id="80" dur="1" fill="hold">
                                          <p:stCondLst>
                                            <p:cond delay="0"/>
                                          </p:stCondLst>
                                        </p:cTn>
                                        <p:tgtEl>
                                          <p:spTgt spid="11"/>
                                        </p:tgtEl>
                                        <p:attrNameLst>
                                          <p:attrName>style.visibility</p:attrName>
                                        </p:attrNameLst>
                                      </p:cBhvr>
                                      <p:to>
                                        <p:strVal val="visible"/>
                                      </p:to>
                                    </p:set>
                                    <p:animEffect transition="in" filter="wipe(left)">
                                      <p:cBhvr>
                                        <p:cTn id="81" dur="500"/>
                                        <p:tgtEl>
                                          <p:spTgt spid="11"/>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3" presetClass="entr" presetSubtype="10" fill="hold" grpId="0" nodeType="clickEffect">
                                  <p:stCondLst>
                                    <p:cond delay="0"/>
                                  </p:stCondLst>
                                  <p:childTnLst>
                                    <p:set>
                                      <p:cBhvr>
                                        <p:cTn id="85" dur="1" fill="hold">
                                          <p:stCondLst>
                                            <p:cond delay="0"/>
                                          </p:stCondLst>
                                        </p:cTn>
                                        <p:tgtEl>
                                          <p:spTgt spid="121891"/>
                                        </p:tgtEl>
                                        <p:attrNameLst>
                                          <p:attrName>style.visibility</p:attrName>
                                        </p:attrNameLst>
                                      </p:cBhvr>
                                      <p:to>
                                        <p:strVal val="visible"/>
                                      </p:to>
                                    </p:set>
                                    <p:animEffect transition="in" filter="blinds(horizontal)">
                                      <p:cBhvr>
                                        <p:cTn id="86" dur="500"/>
                                        <p:tgtEl>
                                          <p:spTgt spid="121891"/>
                                        </p:tgtEl>
                                      </p:cBhvr>
                                    </p:animEffect>
                                  </p:childTnLst>
                                </p:cTn>
                              </p:par>
                              <p:par>
                                <p:cTn id="87" presetID="3" presetClass="entr" presetSubtype="10" fill="hold" nodeType="withEffect">
                                  <p:stCondLst>
                                    <p:cond delay="0"/>
                                  </p:stCondLst>
                                  <p:childTnLst>
                                    <p:set>
                                      <p:cBhvr>
                                        <p:cTn id="88" dur="1" fill="hold">
                                          <p:stCondLst>
                                            <p:cond delay="0"/>
                                          </p:stCondLst>
                                        </p:cTn>
                                        <p:tgtEl>
                                          <p:spTgt spid="121892"/>
                                        </p:tgtEl>
                                        <p:attrNameLst>
                                          <p:attrName>style.visibility</p:attrName>
                                        </p:attrNameLst>
                                      </p:cBhvr>
                                      <p:to>
                                        <p:strVal val="visible"/>
                                      </p:to>
                                    </p:set>
                                    <p:animEffect transition="in" filter="blinds(horizontal)">
                                      <p:cBhvr>
                                        <p:cTn id="89" dur="500"/>
                                        <p:tgtEl>
                                          <p:spTgt spid="121892"/>
                                        </p:tgtEl>
                                      </p:cBhvr>
                                    </p:animEffect>
                                  </p:childTnLst>
                                </p:cTn>
                              </p:par>
                            </p:childTnLst>
                          </p:cTn>
                        </p:par>
                      </p:childTnLst>
                    </p:cTn>
                  </p:par>
                  <p:par>
                    <p:cTn id="90" fill="hold" nodeType="clickPar">
                      <p:stCondLst>
                        <p:cond delay="indefinite"/>
                      </p:stCondLst>
                      <p:childTnLst>
                        <p:par>
                          <p:cTn id="91" fill="hold" nodeType="withGroup">
                            <p:stCondLst>
                              <p:cond delay="0"/>
                            </p:stCondLst>
                            <p:childTnLst>
                              <p:par>
                                <p:cTn id="92" presetID="23" presetClass="entr" presetSubtype="16" fill="hold" grpId="0" nodeType="clickEffect">
                                  <p:stCondLst>
                                    <p:cond delay="0"/>
                                  </p:stCondLst>
                                  <p:childTnLst>
                                    <p:set>
                                      <p:cBhvr>
                                        <p:cTn id="93" dur="1" fill="hold">
                                          <p:stCondLst>
                                            <p:cond delay="0"/>
                                          </p:stCondLst>
                                        </p:cTn>
                                        <p:tgtEl>
                                          <p:spTgt spid="20"/>
                                        </p:tgtEl>
                                        <p:attrNameLst>
                                          <p:attrName>style.visibility</p:attrName>
                                        </p:attrNameLst>
                                      </p:cBhvr>
                                      <p:to>
                                        <p:strVal val="visible"/>
                                      </p:to>
                                    </p:set>
                                    <p:anim calcmode="lin" valueType="num">
                                      <p:cBhvr>
                                        <p:cTn id="94" dur="500" fill="hold"/>
                                        <p:tgtEl>
                                          <p:spTgt spid="20"/>
                                        </p:tgtEl>
                                        <p:attrNameLst>
                                          <p:attrName>ppt_w</p:attrName>
                                        </p:attrNameLst>
                                      </p:cBhvr>
                                      <p:tavLst>
                                        <p:tav tm="0">
                                          <p:val>
                                            <p:fltVal val="0"/>
                                          </p:val>
                                        </p:tav>
                                        <p:tav tm="100000">
                                          <p:val>
                                            <p:strVal val="#ppt_w"/>
                                          </p:val>
                                        </p:tav>
                                      </p:tavLst>
                                    </p:anim>
                                    <p:anim calcmode="lin" valueType="num">
                                      <p:cBhvr>
                                        <p:cTn id="95" dur="500" fill="hold"/>
                                        <p:tgtEl>
                                          <p:spTgt spid="2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7419" grpId="0"/>
      <p:bldP spid="17" grpId="0"/>
      <p:bldP spid="121867" grpId="0"/>
      <p:bldP spid="121868" grpId="0"/>
      <p:bldP spid="121869" grpId="0"/>
      <p:bldP spid="20" grpId="0"/>
      <p:bldP spid="121885" grpId="0" animBg="1"/>
      <p:bldP spid="121890" grpId="0" animBg="1"/>
      <p:bldP spid="121891" grpId="0" animBg="1"/>
    </p:bld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Text Box 2"/>
          <p:cNvSpPr txBox="1">
            <a:spLocks noChangeArrowheads="1"/>
          </p:cNvSpPr>
          <p:nvPr/>
        </p:nvSpPr>
        <p:spPr bwMode="auto">
          <a:xfrm>
            <a:off x="228600" y="835025"/>
            <a:ext cx="86106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solidFill>
                  <a:srgbClr val="3333FF"/>
                </a:solidFill>
                <a:latin typeface="华文中宋" pitchFamily="2" charset="-122"/>
                <a:ea typeface="华文中宋" pitchFamily="2" charset="-122"/>
              </a:rPr>
              <a:t>例   求</a:t>
            </a:r>
            <a:r>
              <a:rPr kumimoji="0" lang="en-US" altLang="zh-CN" sz="1800" b="1">
                <a:solidFill>
                  <a:srgbClr val="3333FF"/>
                </a:solidFill>
                <a:ea typeface="华文中宋" pitchFamily="2" charset="-122"/>
              </a:rPr>
              <a:t>0</a:t>
            </a:r>
            <a:r>
              <a:rPr kumimoji="0" lang="en-US" altLang="zh-CN" sz="1800" b="1" baseline="30000">
                <a:solidFill>
                  <a:srgbClr val="3333FF"/>
                </a:solidFill>
                <a:ea typeface="华文中宋" pitchFamily="2" charset="-122"/>
              </a:rPr>
              <a:t>0</a:t>
            </a:r>
            <a:r>
              <a:rPr kumimoji="0" lang="en-US" altLang="zh-CN" sz="1800" b="1">
                <a:solidFill>
                  <a:srgbClr val="3333FF"/>
                </a:solidFill>
                <a:ea typeface="华文中宋" pitchFamily="2" charset="-122"/>
              </a:rPr>
              <a:t>C</a:t>
            </a:r>
            <a:r>
              <a:rPr kumimoji="0" lang="zh-CN" altLang="en-US" sz="1800" b="1">
                <a:solidFill>
                  <a:srgbClr val="3333FF"/>
                </a:solidFill>
                <a:latin typeface="华文中宋" pitchFamily="2" charset="-122"/>
                <a:ea typeface="华文中宋" pitchFamily="2" charset="-122"/>
              </a:rPr>
              <a:t>时氢分子和氧分子的平均平动动能和方均根速率。</a:t>
            </a:r>
          </a:p>
        </p:txBody>
      </p:sp>
      <p:sp>
        <p:nvSpPr>
          <p:cNvPr id="30725" name="Rectangle 5"/>
          <p:cNvSpPr>
            <a:spLocks noChangeArrowheads="1"/>
          </p:cNvSpPr>
          <p:nvPr/>
        </p:nvSpPr>
        <p:spPr bwMode="auto">
          <a:xfrm>
            <a:off x="395288" y="1209675"/>
            <a:ext cx="17335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lang="zh-CN" altLang="en-US" sz="1800" b="1">
                <a:solidFill>
                  <a:srgbClr val="FF0000"/>
                </a:solidFill>
                <a:latin typeface="华文中宋" pitchFamily="2" charset="-122"/>
                <a:ea typeface="华文中宋" pitchFamily="2" charset="-122"/>
              </a:rPr>
              <a:t>解：</a:t>
            </a:r>
            <a:r>
              <a:rPr lang="zh-CN" altLang="en-US" sz="1800" b="1">
                <a:latin typeface="华文中宋" pitchFamily="2" charset="-122"/>
                <a:ea typeface="华文中宋" pitchFamily="2" charset="-122"/>
              </a:rPr>
              <a:t>已知</a:t>
            </a:r>
          </a:p>
        </p:txBody>
      </p:sp>
      <p:graphicFrame>
        <p:nvGraphicFramePr>
          <p:cNvPr id="30727" name="Object 7"/>
          <p:cNvGraphicFramePr>
            <a:graphicFrameLocks noChangeAspect="1"/>
          </p:cNvGraphicFramePr>
          <p:nvPr/>
        </p:nvGraphicFramePr>
        <p:xfrm>
          <a:off x="2916238" y="1219200"/>
          <a:ext cx="2441575" cy="407988"/>
        </p:xfrm>
        <a:graphic>
          <a:graphicData uri="http://schemas.openxmlformats.org/presentationml/2006/ole">
            <p:oleObj spid="_x0000_s33839" name="Equation" r:id="rId3" imgW="1396394" imgH="253890" progId="Equation.DSMT4">
              <p:embed/>
            </p:oleObj>
          </a:graphicData>
        </a:graphic>
      </p:graphicFrame>
      <p:graphicFrame>
        <p:nvGraphicFramePr>
          <p:cNvPr id="30728" name="Object 8"/>
          <p:cNvGraphicFramePr>
            <a:graphicFrameLocks noChangeAspect="1"/>
          </p:cNvGraphicFramePr>
          <p:nvPr/>
        </p:nvGraphicFramePr>
        <p:xfrm>
          <a:off x="5508625" y="1219200"/>
          <a:ext cx="2676525" cy="415925"/>
        </p:xfrm>
        <a:graphic>
          <a:graphicData uri="http://schemas.openxmlformats.org/presentationml/2006/ole">
            <p:oleObj spid="_x0000_s33840" name="Equation" r:id="rId4" imgW="1459866" imgH="253890" progId="Equation.DSMT4">
              <p:embed/>
            </p:oleObj>
          </a:graphicData>
        </a:graphic>
      </p:graphicFrame>
      <p:sp>
        <p:nvSpPr>
          <p:cNvPr id="30729" name="Rectangle 9"/>
          <p:cNvSpPr>
            <a:spLocks noChangeArrowheads="1"/>
          </p:cNvSpPr>
          <p:nvPr/>
        </p:nvSpPr>
        <p:spPr bwMode="auto">
          <a:xfrm>
            <a:off x="1735138" y="1589088"/>
            <a:ext cx="600551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800" b="1">
                <a:latin typeface="华文中宋" pitchFamily="2" charset="-122"/>
                <a:ea typeface="华文中宋" pitchFamily="2" charset="-122"/>
              </a:rPr>
              <a:t>氢分子和氧分子的平均平动动能相等，均为</a:t>
            </a:r>
          </a:p>
        </p:txBody>
      </p:sp>
      <p:graphicFrame>
        <p:nvGraphicFramePr>
          <p:cNvPr id="30730" name="Object 10"/>
          <p:cNvGraphicFramePr>
            <a:graphicFrameLocks noChangeAspect="1"/>
          </p:cNvGraphicFramePr>
          <p:nvPr/>
        </p:nvGraphicFramePr>
        <p:xfrm>
          <a:off x="1908175" y="1978025"/>
          <a:ext cx="1152525" cy="568325"/>
        </p:xfrm>
        <a:graphic>
          <a:graphicData uri="http://schemas.openxmlformats.org/presentationml/2006/ole">
            <p:oleObj spid="_x0000_s33841" name="公式" r:id="rId5" imgW="444307" imgH="291973" progId="Equation.3">
              <p:embed/>
            </p:oleObj>
          </a:graphicData>
        </a:graphic>
      </p:graphicFrame>
      <p:sp>
        <p:nvSpPr>
          <p:cNvPr id="30732" name="Rectangle 12"/>
          <p:cNvSpPr>
            <a:spLocks noChangeArrowheads="1"/>
          </p:cNvSpPr>
          <p:nvPr/>
        </p:nvSpPr>
        <p:spPr bwMode="auto">
          <a:xfrm>
            <a:off x="1692275" y="2562225"/>
            <a:ext cx="29416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800" b="1">
                <a:latin typeface="华文中宋" pitchFamily="2" charset="-122"/>
                <a:ea typeface="华文中宋" pitchFamily="2" charset="-122"/>
              </a:rPr>
              <a:t>氢分子的方均根速率</a:t>
            </a:r>
          </a:p>
        </p:txBody>
      </p:sp>
      <p:graphicFrame>
        <p:nvGraphicFramePr>
          <p:cNvPr id="30733" name="Object 13"/>
          <p:cNvGraphicFramePr>
            <a:graphicFrameLocks noChangeAspect="1"/>
          </p:cNvGraphicFramePr>
          <p:nvPr/>
        </p:nvGraphicFramePr>
        <p:xfrm>
          <a:off x="2000250" y="2932113"/>
          <a:ext cx="915988" cy="619125"/>
        </p:xfrm>
        <a:graphic>
          <a:graphicData uri="http://schemas.openxmlformats.org/presentationml/2006/ole">
            <p:oleObj spid="_x0000_s33842" name="Equation" r:id="rId6" imgW="368300" imgH="330200" progId="Equation.DSMT4">
              <p:embed/>
            </p:oleObj>
          </a:graphicData>
        </a:graphic>
      </p:graphicFrame>
      <p:graphicFrame>
        <p:nvGraphicFramePr>
          <p:cNvPr id="30734" name="Object 14"/>
          <p:cNvGraphicFramePr>
            <a:graphicFrameLocks noChangeAspect="1"/>
          </p:cNvGraphicFramePr>
          <p:nvPr/>
        </p:nvGraphicFramePr>
        <p:xfrm>
          <a:off x="3060700" y="1974850"/>
          <a:ext cx="2592388" cy="550863"/>
        </p:xfrm>
        <a:graphic>
          <a:graphicData uri="http://schemas.openxmlformats.org/presentationml/2006/ole">
            <p:oleObj spid="_x0000_s33843" name="公式" r:id="rId7" imgW="1028254" imgH="291973" progId="Equation.3">
              <p:embed/>
            </p:oleObj>
          </a:graphicData>
        </a:graphic>
      </p:graphicFrame>
      <p:graphicFrame>
        <p:nvGraphicFramePr>
          <p:cNvPr id="30735" name="Object 15"/>
          <p:cNvGraphicFramePr>
            <a:graphicFrameLocks noChangeAspect="1"/>
          </p:cNvGraphicFramePr>
          <p:nvPr/>
        </p:nvGraphicFramePr>
        <p:xfrm>
          <a:off x="5540375" y="2060575"/>
          <a:ext cx="1552575" cy="346075"/>
        </p:xfrm>
        <a:graphic>
          <a:graphicData uri="http://schemas.openxmlformats.org/presentationml/2006/ole">
            <p:oleObj spid="_x0000_s33844" name="Equation" r:id="rId8" imgW="901309" imgH="203112" progId="Equation.DSMT4">
              <p:embed/>
            </p:oleObj>
          </a:graphicData>
        </a:graphic>
      </p:graphicFrame>
      <p:graphicFrame>
        <p:nvGraphicFramePr>
          <p:cNvPr id="30736" name="Object 16"/>
          <p:cNvGraphicFramePr>
            <a:graphicFrameLocks noChangeAspect="1"/>
          </p:cNvGraphicFramePr>
          <p:nvPr/>
        </p:nvGraphicFramePr>
        <p:xfrm>
          <a:off x="2822575" y="2932113"/>
          <a:ext cx="3910013" cy="647700"/>
        </p:xfrm>
        <a:graphic>
          <a:graphicData uri="http://schemas.openxmlformats.org/presentationml/2006/ole">
            <p:oleObj spid="_x0000_s33845" name="Equation" r:id="rId9" imgW="2641600" imgH="508000" progId="Equation.DSMT4">
              <p:embed/>
            </p:oleObj>
          </a:graphicData>
        </a:graphic>
      </p:graphicFrame>
      <p:sp>
        <p:nvSpPr>
          <p:cNvPr id="30737" name="Rectangle 17"/>
          <p:cNvSpPr>
            <a:spLocks noChangeArrowheads="1"/>
          </p:cNvSpPr>
          <p:nvPr/>
        </p:nvSpPr>
        <p:spPr bwMode="auto">
          <a:xfrm>
            <a:off x="1692275" y="3613150"/>
            <a:ext cx="29416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800" b="1">
                <a:latin typeface="华文中宋" pitchFamily="2" charset="-122"/>
                <a:ea typeface="华文中宋" pitchFamily="2" charset="-122"/>
              </a:rPr>
              <a:t>氧分子的方均根速率</a:t>
            </a:r>
          </a:p>
        </p:txBody>
      </p:sp>
      <p:graphicFrame>
        <p:nvGraphicFramePr>
          <p:cNvPr id="30738" name="Object 18"/>
          <p:cNvGraphicFramePr>
            <a:graphicFrameLocks noChangeAspect="1"/>
          </p:cNvGraphicFramePr>
          <p:nvPr/>
        </p:nvGraphicFramePr>
        <p:xfrm>
          <a:off x="2051050" y="4011613"/>
          <a:ext cx="1041400" cy="519112"/>
        </p:xfrm>
        <a:graphic>
          <a:graphicData uri="http://schemas.openxmlformats.org/presentationml/2006/ole">
            <p:oleObj spid="_x0000_s33846" name="Equation" r:id="rId10" imgW="482391" imgH="330057" progId="Equation.DSMT4">
              <p:embed/>
            </p:oleObj>
          </a:graphicData>
        </a:graphic>
      </p:graphicFrame>
      <p:graphicFrame>
        <p:nvGraphicFramePr>
          <p:cNvPr id="30739" name="Object 19"/>
          <p:cNvGraphicFramePr>
            <a:graphicFrameLocks noChangeAspect="1"/>
          </p:cNvGraphicFramePr>
          <p:nvPr/>
        </p:nvGraphicFramePr>
        <p:xfrm>
          <a:off x="3209925" y="3940175"/>
          <a:ext cx="4314825" cy="746125"/>
        </p:xfrm>
        <a:graphic>
          <a:graphicData uri="http://schemas.openxmlformats.org/presentationml/2006/ole">
            <p:oleObj spid="_x0000_s33847" name="Equation" r:id="rId11" imgW="2527300" imgH="508000" progId="Equation.DSMT4">
              <p:embed/>
            </p:oleObj>
          </a:graphicData>
        </a:graphic>
      </p:graphicFrame>
      <p:graphicFrame>
        <p:nvGraphicFramePr>
          <p:cNvPr id="30740" name="Object 20"/>
          <p:cNvGraphicFramePr>
            <a:graphicFrameLocks noChangeAspect="1"/>
          </p:cNvGraphicFramePr>
          <p:nvPr/>
        </p:nvGraphicFramePr>
        <p:xfrm>
          <a:off x="1547813" y="1292225"/>
          <a:ext cx="1223962" cy="247650"/>
        </p:xfrm>
        <a:graphic>
          <a:graphicData uri="http://schemas.openxmlformats.org/presentationml/2006/ole">
            <p:oleObj spid="_x0000_s33848" name="Equation" r:id="rId12" imgW="660113" imgH="177723"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30722"/>
                                        </p:tgtEl>
                                        <p:attrNameLst>
                                          <p:attrName>style.visibility</p:attrName>
                                        </p:attrNameLst>
                                      </p:cBhvr>
                                      <p:to>
                                        <p:strVal val="visible"/>
                                      </p:to>
                                    </p:set>
                                    <p:anim calcmode="lin" valueType="num">
                                      <p:cBhvr>
                                        <p:cTn id="7" dur="500" fill="hold"/>
                                        <p:tgtEl>
                                          <p:spTgt spid="30722"/>
                                        </p:tgtEl>
                                        <p:attrNameLst>
                                          <p:attrName>ppt_w</p:attrName>
                                        </p:attrNameLst>
                                      </p:cBhvr>
                                      <p:tavLst>
                                        <p:tav tm="0">
                                          <p:val>
                                            <p:fltVal val="0"/>
                                          </p:val>
                                        </p:tav>
                                        <p:tav tm="100000">
                                          <p:val>
                                            <p:strVal val="#ppt_w"/>
                                          </p:val>
                                        </p:tav>
                                      </p:tavLst>
                                    </p:anim>
                                    <p:anim calcmode="lin" valueType="num">
                                      <p:cBhvr>
                                        <p:cTn id="8" dur="500" fill="hold"/>
                                        <p:tgtEl>
                                          <p:spTgt spid="3072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30740"/>
                                        </p:tgtEl>
                                        <p:attrNameLst>
                                          <p:attrName>style.visibility</p:attrName>
                                        </p:attrNameLst>
                                      </p:cBhvr>
                                      <p:to>
                                        <p:strVal val="visible"/>
                                      </p:to>
                                    </p:set>
                                    <p:animEffect transition="in" filter="blinds(horizontal)">
                                      <p:cBhvr>
                                        <p:cTn id="13" dur="500"/>
                                        <p:tgtEl>
                                          <p:spTgt spid="30740"/>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30725"/>
                                        </p:tgtEl>
                                        <p:attrNameLst>
                                          <p:attrName>style.visibility</p:attrName>
                                        </p:attrNameLst>
                                      </p:cBhvr>
                                      <p:to>
                                        <p:strVal val="visible"/>
                                      </p:to>
                                    </p:set>
                                    <p:animEffect transition="in" filter="blinds(horizontal)">
                                      <p:cBhvr>
                                        <p:cTn id="16" dur="500"/>
                                        <p:tgtEl>
                                          <p:spTgt spid="30725"/>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23" presetClass="entr" presetSubtype="16" fill="hold" nodeType="clickEffect">
                                  <p:stCondLst>
                                    <p:cond delay="0"/>
                                  </p:stCondLst>
                                  <p:childTnLst>
                                    <p:set>
                                      <p:cBhvr>
                                        <p:cTn id="20" dur="1" fill="hold">
                                          <p:stCondLst>
                                            <p:cond delay="0"/>
                                          </p:stCondLst>
                                        </p:cTn>
                                        <p:tgtEl>
                                          <p:spTgt spid="30727"/>
                                        </p:tgtEl>
                                        <p:attrNameLst>
                                          <p:attrName>style.visibility</p:attrName>
                                        </p:attrNameLst>
                                      </p:cBhvr>
                                      <p:to>
                                        <p:strVal val="visible"/>
                                      </p:to>
                                    </p:set>
                                    <p:anim calcmode="lin" valueType="num">
                                      <p:cBhvr>
                                        <p:cTn id="21" dur="500" fill="hold"/>
                                        <p:tgtEl>
                                          <p:spTgt spid="30727"/>
                                        </p:tgtEl>
                                        <p:attrNameLst>
                                          <p:attrName>ppt_w</p:attrName>
                                        </p:attrNameLst>
                                      </p:cBhvr>
                                      <p:tavLst>
                                        <p:tav tm="0">
                                          <p:val>
                                            <p:fltVal val="0"/>
                                          </p:val>
                                        </p:tav>
                                        <p:tav tm="100000">
                                          <p:val>
                                            <p:strVal val="#ppt_w"/>
                                          </p:val>
                                        </p:tav>
                                      </p:tavLst>
                                    </p:anim>
                                    <p:anim calcmode="lin" valueType="num">
                                      <p:cBhvr>
                                        <p:cTn id="22" dur="500" fill="hold"/>
                                        <p:tgtEl>
                                          <p:spTgt spid="30727"/>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23" presetClass="entr" presetSubtype="16" fill="hold" nodeType="clickEffect">
                                  <p:stCondLst>
                                    <p:cond delay="0"/>
                                  </p:stCondLst>
                                  <p:childTnLst>
                                    <p:set>
                                      <p:cBhvr>
                                        <p:cTn id="26" dur="1" fill="hold">
                                          <p:stCondLst>
                                            <p:cond delay="0"/>
                                          </p:stCondLst>
                                        </p:cTn>
                                        <p:tgtEl>
                                          <p:spTgt spid="30728"/>
                                        </p:tgtEl>
                                        <p:attrNameLst>
                                          <p:attrName>style.visibility</p:attrName>
                                        </p:attrNameLst>
                                      </p:cBhvr>
                                      <p:to>
                                        <p:strVal val="visible"/>
                                      </p:to>
                                    </p:set>
                                    <p:anim calcmode="lin" valueType="num">
                                      <p:cBhvr>
                                        <p:cTn id="27" dur="500" fill="hold"/>
                                        <p:tgtEl>
                                          <p:spTgt spid="30728"/>
                                        </p:tgtEl>
                                        <p:attrNameLst>
                                          <p:attrName>ppt_w</p:attrName>
                                        </p:attrNameLst>
                                      </p:cBhvr>
                                      <p:tavLst>
                                        <p:tav tm="0">
                                          <p:val>
                                            <p:fltVal val="0"/>
                                          </p:val>
                                        </p:tav>
                                        <p:tav tm="100000">
                                          <p:val>
                                            <p:strVal val="#ppt_w"/>
                                          </p:val>
                                        </p:tav>
                                      </p:tavLst>
                                    </p:anim>
                                    <p:anim calcmode="lin" valueType="num">
                                      <p:cBhvr>
                                        <p:cTn id="28" dur="500" fill="hold"/>
                                        <p:tgtEl>
                                          <p:spTgt spid="30728"/>
                                        </p:tgtEl>
                                        <p:attrNameLst>
                                          <p:attrName>ppt_h</p:attrName>
                                        </p:attrNameLst>
                                      </p:cBhvr>
                                      <p:tavLst>
                                        <p:tav tm="0">
                                          <p:val>
                                            <p:fltVal val="0"/>
                                          </p:val>
                                        </p:tav>
                                        <p:tav tm="100000">
                                          <p:val>
                                            <p:strVal val="#ppt_h"/>
                                          </p:val>
                                        </p:tav>
                                      </p:tavLst>
                                    </p:anim>
                                  </p:childTnLst>
                                </p:cTn>
                              </p:par>
                            </p:childTnLst>
                          </p:cTn>
                        </p:par>
                      </p:childTnLst>
                    </p:cTn>
                  </p:par>
                  <p:par>
                    <p:cTn id="29" fill="hold" nodeType="clickPar">
                      <p:stCondLst>
                        <p:cond delay="indefinite"/>
                      </p:stCondLst>
                      <p:childTnLst>
                        <p:par>
                          <p:cTn id="30" fill="hold" nodeType="withGroup">
                            <p:stCondLst>
                              <p:cond delay="0"/>
                            </p:stCondLst>
                            <p:childTnLst>
                              <p:par>
                                <p:cTn id="31" presetID="23" presetClass="entr" presetSubtype="16" fill="hold" grpId="0" nodeType="clickEffect">
                                  <p:stCondLst>
                                    <p:cond delay="0"/>
                                  </p:stCondLst>
                                  <p:childTnLst>
                                    <p:set>
                                      <p:cBhvr>
                                        <p:cTn id="32" dur="1" fill="hold">
                                          <p:stCondLst>
                                            <p:cond delay="0"/>
                                          </p:stCondLst>
                                        </p:cTn>
                                        <p:tgtEl>
                                          <p:spTgt spid="30729"/>
                                        </p:tgtEl>
                                        <p:attrNameLst>
                                          <p:attrName>style.visibility</p:attrName>
                                        </p:attrNameLst>
                                      </p:cBhvr>
                                      <p:to>
                                        <p:strVal val="visible"/>
                                      </p:to>
                                    </p:set>
                                    <p:anim calcmode="lin" valueType="num">
                                      <p:cBhvr>
                                        <p:cTn id="33" dur="500" fill="hold"/>
                                        <p:tgtEl>
                                          <p:spTgt spid="30729"/>
                                        </p:tgtEl>
                                        <p:attrNameLst>
                                          <p:attrName>ppt_w</p:attrName>
                                        </p:attrNameLst>
                                      </p:cBhvr>
                                      <p:tavLst>
                                        <p:tav tm="0">
                                          <p:val>
                                            <p:fltVal val="0"/>
                                          </p:val>
                                        </p:tav>
                                        <p:tav tm="100000">
                                          <p:val>
                                            <p:strVal val="#ppt_w"/>
                                          </p:val>
                                        </p:tav>
                                      </p:tavLst>
                                    </p:anim>
                                    <p:anim calcmode="lin" valueType="num">
                                      <p:cBhvr>
                                        <p:cTn id="34" dur="500" fill="hold"/>
                                        <p:tgtEl>
                                          <p:spTgt spid="30729"/>
                                        </p:tgtEl>
                                        <p:attrNameLst>
                                          <p:attrName>ppt_h</p:attrName>
                                        </p:attrNameLst>
                                      </p:cBhvr>
                                      <p:tavLst>
                                        <p:tav tm="0">
                                          <p:val>
                                            <p:fltVal val="0"/>
                                          </p:val>
                                        </p:tav>
                                        <p:tav tm="100000">
                                          <p:val>
                                            <p:strVal val="#ppt_h"/>
                                          </p:val>
                                        </p:tav>
                                      </p:tavLst>
                                    </p:anim>
                                  </p:childTnLst>
                                </p:cTn>
                              </p:par>
                            </p:childTnLst>
                          </p:cTn>
                        </p:par>
                      </p:childTnLst>
                    </p:cTn>
                  </p:par>
                  <p:par>
                    <p:cTn id="35" fill="hold" nodeType="clickPar">
                      <p:stCondLst>
                        <p:cond delay="indefinite"/>
                      </p:stCondLst>
                      <p:childTnLst>
                        <p:par>
                          <p:cTn id="36" fill="hold" nodeType="withGroup">
                            <p:stCondLst>
                              <p:cond delay="0"/>
                            </p:stCondLst>
                            <p:childTnLst>
                              <p:par>
                                <p:cTn id="37" presetID="23" presetClass="entr" presetSubtype="16" fill="hold" nodeType="clickEffect">
                                  <p:stCondLst>
                                    <p:cond delay="0"/>
                                  </p:stCondLst>
                                  <p:childTnLst>
                                    <p:set>
                                      <p:cBhvr>
                                        <p:cTn id="38" dur="1" fill="hold">
                                          <p:stCondLst>
                                            <p:cond delay="0"/>
                                          </p:stCondLst>
                                        </p:cTn>
                                        <p:tgtEl>
                                          <p:spTgt spid="30730"/>
                                        </p:tgtEl>
                                        <p:attrNameLst>
                                          <p:attrName>style.visibility</p:attrName>
                                        </p:attrNameLst>
                                      </p:cBhvr>
                                      <p:to>
                                        <p:strVal val="visible"/>
                                      </p:to>
                                    </p:set>
                                    <p:anim calcmode="lin" valueType="num">
                                      <p:cBhvr>
                                        <p:cTn id="39" dur="500" fill="hold"/>
                                        <p:tgtEl>
                                          <p:spTgt spid="30730"/>
                                        </p:tgtEl>
                                        <p:attrNameLst>
                                          <p:attrName>ppt_w</p:attrName>
                                        </p:attrNameLst>
                                      </p:cBhvr>
                                      <p:tavLst>
                                        <p:tav tm="0">
                                          <p:val>
                                            <p:fltVal val="0"/>
                                          </p:val>
                                        </p:tav>
                                        <p:tav tm="100000">
                                          <p:val>
                                            <p:strVal val="#ppt_w"/>
                                          </p:val>
                                        </p:tav>
                                      </p:tavLst>
                                    </p:anim>
                                    <p:anim calcmode="lin" valueType="num">
                                      <p:cBhvr>
                                        <p:cTn id="40" dur="500" fill="hold"/>
                                        <p:tgtEl>
                                          <p:spTgt spid="30730"/>
                                        </p:tgtEl>
                                        <p:attrNameLst>
                                          <p:attrName>ppt_h</p:attrName>
                                        </p:attrNameLst>
                                      </p:cBhvr>
                                      <p:tavLst>
                                        <p:tav tm="0">
                                          <p:val>
                                            <p:fltVal val="0"/>
                                          </p:val>
                                        </p:tav>
                                        <p:tav tm="100000">
                                          <p:val>
                                            <p:strVal val="#ppt_h"/>
                                          </p:val>
                                        </p:tav>
                                      </p:tavLst>
                                    </p:anim>
                                  </p:childTnLst>
                                </p:cTn>
                              </p:par>
                            </p:childTnLst>
                          </p:cTn>
                        </p:par>
                      </p:childTnLst>
                    </p:cTn>
                  </p:par>
                  <p:par>
                    <p:cTn id="41" fill="hold" nodeType="clickPar">
                      <p:stCondLst>
                        <p:cond delay="indefinite"/>
                      </p:stCondLst>
                      <p:childTnLst>
                        <p:par>
                          <p:cTn id="42" fill="hold" nodeType="withGroup">
                            <p:stCondLst>
                              <p:cond delay="0"/>
                            </p:stCondLst>
                            <p:childTnLst>
                              <p:par>
                                <p:cTn id="43" presetID="23" presetClass="entr" presetSubtype="16" fill="hold" nodeType="clickEffect">
                                  <p:stCondLst>
                                    <p:cond delay="0"/>
                                  </p:stCondLst>
                                  <p:childTnLst>
                                    <p:set>
                                      <p:cBhvr>
                                        <p:cTn id="44" dur="1" fill="hold">
                                          <p:stCondLst>
                                            <p:cond delay="0"/>
                                          </p:stCondLst>
                                        </p:cTn>
                                        <p:tgtEl>
                                          <p:spTgt spid="30734"/>
                                        </p:tgtEl>
                                        <p:attrNameLst>
                                          <p:attrName>style.visibility</p:attrName>
                                        </p:attrNameLst>
                                      </p:cBhvr>
                                      <p:to>
                                        <p:strVal val="visible"/>
                                      </p:to>
                                    </p:set>
                                    <p:anim calcmode="lin" valueType="num">
                                      <p:cBhvr>
                                        <p:cTn id="45" dur="500" fill="hold"/>
                                        <p:tgtEl>
                                          <p:spTgt spid="30734"/>
                                        </p:tgtEl>
                                        <p:attrNameLst>
                                          <p:attrName>ppt_w</p:attrName>
                                        </p:attrNameLst>
                                      </p:cBhvr>
                                      <p:tavLst>
                                        <p:tav tm="0">
                                          <p:val>
                                            <p:fltVal val="0"/>
                                          </p:val>
                                        </p:tav>
                                        <p:tav tm="100000">
                                          <p:val>
                                            <p:strVal val="#ppt_w"/>
                                          </p:val>
                                        </p:tav>
                                      </p:tavLst>
                                    </p:anim>
                                    <p:anim calcmode="lin" valueType="num">
                                      <p:cBhvr>
                                        <p:cTn id="46" dur="500" fill="hold"/>
                                        <p:tgtEl>
                                          <p:spTgt spid="30734"/>
                                        </p:tgtEl>
                                        <p:attrNameLst>
                                          <p:attrName>ppt_h</p:attrName>
                                        </p:attrNameLst>
                                      </p:cBhvr>
                                      <p:tavLst>
                                        <p:tav tm="0">
                                          <p:val>
                                            <p:fltVal val="0"/>
                                          </p:val>
                                        </p:tav>
                                        <p:tav tm="100000">
                                          <p:val>
                                            <p:strVal val="#ppt_h"/>
                                          </p:val>
                                        </p:tav>
                                      </p:tavLst>
                                    </p:anim>
                                  </p:child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16" fill="hold" nodeType="clickEffect">
                                  <p:stCondLst>
                                    <p:cond delay="0"/>
                                  </p:stCondLst>
                                  <p:childTnLst>
                                    <p:set>
                                      <p:cBhvr>
                                        <p:cTn id="50" dur="1" fill="hold">
                                          <p:stCondLst>
                                            <p:cond delay="0"/>
                                          </p:stCondLst>
                                        </p:cTn>
                                        <p:tgtEl>
                                          <p:spTgt spid="30735"/>
                                        </p:tgtEl>
                                        <p:attrNameLst>
                                          <p:attrName>style.visibility</p:attrName>
                                        </p:attrNameLst>
                                      </p:cBhvr>
                                      <p:to>
                                        <p:strVal val="visible"/>
                                      </p:to>
                                    </p:set>
                                    <p:anim calcmode="lin" valueType="num">
                                      <p:cBhvr>
                                        <p:cTn id="51" dur="500" fill="hold"/>
                                        <p:tgtEl>
                                          <p:spTgt spid="30735"/>
                                        </p:tgtEl>
                                        <p:attrNameLst>
                                          <p:attrName>ppt_w</p:attrName>
                                        </p:attrNameLst>
                                      </p:cBhvr>
                                      <p:tavLst>
                                        <p:tav tm="0">
                                          <p:val>
                                            <p:fltVal val="0"/>
                                          </p:val>
                                        </p:tav>
                                        <p:tav tm="100000">
                                          <p:val>
                                            <p:strVal val="#ppt_w"/>
                                          </p:val>
                                        </p:tav>
                                      </p:tavLst>
                                    </p:anim>
                                    <p:anim calcmode="lin" valueType="num">
                                      <p:cBhvr>
                                        <p:cTn id="52" dur="500" fill="hold"/>
                                        <p:tgtEl>
                                          <p:spTgt spid="30735"/>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23" presetClass="entr" presetSubtype="16" fill="hold" grpId="0" nodeType="clickEffect">
                                  <p:stCondLst>
                                    <p:cond delay="0"/>
                                  </p:stCondLst>
                                  <p:childTnLst>
                                    <p:set>
                                      <p:cBhvr>
                                        <p:cTn id="56" dur="1" fill="hold">
                                          <p:stCondLst>
                                            <p:cond delay="0"/>
                                          </p:stCondLst>
                                        </p:cTn>
                                        <p:tgtEl>
                                          <p:spTgt spid="30732"/>
                                        </p:tgtEl>
                                        <p:attrNameLst>
                                          <p:attrName>style.visibility</p:attrName>
                                        </p:attrNameLst>
                                      </p:cBhvr>
                                      <p:to>
                                        <p:strVal val="visible"/>
                                      </p:to>
                                    </p:set>
                                    <p:anim calcmode="lin" valueType="num">
                                      <p:cBhvr>
                                        <p:cTn id="57" dur="500" fill="hold"/>
                                        <p:tgtEl>
                                          <p:spTgt spid="30732"/>
                                        </p:tgtEl>
                                        <p:attrNameLst>
                                          <p:attrName>ppt_w</p:attrName>
                                        </p:attrNameLst>
                                      </p:cBhvr>
                                      <p:tavLst>
                                        <p:tav tm="0">
                                          <p:val>
                                            <p:fltVal val="0"/>
                                          </p:val>
                                        </p:tav>
                                        <p:tav tm="100000">
                                          <p:val>
                                            <p:strVal val="#ppt_w"/>
                                          </p:val>
                                        </p:tav>
                                      </p:tavLst>
                                    </p:anim>
                                    <p:anim calcmode="lin" valueType="num">
                                      <p:cBhvr>
                                        <p:cTn id="58" dur="500" fill="hold"/>
                                        <p:tgtEl>
                                          <p:spTgt spid="30732"/>
                                        </p:tgtEl>
                                        <p:attrNameLst>
                                          <p:attrName>ppt_h</p:attrName>
                                        </p:attrNameLst>
                                      </p:cBhvr>
                                      <p:tavLst>
                                        <p:tav tm="0">
                                          <p:val>
                                            <p:fltVal val="0"/>
                                          </p:val>
                                        </p:tav>
                                        <p:tav tm="100000">
                                          <p:val>
                                            <p:strVal val="#ppt_h"/>
                                          </p:val>
                                        </p:tav>
                                      </p:tavLst>
                                    </p:anim>
                                  </p:childTnLst>
                                </p:cTn>
                              </p:par>
                            </p:childTnLst>
                          </p:cTn>
                        </p:par>
                      </p:childTnLst>
                    </p:cTn>
                  </p:par>
                  <p:par>
                    <p:cTn id="59" fill="hold" nodeType="clickPar">
                      <p:stCondLst>
                        <p:cond delay="indefinite"/>
                      </p:stCondLst>
                      <p:childTnLst>
                        <p:par>
                          <p:cTn id="60" fill="hold" nodeType="withGroup">
                            <p:stCondLst>
                              <p:cond delay="0"/>
                            </p:stCondLst>
                            <p:childTnLst>
                              <p:par>
                                <p:cTn id="61" presetID="23" presetClass="entr" presetSubtype="16" fill="hold" nodeType="clickEffect">
                                  <p:stCondLst>
                                    <p:cond delay="0"/>
                                  </p:stCondLst>
                                  <p:childTnLst>
                                    <p:set>
                                      <p:cBhvr>
                                        <p:cTn id="62" dur="1" fill="hold">
                                          <p:stCondLst>
                                            <p:cond delay="0"/>
                                          </p:stCondLst>
                                        </p:cTn>
                                        <p:tgtEl>
                                          <p:spTgt spid="30733"/>
                                        </p:tgtEl>
                                        <p:attrNameLst>
                                          <p:attrName>style.visibility</p:attrName>
                                        </p:attrNameLst>
                                      </p:cBhvr>
                                      <p:to>
                                        <p:strVal val="visible"/>
                                      </p:to>
                                    </p:set>
                                    <p:anim calcmode="lin" valueType="num">
                                      <p:cBhvr>
                                        <p:cTn id="63" dur="500" fill="hold"/>
                                        <p:tgtEl>
                                          <p:spTgt spid="30733"/>
                                        </p:tgtEl>
                                        <p:attrNameLst>
                                          <p:attrName>ppt_w</p:attrName>
                                        </p:attrNameLst>
                                      </p:cBhvr>
                                      <p:tavLst>
                                        <p:tav tm="0">
                                          <p:val>
                                            <p:fltVal val="0"/>
                                          </p:val>
                                        </p:tav>
                                        <p:tav tm="100000">
                                          <p:val>
                                            <p:strVal val="#ppt_w"/>
                                          </p:val>
                                        </p:tav>
                                      </p:tavLst>
                                    </p:anim>
                                    <p:anim calcmode="lin" valueType="num">
                                      <p:cBhvr>
                                        <p:cTn id="64" dur="500" fill="hold"/>
                                        <p:tgtEl>
                                          <p:spTgt spid="30733"/>
                                        </p:tgtEl>
                                        <p:attrNameLst>
                                          <p:attrName>ppt_h</p:attrName>
                                        </p:attrNameLst>
                                      </p:cBhvr>
                                      <p:tavLst>
                                        <p:tav tm="0">
                                          <p:val>
                                            <p:fltVal val="0"/>
                                          </p:val>
                                        </p:tav>
                                        <p:tav tm="100000">
                                          <p:val>
                                            <p:strVal val="#ppt_h"/>
                                          </p:val>
                                        </p:tav>
                                      </p:tavLst>
                                    </p:anim>
                                  </p:childTnLst>
                                </p:cTn>
                              </p:par>
                            </p:childTnLst>
                          </p:cTn>
                        </p:par>
                      </p:childTnLst>
                    </p:cTn>
                  </p:par>
                  <p:par>
                    <p:cTn id="65" fill="hold" nodeType="clickPar">
                      <p:stCondLst>
                        <p:cond delay="indefinite"/>
                      </p:stCondLst>
                      <p:childTnLst>
                        <p:par>
                          <p:cTn id="66" fill="hold" nodeType="withGroup">
                            <p:stCondLst>
                              <p:cond delay="0"/>
                            </p:stCondLst>
                            <p:childTnLst>
                              <p:par>
                                <p:cTn id="67" presetID="23" presetClass="entr" presetSubtype="16" fill="hold" nodeType="clickEffect">
                                  <p:stCondLst>
                                    <p:cond delay="0"/>
                                  </p:stCondLst>
                                  <p:childTnLst>
                                    <p:set>
                                      <p:cBhvr>
                                        <p:cTn id="68" dur="1" fill="hold">
                                          <p:stCondLst>
                                            <p:cond delay="0"/>
                                          </p:stCondLst>
                                        </p:cTn>
                                        <p:tgtEl>
                                          <p:spTgt spid="30736"/>
                                        </p:tgtEl>
                                        <p:attrNameLst>
                                          <p:attrName>style.visibility</p:attrName>
                                        </p:attrNameLst>
                                      </p:cBhvr>
                                      <p:to>
                                        <p:strVal val="visible"/>
                                      </p:to>
                                    </p:set>
                                    <p:anim calcmode="lin" valueType="num">
                                      <p:cBhvr>
                                        <p:cTn id="69" dur="500" fill="hold"/>
                                        <p:tgtEl>
                                          <p:spTgt spid="30736"/>
                                        </p:tgtEl>
                                        <p:attrNameLst>
                                          <p:attrName>ppt_w</p:attrName>
                                        </p:attrNameLst>
                                      </p:cBhvr>
                                      <p:tavLst>
                                        <p:tav tm="0">
                                          <p:val>
                                            <p:fltVal val="0"/>
                                          </p:val>
                                        </p:tav>
                                        <p:tav tm="100000">
                                          <p:val>
                                            <p:strVal val="#ppt_w"/>
                                          </p:val>
                                        </p:tav>
                                      </p:tavLst>
                                    </p:anim>
                                    <p:anim calcmode="lin" valueType="num">
                                      <p:cBhvr>
                                        <p:cTn id="70" dur="500" fill="hold"/>
                                        <p:tgtEl>
                                          <p:spTgt spid="30736"/>
                                        </p:tgtEl>
                                        <p:attrNameLst>
                                          <p:attrName>ppt_h</p:attrName>
                                        </p:attrNameLst>
                                      </p:cBhvr>
                                      <p:tavLst>
                                        <p:tav tm="0">
                                          <p:val>
                                            <p:fltVal val="0"/>
                                          </p:val>
                                        </p:tav>
                                        <p:tav tm="100000">
                                          <p:val>
                                            <p:strVal val="#ppt_h"/>
                                          </p:val>
                                        </p:tav>
                                      </p:tavLst>
                                    </p:anim>
                                  </p:childTnLst>
                                </p:cTn>
                              </p:par>
                            </p:childTnLst>
                          </p:cTn>
                        </p:par>
                      </p:childTnLst>
                    </p:cTn>
                  </p:par>
                  <p:par>
                    <p:cTn id="71" fill="hold" nodeType="clickPar">
                      <p:stCondLst>
                        <p:cond delay="indefinite"/>
                      </p:stCondLst>
                      <p:childTnLst>
                        <p:par>
                          <p:cTn id="72" fill="hold" nodeType="withGroup">
                            <p:stCondLst>
                              <p:cond delay="0"/>
                            </p:stCondLst>
                            <p:childTnLst>
                              <p:par>
                                <p:cTn id="73" presetID="9" presetClass="entr" presetSubtype="0" fill="hold" grpId="0" nodeType="clickEffect">
                                  <p:stCondLst>
                                    <p:cond delay="0"/>
                                  </p:stCondLst>
                                  <p:childTnLst>
                                    <p:set>
                                      <p:cBhvr>
                                        <p:cTn id="74" dur="1" fill="hold">
                                          <p:stCondLst>
                                            <p:cond delay="0"/>
                                          </p:stCondLst>
                                        </p:cTn>
                                        <p:tgtEl>
                                          <p:spTgt spid="30737">
                                            <p:txEl>
                                              <p:pRg st="0" end="0"/>
                                            </p:txEl>
                                          </p:spTgt>
                                        </p:tgtEl>
                                        <p:attrNameLst>
                                          <p:attrName>style.visibility</p:attrName>
                                        </p:attrNameLst>
                                      </p:cBhvr>
                                      <p:to>
                                        <p:strVal val="visible"/>
                                      </p:to>
                                    </p:set>
                                    <p:animEffect transition="in" filter="dissolve">
                                      <p:cBhvr>
                                        <p:cTn id="75" dur="500"/>
                                        <p:tgtEl>
                                          <p:spTgt spid="30737">
                                            <p:txEl>
                                              <p:pRg st="0" end="0"/>
                                            </p:txEl>
                                          </p:spTgt>
                                        </p:tgtEl>
                                      </p:cBhvr>
                                    </p:animEffect>
                                  </p:childTnLst>
                                </p:cTn>
                              </p:par>
                            </p:childTnLst>
                          </p:cTn>
                        </p:par>
                      </p:childTnLst>
                    </p:cTn>
                  </p:par>
                  <p:par>
                    <p:cTn id="76" fill="hold" nodeType="clickPar">
                      <p:stCondLst>
                        <p:cond delay="indefinite"/>
                      </p:stCondLst>
                      <p:childTnLst>
                        <p:par>
                          <p:cTn id="77" fill="hold" nodeType="withGroup">
                            <p:stCondLst>
                              <p:cond delay="0"/>
                            </p:stCondLst>
                            <p:childTnLst>
                              <p:par>
                                <p:cTn id="78" presetID="22" presetClass="entr" presetSubtype="8" fill="hold" nodeType="clickEffect">
                                  <p:stCondLst>
                                    <p:cond delay="0"/>
                                  </p:stCondLst>
                                  <p:childTnLst>
                                    <p:set>
                                      <p:cBhvr>
                                        <p:cTn id="79" dur="1" fill="hold">
                                          <p:stCondLst>
                                            <p:cond delay="0"/>
                                          </p:stCondLst>
                                        </p:cTn>
                                        <p:tgtEl>
                                          <p:spTgt spid="30738"/>
                                        </p:tgtEl>
                                        <p:attrNameLst>
                                          <p:attrName>style.visibility</p:attrName>
                                        </p:attrNameLst>
                                      </p:cBhvr>
                                      <p:to>
                                        <p:strVal val="visible"/>
                                      </p:to>
                                    </p:set>
                                    <p:animEffect transition="in" filter="wipe(left)">
                                      <p:cBhvr>
                                        <p:cTn id="80" dur="500"/>
                                        <p:tgtEl>
                                          <p:spTgt spid="30738"/>
                                        </p:tgtEl>
                                      </p:cBhvr>
                                    </p:animEffect>
                                  </p:childTnLst>
                                </p:cTn>
                              </p:par>
                            </p:childTnLst>
                          </p:cTn>
                        </p:par>
                      </p:childTnLst>
                    </p:cTn>
                  </p:par>
                  <p:par>
                    <p:cTn id="81" fill="hold" nodeType="clickPar">
                      <p:stCondLst>
                        <p:cond delay="indefinite"/>
                      </p:stCondLst>
                      <p:childTnLst>
                        <p:par>
                          <p:cTn id="82" fill="hold" nodeType="withGroup">
                            <p:stCondLst>
                              <p:cond delay="0"/>
                            </p:stCondLst>
                            <p:childTnLst>
                              <p:par>
                                <p:cTn id="83" presetID="22" presetClass="entr" presetSubtype="8" fill="hold" nodeType="clickEffect">
                                  <p:stCondLst>
                                    <p:cond delay="0"/>
                                  </p:stCondLst>
                                  <p:childTnLst>
                                    <p:set>
                                      <p:cBhvr>
                                        <p:cTn id="84" dur="1" fill="hold">
                                          <p:stCondLst>
                                            <p:cond delay="0"/>
                                          </p:stCondLst>
                                        </p:cTn>
                                        <p:tgtEl>
                                          <p:spTgt spid="30739"/>
                                        </p:tgtEl>
                                        <p:attrNameLst>
                                          <p:attrName>style.visibility</p:attrName>
                                        </p:attrNameLst>
                                      </p:cBhvr>
                                      <p:to>
                                        <p:strVal val="visible"/>
                                      </p:to>
                                    </p:set>
                                    <p:animEffect transition="in" filter="wipe(left)">
                                      <p:cBhvr>
                                        <p:cTn id="85" dur="500"/>
                                        <p:tgtEl>
                                          <p:spTgt spid="3073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0722" grpId="0" autoUpdateAnimBg="0"/>
      <p:bldP spid="30725" grpId="0"/>
      <p:bldP spid="30729" grpId="0" autoUpdateAnimBg="0"/>
      <p:bldP spid="30732" grpId="0" autoUpdateAnimBg="0"/>
      <p:bldP spid="30737" grpId="0" build="p" autoUpdateAnimBg="0"/>
    </p:bld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0533" name="Text Box 5"/>
          <p:cNvSpPr txBox="1">
            <a:spLocks noChangeArrowheads="1"/>
          </p:cNvSpPr>
          <p:nvPr/>
        </p:nvSpPr>
        <p:spPr bwMode="auto">
          <a:xfrm>
            <a:off x="468313" y="844550"/>
            <a:ext cx="8207375" cy="6477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buFont typeface="Arial" charset="0"/>
              <a:buNone/>
            </a:pPr>
            <a:r>
              <a:rPr kumimoji="0" lang="zh-CN" altLang="en-US" sz="1800" b="1">
                <a:solidFill>
                  <a:srgbClr val="0000FF"/>
                </a:solidFill>
                <a:latin typeface="华文中宋" pitchFamily="2" charset="-122"/>
                <a:ea typeface="华文中宋" pitchFamily="2" charset="-122"/>
              </a:rPr>
              <a:t>物体的内能 </a:t>
            </a:r>
          </a:p>
          <a:p>
            <a:pPr eaLnBrk="1" hangingPunct="1"/>
            <a:r>
              <a:rPr kumimoji="0" lang="zh-CN" altLang="en-US" sz="1800" b="1">
                <a:solidFill>
                  <a:srgbClr val="0000FF"/>
                </a:solidFill>
                <a:latin typeface="华文中宋" pitchFamily="2" charset="-122"/>
                <a:ea typeface="华文中宋" pitchFamily="2" charset="-122"/>
              </a:rPr>
              <a:t>    </a:t>
            </a:r>
            <a:r>
              <a:rPr kumimoji="0" lang="zh-CN" altLang="en-US" sz="1800" b="1">
                <a:latin typeface="华文中宋" pitchFamily="2" charset="-122"/>
                <a:ea typeface="华文中宋" pitchFamily="2" charset="-122"/>
              </a:rPr>
              <a:t>物体中所有分子的热运动动能与分子势能的总和。</a:t>
            </a:r>
            <a:endParaRPr lang="zh-CN" altLang="en-US" sz="1800" b="1">
              <a:latin typeface="华文中宋" pitchFamily="2" charset="-122"/>
              <a:ea typeface="华文中宋" pitchFamily="2" charset="-122"/>
            </a:endParaRPr>
          </a:p>
        </p:txBody>
      </p:sp>
      <p:sp>
        <p:nvSpPr>
          <p:cNvPr id="32976" name="Rectangle 208"/>
          <p:cNvSpPr>
            <a:spLocks noChangeArrowheads="1"/>
          </p:cNvSpPr>
          <p:nvPr/>
        </p:nvSpPr>
        <p:spPr bwMode="auto">
          <a:xfrm>
            <a:off x="900113" y="2300288"/>
            <a:ext cx="78486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en-US" sz="1800" b="1">
                <a:solidFill>
                  <a:srgbClr val="FF0000"/>
                </a:solidFill>
                <a:latin typeface="华文中宋" pitchFamily="2" charset="-122"/>
                <a:ea typeface="华文中宋" pitchFamily="2" charset="-122"/>
              </a:rPr>
              <a:t>注：</a:t>
            </a:r>
            <a:r>
              <a:rPr lang="zh-CN" altLang="en-US" sz="1800" b="1">
                <a:latin typeface="华文中宋" pitchFamily="2" charset="-122"/>
                <a:ea typeface="华文中宋" pitchFamily="2" charset="-122"/>
              </a:rPr>
              <a:t>不包括系统宏观机械运动能量</a:t>
            </a: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及原子内的能量）</a:t>
            </a:r>
          </a:p>
        </p:txBody>
      </p:sp>
      <p:sp>
        <p:nvSpPr>
          <p:cNvPr id="32978" name="Rectangle 210"/>
          <p:cNvSpPr>
            <a:spLocks noChangeArrowheads="1"/>
          </p:cNvSpPr>
          <p:nvPr/>
        </p:nvSpPr>
        <p:spPr bwMode="auto">
          <a:xfrm>
            <a:off x="827088" y="1573213"/>
            <a:ext cx="8316912"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en-US" sz="1800" b="1">
                <a:solidFill>
                  <a:srgbClr val="3333CC"/>
                </a:solidFill>
                <a:latin typeface="华文中宋" pitchFamily="2" charset="-122"/>
                <a:ea typeface="华文中宋" pitchFamily="2" charset="-122"/>
              </a:rPr>
              <a:t>分子动能：</a:t>
            </a:r>
            <a:r>
              <a:rPr kumimoji="0" lang="zh-CN" altLang="en-US" sz="1800" b="1">
                <a:latin typeface="华文中宋" pitchFamily="2" charset="-122"/>
                <a:ea typeface="华文中宋" pitchFamily="2" charset="-122"/>
              </a:rPr>
              <a:t>分子的平动动能、转动动能、振动动能</a:t>
            </a:r>
          </a:p>
          <a:p>
            <a:r>
              <a:rPr kumimoji="0" lang="zh-CN" altLang="en-US" sz="1800" b="1">
                <a:solidFill>
                  <a:srgbClr val="3333CC"/>
                </a:solidFill>
                <a:latin typeface="华文中宋" pitchFamily="2" charset="-122"/>
                <a:ea typeface="华文中宋" pitchFamily="2" charset="-122"/>
              </a:rPr>
              <a:t>分子势能：</a:t>
            </a:r>
            <a:r>
              <a:rPr kumimoji="0" lang="zh-CN" altLang="en-US" sz="1800" b="1">
                <a:latin typeface="华文中宋" pitchFamily="2" charset="-122"/>
                <a:ea typeface="华文中宋" pitchFamily="2" charset="-122"/>
              </a:rPr>
              <a:t>分子之间、分子内原子之间的相互作用势能</a:t>
            </a:r>
          </a:p>
        </p:txBody>
      </p:sp>
      <p:sp>
        <p:nvSpPr>
          <p:cNvPr id="32980" name="Rectangle 212"/>
          <p:cNvSpPr>
            <a:spLocks noChangeArrowheads="1"/>
          </p:cNvSpPr>
          <p:nvPr/>
        </p:nvSpPr>
        <p:spPr bwMode="auto">
          <a:xfrm>
            <a:off x="684213" y="3232150"/>
            <a:ext cx="3741737" cy="369888"/>
          </a:xfrm>
          <a:prstGeom prst="rect">
            <a:avLst/>
          </a:prstGeom>
          <a:noFill/>
          <a:ln w="9525">
            <a:solidFill>
              <a:srgbClr val="CC00CC"/>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p>
            <a:pPr algn="ctr"/>
            <a:r>
              <a:rPr lang="zh-CN" altLang="en-US" sz="1800" b="1">
                <a:latin typeface="华文中宋" pitchFamily="2" charset="-122"/>
                <a:ea typeface="华文中宋" pitchFamily="2" charset="-122"/>
              </a:rPr>
              <a:t>理想气体：分子间势能可忽略</a:t>
            </a:r>
          </a:p>
        </p:txBody>
      </p:sp>
      <p:sp>
        <p:nvSpPr>
          <p:cNvPr id="32982" name="Rectangle 214"/>
          <p:cNvSpPr>
            <a:spLocks noChangeArrowheads="1"/>
          </p:cNvSpPr>
          <p:nvPr/>
        </p:nvSpPr>
        <p:spPr bwMode="auto">
          <a:xfrm>
            <a:off x="684213" y="3941763"/>
            <a:ext cx="3743325" cy="646112"/>
          </a:xfrm>
          <a:prstGeom prst="rect">
            <a:avLst/>
          </a:prstGeom>
          <a:noFill/>
          <a:ln w="9525">
            <a:solidFill>
              <a:srgbClr val="CC00CC"/>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p>
            <a:pPr algn="ctr"/>
            <a:r>
              <a:rPr lang="zh-CN" altLang="en-US" sz="1800" b="1">
                <a:latin typeface="华文中宋" pitchFamily="2" charset="-122"/>
                <a:ea typeface="华文中宋" pitchFamily="2" charset="-122"/>
              </a:rPr>
              <a:t>刚性分子：振动动能与分子内部原子间势能可忽略</a:t>
            </a:r>
          </a:p>
        </p:txBody>
      </p:sp>
      <p:sp>
        <p:nvSpPr>
          <p:cNvPr id="32983" name="Rectangle 215"/>
          <p:cNvSpPr>
            <a:spLocks noChangeArrowheads="1"/>
          </p:cNvSpPr>
          <p:nvPr/>
        </p:nvSpPr>
        <p:spPr bwMode="auto">
          <a:xfrm>
            <a:off x="4859338" y="3692525"/>
            <a:ext cx="1584325" cy="369888"/>
          </a:xfrm>
          <a:prstGeom prst="rect">
            <a:avLst/>
          </a:prstGeom>
          <a:noFill/>
          <a:ln w="9525">
            <a:solidFill>
              <a:srgbClr val="CC00CC"/>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p>
            <a:pPr algn="ctr"/>
            <a:r>
              <a:rPr lang="zh-CN" altLang="en-US" sz="1800" b="1">
                <a:latin typeface="华文中宋" pitchFamily="2" charset="-122"/>
                <a:ea typeface="华文中宋" pitchFamily="2" charset="-122"/>
              </a:rPr>
              <a:t>球棍模型</a:t>
            </a:r>
          </a:p>
        </p:txBody>
      </p:sp>
      <p:sp>
        <p:nvSpPr>
          <p:cNvPr id="34824" name="AutoShape 1068" descr="展示了甲烷的球棍模型 甲烷的球棍模型,"/>
          <p:cNvSpPr>
            <a:spLocks noChangeAspect="1" noChangeArrowheads="1"/>
          </p:cNvSpPr>
          <p:nvPr/>
        </p:nvSpPr>
        <p:spPr bwMode="auto">
          <a:xfrm>
            <a:off x="4419600" y="2457450"/>
            <a:ext cx="304800" cy="4619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endParaRPr lang="zh-CN" altLang="en-US"/>
          </a:p>
        </p:txBody>
      </p:sp>
      <p:pic>
        <p:nvPicPr>
          <p:cNvPr id="34861" name="Picture 1069"/>
          <p:cNvPicPr preferRelativeResize="0">
            <a:picLocks noChangeAspect="1" noChangeArrowheads="1"/>
          </p:cNvPicPr>
          <p:nvPr/>
        </p:nvPicPr>
        <p:blipFill>
          <a:blip r:embed="rId2" cstate="print">
            <a:extLst>
              <a:ext uri="{28A0092B-C50C-407E-A947-70E740481C1C}">
                <a14:useLocalDpi xmlns:a14="http://schemas.microsoft.com/office/drawing/2010/main" xmlns="" val="0"/>
              </a:ext>
            </a:extLst>
          </a:blip>
          <a:srcRect/>
          <a:stretch>
            <a:fillRect/>
          </a:stretch>
        </p:blipFill>
        <p:spPr bwMode="auto">
          <a:xfrm>
            <a:off x="7118350" y="2787650"/>
            <a:ext cx="1773238" cy="14049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sp>
        <p:nvSpPr>
          <p:cNvPr id="34862" name="AutoShape 1070"/>
          <p:cNvSpPr>
            <a:spLocks/>
          </p:cNvSpPr>
          <p:nvPr/>
        </p:nvSpPr>
        <p:spPr bwMode="auto">
          <a:xfrm>
            <a:off x="4427538" y="3448050"/>
            <a:ext cx="288925" cy="809625"/>
          </a:xfrm>
          <a:prstGeom prst="rightBrace">
            <a:avLst>
              <a:gd name="adj1" fmla="val 31136"/>
              <a:gd name="adj2" fmla="val 50000"/>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34863" name="Rectangle 1071"/>
          <p:cNvSpPr>
            <a:spLocks noChangeArrowheads="1"/>
          </p:cNvSpPr>
          <p:nvPr/>
        </p:nvSpPr>
        <p:spPr bwMode="auto">
          <a:xfrm>
            <a:off x="7308850" y="4192588"/>
            <a:ext cx="1727200" cy="323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zh-CN" altLang="en-US" sz="1500" b="1">
                <a:latin typeface="华文中宋" pitchFamily="2" charset="-122"/>
                <a:ea typeface="华文中宋" pitchFamily="2" charset="-122"/>
              </a:rPr>
              <a:t>甲烷的球棍模型</a:t>
            </a:r>
          </a:p>
        </p:txBody>
      </p:sp>
      <p:sp>
        <p:nvSpPr>
          <p:cNvPr id="146461" name="Text Box 29"/>
          <p:cNvSpPr txBox="1">
            <a:spLocks noChangeArrowheads="1"/>
          </p:cNvSpPr>
          <p:nvPr/>
        </p:nvSpPr>
        <p:spPr bwMode="auto">
          <a:xfrm>
            <a:off x="395288" y="2751138"/>
            <a:ext cx="720090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物体的内能与分子的结构有关，分子视为质点的微观模型要修改</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50533"/>
                                        </p:tgtEl>
                                        <p:attrNameLst>
                                          <p:attrName>style.visibility</p:attrName>
                                        </p:attrNameLst>
                                      </p:cBhvr>
                                      <p:to>
                                        <p:strVal val="visible"/>
                                      </p:to>
                                    </p:set>
                                    <p:animEffect transition="in" filter="wipe(left)">
                                      <p:cBhvr>
                                        <p:cTn id="7" dur="500"/>
                                        <p:tgtEl>
                                          <p:spTgt spid="15053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grpId="0" nodeType="clickEffect">
                                  <p:stCondLst>
                                    <p:cond delay="0"/>
                                  </p:stCondLst>
                                  <p:childTnLst>
                                    <p:set>
                                      <p:cBhvr>
                                        <p:cTn id="11" dur="1" fill="hold">
                                          <p:stCondLst>
                                            <p:cond delay="0"/>
                                          </p:stCondLst>
                                        </p:cTn>
                                        <p:tgtEl>
                                          <p:spTgt spid="32978"/>
                                        </p:tgtEl>
                                        <p:attrNameLst>
                                          <p:attrName>style.visibility</p:attrName>
                                        </p:attrNameLst>
                                      </p:cBhvr>
                                      <p:to>
                                        <p:strVal val="visible"/>
                                      </p:to>
                                    </p:set>
                                    <p:animEffect transition="in" filter="blinds(horizontal)">
                                      <p:cBhvr>
                                        <p:cTn id="12" dur="500"/>
                                        <p:tgtEl>
                                          <p:spTgt spid="3297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32976"/>
                                        </p:tgtEl>
                                        <p:attrNameLst>
                                          <p:attrName>style.visibility</p:attrName>
                                        </p:attrNameLst>
                                      </p:cBhvr>
                                      <p:to>
                                        <p:strVal val="visible"/>
                                      </p:to>
                                    </p:set>
                                    <p:animEffect transition="in" filter="blinds(horizontal)">
                                      <p:cBhvr>
                                        <p:cTn id="17" dur="500"/>
                                        <p:tgtEl>
                                          <p:spTgt spid="3297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146461">
                                            <p:txEl>
                                              <p:pRg st="0" end="0"/>
                                            </p:txEl>
                                          </p:spTgt>
                                        </p:tgtEl>
                                        <p:attrNameLst>
                                          <p:attrName>style.visibility</p:attrName>
                                        </p:attrNameLst>
                                      </p:cBhvr>
                                      <p:to>
                                        <p:strVal val="visible"/>
                                      </p:to>
                                    </p:set>
                                    <p:animEffect transition="in" filter="wipe(left)">
                                      <p:cBhvr>
                                        <p:cTn id="22" dur="500"/>
                                        <p:tgtEl>
                                          <p:spTgt spid="146461">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grpId="0" nodeType="clickEffect">
                                  <p:stCondLst>
                                    <p:cond delay="0"/>
                                  </p:stCondLst>
                                  <p:childTnLst>
                                    <p:set>
                                      <p:cBhvr>
                                        <p:cTn id="26" dur="1" fill="hold">
                                          <p:stCondLst>
                                            <p:cond delay="0"/>
                                          </p:stCondLst>
                                        </p:cTn>
                                        <p:tgtEl>
                                          <p:spTgt spid="32980"/>
                                        </p:tgtEl>
                                        <p:attrNameLst>
                                          <p:attrName>style.visibility</p:attrName>
                                        </p:attrNameLst>
                                      </p:cBhvr>
                                      <p:to>
                                        <p:strVal val="visible"/>
                                      </p:to>
                                    </p:set>
                                    <p:animEffect transition="in" filter="blinds(horizontal)">
                                      <p:cBhvr>
                                        <p:cTn id="27" dur="500"/>
                                        <p:tgtEl>
                                          <p:spTgt spid="3298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grpId="0" nodeType="clickEffect">
                                  <p:stCondLst>
                                    <p:cond delay="0"/>
                                  </p:stCondLst>
                                  <p:childTnLst>
                                    <p:set>
                                      <p:cBhvr>
                                        <p:cTn id="31" dur="1" fill="hold">
                                          <p:stCondLst>
                                            <p:cond delay="0"/>
                                          </p:stCondLst>
                                        </p:cTn>
                                        <p:tgtEl>
                                          <p:spTgt spid="32982"/>
                                        </p:tgtEl>
                                        <p:attrNameLst>
                                          <p:attrName>style.visibility</p:attrName>
                                        </p:attrNameLst>
                                      </p:cBhvr>
                                      <p:to>
                                        <p:strVal val="visible"/>
                                      </p:to>
                                    </p:set>
                                    <p:animEffect transition="in" filter="blinds(horizontal)">
                                      <p:cBhvr>
                                        <p:cTn id="32" dur="500"/>
                                        <p:tgtEl>
                                          <p:spTgt spid="32982"/>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3" presetClass="entr" presetSubtype="10" fill="hold" grpId="0" nodeType="clickEffect">
                                  <p:stCondLst>
                                    <p:cond delay="0"/>
                                  </p:stCondLst>
                                  <p:childTnLst>
                                    <p:set>
                                      <p:cBhvr>
                                        <p:cTn id="36" dur="1" fill="hold">
                                          <p:stCondLst>
                                            <p:cond delay="0"/>
                                          </p:stCondLst>
                                        </p:cTn>
                                        <p:tgtEl>
                                          <p:spTgt spid="34862"/>
                                        </p:tgtEl>
                                        <p:attrNameLst>
                                          <p:attrName>style.visibility</p:attrName>
                                        </p:attrNameLst>
                                      </p:cBhvr>
                                      <p:to>
                                        <p:strVal val="visible"/>
                                      </p:to>
                                    </p:set>
                                    <p:animEffect transition="in" filter="blinds(horizontal)">
                                      <p:cBhvr>
                                        <p:cTn id="37" dur="500"/>
                                        <p:tgtEl>
                                          <p:spTgt spid="34862"/>
                                        </p:tgtEl>
                                      </p:cBhvr>
                                    </p:animEffect>
                                  </p:childTnLst>
                                </p:cTn>
                              </p:par>
                              <p:par>
                                <p:cTn id="38" presetID="3" presetClass="entr" presetSubtype="10" fill="hold" grpId="0" nodeType="withEffect">
                                  <p:stCondLst>
                                    <p:cond delay="0"/>
                                  </p:stCondLst>
                                  <p:childTnLst>
                                    <p:set>
                                      <p:cBhvr>
                                        <p:cTn id="39" dur="1" fill="hold">
                                          <p:stCondLst>
                                            <p:cond delay="0"/>
                                          </p:stCondLst>
                                        </p:cTn>
                                        <p:tgtEl>
                                          <p:spTgt spid="32983"/>
                                        </p:tgtEl>
                                        <p:attrNameLst>
                                          <p:attrName>style.visibility</p:attrName>
                                        </p:attrNameLst>
                                      </p:cBhvr>
                                      <p:to>
                                        <p:strVal val="visible"/>
                                      </p:to>
                                    </p:set>
                                    <p:animEffect transition="in" filter="blinds(horizontal)">
                                      <p:cBhvr>
                                        <p:cTn id="40" dur="500"/>
                                        <p:tgtEl>
                                          <p:spTgt spid="32983"/>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34861"/>
                                        </p:tgtEl>
                                        <p:attrNameLst>
                                          <p:attrName>style.visibility</p:attrName>
                                        </p:attrNameLst>
                                      </p:cBhvr>
                                      <p:to>
                                        <p:strVal val="visible"/>
                                      </p:to>
                                    </p:set>
                                    <p:animEffect transition="in" filter="blinds(horizontal)">
                                      <p:cBhvr>
                                        <p:cTn id="45" dur="500"/>
                                        <p:tgtEl>
                                          <p:spTgt spid="34861"/>
                                        </p:tgtEl>
                                      </p:cBhvr>
                                    </p:animEffect>
                                  </p:childTnLst>
                                </p:cTn>
                              </p:par>
                              <p:par>
                                <p:cTn id="46" presetID="3" presetClass="entr" presetSubtype="10" fill="hold" grpId="0" nodeType="withEffect">
                                  <p:stCondLst>
                                    <p:cond delay="0"/>
                                  </p:stCondLst>
                                  <p:childTnLst>
                                    <p:set>
                                      <p:cBhvr>
                                        <p:cTn id="47" dur="1" fill="hold">
                                          <p:stCondLst>
                                            <p:cond delay="0"/>
                                          </p:stCondLst>
                                        </p:cTn>
                                        <p:tgtEl>
                                          <p:spTgt spid="34863"/>
                                        </p:tgtEl>
                                        <p:attrNameLst>
                                          <p:attrName>style.visibility</p:attrName>
                                        </p:attrNameLst>
                                      </p:cBhvr>
                                      <p:to>
                                        <p:strVal val="visible"/>
                                      </p:to>
                                    </p:set>
                                    <p:animEffect transition="in" filter="blinds(horizontal)">
                                      <p:cBhvr>
                                        <p:cTn id="48" dur="500"/>
                                        <p:tgtEl>
                                          <p:spTgt spid="3486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0533" grpId="0"/>
      <p:bldP spid="32976" grpId="0"/>
      <p:bldP spid="32978" grpId="0"/>
      <p:bldP spid="32980" grpId="0" animBg="1"/>
      <p:bldP spid="32982" grpId="0" animBg="1"/>
      <p:bldP spid="32983" grpId="0" animBg="1"/>
      <p:bldP spid="34862" grpId="0" animBg="1"/>
      <p:bldP spid="34863" grpId="0"/>
      <p:bldP spid="146461" grpId="0" build="p"/>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9573" name="Text Box 5"/>
          <p:cNvSpPr txBox="1">
            <a:spLocks noChangeArrowheads="1"/>
          </p:cNvSpPr>
          <p:nvPr/>
        </p:nvSpPr>
        <p:spPr bwMode="auto">
          <a:xfrm>
            <a:off x="2452688" y="906463"/>
            <a:ext cx="550386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ea typeface="华文中宋" pitchFamily="2" charset="-122"/>
              </a:rPr>
              <a:t>决定一个物体在空间位置所需的最少的独立坐标数。</a:t>
            </a:r>
          </a:p>
        </p:txBody>
      </p:sp>
      <p:grpSp>
        <p:nvGrpSpPr>
          <p:cNvPr id="2" name="Group 109"/>
          <p:cNvGrpSpPr>
            <a:grpSpLocks/>
          </p:cNvGrpSpPr>
          <p:nvPr/>
        </p:nvGrpSpPr>
        <p:grpSpPr bwMode="auto">
          <a:xfrm>
            <a:off x="3492500" y="1881188"/>
            <a:ext cx="2016125" cy="1344612"/>
            <a:chOff x="2200" y="1480"/>
            <a:chExt cx="1323" cy="1229"/>
          </a:xfrm>
        </p:grpSpPr>
        <p:sp>
          <p:nvSpPr>
            <p:cNvPr id="35905" name="Line 54"/>
            <p:cNvSpPr>
              <a:spLocks noChangeShapeType="1"/>
            </p:cNvSpPr>
            <p:nvPr/>
          </p:nvSpPr>
          <p:spPr bwMode="auto">
            <a:xfrm>
              <a:off x="2439" y="2335"/>
              <a:ext cx="762"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35906" name="Line 55"/>
            <p:cNvSpPr>
              <a:spLocks noChangeShapeType="1"/>
            </p:cNvSpPr>
            <p:nvPr/>
          </p:nvSpPr>
          <p:spPr bwMode="auto">
            <a:xfrm flipH="1">
              <a:off x="2200" y="2335"/>
              <a:ext cx="239" cy="25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35907" name="Line 56"/>
            <p:cNvSpPr>
              <a:spLocks noChangeShapeType="1"/>
            </p:cNvSpPr>
            <p:nvPr/>
          </p:nvSpPr>
          <p:spPr bwMode="auto">
            <a:xfrm flipV="1">
              <a:off x="2439" y="1691"/>
              <a:ext cx="0" cy="66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35908" name="Text Box 57"/>
            <p:cNvSpPr txBox="1">
              <a:spLocks noChangeArrowheads="1"/>
            </p:cNvSpPr>
            <p:nvPr/>
          </p:nvSpPr>
          <p:spPr bwMode="auto">
            <a:xfrm>
              <a:off x="2230" y="2438"/>
              <a:ext cx="177"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rPr>
                <a:t>x</a:t>
              </a:r>
            </a:p>
          </p:txBody>
        </p:sp>
        <p:sp>
          <p:nvSpPr>
            <p:cNvPr id="35909" name="Text Box 58"/>
            <p:cNvSpPr txBox="1">
              <a:spLocks noChangeArrowheads="1"/>
            </p:cNvSpPr>
            <p:nvPr/>
          </p:nvSpPr>
          <p:spPr bwMode="auto">
            <a:xfrm>
              <a:off x="3103" y="2293"/>
              <a:ext cx="170"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rPr>
                <a:t>y</a:t>
              </a:r>
            </a:p>
          </p:txBody>
        </p:sp>
        <p:sp>
          <p:nvSpPr>
            <p:cNvPr id="35910" name="Text Box 59"/>
            <p:cNvSpPr txBox="1">
              <a:spLocks noChangeArrowheads="1"/>
            </p:cNvSpPr>
            <p:nvPr/>
          </p:nvSpPr>
          <p:spPr bwMode="auto">
            <a:xfrm>
              <a:off x="2260" y="1506"/>
              <a:ext cx="179" cy="33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2000" b="1" i="1">
                  <a:ea typeface="宋体" pitchFamily="2" charset="-122"/>
                </a:rPr>
                <a:t>z</a:t>
              </a:r>
            </a:p>
          </p:txBody>
        </p:sp>
        <p:sp>
          <p:nvSpPr>
            <p:cNvPr id="35911" name="Text Box 60"/>
            <p:cNvSpPr txBox="1">
              <a:spLocks noChangeArrowheads="1"/>
            </p:cNvSpPr>
            <p:nvPr/>
          </p:nvSpPr>
          <p:spPr bwMode="auto">
            <a:xfrm>
              <a:off x="2417" y="1901"/>
              <a:ext cx="191"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sym typeface="Symbol" pitchFamily="18" charset="2"/>
                </a:rPr>
                <a:t></a:t>
              </a:r>
            </a:p>
          </p:txBody>
        </p:sp>
        <p:sp>
          <p:nvSpPr>
            <p:cNvPr id="35912" name="Line 61"/>
            <p:cNvSpPr>
              <a:spLocks noChangeShapeType="1"/>
            </p:cNvSpPr>
            <p:nvPr/>
          </p:nvSpPr>
          <p:spPr bwMode="auto">
            <a:xfrm flipH="1">
              <a:off x="2414" y="1480"/>
              <a:ext cx="842" cy="882"/>
            </a:xfrm>
            <a:prstGeom prst="line">
              <a:avLst/>
            </a:prstGeom>
            <a:noFill/>
            <a:ln w="1905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5913" name="Line 62"/>
            <p:cNvSpPr>
              <a:spLocks noChangeShapeType="1"/>
            </p:cNvSpPr>
            <p:nvPr/>
          </p:nvSpPr>
          <p:spPr bwMode="auto">
            <a:xfrm>
              <a:off x="2439" y="2335"/>
              <a:ext cx="566" cy="311"/>
            </a:xfrm>
            <a:prstGeom prst="line">
              <a:avLst/>
            </a:prstGeom>
            <a:noFill/>
            <a:ln w="12700">
              <a:solidFill>
                <a:schemeClr val="tx1"/>
              </a:solidFill>
              <a:prstDash val="lg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5914" name="Line 63"/>
            <p:cNvSpPr>
              <a:spLocks noChangeShapeType="1"/>
            </p:cNvSpPr>
            <p:nvPr/>
          </p:nvSpPr>
          <p:spPr bwMode="auto">
            <a:xfrm>
              <a:off x="3001" y="1774"/>
              <a:ext cx="0" cy="855"/>
            </a:xfrm>
            <a:prstGeom prst="line">
              <a:avLst/>
            </a:prstGeom>
            <a:noFill/>
            <a:ln w="12700">
              <a:solidFill>
                <a:schemeClr val="tx1"/>
              </a:solidFill>
              <a:prstDash val="lg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5915" name="Text Box 64"/>
            <p:cNvSpPr txBox="1">
              <a:spLocks noChangeArrowheads="1"/>
            </p:cNvSpPr>
            <p:nvPr/>
          </p:nvSpPr>
          <p:spPr bwMode="auto">
            <a:xfrm>
              <a:off x="2381" y="2296"/>
              <a:ext cx="268"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lang="en-US" altLang="zh-CN" sz="1500" b="1" i="1">
                  <a:ea typeface="宋体" pitchFamily="2" charset="-122"/>
                  <a:sym typeface="Symbol" pitchFamily="18" charset="2"/>
                </a:rPr>
                <a:t></a:t>
              </a:r>
            </a:p>
          </p:txBody>
        </p:sp>
        <p:grpSp>
          <p:nvGrpSpPr>
            <p:cNvPr id="35916" name="Group 65"/>
            <p:cNvGrpSpPr>
              <a:grpSpLocks/>
            </p:cNvGrpSpPr>
            <p:nvPr/>
          </p:nvGrpSpPr>
          <p:grpSpPr bwMode="auto">
            <a:xfrm>
              <a:off x="2729" y="1486"/>
              <a:ext cx="515" cy="561"/>
              <a:chOff x="4496" y="1962"/>
              <a:chExt cx="572" cy="595"/>
            </a:xfrm>
          </p:grpSpPr>
          <p:sp>
            <p:nvSpPr>
              <p:cNvPr id="35924" name="Line 66"/>
              <p:cNvSpPr>
                <a:spLocks noChangeShapeType="1"/>
              </p:cNvSpPr>
              <p:nvPr/>
            </p:nvSpPr>
            <p:spPr bwMode="auto">
              <a:xfrm flipV="1">
                <a:off x="4581" y="2075"/>
                <a:ext cx="389" cy="390"/>
              </a:xfrm>
              <a:prstGeom prst="line">
                <a:avLst/>
              </a:prstGeom>
              <a:noFill/>
              <a:ln w="28575">
                <a:solidFill>
                  <a:srgbClr val="C000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4874" name="Oval 67"/>
              <p:cNvSpPr>
                <a:spLocks noChangeArrowheads="1"/>
              </p:cNvSpPr>
              <p:nvPr/>
            </p:nvSpPr>
            <p:spPr bwMode="auto">
              <a:xfrm>
                <a:off x="4496" y="2415"/>
                <a:ext cx="142" cy="142"/>
              </a:xfrm>
              <a:prstGeom prst="ellipse">
                <a:avLst/>
              </a:prstGeom>
              <a:solidFill>
                <a:srgbClr val="00B0F0"/>
              </a:solidFill>
              <a:ln w="9525">
                <a:solidFill>
                  <a:srgbClr val="C00000"/>
                </a:solidFill>
                <a:round/>
                <a:headEnd/>
                <a:tailEnd/>
              </a:ln>
              <a:effectLst>
                <a:innerShdw blurRad="63500" dist="50800" dir="16200000">
                  <a:prstClr val="black">
                    <a:alpha val="50000"/>
                  </a:prstClr>
                </a:innerShdw>
              </a:effectLst>
            </p:spPr>
            <p:txBody>
              <a:bodyPr wrap="none" anchor="ctr"/>
              <a:lstStyle/>
              <a:p>
                <a:pPr>
                  <a:defRPr/>
                </a:pPr>
                <a:endParaRPr kumimoji="0" lang="zh-CN" altLang="en-US" sz="1800" b="1">
                  <a:ea typeface="宋体" pitchFamily="2" charset="-122"/>
                </a:endParaRPr>
              </a:p>
            </p:txBody>
          </p:sp>
          <p:sp>
            <p:nvSpPr>
              <p:cNvPr id="34875" name="Oval 68"/>
              <p:cNvSpPr>
                <a:spLocks noChangeArrowheads="1"/>
              </p:cNvSpPr>
              <p:nvPr/>
            </p:nvSpPr>
            <p:spPr bwMode="auto">
              <a:xfrm>
                <a:off x="4928" y="1962"/>
                <a:ext cx="140" cy="142"/>
              </a:xfrm>
              <a:prstGeom prst="ellipse">
                <a:avLst/>
              </a:prstGeom>
              <a:solidFill>
                <a:srgbClr val="00B050"/>
              </a:solidFill>
              <a:ln w="9525">
                <a:solidFill>
                  <a:srgbClr val="C00000"/>
                </a:solidFill>
                <a:round/>
                <a:headEnd/>
                <a:tailEnd/>
              </a:ln>
              <a:effectLst>
                <a:innerShdw blurRad="63500" dist="50800">
                  <a:prstClr val="black">
                    <a:alpha val="50000"/>
                  </a:prstClr>
                </a:innerShdw>
              </a:effectLst>
            </p:spPr>
            <p:txBody>
              <a:bodyPr wrap="none" anchor="ctr"/>
              <a:lstStyle/>
              <a:p>
                <a:pPr>
                  <a:defRPr/>
                </a:pPr>
                <a:endParaRPr kumimoji="0" lang="zh-CN" altLang="en-US" sz="1800" b="1">
                  <a:ea typeface="宋体" pitchFamily="2" charset="-122"/>
                </a:endParaRPr>
              </a:p>
            </p:txBody>
          </p:sp>
        </p:grpSp>
        <p:grpSp>
          <p:nvGrpSpPr>
            <p:cNvPr id="35917" name="Group 69"/>
            <p:cNvGrpSpPr>
              <a:grpSpLocks/>
            </p:cNvGrpSpPr>
            <p:nvPr/>
          </p:nvGrpSpPr>
          <p:grpSpPr bwMode="auto">
            <a:xfrm>
              <a:off x="2958" y="1706"/>
              <a:ext cx="565" cy="271"/>
              <a:chOff x="4763" y="2203"/>
              <a:chExt cx="627" cy="288"/>
            </a:xfrm>
          </p:grpSpPr>
          <p:sp>
            <p:nvSpPr>
              <p:cNvPr id="35922" name="Text Box 70"/>
              <p:cNvSpPr txBox="1">
                <a:spLocks noChangeArrowheads="1"/>
              </p:cNvSpPr>
              <p:nvPr/>
            </p:nvSpPr>
            <p:spPr bwMode="auto">
              <a:xfrm>
                <a:off x="4840" y="2203"/>
                <a:ext cx="550" cy="2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rPr>
                  <a:t>C</a:t>
                </a:r>
                <a:r>
                  <a:rPr lang="en-US" altLang="zh-CN" sz="1500" b="1">
                    <a:ea typeface="宋体" pitchFamily="2" charset="-122"/>
                  </a:rPr>
                  <a:t>(</a:t>
                </a:r>
                <a:r>
                  <a:rPr lang="en-US" altLang="zh-CN" sz="1500" b="1" i="1">
                    <a:ea typeface="宋体" pitchFamily="2" charset="-122"/>
                  </a:rPr>
                  <a:t>x,y,z</a:t>
                </a:r>
                <a:r>
                  <a:rPr lang="en-US" altLang="zh-CN" sz="1500" b="1">
                    <a:ea typeface="宋体" pitchFamily="2" charset="-122"/>
                  </a:rPr>
                  <a:t>)</a:t>
                </a:r>
              </a:p>
            </p:txBody>
          </p:sp>
          <p:sp>
            <p:nvSpPr>
              <p:cNvPr id="35923" name="Oval 71"/>
              <p:cNvSpPr>
                <a:spLocks noChangeArrowheads="1"/>
              </p:cNvSpPr>
              <p:nvPr/>
            </p:nvSpPr>
            <p:spPr bwMode="auto">
              <a:xfrm>
                <a:off x="4763" y="2235"/>
                <a:ext cx="64" cy="64"/>
              </a:xfrm>
              <a:prstGeom prst="ellipse">
                <a:avLst/>
              </a:prstGeom>
              <a:solidFill>
                <a:schemeClr val="bg1"/>
              </a:solidFill>
              <a:ln w="9525">
                <a:solidFill>
                  <a:schemeClr val="tx1"/>
                </a:solidFill>
                <a:round/>
                <a:headEnd/>
                <a:tailEnd/>
              </a:ln>
            </p:spPr>
            <p:txBody>
              <a:bodyPr wrap="none" anchor="ctr"/>
              <a:lstStyle/>
              <a:p>
                <a:endParaRPr kumimoji="0" lang="zh-CN" altLang="zh-CN" sz="1800" b="1">
                  <a:ea typeface="宋体" pitchFamily="2" charset="-122"/>
                </a:endParaRPr>
              </a:p>
            </p:txBody>
          </p:sp>
        </p:grpSp>
        <p:sp>
          <p:nvSpPr>
            <p:cNvPr id="61493" name="Freeform 72"/>
            <p:cNvSpPr>
              <a:spLocks/>
            </p:cNvSpPr>
            <p:nvPr/>
          </p:nvSpPr>
          <p:spPr bwMode="auto">
            <a:xfrm>
              <a:off x="2338" y="2201"/>
              <a:ext cx="229" cy="242"/>
            </a:xfrm>
            <a:custGeom>
              <a:avLst/>
              <a:gdLst>
                <a:gd name="T0" fmla="*/ 255 w 255"/>
                <a:gd name="T1" fmla="*/ 0 h 227"/>
                <a:gd name="T2" fmla="*/ 170 w 255"/>
                <a:gd name="T3" fmla="*/ 24802 h 227"/>
                <a:gd name="T4" fmla="*/ 0 w 255"/>
                <a:gd name="T5" fmla="*/ 39987 h 227"/>
                <a:gd name="T6" fmla="*/ 0 60000 65536"/>
                <a:gd name="T7" fmla="*/ 0 60000 65536"/>
                <a:gd name="T8" fmla="*/ 0 60000 65536"/>
                <a:gd name="T9" fmla="*/ 0 w 255"/>
                <a:gd name="T10" fmla="*/ 0 h 227"/>
                <a:gd name="T11" fmla="*/ 255 w 255"/>
                <a:gd name="T12" fmla="*/ 227 h 227"/>
              </a:gdLst>
              <a:ahLst/>
              <a:cxnLst>
                <a:cxn ang="T6">
                  <a:pos x="T0" y="T1"/>
                </a:cxn>
                <a:cxn ang="T7">
                  <a:pos x="T2" y="T3"/>
                </a:cxn>
                <a:cxn ang="T8">
                  <a:pos x="T4" y="T5"/>
                </a:cxn>
              </a:cxnLst>
              <a:rect l="T9" t="T10" r="T11" b="T12"/>
              <a:pathLst>
                <a:path w="255" h="227">
                  <a:moveTo>
                    <a:pt x="255" y="0"/>
                  </a:moveTo>
                  <a:cubicBezTo>
                    <a:pt x="233" y="51"/>
                    <a:pt x="212" y="103"/>
                    <a:pt x="170" y="141"/>
                  </a:cubicBezTo>
                  <a:cubicBezTo>
                    <a:pt x="128" y="179"/>
                    <a:pt x="64" y="203"/>
                    <a:pt x="0" y="227"/>
                  </a:cubicBezTo>
                </a:path>
              </a:pathLst>
            </a:custGeom>
            <a:noFill/>
            <a:ln w="19050">
              <a:solidFill>
                <a:schemeClr val="accent6">
                  <a:lumMod val="75000"/>
                </a:schemeClr>
              </a:solidFill>
              <a:round/>
              <a:headEnd type="triangle" w="med" len="med"/>
              <a:tailEnd/>
            </a:ln>
            <a:extLst/>
          </p:spPr>
          <p:txBody>
            <a:bodyPr/>
            <a:lstStyle/>
            <a:p>
              <a:pPr>
                <a:defRPr/>
              </a:pPr>
              <a:endParaRPr kumimoji="0" lang="zh-CN" altLang="en-US" sz="1800" b="1">
                <a:ea typeface="宋体" pitchFamily="2" charset="-122"/>
              </a:endParaRPr>
            </a:p>
          </p:txBody>
        </p:sp>
        <p:sp>
          <p:nvSpPr>
            <p:cNvPr id="61494" name="Freeform 73"/>
            <p:cNvSpPr>
              <a:spLocks/>
            </p:cNvSpPr>
            <p:nvPr/>
          </p:nvSpPr>
          <p:spPr bwMode="auto">
            <a:xfrm>
              <a:off x="2592" y="2176"/>
              <a:ext cx="77" cy="160"/>
            </a:xfrm>
            <a:custGeom>
              <a:avLst/>
              <a:gdLst>
                <a:gd name="T0" fmla="*/ 1 w 114"/>
                <a:gd name="T1" fmla="*/ 170 h 170"/>
                <a:gd name="T2" fmla="*/ 1 w 114"/>
                <a:gd name="T3" fmla="*/ 57 h 170"/>
                <a:gd name="T4" fmla="*/ 0 w 114"/>
                <a:gd name="T5" fmla="*/ 0 h 170"/>
                <a:gd name="T6" fmla="*/ 0 60000 65536"/>
                <a:gd name="T7" fmla="*/ 0 60000 65536"/>
                <a:gd name="T8" fmla="*/ 0 60000 65536"/>
                <a:gd name="T9" fmla="*/ 0 w 114"/>
                <a:gd name="T10" fmla="*/ 0 h 170"/>
                <a:gd name="T11" fmla="*/ 114 w 114"/>
                <a:gd name="T12" fmla="*/ 170 h 170"/>
              </a:gdLst>
              <a:ahLst/>
              <a:cxnLst>
                <a:cxn ang="T6">
                  <a:pos x="T0" y="T1"/>
                </a:cxn>
                <a:cxn ang="T7">
                  <a:pos x="T2" y="T3"/>
                </a:cxn>
                <a:cxn ang="T8">
                  <a:pos x="T4" y="T5"/>
                </a:cxn>
              </a:cxnLst>
              <a:rect l="T9" t="T10" r="T11" b="T12"/>
              <a:pathLst>
                <a:path w="114" h="170">
                  <a:moveTo>
                    <a:pt x="114" y="170"/>
                  </a:moveTo>
                  <a:cubicBezTo>
                    <a:pt x="109" y="127"/>
                    <a:pt x="104" y="85"/>
                    <a:pt x="85" y="57"/>
                  </a:cubicBezTo>
                  <a:cubicBezTo>
                    <a:pt x="66" y="29"/>
                    <a:pt x="33" y="14"/>
                    <a:pt x="0" y="0"/>
                  </a:cubicBezTo>
                </a:path>
              </a:pathLst>
            </a:custGeom>
            <a:noFill/>
            <a:ln w="19050">
              <a:solidFill>
                <a:schemeClr val="accent6">
                  <a:lumMod val="75000"/>
                </a:schemeClr>
              </a:solidFill>
              <a:round/>
              <a:headEnd/>
              <a:tailEnd type="triangle" w="med" len="med"/>
            </a:ln>
            <a:extLst/>
          </p:spPr>
          <p:txBody>
            <a:bodyPr/>
            <a:lstStyle/>
            <a:p>
              <a:pPr>
                <a:defRPr/>
              </a:pPr>
              <a:endParaRPr kumimoji="0" lang="zh-CN" altLang="en-US" sz="1800" b="1">
                <a:ea typeface="宋体" pitchFamily="2" charset="-122"/>
              </a:endParaRPr>
            </a:p>
          </p:txBody>
        </p:sp>
        <p:sp>
          <p:nvSpPr>
            <p:cNvPr id="61495" name="Freeform 74"/>
            <p:cNvSpPr>
              <a:spLocks/>
            </p:cNvSpPr>
            <p:nvPr/>
          </p:nvSpPr>
          <p:spPr bwMode="auto">
            <a:xfrm>
              <a:off x="2439" y="2121"/>
              <a:ext cx="178" cy="28"/>
            </a:xfrm>
            <a:custGeom>
              <a:avLst/>
              <a:gdLst>
                <a:gd name="T0" fmla="*/ 0 w 170"/>
                <a:gd name="T1" fmla="*/ 0 h 90"/>
                <a:gd name="T2" fmla="*/ 59680 w 170"/>
                <a:gd name="T3" fmla="*/ 0 h 90"/>
                <a:gd name="T4" fmla="*/ 119926 w 170"/>
                <a:gd name="T5" fmla="*/ 0 h 90"/>
                <a:gd name="T6" fmla="*/ 0 60000 65536"/>
                <a:gd name="T7" fmla="*/ 0 60000 65536"/>
                <a:gd name="T8" fmla="*/ 0 60000 65536"/>
                <a:gd name="T9" fmla="*/ 0 w 170"/>
                <a:gd name="T10" fmla="*/ 0 h 90"/>
                <a:gd name="T11" fmla="*/ 170 w 170"/>
                <a:gd name="T12" fmla="*/ 90 h 90"/>
              </a:gdLst>
              <a:ahLst/>
              <a:cxnLst>
                <a:cxn ang="T6">
                  <a:pos x="T0" y="T1"/>
                </a:cxn>
                <a:cxn ang="T7">
                  <a:pos x="T2" y="T3"/>
                </a:cxn>
                <a:cxn ang="T8">
                  <a:pos x="T4" y="T5"/>
                </a:cxn>
              </a:cxnLst>
              <a:rect l="T9" t="T10" r="T11" b="T12"/>
              <a:pathLst>
                <a:path w="170" h="90">
                  <a:moveTo>
                    <a:pt x="0" y="61"/>
                  </a:moveTo>
                  <a:cubicBezTo>
                    <a:pt x="28" y="30"/>
                    <a:pt x="57" y="0"/>
                    <a:pt x="85" y="5"/>
                  </a:cubicBezTo>
                  <a:cubicBezTo>
                    <a:pt x="113" y="10"/>
                    <a:pt x="141" y="50"/>
                    <a:pt x="170" y="90"/>
                  </a:cubicBezTo>
                </a:path>
              </a:pathLst>
            </a:custGeom>
            <a:noFill/>
            <a:ln w="19050">
              <a:solidFill>
                <a:schemeClr val="accent6">
                  <a:lumMod val="75000"/>
                </a:schemeClr>
              </a:solidFill>
              <a:round/>
              <a:headEnd/>
              <a:tailEnd type="triangle" w="med" len="med"/>
            </a:ln>
            <a:extLst/>
          </p:spPr>
          <p:txBody>
            <a:bodyPr/>
            <a:lstStyle/>
            <a:p>
              <a:pPr>
                <a:defRPr/>
              </a:pPr>
              <a:endParaRPr kumimoji="0" lang="zh-CN" altLang="en-US" sz="1800" b="1">
                <a:ea typeface="宋体" pitchFamily="2" charset="-122"/>
              </a:endParaRPr>
            </a:p>
          </p:txBody>
        </p:sp>
        <p:sp>
          <p:nvSpPr>
            <p:cNvPr id="35921" name="Rectangle 75"/>
            <p:cNvSpPr>
              <a:spLocks noChangeArrowheads="1"/>
            </p:cNvSpPr>
            <p:nvPr/>
          </p:nvSpPr>
          <p:spPr bwMode="auto">
            <a:xfrm>
              <a:off x="2667" y="2114"/>
              <a:ext cx="183"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zh-CN" sz="1500" b="1" i="1">
                  <a:ea typeface="宋体" pitchFamily="2" charset="-122"/>
                  <a:sym typeface="Symbol" pitchFamily="18" charset="2"/>
                </a:rPr>
                <a:t></a:t>
              </a:r>
            </a:p>
          </p:txBody>
        </p:sp>
      </p:grpSp>
      <p:grpSp>
        <p:nvGrpSpPr>
          <p:cNvPr id="5" name="Group 110"/>
          <p:cNvGrpSpPr>
            <a:grpSpLocks/>
          </p:cNvGrpSpPr>
          <p:nvPr/>
        </p:nvGrpSpPr>
        <p:grpSpPr bwMode="auto">
          <a:xfrm>
            <a:off x="6021388" y="1881188"/>
            <a:ext cx="2060575" cy="1498600"/>
            <a:chOff x="3793" y="1430"/>
            <a:chExt cx="1477" cy="1409"/>
          </a:xfrm>
        </p:grpSpPr>
        <p:grpSp>
          <p:nvGrpSpPr>
            <p:cNvPr id="35876" name="Group 84"/>
            <p:cNvGrpSpPr>
              <a:grpSpLocks/>
            </p:cNvGrpSpPr>
            <p:nvPr/>
          </p:nvGrpSpPr>
          <p:grpSpPr bwMode="auto">
            <a:xfrm>
              <a:off x="4278" y="1430"/>
              <a:ext cx="992" cy="699"/>
              <a:chOff x="3674" y="2227"/>
              <a:chExt cx="992" cy="699"/>
            </a:xfrm>
          </p:grpSpPr>
          <p:sp>
            <p:nvSpPr>
              <p:cNvPr id="35897" name="Oval 85"/>
              <p:cNvSpPr>
                <a:spLocks noChangeArrowheads="1"/>
              </p:cNvSpPr>
              <p:nvPr/>
            </p:nvSpPr>
            <p:spPr bwMode="auto">
              <a:xfrm>
                <a:off x="3674" y="2227"/>
                <a:ext cx="142" cy="142"/>
              </a:xfrm>
              <a:prstGeom prst="ellipse">
                <a:avLst/>
              </a:prstGeom>
              <a:gradFill rotWithShape="1">
                <a:gsLst>
                  <a:gs pos="0">
                    <a:srgbClr val="FF00FF"/>
                  </a:gs>
                  <a:gs pos="100000">
                    <a:srgbClr val="760076"/>
                  </a:gs>
                </a:gsLst>
                <a:path path="shape">
                  <a:fillToRect l="50000" t="50000" r="50000" b="50000"/>
                </a:path>
              </a:gradFill>
              <a:ln w="9525">
                <a:solidFill>
                  <a:schemeClr val="tx1"/>
                </a:solidFill>
                <a:round/>
                <a:headEnd/>
                <a:tailEnd/>
              </a:ln>
            </p:spPr>
            <p:txBody>
              <a:bodyPr wrap="none" anchor="ctr"/>
              <a:lstStyle/>
              <a:p>
                <a:endParaRPr kumimoji="0" lang="zh-CN" altLang="zh-CN" sz="1800" b="1">
                  <a:ea typeface="宋体" pitchFamily="2" charset="-122"/>
                </a:endParaRPr>
              </a:p>
            </p:txBody>
          </p:sp>
          <p:sp>
            <p:nvSpPr>
              <p:cNvPr id="34849" name="Oval 86"/>
              <p:cNvSpPr>
                <a:spLocks noChangeArrowheads="1"/>
              </p:cNvSpPr>
              <p:nvPr/>
            </p:nvSpPr>
            <p:spPr bwMode="auto">
              <a:xfrm>
                <a:off x="3844" y="2784"/>
                <a:ext cx="142" cy="142"/>
              </a:xfrm>
              <a:prstGeom prst="ellipse">
                <a:avLst/>
              </a:prstGeom>
              <a:gradFill rotWithShape="1">
                <a:gsLst>
                  <a:gs pos="0">
                    <a:srgbClr val="FFFF00"/>
                  </a:gs>
                  <a:gs pos="100000">
                    <a:srgbClr val="767600"/>
                  </a:gs>
                </a:gsLst>
                <a:path path="shape">
                  <a:fillToRect l="50000" t="50000" r="50000" b="50000"/>
                </a:path>
              </a:gradFill>
              <a:ln w="9525">
                <a:solidFill>
                  <a:schemeClr val="tx1"/>
                </a:solidFill>
                <a:round/>
                <a:headEnd/>
                <a:tailEnd/>
              </a:ln>
              <a:effectLst>
                <a:innerShdw blurRad="63500" dist="50800" dir="16200000">
                  <a:prstClr val="black">
                    <a:alpha val="50000"/>
                  </a:prstClr>
                </a:innerShdw>
              </a:effectLst>
            </p:spPr>
            <p:txBody>
              <a:bodyPr wrap="none" anchor="ctr"/>
              <a:lstStyle/>
              <a:p>
                <a:pPr>
                  <a:defRPr/>
                </a:pPr>
                <a:endParaRPr kumimoji="0" lang="zh-CN" altLang="en-US" sz="1800" b="1">
                  <a:ea typeface="宋体" pitchFamily="2" charset="-122"/>
                </a:endParaRPr>
              </a:p>
            </p:txBody>
          </p:sp>
          <p:sp>
            <p:nvSpPr>
              <p:cNvPr id="35901" name="Oval 87"/>
              <p:cNvSpPr>
                <a:spLocks noChangeArrowheads="1"/>
              </p:cNvSpPr>
              <p:nvPr/>
            </p:nvSpPr>
            <p:spPr bwMode="auto">
              <a:xfrm>
                <a:off x="4524" y="2539"/>
                <a:ext cx="142" cy="142"/>
              </a:xfrm>
              <a:prstGeom prst="ellipse">
                <a:avLst/>
              </a:prstGeom>
              <a:gradFill rotWithShape="1">
                <a:gsLst>
                  <a:gs pos="0">
                    <a:srgbClr val="66FF33"/>
                  </a:gs>
                  <a:gs pos="100000">
                    <a:srgbClr val="2F7618"/>
                  </a:gs>
                </a:gsLst>
                <a:path path="shape">
                  <a:fillToRect l="50000" t="50000" r="50000" b="50000"/>
                </a:path>
              </a:gradFill>
              <a:ln w="9525">
                <a:solidFill>
                  <a:schemeClr val="tx1"/>
                </a:solidFill>
                <a:round/>
                <a:headEnd/>
                <a:tailEnd/>
              </a:ln>
            </p:spPr>
            <p:txBody>
              <a:bodyPr wrap="none" anchor="ctr"/>
              <a:lstStyle/>
              <a:p>
                <a:endParaRPr kumimoji="0" lang="zh-CN" altLang="zh-CN" sz="1800" b="1">
                  <a:ea typeface="宋体" pitchFamily="2" charset="-122"/>
                </a:endParaRPr>
              </a:p>
            </p:txBody>
          </p:sp>
          <p:sp>
            <p:nvSpPr>
              <p:cNvPr id="35902" name="Line 88"/>
              <p:cNvSpPr>
                <a:spLocks noChangeShapeType="1"/>
              </p:cNvSpPr>
              <p:nvPr/>
            </p:nvSpPr>
            <p:spPr bwMode="auto">
              <a:xfrm flipV="1">
                <a:off x="3986" y="2642"/>
                <a:ext cx="538" cy="198"/>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5903" name="Line 89"/>
              <p:cNvSpPr>
                <a:spLocks noChangeShapeType="1"/>
              </p:cNvSpPr>
              <p:nvPr/>
            </p:nvSpPr>
            <p:spPr bwMode="auto">
              <a:xfrm flipH="1" flipV="1">
                <a:off x="3759" y="2358"/>
                <a:ext cx="113" cy="454"/>
              </a:xfrm>
              <a:prstGeom prst="line">
                <a:avLst/>
              </a:prstGeom>
              <a:noFill/>
              <a:ln w="9525">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5904" name="Line 90"/>
              <p:cNvSpPr>
                <a:spLocks noChangeShapeType="1"/>
              </p:cNvSpPr>
              <p:nvPr/>
            </p:nvSpPr>
            <p:spPr bwMode="auto">
              <a:xfrm>
                <a:off x="3816" y="2330"/>
                <a:ext cx="737" cy="227"/>
              </a:xfrm>
              <a:prstGeom prst="line">
                <a:avLst/>
              </a:prstGeom>
              <a:noFill/>
              <a:ln w="12700">
                <a:solidFill>
                  <a:schemeClr val="tx1"/>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grpSp>
        <p:sp>
          <p:nvSpPr>
            <p:cNvPr id="35877" name="Line 91"/>
            <p:cNvSpPr>
              <a:spLocks noChangeShapeType="1"/>
            </p:cNvSpPr>
            <p:nvPr/>
          </p:nvSpPr>
          <p:spPr bwMode="auto">
            <a:xfrm>
              <a:off x="4675" y="1827"/>
              <a:ext cx="426" cy="340"/>
            </a:xfrm>
            <a:prstGeom prst="line">
              <a:avLst/>
            </a:prstGeom>
            <a:noFill/>
            <a:ln w="19050">
              <a:solidFill>
                <a:srgbClr val="C00000"/>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35878" name="Line 92"/>
            <p:cNvSpPr>
              <a:spLocks noChangeShapeType="1"/>
            </p:cNvSpPr>
            <p:nvPr/>
          </p:nvSpPr>
          <p:spPr bwMode="auto">
            <a:xfrm>
              <a:off x="4704" y="1799"/>
              <a:ext cx="453" cy="0"/>
            </a:xfrm>
            <a:prstGeom prst="line">
              <a:avLst/>
            </a:prstGeom>
            <a:noFill/>
            <a:ln w="12700">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5879" name="Freeform 93"/>
            <p:cNvSpPr>
              <a:spLocks/>
            </p:cNvSpPr>
            <p:nvPr/>
          </p:nvSpPr>
          <p:spPr bwMode="auto">
            <a:xfrm>
              <a:off x="4789" y="1799"/>
              <a:ext cx="113" cy="113"/>
            </a:xfrm>
            <a:custGeom>
              <a:avLst/>
              <a:gdLst>
                <a:gd name="T0" fmla="*/ 4 w 128"/>
                <a:gd name="T1" fmla="*/ 0 h 170"/>
                <a:gd name="T2" fmla="*/ 4 w 128"/>
                <a:gd name="T3" fmla="*/ 1 h 170"/>
                <a:gd name="T4" fmla="*/ 0 w 128"/>
                <a:gd name="T5" fmla="*/ 1 h 170"/>
                <a:gd name="T6" fmla="*/ 0 60000 65536"/>
                <a:gd name="T7" fmla="*/ 0 60000 65536"/>
                <a:gd name="T8" fmla="*/ 0 60000 65536"/>
                <a:gd name="T9" fmla="*/ 0 w 128"/>
                <a:gd name="T10" fmla="*/ 0 h 170"/>
                <a:gd name="T11" fmla="*/ 128 w 128"/>
                <a:gd name="T12" fmla="*/ 170 h 170"/>
              </a:gdLst>
              <a:ahLst/>
              <a:cxnLst>
                <a:cxn ang="T6">
                  <a:pos x="T0" y="T1"/>
                </a:cxn>
                <a:cxn ang="T7">
                  <a:pos x="T2" y="T3"/>
                </a:cxn>
                <a:cxn ang="T8">
                  <a:pos x="T4" y="T5"/>
                </a:cxn>
              </a:cxnLst>
              <a:rect l="T9" t="T10" r="T11" b="T12"/>
              <a:pathLst>
                <a:path w="128" h="170">
                  <a:moveTo>
                    <a:pt x="85" y="0"/>
                  </a:moveTo>
                  <a:cubicBezTo>
                    <a:pt x="106" y="43"/>
                    <a:pt x="128" y="86"/>
                    <a:pt x="114" y="114"/>
                  </a:cubicBezTo>
                  <a:cubicBezTo>
                    <a:pt x="100" y="142"/>
                    <a:pt x="50" y="156"/>
                    <a:pt x="0" y="170"/>
                  </a:cubicBezTo>
                </a:path>
              </a:pathLst>
            </a:custGeom>
            <a:noFill/>
            <a:ln w="19050">
              <a:solidFill>
                <a:srgbClr val="FF00FF"/>
              </a:solidFill>
              <a:round/>
              <a:headEnd type="triangle" w="med" len="me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35880" name="Line 94"/>
            <p:cNvSpPr>
              <a:spLocks noChangeShapeType="1"/>
            </p:cNvSpPr>
            <p:nvPr/>
          </p:nvSpPr>
          <p:spPr bwMode="auto">
            <a:xfrm>
              <a:off x="4052" y="2422"/>
              <a:ext cx="934"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35881" name="Line 95"/>
            <p:cNvSpPr>
              <a:spLocks noChangeShapeType="1"/>
            </p:cNvSpPr>
            <p:nvPr/>
          </p:nvSpPr>
          <p:spPr bwMode="auto">
            <a:xfrm flipH="1">
              <a:off x="3793" y="2422"/>
              <a:ext cx="259" cy="259"/>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35882" name="Line 96"/>
            <p:cNvSpPr>
              <a:spLocks noChangeShapeType="1"/>
            </p:cNvSpPr>
            <p:nvPr/>
          </p:nvSpPr>
          <p:spPr bwMode="auto">
            <a:xfrm flipV="1">
              <a:off x="4052" y="1686"/>
              <a:ext cx="0" cy="753"/>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35883" name="Text Box 97"/>
            <p:cNvSpPr txBox="1">
              <a:spLocks noChangeArrowheads="1"/>
            </p:cNvSpPr>
            <p:nvPr/>
          </p:nvSpPr>
          <p:spPr bwMode="auto">
            <a:xfrm>
              <a:off x="3833" y="2568"/>
              <a:ext cx="180"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rPr>
                <a:t>x</a:t>
              </a:r>
            </a:p>
          </p:txBody>
        </p:sp>
        <p:sp>
          <p:nvSpPr>
            <p:cNvPr id="35884" name="Text Box 98"/>
            <p:cNvSpPr txBox="1">
              <a:spLocks noChangeArrowheads="1"/>
            </p:cNvSpPr>
            <p:nvPr/>
          </p:nvSpPr>
          <p:spPr bwMode="auto">
            <a:xfrm>
              <a:off x="4916" y="2350"/>
              <a:ext cx="170"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rPr>
                <a:t>y</a:t>
              </a:r>
            </a:p>
          </p:txBody>
        </p:sp>
        <p:sp>
          <p:nvSpPr>
            <p:cNvPr id="35885" name="Text Box 99"/>
            <p:cNvSpPr txBox="1">
              <a:spLocks noChangeArrowheads="1"/>
            </p:cNvSpPr>
            <p:nvPr/>
          </p:nvSpPr>
          <p:spPr bwMode="auto">
            <a:xfrm>
              <a:off x="3889" y="1629"/>
              <a:ext cx="164"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rPr>
                <a:t>z</a:t>
              </a:r>
            </a:p>
          </p:txBody>
        </p:sp>
        <p:sp>
          <p:nvSpPr>
            <p:cNvPr id="35886" name="Text Box 100"/>
            <p:cNvSpPr txBox="1">
              <a:spLocks noChangeArrowheads="1"/>
            </p:cNvSpPr>
            <p:nvPr/>
          </p:nvSpPr>
          <p:spPr bwMode="auto">
            <a:xfrm>
              <a:off x="4023" y="1925"/>
              <a:ext cx="212"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宋体" pitchFamily="2" charset="-122"/>
                  <a:sym typeface="Symbol" pitchFamily="18" charset="2"/>
                </a:rPr>
                <a:t></a:t>
              </a:r>
            </a:p>
          </p:txBody>
        </p:sp>
        <p:sp>
          <p:nvSpPr>
            <p:cNvPr id="35887" name="Line 101"/>
            <p:cNvSpPr>
              <a:spLocks noChangeShapeType="1"/>
            </p:cNvSpPr>
            <p:nvPr/>
          </p:nvSpPr>
          <p:spPr bwMode="auto">
            <a:xfrm flipH="1">
              <a:off x="4023" y="1515"/>
              <a:ext cx="935" cy="935"/>
            </a:xfrm>
            <a:prstGeom prst="line">
              <a:avLst/>
            </a:prstGeom>
            <a:noFill/>
            <a:ln w="19050">
              <a:solidFill>
                <a:srgbClr val="0000FF"/>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35888" name="Line 102"/>
            <p:cNvSpPr>
              <a:spLocks noChangeShapeType="1"/>
            </p:cNvSpPr>
            <p:nvPr/>
          </p:nvSpPr>
          <p:spPr bwMode="auto">
            <a:xfrm>
              <a:off x="4052" y="2422"/>
              <a:ext cx="623" cy="322"/>
            </a:xfrm>
            <a:prstGeom prst="line">
              <a:avLst/>
            </a:prstGeom>
            <a:noFill/>
            <a:ln w="12700">
              <a:solidFill>
                <a:schemeClr val="tx1"/>
              </a:solidFill>
              <a:prstDash val="lg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5889" name="Line 103"/>
            <p:cNvSpPr>
              <a:spLocks noChangeShapeType="1"/>
            </p:cNvSpPr>
            <p:nvPr/>
          </p:nvSpPr>
          <p:spPr bwMode="auto">
            <a:xfrm>
              <a:off x="4676" y="1827"/>
              <a:ext cx="0" cy="907"/>
            </a:xfrm>
            <a:prstGeom prst="line">
              <a:avLst/>
            </a:prstGeom>
            <a:noFill/>
            <a:ln w="12700">
              <a:solidFill>
                <a:schemeClr val="tx1"/>
              </a:solidFill>
              <a:prstDash val="lg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5890" name="Text Box 104"/>
            <p:cNvSpPr txBox="1">
              <a:spLocks noChangeArrowheads="1"/>
            </p:cNvSpPr>
            <p:nvPr/>
          </p:nvSpPr>
          <p:spPr bwMode="auto">
            <a:xfrm>
              <a:off x="3910" y="2435"/>
              <a:ext cx="297"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lang="en-US" altLang="zh-CN" sz="1500" b="1" i="1">
                  <a:ea typeface="宋体" pitchFamily="2" charset="-122"/>
                  <a:sym typeface="Symbol" pitchFamily="18" charset="2"/>
                </a:rPr>
                <a:t></a:t>
              </a:r>
            </a:p>
          </p:txBody>
        </p:sp>
        <p:sp>
          <p:nvSpPr>
            <p:cNvPr id="35891" name="Oval 105"/>
            <p:cNvSpPr>
              <a:spLocks noChangeArrowheads="1"/>
            </p:cNvSpPr>
            <p:nvPr/>
          </p:nvSpPr>
          <p:spPr bwMode="auto">
            <a:xfrm>
              <a:off x="4625" y="1773"/>
              <a:ext cx="69" cy="69"/>
            </a:xfrm>
            <a:prstGeom prst="ellipse">
              <a:avLst/>
            </a:prstGeom>
            <a:solidFill>
              <a:schemeClr val="bg1"/>
            </a:solidFill>
            <a:ln w="9525">
              <a:solidFill>
                <a:schemeClr val="tx1"/>
              </a:solidFill>
              <a:round/>
              <a:headEnd/>
              <a:tailEnd/>
            </a:ln>
          </p:spPr>
          <p:txBody>
            <a:bodyPr wrap="none" anchor="ctr"/>
            <a:lstStyle/>
            <a:p>
              <a:endParaRPr kumimoji="0" lang="zh-CN" altLang="zh-CN" sz="1800" b="1">
                <a:ea typeface="宋体" pitchFamily="2" charset="-122"/>
              </a:endParaRPr>
            </a:p>
          </p:txBody>
        </p:sp>
        <p:sp>
          <p:nvSpPr>
            <p:cNvPr id="61467" name="Freeform 106"/>
            <p:cNvSpPr>
              <a:spLocks/>
            </p:cNvSpPr>
            <p:nvPr/>
          </p:nvSpPr>
          <p:spPr bwMode="auto">
            <a:xfrm>
              <a:off x="3939" y="2279"/>
              <a:ext cx="255" cy="257"/>
            </a:xfrm>
            <a:custGeom>
              <a:avLst/>
              <a:gdLst>
                <a:gd name="T0" fmla="*/ 255 w 255"/>
                <a:gd name="T1" fmla="*/ 0 h 227"/>
                <a:gd name="T2" fmla="*/ 170 w 255"/>
                <a:gd name="T3" fmla="*/ 24802 h 227"/>
                <a:gd name="T4" fmla="*/ 0 w 255"/>
                <a:gd name="T5" fmla="*/ 39987 h 227"/>
                <a:gd name="T6" fmla="*/ 0 60000 65536"/>
                <a:gd name="T7" fmla="*/ 0 60000 65536"/>
                <a:gd name="T8" fmla="*/ 0 60000 65536"/>
                <a:gd name="T9" fmla="*/ 0 w 255"/>
                <a:gd name="T10" fmla="*/ 0 h 227"/>
                <a:gd name="T11" fmla="*/ 255 w 255"/>
                <a:gd name="T12" fmla="*/ 227 h 227"/>
              </a:gdLst>
              <a:ahLst/>
              <a:cxnLst>
                <a:cxn ang="T6">
                  <a:pos x="T0" y="T1"/>
                </a:cxn>
                <a:cxn ang="T7">
                  <a:pos x="T2" y="T3"/>
                </a:cxn>
                <a:cxn ang="T8">
                  <a:pos x="T4" y="T5"/>
                </a:cxn>
              </a:cxnLst>
              <a:rect l="T9" t="T10" r="T11" b="T12"/>
              <a:pathLst>
                <a:path w="255" h="227">
                  <a:moveTo>
                    <a:pt x="255" y="0"/>
                  </a:moveTo>
                  <a:cubicBezTo>
                    <a:pt x="233" y="51"/>
                    <a:pt x="212" y="103"/>
                    <a:pt x="170" y="141"/>
                  </a:cubicBezTo>
                  <a:cubicBezTo>
                    <a:pt x="128" y="179"/>
                    <a:pt x="64" y="203"/>
                    <a:pt x="0" y="227"/>
                  </a:cubicBezTo>
                </a:path>
              </a:pathLst>
            </a:custGeom>
            <a:noFill/>
            <a:ln w="19050">
              <a:solidFill>
                <a:schemeClr val="accent6">
                  <a:lumMod val="75000"/>
                </a:schemeClr>
              </a:solidFill>
              <a:round/>
              <a:headEnd type="triangle" w="med" len="med"/>
              <a:tailEnd/>
            </a:ln>
            <a:extLst/>
          </p:spPr>
          <p:txBody>
            <a:bodyPr/>
            <a:lstStyle/>
            <a:p>
              <a:pPr>
                <a:defRPr/>
              </a:pPr>
              <a:endParaRPr kumimoji="0" lang="zh-CN" altLang="en-US" sz="1800" b="1">
                <a:ea typeface="宋体" pitchFamily="2" charset="-122"/>
              </a:endParaRPr>
            </a:p>
          </p:txBody>
        </p:sp>
        <p:sp>
          <p:nvSpPr>
            <p:cNvPr id="61468" name="Freeform 107"/>
            <p:cNvSpPr>
              <a:spLocks/>
            </p:cNvSpPr>
            <p:nvPr/>
          </p:nvSpPr>
          <p:spPr bwMode="auto">
            <a:xfrm>
              <a:off x="4222" y="2252"/>
              <a:ext cx="85" cy="169"/>
            </a:xfrm>
            <a:custGeom>
              <a:avLst/>
              <a:gdLst>
                <a:gd name="T0" fmla="*/ 1 w 114"/>
                <a:gd name="T1" fmla="*/ 170 h 170"/>
                <a:gd name="T2" fmla="*/ 1 w 114"/>
                <a:gd name="T3" fmla="*/ 57 h 170"/>
                <a:gd name="T4" fmla="*/ 0 w 114"/>
                <a:gd name="T5" fmla="*/ 0 h 170"/>
                <a:gd name="T6" fmla="*/ 0 60000 65536"/>
                <a:gd name="T7" fmla="*/ 0 60000 65536"/>
                <a:gd name="T8" fmla="*/ 0 60000 65536"/>
                <a:gd name="T9" fmla="*/ 0 w 114"/>
                <a:gd name="T10" fmla="*/ 0 h 170"/>
                <a:gd name="T11" fmla="*/ 114 w 114"/>
                <a:gd name="T12" fmla="*/ 170 h 170"/>
              </a:gdLst>
              <a:ahLst/>
              <a:cxnLst>
                <a:cxn ang="T6">
                  <a:pos x="T0" y="T1"/>
                </a:cxn>
                <a:cxn ang="T7">
                  <a:pos x="T2" y="T3"/>
                </a:cxn>
                <a:cxn ang="T8">
                  <a:pos x="T4" y="T5"/>
                </a:cxn>
              </a:cxnLst>
              <a:rect l="T9" t="T10" r="T11" b="T12"/>
              <a:pathLst>
                <a:path w="114" h="170">
                  <a:moveTo>
                    <a:pt x="114" y="170"/>
                  </a:moveTo>
                  <a:cubicBezTo>
                    <a:pt x="109" y="127"/>
                    <a:pt x="104" y="85"/>
                    <a:pt x="85" y="57"/>
                  </a:cubicBezTo>
                  <a:cubicBezTo>
                    <a:pt x="66" y="29"/>
                    <a:pt x="33" y="14"/>
                    <a:pt x="0" y="0"/>
                  </a:cubicBezTo>
                </a:path>
              </a:pathLst>
            </a:custGeom>
            <a:noFill/>
            <a:ln w="19050">
              <a:solidFill>
                <a:schemeClr val="accent6">
                  <a:lumMod val="75000"/>
                </a:schemeClr>
              </a:solidFill>
              <a:round/>
              <a:headEnd/>
              <a:tailEnd type="triangle" w="med" len="med"/>
            </a:ln>
            <a:extLst/>
          </p:spPr>
          <p:txBody>
            <a:bodyPr/>
            <a:lstStyle/>
            <a:p>
              <a:pPr>
                <a:defRPr/>
              </a:pPr>
              <a:endParaRPr kumimoji="0" lang="zh-CN" altLang="en-US" sz="1800" b="1">
                <a:ea typeface="宋体" pitchFamily="2" charset="-122"/>
              </a:endParaRPr>
            </a:p>
          </p:txBody>
        </p:sp>
        <p:sp>
          <p:nvSpPr>
            <p:cNvPr id="61469" name="Freeform 108"/>
            <p:cNvSpPr>
              <a:spLocks/>
            </p:cNvSpPr>
            <p:nvPr/>
          </p:nvSpPr>
          <p:spPr bwMode="auto">
            <a:xfrm>
              <a:off x="4052" y="2196"/>
              <a:ext cx="198" cy="28"/>
            </a:xfrm>
            <a:custGeom>
              <a:avLst/>
              <a:gdLst>
                <a:gd name="T0" fmla="*/ 0 w 170"/>
                <a:gd name="T1" fmla="*/ 0 h 90"/>
                <a:gd name="T2" fmla="*/ 59680 w 170"/>
                <a:gd name="T3" fmla="*/ 0 h 90"/>
                <a:gd name="T4" fmla="*/ 119926 w 170"/>
                <a:gd name="T5" fmla="*/ 0 h 90"/>
                <a:gd name="T6" fmla="*/ 0 60000 65536"/>
                <a:gd name="T7" fmla="*/ 0 60000 65536"/>
                <a:gd name="T8" fmla="*/ 0 60000 65536"/>
                <a:gd name="T9" fmla="*/ 0 w 170"/>
                <a:gd name="T10" fmla="*/ 0 h 90"/>
                <a:gd name="T11" fmla="*/ 170 w 170"/>
                <a:gd name="T12" fmla="*/ 90 h 90"/>
              </a:gdLst>
              <a:ahLst/>
              <a:cxnLst>
                <a:cxn ang="T6">
                  <a:pos x="T0" y="T1"/>
                </a:cxn>
                <a:cxn ang="T7">
                  <a:pos x="T2" y="T3"/>
                </a:cxn>
                <a:cxn ang="T8">
                  <a:pos x="T4" y="T5"/>
                </a:cxn>
              </a:cxnLst>
              <a:rect l="T9" t="T10" r="T11" b="T12"/>
              <a:pathLst>
                <a:path w="170" h="90">
                  <a:moveTo>
                    <a:pt x="0" y="61"/>
                  </a:moveTo>
                  <a:cubicBezTo>
                    <a:pt x="28" y="30"/>
                    <a:pt x="57" y="0"/>
                    <a:pt x="85" y="5"/>
                  </a:cubicBezTo>
                  <a:cubicBezTo>
                    <a:pt x="113" y="10"/>
                    <a:pt x="141" y="50"/>
                    <a:pt x="170" y="90"/>
                  </a:cubicBezTo>
                </a:path>
              </a:pathLst>
            </a:custGeom>
            <a:noFill/>
            <a:ln w="19050">
              <a:solidFill>
                <a:schemeClr val="accent6">
                  <a:lumMod val="75000"/>
                </a:schemeClr>
              </a:solidFill>
              <a:round/>
              <a:headEnd/>
              <a:tailEnd type="triangle" w="med" len="med"/>
            </a:ln>
            <a:extLst/>
          </p:spPr>
          <p:txBody>
            <a:bodyPr/>
            <a:lstStyle/>
            <a:p>
              <a:pPr>
                <a:defRPr/>
              </a:pPr>
              <a:endParaRPr kumimoji="0" lang="zh-CN" altLang="en-US" sz="1800" b="1">
                <a:ea typeface="宋体" pitchFamily="2" charset="-122"/>
              </a:endParaRPr>
            </a:p>
          </p:txBody>
        </p:sp>
        <p:sp>
          <p:nvSpPr>
            <p:cNvPr id="35895" name="Rectangle 109"/>
            <p:cNvSpPr>
              <a:spLocks noChangeArrowheads="1"/>
            </p:cNvSpPr>
            <p:nvPr/>
          </p:nvSpPr>
          <p:spPr bwMode="auto">
            <a:xfrm>
              <a:off x="4300" y="2208"/>
              <a:ext cx="183"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zh-CN" sz="1500" b="1" i="1">
                  <a:ea typeface="宋体" pitchFamily="2" charset="-122"/>
                  <a:sym typeface="Symbol" pitchFamily="18" charset="2"/>
                </a:rPr>
                <a:t></a:t>
              </a:r>
            </a:p>
          </p:txBody>
        </p:sp>
        <p:sp>
          <p:nvSpPr>
            <p:cNvPr id="35896" name="Rectangle 110"/>
            <p:cNvSpPr>
              <a:spLocks noChangeArrowheads="1"/>
            </p:cNvSpPr>
            <p:nvPr/>
          </p:nvSpPr>
          <p:spPr bwMode="auto">
            <a:xfrm>
              <a:off x="4845" y="1748"/>
              <a:ext cx="189"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zh-CN" sz="1500" b="1" i="1">
                  <a:ea typeface="宋体" pitchFamily="2" charset="-122"/>
                  <a:sym typeface="Symbol" pitchFamily="18" charset="2"/>
                </a:rPr>
                <a:t></a:t>
              </a:r>
            </a:p>
          </p:txBody>
        </p:sp>
      </p:grpSp>
      <p:grpSp>
        <p:nvGrpSpPr>
          <p:cNvPr id="7" name="Group 94"/>
          <p:cNvGrpSpPr>
            <a:grpSpLocks/>
          </p:cNvGrpSpPr>
          <p:nvPr/>
        </p:nvGrpSpPr>
        <p:grpSpPr bwMode="auto">
          <a:xfrm>
            <a:off x="900113" y="1917700"/>
            <a:ext cx="2303462" cy="1296988"/>
            <a:chOff x="567" y="890"/>
            <a:chExt cx="1769" cy="1316"/>
          </a:xfrm>
        </p:grpSpPr>
        <p:graphicFrame>
          <p:nvGraphicFramePr>
            <p:cNvPr id="35860" name="Object 27"/>
            <p:cNvGraphicFramePr>
              <a:graphicFrameLocks noChangeAspect="1"/>
            </p:cNvGraphicFramePr>
            <p:nvPr/>
          </p:nvGraphicFramePr>
          <p:xfrm>
            <a:off x="1610" y="981"/>
            <a:ext cx="726" cy="242"/>
          </p:xfrm>
          <a:graphic>
            <a:graphicData uri="http://schemas.openxmlformats.org/presentationml/2006/ole">
              <p:oleObj spid="_x0000_s35946" name="公式" r:id="rId3" imgW="431613" imgH="165028" progId="Equation.3">
                <p:embed/>
              </p:oleObj>
            </a:graphicData>
          </a:graphic>
        </p:graphicFrame>
        <p:grpSp>
          <p:nvGrpSpPr>
            <p:cNvPr id="35861" name="Group 93"/>
            <p:cNvGrpSpPr>
              <a:grpSpLocks/>
            </p:cNvGrpSpPr>
            <p:nvPr/>
          </p:nvGrpSpPr>
          <p:grpSpPr bwMode="auto">
            <a:xfrm>
              <a:off x="567" y="890"/>
              <a:ext cx="1497" cy="1316"/>
              <a:chOff x="567" y="1706"/>
              <a:chExt cx="1497" cy="1316"/>
            </a:xfrm>
          </p:grpSpPr>
          <p:grpSp>
            <p:nvGrpSpPr>
              <p:cNvPr id="35862" name="Group 91"/>
              <p:cNvGrpSpPr>
                <a:grpSpLocks/>
              </p:cNvGrpSpPr>
              <p:nvPr/>
            </p:nvGrpSpPr>
            <p:grpSpPr bwMode="auto">
              <a:xfrm>
                <a:off x="567" y="1706"/>
                <a:ext cx="1497" cy="1316"/>
                <a:chOff x="567" y="1706"/>
                <a:chExt cx="1497" cy="1316"/>
              </a:xfrm>
            </p:grpSpPr>
            <p:sp>
              <p:nvSpPr>
                <p:cNvPr id="35864" name="Line 17"/>
                <p:cNvSpPr>
                  <a:spLocks noChangeShapeType="1"/>
                </p:cNvSpPr>
                <p:nvPr/>
              </p:nvSpPr>
              <p:spPr bwMode="auto">
                <a:xfrm flipV="1">
                  <a:off x="1043" y="1973"/>
                  <a:ext cx="492" cy="634"/>
                </a:xfrm>
                <a:prstGeom prst="line">
                  <a:avLst/>
                </a:prstGeom>
                <a:noFill/>
                <a:ln w="25400">
                  <a:solidFill>
                    <a:srgbClr val="3333FF"/>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5865" name="Line 19"/>
                <p:cNvSpPr>
                  <a:spLocks noChangeShapeType="1"/>
                </p:cNvSpPr>
                <p:nvPr/>
              </p:nvSpPr>
              <p:spPr bwMode="auto">
                <a:xfrm>
                  <a:off x="1535" y="1939"/>
                  <a:ext cx="0" cy="868"/>
                </a:xfrm>
                <a:prstGeom prst="line">
                  <a:avLst/>
                </a:prstGeom>
                <a:noFill/>
                <a:ln w="19050">
                  <a:solidFill>
                    <a:schemeClr val="tx1"/>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5866" name="Line 20"/>
                <p:cNvSpPr>
                  <a:spLocks noChangeShapeType="1"/>
                </p:cNvSpPr>
                <p:nvPr/>
              </p:nvSpPr>
              <p:spPr bwMode="auto">
                <a:xfrm>
                  <a:off x="1043" y="2607"/>
                  <a:ext cx="492" cy="200"/>
                </a:xfrm>
                <a:prstGeom prst="line">
                  <a:avLst/>
                </a:prstGeom>
                <a:noFill/>
                <a:ln w="19050">
                  <a:solidFill>
                    <a:schemeClr val="tx1"/>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5867" name="Line 21"/>
                <p:cNvSpPr>
                  <a:spLocks noChangeShapeType="1"/>
                </p:cNvSpPr>
                <p:nvPr/>
              </p:nvSpPr>
              <p:spPr bwMode="auto">
                <a:xfrm>
                  <a:off x="748" y="2795"/>
                  <a:ext cx="787" cy="12"/>
                </a:xfrm>
                <a:prstGeom prst="line">
                  <a:avLst/>
                </a:prstGeom>
                <a:noFill/>
                <a:ln w="19050">
                  <a:solidFill>
                    <a:schemeClr val="tx1"/>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5868" name="Line 22"/>
                <p:cNvSpPr>
                  <a:spLocks noChangeShapeType="1"/>
                </p:cNvSpPr>
                <p:nvPr/>
              </p:nvSpPr>
              <p:spPr bwMode="auto">
                <a:xfrm flipV="1">
                  <a:off x="1535" y="2614"/>
                  <a:ext cx="211" cy="193"/>
                </a:xfrm>
                <a:prstGeom prst="line">
                  <a:avLst/>
                </a:prstGeom>
                <a:noFill/>
                <a:ln w="19050">
                  <a:solidFill>
                    <a:schemeClr val="tx1"/>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5869" name="Line 14"/>
                <p:cNvSpPr>
                  <a:spLocks noChangeShapeType="1"/>
                </p:cNvSpPr>
                <p:nvPr/>
              </p:nvSpPr>
              <p:spPr bwMode="auto">
                <a:xfrm>
                  <a:off x="1043" y="2607"/>
                  <a:ext cx="1021" cy="0"/>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5870" name="Line 15"/>
                <p:cNvSpPr>
                  <a:spLocks noChangeShapeType="1"/>
                </p:cNvSpPr>
                <p:nvPr/>
              </p:nvSpPr>
              <p:spPr bwMode="auto">
                <a:xfrm flipV="1">
                  <a:off x="1043" y="1706"/>
                  <a:ext cx="0" cy="901"/>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5871" name="Line 16"/>
                <p:cNvSpPr>
                  <a:spLocks noChangeShapeType="1"/>
                </p:cNvSpPr>
                <p:nvPr/>
              </p:nvSpPr>
              <p:spPr bwMode="auto">
                <a:xfrm flipH="1">
                  <a:off x="567" y="2607"/>
                  <a:ext cx="476" cy="324"/>
                </a:xfrm>
                <a:prstGeom prst="line">
                  <a:avLst/>
                </a:prstGeom>
                <a:noFill/>
                <a:ln w="38100">
                  <a:solidFill>
                    <a:schemeClr val="tx1"/>
                  </a:solidFill>
                  <a:round/>
                  <a:headEn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35872" name="Oval 85"/>
                <p:cNvSpPr>
                  <a:spLocks noChangeArrowheads="1"/>
                </p:cNvSpPr>
                <p:nvPr/>
              </p:nvSpPr>
              <p:spPr bwMode="auto">
                <a:xfrm>
                  <a:off x="1474" y="1887"/>
                  <a:ext cx="136" cy="137"/>
                </a:xfrm>
                <a:prstGeom prst="ellipse">
                  <a:avLst/>
                </a:prstGeom>
                <a:solidFill>
                  <a:schemeClr val="accent1"/>
                </a:solidFill>
                <a:ln w="9525">
                  <a:solidFill>
                    <a:schemeClr val="tx1"/>
                  </a:solidFill>
                  <a:round/>
                  <a:headEnd/>
                  <a:tailEnd/>
                </a:ln>
              </p:spPr>
              <p:txBody>
                <a:bodyPr wrap="none" anchor="ctr"/>
                <a:lstStyle/>
                <a:p>
                  <a:endParaRPr lang="zh-CN" altLang="en-US"/>
                </a:p>
              </p:txBody>
            </p:sp>
            <p:graphicFrame>
              <p:nvGraphicFramePr>
                <p:cNvPr id="35873" name="Object 88"/>
                <p:cNvGraphicFramePr>
                  <a:graphicFrameLocks noChangeAspect="1"/>
                </p:cNvGraphicFramePr>
                <p:nvPr/>
              </p:nvGraphicFramePr>
              <p:xfrm>
                <a:off x="657" y="2840"/>
                <a:ext cx="182" cy="182"/>
              </p:xfrm>
              <a:graphic>
                <a:graphicData uri="http://schemas.openxmlformats.org/presentationml/2006/ole">
                  <p:oleObj spid="_x0000_s35947" name="Equation" r:id="rId4" imgW="139700" imgH="139700" progId="Equation.DSMT4">
                    <p:embed/>
                  </p:oleObj>
                </a:graphicData>
              </a:graphic>
            </p:graphicFrame>
            <p:graphicFrame>
              <p:nvGraphicFramePr>
                <p:cNvPr id="35874" name="Object 89"/>
                <p:cNvGraphicFramePr>
                  <a:graphicFrameLocks noChangeAspect="1"/>
                </p:cNvGraphicFramePr>
                <p:nvPr/>
              </p:nvGraphicFramePr>
              <p:xfrm>
                <a:off x="1746" y="2614"/>
                <a:ext cx="191" cy="226"/>
              </p:xfrm>
              <a:graphic>
                <a:graphicData uri="http://schemas.openxmlformats.org/presentationml/2006/ole">
                  <p:oleObj spid="_x0000_s35948" name="Equation" r:id="rId5" imgW="139579" imgH="164957" progId="Equation.DSMT4">
                    <p:embed/>
                  </p:oleObj>
                </a:graphicData>
              </a:graphic>
            </p:graphicFrame>
            <p:graphicFrame>
              <p:nvGraphicFramePr>
                <p:cNvPr id="35875" name="Object 90"/>
                <p:cNvGraphicFramePr>
                  <a:graphicFrameLocks noChangeAspect="1"/>
                </p:cNvGraphicFramePr>
                <p:nvPr/>
              </p:nvGraphicFramePr>
              <p:xfrm>
                <a:off x="839" y="1797"/>
                <a:ext cx="147" cy="180"/>
              </p:xfrm>
              <a:graphic>
                <a:graphicData uri="http://schemas.openxmlformats.org/presentationml/2006/ole">
                  <p:oleObj spid="_x0000_s35949" name="Equation" r:id="rId6" imgW="114201" imgH="139579" progId="Equation.DSMT4">
                    <p:embed/>
                  </p:oleObj>
                </a:graphicData>
              </a:graphic>
            </p:graphicFrame>
          </p:grpSp>
          <p:graphicFrame>
            <p:nvGraphicFramePr>
              <p:cNvPr id="35863" name="Object 92"/>
              <p:cNvGraphicFramePr>
                <a:graphicFrameLocks noChangeAspect="1"/>
              </p:cNvGraphicFramePr>
              <p:nvPr/>
            </p:nvGraphicFramePr>
            <p:xfrm>
              <a:off x="839" y="2478"/>
              <a:ext cx="144" cy="192"/>
            </p:xfrm>
            <a:graphic>
              <a:graphicData uri="http://schemas.openxmlformats.org/presentationml/2006/ole">
                <p:oleObj spid="_x0000_s35950" name="Equation" r:id="rId7" imgW="164814" imgH="177492" progId="Equation.DSMT4">
                  <p:embed/>
                </p:oleObj>
              </a:graphicData>
            </a:graphic>
          </p:graphicFrame>
        </p:grpSp>
      </p:grpSp>
      <p:sp>
        <p:nvSpPr>
          <p:cNvPr id="109663" name="Rectangle 95"/>
          <p:cNvSpPr>
            <a:spLocks noChangeArrowheads="1"/>
          </p:cNvSpPr>
          <p:nvPr/>
        </p:nvSpPr>
        <p:spPr bwMode="auto">
          <a:xfrm>
            <a:off x="1042988" y="1563688"/>
            <a:ext cx="1716087" cy="323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zh-CN" altLang="en-US" sz="1500" b="1">
                <a:solidFill>
                  <a:srgbClr val="FF0000"/>
                </a:solidFill>
                <a:ea typeface="华文中宋" pitchFamily="2" charset="-122"/>
              </a:rPr>
              <a:t>单原子分子</a:t>
            </a:r>
          </a:p>
        </p:txBody>
      </p:sp>
      <p:sp>
        <p:nvSpPr>
          <p:cNvPr id="109664" name="Rectangle 96"/>
          <p:cNvSpPr>
            <a:spLocks noChangeArrowheads="1"/>
          </p:cNvSpPr>
          <p:nvPr/>
        </p:nvSpPr>
        <p:spPr bwMode="auto">
          <a:xfrm>
            <a:off x="3635375" y="1563688"/>
            <a:ext cx="1716088" cy="323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zh-CN" altLang="en-US" sz="1500" b="1">
                <a:solidFill>
                  <a:srgbClr val="FF0000"/>
                </a:solidFill>
                <a:ea typeface="华文中宋" pitchFamily="2" charset="-122"/>
              </a:rPr>
              <a:t>双原子分子</a:t>
            </a:r>
          </a:p>
        </p:txBody>
      </p:sp>
      <p:sp>
        <p:nvSpPr>
          <p:cNvPr id="109665" name="Rectangle 97"/>
          <p:cNvSpPr>
            <a:spLocks noChangeArrowheads="1"/>
          </p:cNvSpPr>
          <p:nvPr/>
        </p:nvSpPr>
        <p:spPr bwMode="auto">
          <a:xfrm>
            <a:off x="6300788" y="1563688"/>
            <a:ext cx="1716087" cy="323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zh-CN" altLang="en-US" sz="1500" b="1">
                <a:solidFill>
                  <a:srgbClr val="FF0000"/>
                </a:solidFill>
                <a:ea typeface="华文中宋" pitchFamily="2" charset="-122"/>
              </a:rPr>
              <a:t>多原子分子</a:t>
            </a:r>
          </a:p>
        </p:txBody>
      </p:sp>
      <p:sp>
        <p:nvSpPr>
          <p:cNvPr id="109666" name="Text Box 98"/>
          <p:cNvSpPr txBox="1">
            <a:spLocks noChangeArrowheads="1"/>
          </p:cNvSpPr>
          <p:nvPr/>
        </p:nvSpPr>
        <p:spPr bwMode="auto">
          <a:xfrm>
            <a:off x="2700338" y="1276350"/>
            <a:ext cx="3554412" cy="32226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r>
              <a:rPr kumimoji="0" lang="zh-CN" altLang="en-US" sz="1500" b="1">
                <a:ea typeface="华文中宋" pitchFamily="2" charset="-122"/>
              </a:rPr>
              <a:t>仅考虑理想刚性气体分子</a:t>
            </a:r>
          </a:p>
        </p:txBody>
      </p:sp>
      <p:sp>
        <p:nvSpPr>
          <p:cNvPr id="146483" name="Rectangle 51"/>
          <p:cNvSpPr>
            <a:spLocks noChangeArrowheads="1"/>
          </p:cNvSpPr>
          <p:nvPr/>
        </p:nvSpPr>
        <p:spPr bwMode="auto">
          <a:xfrm>
            <a:off x="468313" y="3971925"/>
            <a:ext cx="2519362" cy="328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0000"/>
              </a:lnSpc>
            </a:pPr>
            <a:r>
              <a:rPr lang="zh-CN" altLang="en-US" sz="1500" b="1">
                <a:ea typeface="华文中宋" pitchFamily="2" charset="-122"/>
              </a:rPr>
              <a:t>平动自由度：</a:t>
            </a:r>
            <a:r>
              <a:rPr lang="en-US" altLang="zh-CN" sz="1500" b="1" i="1">
                <a:ea typeface="华文中宋" pitchFamily="2" charset="-122"/>
              </a:rPr>
              <a:t>t=</a:t>
            </a:r>
            <a:r>
              <a:rPr lang="en-US" altLang="zh-CN" sz="1500" b="1">
                <a:ea typeface="华文中宋" pitchFamily="2" charset="-122"/>
              </a:rPr>
              <a:t>3</a:t>
            </a:r>
          </a:p>
        </p:txBody>
      </p:sp>
      <p:sp>
        <p:nvSpPr>
          <p:cNvPr id="146484" name="Rectangle 52"/>
          <p:cNvSpPr>
            <a:spLocks noChangeArrowheads="1"/>
          </p:cNvSpPr>
          <p:nvPr/>
        </p:nvSpPr>
        <p:spPr bwMode="auto">
          <a:xfrm>
            <a:off x="539750" y="4300538"/>
            <a:ext cx="1439863" cy="327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lnSpc>
                <a:spcPct val="110000"/>
              </a:lnSpc>
            </a:pPr>
            <a:r>
              <a:rPr lang="en-US" altLang="zh-CN" sz="1500" b="1" i="1">
                <a:solidFill>
                  <a:srgbClr val="FF00FF"/>
                </a:solidFill>
                <a:ea typeface="华文中宋" pitchFamily="2" charset="-122"/>
              </a:rPr>
              <a:t>i </a:t>
            </a:r>
            <a:r>
              <a:rPr lang="en-US" altLang="zh-CN" sz="1500" b="1">
                <a:solidFill>
                  <a:srgbClr val="FF00FF"/>
                </a:solidFill>
                <a:ea typeface="华文中宋" pitchFamily="2" charset="-122"/>
              </a:rPr>
              <a:t>= </a:t>
            </a:r>
            <a:r>
              <a:rPr lang="en-US" altLang="zh-CN" sz="1500" b="1" i="1">
                <a:solidFill>
                  <a:srgbClr val="FF00FF"/>
                </a:solidFill>
                <a:ea typeface="华文中宋" pitchFamily="2" charset="-122"/>
              </a:rPr>
              <a:t>t </a:t>
            </a:r>
            <a:r>
              <a:rPr lang="en-US" altLang="zh-CN" sz="1500" b="1">
                <a:solidFill>
                  <a:srgbClr val="FF00FF"/>
                </a:solidFill>
                <a:ea typeface="华文中宋" pitchFamily="2" charset="-122"/>
              </a:rPr>
              <a:t>=3</a:t>
            </a:r>
          </a:p>
        </p:txBody>
      </p:sp>
      <p:sp>
        <p:nvSpPr>
          <p:cNvPr id="146466" name="Rectangle 34"/>
          <p:cNvSpPr>
            <a:spLocks noChangeArrowheads="1"/>
          </p:cNvSpPr>
          <p:nvPr/>
        </p:nvSpPr>
        <p:spPr bwMode="auto">
          <a:xfrm>
            <a:off x="539750" y="3275013"/>
            <a:ext cx="2303463" cy="6619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30000"/>
              </a:lnSpc>
            </a:pPr>
            <a:r>
              <a:rPr lang="zh-CN" altLang="en-US" sz="1500" b="1">
                <a:ea typeface="华文中宋" pitchFamily="2" charset="-122"/>
              </a:rPr>
              <a:t>可看作质点</a:t>
            </a:r>
            <a:r>
              <a:rPr kumimoji="0" lang="zh-CN" altLang="en-US" sz="1500" b="1">
                <a:ea typeface="华文中宋" pitchFamily="2" charset="-122"/>
              </a:rPr>
              <a:t>如：</a:t>
            </a:r>
            <a:r>
              <a:rPr kumimoji="0" lang="en-US" altLang="zh-CN" sz="1500" b="1">
                <a:ea typeface="华文中宋" pitchFamily="2" charset="-122"/>
              </a:rPr>
              <a:t>H</a:t>
            </a:r>
            <a:r>
              <a:rPr lang="en-US" altLang="zh-CN" sz="1500" b="1">
                <a:ea typeface="华文中宋" pitchFamily="2" charset="-122"/>
              </a:rPr>
              <a:t>e</a:t>
            </a:r>
            <a:r>
              <a:rPr lang="zh-CN" altLang="en-US" sz="1500" b="1">
                <a:ea typeface="华文中宋" pitchFamily="2" charset="-122"/>
              </a:rPr>
              <a:t>，</a:t>
            </a:r>
            <a:r>
              <a:rPr lang="en-US" altLang="zh-CN" sz="1500" b="1">
                <a:ea typeface="华文中宋" pitchFamily="2" charset="-122"/>
              </a:rPr>
              <a:t>Ne …</a:t>
            </a:r>
            <a:r>
              <a:rPr lang="en-US" altLang="zh-CN" sz="1500">
                <a:ea typeface="华文中宋" pitchFamily="2" charset="-122"/>
              </a:rPr>
              <a:t> </a:t>
            </a:r>
          </a:p>
        </p:txBody>
      </p:sp>
      <p:sp>
        <p:nvSpPr>
          <p:cNvPr id="229453" name="Text Box 77"/>
          <p:cNvSpPr txBox="1">
            <a:spLocks noChangeArrowheads="1"/>
          </p:cNvSpPr>
          <p:nvPr/>
        </p:nvSpPr>
        <p:spPr bwMode="auto">
          <a:xfrm>
            <a:off x="2987675" y="3327400"/>
            <a:ext cx="2663825" cy="328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500" b="1">
                <a:ea typeface="华文中宋" pitchFamily="2" charset="-122"/>
              </a:rPr>
              <a:t>如：</a:t>
            </a:r>
            <a:r>
              <a:rPr lang="en-US" altLang="zh-CN" sz="1500" b="1">
                <a:ea typeface="华文中宋" pitchFamily="2" charset="-122"/>
              </a:rPr>
              <a:t>O</a:t>
            </a:r>
            <a:r>
              <a:rPr lang="en-US" altLang="zh-CN" sz="1500" b="1" baseline="-25000">
                <a:ea typeface="华文中宋" pitchFamily="2" charset="-122"/>
              </a:rPr>
              <a:t>2 </a:t>
            </a:r>
            <a:r>
              <a:rPr lang="zh-CN" altLang="en-US" sz="1500" b="1">
                <a:ea typeface="华文中宋" pitchFamily="2" charset="-122"/>
              </a:rPr>
              <a:t>， </a:t>
            </a:r>
            <a:r>
              <a:rPr lang="en-US" altLang="zh-CN" sz="1500" b="1">
                <a:ea typeface="华文中宋" pitchFamily="2" charset="-122"/>
              </a:rPr>
              <a:t>H</a:t>
            </a:r>
            <a:r>
              <a:rPr lang="en-US" altLang="zh-CN" sz="1500" b="1" baseline="-25000">
                <a:ea typeface="华文中宋" pitchFamily="2" charset="-122"/>
              </a:rPr>
              <a:t>2 </a:t>
            </a:r>
            <a:r>
              <a:rPr lang="zh-CN" altLang="en-US" sz="1500" b="1">
                <a:ea typeface="华文中宋" pitchFamily="2" charset="-122"/>
              </a:rPr>
              <a:t>，</a:t>
            </a:r>
            <a:r>
              <a:rPr lang="en-US" altLang="zh-CN" sz="1500" b="1">
                <a:ea typeface="华文中宋" pitchFamily="2" charset="-122"/>
              </a:rPr>
              <a:t>…</a:t>
            </a:r>
          </a:p>
        </p:txBody>
      </p:sp>
      <p:sp>
        <p:nvSpPr>
          <p:cNvPr id="229454" name="Rectangle 78"/>
          <p:cNvSpPr>
            <a:spLocks noChangeArrowheads="1"/>
          </p:cNvSpPr>
          <p:nvPr/>
        </p:nvSpPr>
        <p:spPr bwMode="auto">
          <a:xfrm>
            <a:off x="3059113" y="3735388"/>
            <a:ext cx="2808287" cy="582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0000"/>
              </a:lnSpc>
            </a:pPr>
            <a:r>
              <a:rPr lang="zh-CN" altLang="en-US" sz="1500" b="1">
                <a:ea typeface="华文中宋" pitchFamily="2" charset="-122"/>
              </a:rPr>
              <a:t>平动自由度：</a:t>
            </a:r>
            <a:r>
              <a:rPr lang="en-US" altLang="zh-CN" sz="1500" b="1" i="1">
                <a:ea typeface="华文中宋" pitchFamily="2" charset="-122"/>
              </a:rPr>
              <a:t>t </a:t>
            </a:r>
            <a:r>
              <a:rPr lang="en-US" altLang="zh-CN" sz="1500" b="1">
                <a:ea typeface="华文中宋" pitchFamily="2" charset="-122"/>
              </a:rPr>
              <a:t>=3</a:t>
            </a:r>
          </a:p>
          <a:p>
            <a:pPr>
              <a:lnSpc>
                <a:spcPct val="110000"/>
              </a:lnSpc>
            </a:pPr>
            <a:r>
              <a:rPr lang="zh-CN" altLang="en-US" sz="1500" b="1">
                <a:ea typeface="华文中宋" pitchFamily="2" charset="-122"/>
              </a:rPr>
              <a:t>转动自由度：</a:t>
            </a:r>
            <a:r>
              <a:rPr lang="en-US" altLang="zh-CN" sz="1500" b="1" i="1">
                <a:ea typeface="华文中宋" pitchFamily="2" charset="-122"/>
              </a:rPr>
              <a:t>r =</a:t>
            </a:r>
            <a:r>
              <a:rPr lang="en-US" altLang="zh-CN" sz="1500" b="1">
                <a:ea typeface="华文中宋" pitchFamily="2" charset="-122"/>
              </a:rPr>
              <a:t>2</a:t>
            </a:r>
          </a:p>
        </p:txBody>
      </p:sp>
      <p:sp>
        <p:nvSpPr>
          <p:cNvPr id="229455" name="Rectangle 79"/>
          <p:cNvSpPr>
            <a:spLocks noChangeArrowheads="1"/>
          </p:cNvSpPr>
          <p:nvPr/>
        </p:nvSpPr>
        <p:spPr bwMode="auto">
          <a:xfrm>
            <a:off x="2916238" y="4300538"/>
            <a:ext cx="2087562" cy="327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lnSpc>
                <a:spcPct val="110000"/>
              </a:lnSpc>
            </a:pPr>
            <a:r>
              <a:rPr kumimoji="0" lang="en-US" altLang="zh-CN" sz="1500" b="1" i="1">
                <a:solidFill>
                  <a:srgbClr val="FF00FF"/>
                </a:solidFill>
                <a:ea typeface="华文中宋" pitchFamily="2" charset="-122"/>
              </a:rPr>
              <a:t>i</a:t>
            </a:r>
            <a:r>
              <a:rPr kumimoji="0" lang="zh-CN" altLang="en-US" sz="1500" b="1">
                <a:solidFill>
                  <a:srgbClr val="FF00FF"/>
                </a:solidFill>
                <a:ea typeface="华文中宋" pitchFamily="2" charset="-122"/>
              </a:rPr>
              <a:t>＝</a:t>
            </a:r>
            <a:r>
              <a:rPr kumimoji="0" lang="en-US" altLang="zh-CN" sz="1500" b="1" i="1">
                <a:solidFill>
                  <a:srgbClr val="FF00FF"/>
                </a:solidFill>
                <a:ea typeface="华文中宋" pitchFamily="2" charset="-122"/>
              </a:rPr>
              <a:t>t </a:t>
            </a:r>
            <a:r>
              <a:rPr kumimoji="0" lang="en-US" altLang="zh-CN" sz="1500" b="1">
                <a:solidFill>
                  <a:srgbClr val="FF00FF"/>
                </a:solidFill>
                <a:ea typeface="华文中宋" pitchFamily="2" charset="-122"/>
              </a:rPr>
              <a:t>+ </a:t>
            </a:r>
            <a:r>
              <a:rPr kumimoji="0" lang="en-US" altLang="zh-CN" sz="1500" b="1" i="1">
                <a:solidFill>
                  <a:srgbClr val="FF00FF"/>
                </a:solidFill>
                <a:ea typeface="华文中宋" pitchFamily="2" charset="-122"/>
              </a:rPr>
              <a:t>r</a:t>
            </a:r>
            <a:r>
              <a:rPr kumimoji="0" lang="zh-CN" altLang="en-US" sz="1500" b="1">
                <a:solidFill>
                  <a:srgbClr val="FF00FF"/>
                </a:solidFill>
                <a:ea typeface="华文中宋" pitchFamily="2" charset="-122"/>
              </a:rPr>
              <a:t>＝</a:t>
            </a:r>
            <a:r>
              <a:rPr kumimoji="0" lang="en-US" altLang="zh-CN" sz="1500" b="1">
                <a:solidFill>
                  <a:srgbClr val="FF00FF"/>
                </a:solidFill>
                <a:ea typeface="华文中宋" pitchFamily="2" charset="-122"/>
              </a:rPr>
              <a:t>5</a:t>
            </a:r>
          </a:p>
        </p:txBody>
      </p:sp>
      <p:sp>
        <p:nvSpPr>
          <p:cNvPr id="229458" name="Rectangle 82"/>
          <p:cNvSpPr>
            <a:spLocks noChangeArrowheads="1"/>
          </p:cNvSpPr>
          <p:nvPr/>
        </p:nvSpPr>
        <p:spPr bwMode="auto">
          <a:xfrm>
            <a:off x="5867400" y="3327400"/>
            <a:ext cx="3024188" cy="3286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0000"/>
              </a:lnSpc>
            </a:pPr>
            <a:r>
              <a:rPr lang="zh-CN" altLang="en-US" sz="1500" b="1">
                <a:ea typeface="华文中宋" pitchFamily="2" charset="-122"/>
              </a:rPr>
              <a:t>如：</a:t>
            </a:r>
            <a:r>
              <a:rPr lang="en-US" altLang="zh-CN" sz="1500" b="1">
                <a:ea typeface="华文中宋" pitchFamily="2" charset="-122"/>
              </a:rPr>
              <a:t>H</a:t>
            </a:r>
            <a:r>
              <a:rPr lang="en-US" altLang="zh-CN" sz="1500" b="1" baseline="-25000">
                <a:ea typeface="华文中宋" pitchFamily="2" charset="-122"/>
              </a:rPr>
              <a:t>2</a:t>
            </a:r>
            <a:r>
              <a:rPr lang="en-US" altLang="zh-CN" sz="1500" b="1">
                <a:ea typeface="华文中宋" pitchFamily="2" charset="-122"/>
              </a:rPr>
              <a:t>O</a:t>
            </a:r>
            <a:r>
              <a:rPr lang="zh-CN" altLang="en-US" sz="1500" b="1">
                <a:ea typeface="华文中宋" pitchFamily="2" charset="-122"/>
              </a:rPr>
              <a:t>，</a:t>
            </a:r>
            <a:r>
              <a:rPr lang="en-US" altLang="zh-CN" sz="1500" b="1">
                <a:ea typeface="华文中宋" pitchFamily="2" charset="-122"/>
              </a:rPr>
              <a:t>NH</a:t>
            </a:r>
            <a:r>
              <a:rPr lang="en-US" altLang="zh-CN" sz="1500" b="1" baseline="-25000">
                <a:ea typeface="华文中宋" pitchFamily="2" charset="-122"/>
              </a:rPr>
              <a:t>3</a:t>
            </a:r>
            <a:r>
              <a:rPr lang="en-US" altLang="zh-CN" sz="1500" b="1">
                <a:ea typeface="华文中宋" pitchFamily="2" charset="-122"/>
              </a:rPr>
              <a:t> </a:t>
            </a:r>
            <a:r>
              <a:rPr lang="zh-CN" altLang="en-US" sz="1500" b="1">
                <a:ea typeface="华文中宋" pitchFamily="2" charset="-122"/>
              </a:rPr>
              <a:t>，</a:t>
            </a:r>
            <a:r>
              <a:rPr lang="en-US" altLang="zh-CN" sz="1500" b="1">
                <a:ea typeface="华文中宋" pitchFamily="2" charset="-122"/>
              </a:rPr>
              <a:t>…</a:t>
            </a:r>
            <a:endParaRPr kumimoji="0" lang="en-US" altLang="zh-CN" sz="1500" b="1">
              <a:ea typeface="华文中宋" pitchFamily="2" charset="-122"/>
            </a:endParaRPr>
          </a:p>
        </p:txBody>
      </p:sp>
      <p:sp>
        <p:nvSpPr>
          <p:cNvPr id="229487" name="Text Box 111"/>
          <p:cNvSpPr txBox="1">
            <a:spLocks noChangeArrowheads="1"/>
          </p:cNvSpPr>
          <p:nvPr/>
        </p:nvSpPr>
        <p:spPr bwMode="auto">
          <a:xfrm>
            <a:off x="6011863" y="3735388"/>
            <a:ext cx="2736850" cy="5826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500" b="1">
                <a:ea typeface="华文中宋" pitchFamily="2" charset="-122"/>
              </a:rPr>
              <a:t>平动自由度：</a:t>
            </a:r>
            <a:r>
              <a:rPr lang="zh-CN" altLang="en-US" sz="1500" b="1" i="1">
                <a:ea typeface="华文中宋" pitchFamily="2" charset="-122"/>
              </a:rPr>
              <a:t> </a:t>
            </a:r>
            <a:r>
              <a:rPr lang="en-US" altLang="zh-CN" sz="1500" b="1" i="1">
                <a:ea typeface="华文中宋" pitchFamily="2" charset="-122"/>
              </a:rPr>
              <a:t>t </a:t>
            </a:r>
            <a:r>
              <a:rPr lang="en-US" altLang="zh-CN" sz="1500" b="1">
                <a:ea typeface="华文中宋" pitchFamily="2" charset="-122"/>
              </a:rPr>
              <a:t>=3  </a:t>
            </a:r>
          </a:p>
          <a:p>
            <a:pPr eaLnBrk="1" hangingPunct="1">
              <a:lnSpc>
                <a:spcPct val="110000"/>
              </a:lnSpc>
            </a:pPr>
            <a:r>
              <a:rPr lang="zh-CN" altLang="en-US" sz="1500" b="1">
                <a:ea typeface="华文中宋" pitchFamily="2" charset="-122"/>
              </a:rPr>
              <a:t>转动自由度：</a:t>
            </a:r>
            <a:r>
              <a:rPr lang="en-US" altLang="zh-CN" sz="1500" b="1" i="1">
                <a:ea typeface="华文中宋" pitchFamily="2" charset="-122"/>
              </a:rPr>
              <a:t>r </a:t>
            </a:r>
            <a:r>
              <a:rPr lang="en-US" altLang="zh-CN" sz="1500" b="1">
                <a:ea typeface="华文中宋" pitchFamily="2" charset="-122"/>
              </a:rPr>
              <a:t>= 3</a:t>
            </a:r>
          </a:p>
        </p:txBody>
      </p:sp>
      <p:sp>
        <p:nvSpPr>
          <p:cNvPr id="109675" name="Rectangle 107"/>
          <p:cNvSpPr>
            <a:spLocks noChangeArrowheads="1"/>
          </p:cNvSpPr>
          <p:nvPr/>
        </p:nvSpPr>
        <p:spPr bwMode="auto">
          <a:xfrm>
            <a:off x="6084888" y="4300538"/>
            <a:ext cx="1697037" cy="3270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lnSpc>
                <a:spcPct val="110000"/>
              </a:lnSpc>
            </a:pPr>
            <a:r>
              <a:rPr kumimoji="0" lang="en-US" altLang="zh-CN" sz="1500" b="1" i="1">
                <a:solidFill>
                  <a:srgbClr val="FF00FF"/>
                </a:solidFill>
                <a:ea typeface="华文中宋" pitchFamily="2" charset="-122"/>
              </a:rPr>
              <a:t>i</a:t>
            </a:r>
            <a:r>
              <a:rPr kumimoji="0" lang="zh-CN" altLang="en-US" sz="1500" b="1">
                <a:solidFill>
                  <a:srgbClr val="FF00FF"/>
                </a:solidFill>
                <a:ea typeface="华文中宋" pitchFamily="2" charset="-122"/>
              </a:rPr>
              <a:t>＝</a:t>
            </a:r>
            <a:r>
              <a:rPr kumimoji="0" lang="en-US" altLang="zh-CN" sz="1500" b="1" i="1">
                <a:solidFill>
                  <a:srgbClr val="FF00FF"/>
                </a:solidFill>
                <a:ea typeface="华文中宋" pitchFamily="2" charset="-122"/>
              </a:rPr>
              <a:t>t</a:t>
            </a:r>
            <a:r>
              <a:rPr kumimoji="0" lang="zh-CN" altLang="en-US" sz="1500" b="1">
                <a:solidFill>
                  <a:srgbClr val="FF00FF"/>
                </a:solidFill>
                <a:ea typeface="华文中宋" pitchFamily="2" charset="-122"/>
              </a:rPr>
              <a:t>＋</a:t>
            </a:r>
            <a:r>
              <a:rPr kumimoji="0" lang="en-US" altLang="zh-CN" sz="1500" b="1" i="1">
                <a:solidFill>
                  <a:srgbClr val="FF00FF"/>
                </a:solidFill>
                <a:ea typeface="华文中宋" pitchFamily="2" charset="-122"/>
              </a:rPr>
              <a:t>r</a:t>
            </a:r>
            <a:r>
              <a:rPr kumimoji="0" lang="zh-CN" altLang="en-US" sz="1500" b="1">
                <a:solidFill>
                  <a:srgbClr val="FF00FF"/>
                </a:solidFill>
                <a:ea typeface="华文中宋" pitchFamily="2" charset="-122"/>
              </a:rPr>
              <a:t>＝６</a:t>
            </a:r>
          </a:p>
        </p:txBody>
      </p:sp>
      <p:sp>
        <p:nvSpPr>
          <p:cNvPr id="85" name="Text Box 2"/>
          <p:cNvSpPr>
            <a:spLocks noChangeArrowheads="1"/>
          </p:cNvSpPr>
          <p:nvPr/>
        </p:nvSpPr>
        <p:spPr bwMode="auto">
          <a:xfrm>
            <a:off x="827088" y="874713"/>
            <a:ext cx="1608137" cy="401637"/>
          </a:xfrm>
          <a:prstGeom prst="homePlate">
            <a:avLst>
              <a:gd name="adj" fmla="val 49734"/>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一、自由度</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85"/>
                                        </p:tgtEl>
                                        <p:attrNameLst>
                                          <p:attrName>style.visibility</p:attrName>
                                        </p:attrNameLst>
                                      </p:cBhvr>
                                      <p:to>
                                        <p:strVal val="visible"/>
                                      </p:to>
                                    </p:set>
                                    <p:animEffect transition="in" filter="wipe(left)">
                                      <p:cBhvr>
                                        <p:cTn id="7" dur="500"/>
                                        <p:tgtEl>
                                          <p:spTgt spid="8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109573"/>
                                        </p:tgtEl>
                                        <p:attrNameLst>
                                          <p:attrName>style.visibility</p:attrName>
                                        </p:attrNameLst>
                                      </p:cBhvr>
                                      <p:to>
                                        <p:strVal val="visible"/>
                                      </p:to>
                                    </p:set>
                                    <p:animEffect transition="in" filter="box(in)">
                                      <p:cBhvr>
                                        <p:cTn id="12" dur="500"/>
                                        <p:tgtEl>
                                          <p:spTgt spid="10957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grpId="0" nodeType="clickEffect">
                                  <p:stCondLst>
                                    <p:cond delay="0"/>
                                  </p:stCondLst>
                                  <p:childTnLst>
                                    <p:set>
                                      <p:cBhvr>
                                        <p:cTn id="16" dur="1" fill="hold">
                                          <p:stCondLst>
                                            <p:cond delay="0"/>
                                          </p:stCondLst>
                                        </p:cTn>
                                        <p:tgtEl>
                                          <p:spTgt spid="109666"/>
                                        </p:tgtEl>
                                        <p:attrNameLst>
                                          <p:attrName>style.visibility</p:attrName>
                                        </p:attrNameLst>
                                      </p:cBhvr>
                                      <p:to>
                                        <p:strVal val="visible"/>
                                      </p:to>
                                    </p:set>
                                    <p:animEffect transition="in" filter="box(in)">
                                      <p:cBhvr>
                                        <p:cTn id="17" dur="500"/>
                                        <p:tgtEl>
                                          <p:spTgt spid="10966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109663"/>
                                        </p:tgtEl>
                                        <p:attrNameLst>
                                          <p:attrName>style.visibility</p:attrName>
                                        </p:attrNameLst>
                                      </p:cBhvr>
                                      <p:to>
                                        <p:strVal val="visible"/>
                                      </p:to>
                                    </p:set>
                                    <p:animEffect transition="in" filter="blinds(horizontal)">
                                      <p:cBhvr>
                                        <p:cTn id="22" dur="500"/>
                                        <p:tgtEl>
                                          <p:spTgt spid="109663"/>
                                        </p:tgtEl>
                                      </p:cBhvr>
                                    </p:animEffect>
                                  </p:childTnLst>
                                </p:cTn>
                              </p:par>
                              <p:par>
                                <p:cTn id="23" presetID="3" presetClass="entr" presetSubtype="10" fill="hold" nodeType="withEffect">
                                  <p:stCondLst>
                                    <p:cond delay="0"/>
                                  </p:stCondLst>
                                  <p:childTnLst>
                                    <p:set>
                                      <p:cBhvr>
                                        <p:cTn id="24" dur="1" fill="hold">
                                          <p:stCondLst>
                                            <p:cond delay="0"/>
                                          </p:stCondLst>
                                        </p:cTn>
                                        <p:tgtEl>
                                          <p:spTgt spid="7"/>
                                        </p:tgtEl>
                                        <p:attrNameLst>
                                          <p:attrName>style.visibility</p:attrName>
                                        </p:attrNameLst>
                                      </p:cBhvr>
                                      <p:to>
                                        <p:strVal val="visible"/>
                                      </p:to>
                                    </p:set>
                                    <p:animEffect transition="in" filter="blinds(horizontal)">
                                      <p:cBhvr>
                                        <p:cTn id="25" dur="500"/>
                                        <p:tgtEl>
                                          <p:spTgt spid="7"/>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46466">
                                            <p:txEl>
                                              <p:pRg st="0" end="0"/>
                                            </p:txEl>
                                          </p:spTgt>
                                        </p:tgtEl>
                                        <p:attrNameLst>
                                          <p:attrName>style.visibility</p:attrName>
                                        </p:attrNameLst>
                                      </p:cBhvr>
                                      <p:to>
                                        <p:strVal val="visible"/>
                                      </p:to>
                                    </p:set>
                                    <p:animEffect transition="in" filter="wipe(left)">
                                      <p:cBhvr>
                                        <p:cTn id="30" dur="500"/>
                                        <p:tgtEl>
                                          <p:spTgt spid="146466">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46483"/>
                                        </p:tgtEl>
                                        <p:attrNameLst>
                                          <p:attrName>style.visibility</p:attrName>
                                        </p:attrNameLst>
                                      </p:cBhvr>
                                      <p:to>
                                        <p:strVal val="visible"/>
                                      </p:to>
                                    </p:set>
                                    <p:animEffect transition="in" filter="wipe(left)">
                                      <p:cBhvr>
                                        <p:cTn id="35" dur="500"/>
                                        <p:tgtEl>
                                          <p:spTgt spid="14648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grpId="0" nodeType="clickEffect">
                                  <p:stCondLst>
                                    <p:cond delay="0"/>
                                  </p:stCondLst>
                                  <p:childTnLst>
                                    <p:set>
                                      <p:cBhvr>
                                        <p:cTn id="39" dur="1" fill="hold">
                                          <p:stCondLst>
                                            <p:cond delay="0"/>
                                          </p:stCondLst>
                                        </p:cTn>
                                        <p:tgtEl>
                                          <p:spTgt spid="146484"/>
                                        </p:tgtEl>
                                        <p:attrNameLst>
                                          <p:attrName>style.visibility</p:attrName>
                                        </p:attrNameLst>
                                      </p:cBhvr>
                                      <p:to>
                                        <p:strVal val="visible"/>
                                      </p:to>
                                    </p:set>
                                    <p:animEffect transition="in" filter="wipe(left)">
                                      <p:cBhvr>
                                        <p:cTn id="40" dur="500"/>
                                        <p:tgtEl>
                                          <p:spTgt spid="146484"/>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grpId="0" nodeType="clickEffect">
                                  <p:stCondLst>
                                    <p:cond delay="0"/>
                                  </p:stCondLst>
                                  <p:childTnLst>
                                    <p:set>
                                      <p:cBhvr>
                                        <p:cTn id="44" dur="1" fill="hold">
                                          <p:stCondLst>
                                            <p:cond delay="0"/>
                                          </p:stCondLst>
                                        </p:cTn>
                                        <p:tgtEl>
                                          <p:spTgt spid="109664"/>
                                        </p:tgtEl>
                                        <p:attrNameLst>
                                          <p:attrName>style.visibility</p:attrName>
                                        </p:attrNameLst>
                                      </p:cBhvr>
                                      <p:to>
                                        <p:strVal val="visible"/>
                                      </p:to>
                                    </p:set>
                                    <p:animEffect transition="in" filter="blinds(horizontal)">
                                      <p:cBhvr>
                                        <p:cTn id="45" dur="500"/>
                                        <p:tgtEl>
                                          <p:spTgt spid="109664"/>
                                        </p:tgtEl>
                                      </p:cBhvr>
                                    </p:animEffect>
                                  </p:childTnLst>
                                </p:cTn>
                              </p:par>
                              <p:par>
                                <p:cTn id="46" presetID="3" presetClass="entr" presetSubtype="10" fill="hold" nodeType="with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blinds(horizontal)">
                                      <p:cBhvr>
                                        <p:cTn id="48" dur="500"/>
                                        <p:tgtEl>
                                          <p:spTgt spid="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29453"/>
                                        </p:tgtEl>
                                        <p:attrNameLst>
                                          <p:attrName>style.visibility</p:attrName>
                                        </p:attrNameLst>
                                      </p:cBhvr>
                                      <p:to>
                                        <p:strVal val="visible"/>
                                      </p:to>
                                    </p:set>
                                    <p:animEffect transition="in" filter="wipe(left)">
                                      <p:cBhvr>
                                        <p:cTn id="53" dur="300"/>
                                        <p:tgtEl>
                                          <p:spTgt spid="229453"/>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22" presetClass="entr" presetSubtype="8" fill="hold" grpId="0" nodeType="clickEffect">
                                  <p:stCondLst>
                                    <p:cond delay="0"/>
                                  </p:stCondLst>
                                  <p:childTnLst>
                                    <p:set>
                                      <p:cBhvr>
                                        <p:cTn id="57" dur="1" fill="hold">
                                          <p:stCondLst>
                                            <p:cond delay="0"/>
                                          </p:stCondLst>
                                        </p:cTn>
                                        <p:tgtEl>
                                          <p:spTgt spid="229454">
                                            <p:txEl>
                                              <p:pRg st="0" end="0"/>
                                            </p:txEl>
                                          </p:spTgt>
                                        </p:tgtEl>
                                        <p:attrNameLst>
                                          <p:attrName>style.visibility</p:attrName>
                                        </p:attrNameLst>
                                      </p:cBhvr>
                                      <p:to>
                                        <p:strVal val="visible"/>
                                      </p:to>
                                    </p:set>
                                    <p:animEffect transition="in" filter="wipe(left)">
                                      <p:cBhvr>
                                        <p:cTn id="58" dur="500"/>
                                        <p:tgtEl>
                                          <p:spTgt spid="229454">
                                            <p:txEl>
                                              <p:pRg st="0" end="0"/>
                                            </p:txEl>
                                          </p:spTgt>
                                        </p:tgtEl>
                                      </p:cBhvr>
                                    </p:animEffect>
                                  </p:childTnLst>
                                </p:cTn>
                              </p:par>
                            </p:childTnLst>
                          </p:cTn>
                        </p:par>
                      </p:childTnLst>
                    </p:cTn>
                  </p:par>
                  <p:par>
                    <p:cTn id="59" fill="hold" nodeType="clickPar">
                      <p:stCondLst>
                        <p:cond delay="indefinite"/>
                      </p:stCondLst>
                      <p:childTnLst>
                        <p:par>
                          <p:cTn id="60" fill="hold" nodeType="withGroup">
                            <p:stCondLst>
                              <p:cond delay="0"/>
                            </p:stCondLst>
                            <p:childTnLst>
                              <p:par>
                                <p:cTn id="61" presetID="22" presetClass="entr" presetSubtype="8" fill="hold" grpId="0" nodeType="clickEffect">
                                  <p:stCondLst>
                                    <p:cond delay="0"/>
                                  </p:stCondLst>
                                  <p:childTnLst>
                                    <p:set>
                                      <p:cBhvr>
                                        <p:cTn id="62" dur="1" fill="hold">
                                          <p:stCondLst>
                                            <p:cond delay="0"/>
                                          </p:stCondLst>
                                        </p:cTn>
                                        <p:tgtEl>
                                          <p:spTgt spid="229454">
                                            <p:txEl>
                                              <p:pRg st="1" end="1"/>
                                            </p:txEl>
                                          </p:spTgt>
                                        </p:tgtEl>
                                        <p:attrNameLst>
                                          <p:attrName>style.visibility</p:attrName>
                                        </p:attrNameLst>
                                      </p:cBhvr>
                                      <p:to>
                                        <p:strVal val="visible"/>
                                      </p:to>
                                    </p:set>
                                    <p:animEffect transition="in" filter="wipe(left)">
                                      <p:cBhvr>
                                        <p:cTn id="63" dur="500"/>
                                        <p:tgtEl>
                                          <p:spTgt spid="229454">
                                            <p:txEl>
                                              <p:pRg st="1" end="1"/>
                                            </p:txEl>
                                          </p:spTgt>
                                        </p:tgtEl>
                                      </p:cBhvr>
                                    </p:animEffect>
                                  </p:childTnLst>
                                </p:cTn>
                              </p:par>
                            </p:childTnLst>
                          </p:cTn>
                        </p:par>
                      </p:childTnLst>
                    </p:cTn>
                  </p:par>
                  <p:par>
                    <p:cTn id="64" fill="hold" nodeType="clickPar">
                      <p:stCondLst>
                        <p:cond delay="indefinite"/>
                      </p:stCondLst>
                      <p:childTnLst>
                        <p:par>
                          <p:cTn id="65" fill="hold" nodeType="withGroup">
                            <p:stCondLst>
                              <p:cond delay="0"/>
                            </p:stCondLst>
                            <p:childTnLst>
                              <p:par>
                                <p:cTn id="66" presetID="22" presetClass="entr" presetSubtype="8" fill="hold" grpId="0" nodeType="clickEffect">
                                  <p:stCondLst>
                                    <p:cond delay="0"/>
                                  </p:stCondLst>
                                  <p:childTnLst>
                                    <p:set>
                                      <p:cBhvr>
                                        <p:cTn id="67" dur="1" fill="hold">
                                          <p:stCondLst>
                                            <p:cond delay="0"/>
                                          </p:stCondLst>
                                        </p:cTn>
                                        <p:tgtEl>
                                          <p:spTgt spid="229455"/>
                                        </p:tgtEl>
                                        <p:attrNameLst>
                                          <p:attrName>style.visibility</p:attrName>
                                        </p:attrNameLst>
                                      </p:cBhvr>
                                      <p:to>
                                        <p:strVal val="visible"/>
                                      </p:to>
                                    </p:set>
                                    <p:animEffect transition="in" filter="wipe(left)">
                                      <p:cBhvr>
                                        <p:cTn id="68" dur="300"/>
                                        <p:tgtEl>
                                          <p:spTgt spid="229455"/>
                                        </p:tgtEl>
                                      </p:cBhvr>
                                    </p:animEffect>
                                  </p:childTnLst>
                                </p:cTn>
                              </p:par>
                            </p:childTnLst>
                          </p:cTn>
                        </p:par>
                      </p:childTnLst>
                    </p:cTn>
                  </p:par>
                  <p:par>
                    <p:cTn id="69" fill="hold" nodeType="clickPar">
                      <p:stCondLst>
                        <p:cond delay="indefinite"/>
                      </p:stCondLst>
                      <p:childTnLst>
                        <p:par>
                          <p:cTn id="70" fill="hold" nodeType="withGroup">
                            <p:stCondLst>
                              <p:cond delay="0"/>
                            </p:stCondLst>
                            <p:childTnLst>
                              <p:par>
                                <p:cTn id="71" presetID="3" presetClass="entr" presetSubtype="10" fill="hold" grpId="0" nodeType="clickEffect">
                                  <p:stCondLst>
                                    <p:cond delay="0"/>
                                  </p:stCondLst>
                                  <p:childTnLst>
                                    <p:set>
                                      <p:cBhvr>
                                        <p:cTn id="72" dur="1" fill="hold">
                                          <p:stCondLst>
                                            <p:cond delay="0"/>
                                          </p:stCondLst>
                                        </p:cTn>
                                        <p:tgtEl>
                                          <p:spTgt spid="109665"/>
                                        </p:tgtEl>
                                        <p:attrNameLst>
                                          <p:attrName>style.visibility</p:attrName>
                                        </p:attrNameLst>
                                      </p:cBhvr>
                                      <p:to>
                                        <p:strVal val="visible"/>
                                      </p:to>
                                    </p:set>
                                    <p:animEffect transition="in" filter="blinds(horizontal)">
                                      <p:cBhvr>
                                        <p:cTn id="73" dur="500"/>
                                        <p:tgtEl>
                                          <p:spTgt spid="109665"/>
                                        </p:tgtEl>
                                      </p:cBhvr>
                                    </p:animEffect>
                                  </p:childTnLst>
                                </p:cTn>
                              </p:par>
                              <p:par>
                                <p:cTn id="74" presetID="3" presetClass="entr" presetSubtype="10" fill="hold" nodeType="withEffect">
                                  <p:stCondLst>
                                    <p:cond delay="0"/>
                                  </p:stCondLst>
                                  <p:childTnLst>
                                    <p:set>
                                      <p:cBhvr>
                                        <p:cTn id="75" dur="1" fill="hold">
                                          <p:stCondLst>
                                            <p:cond delay="0"/>
                                          </p:stCondLst>
                                        </p:cTn>
                                        <p:tgtEl>
                                          <p:spTgt spid="5"/>
                                        </p:tgtEl>
                                        <p:attrNameLst>
                                          <p:attrName>style.visibility</p:attrName>
                                        </p:attrNameLst>
                                      </p:cBhvr>
                                      <p:to>
                                        <p:strVal val="visible"/>
                                      </p:to>
                                    </p:set>
                                    <p:animEffect transition="in" filter="blinds(horizontal)">
                                      <p:cBhvr>
                                        <p:cTn id="76" dur="500"/>
                                        <p:tgtEl>
                                          <p:spTgt spid="5"/>
                                        </p:tgtEl>
                                      </p:cBhvr>
                                    </p:animEffect>
                                  </p:childTnLst>
                                </p:cTn>
                              </p:par>
                            </p:childTnLst>
                          </p:cTn>
                        </p:par>
                      </p:childTnLst>
                    </p:cTn>
                  </p:par>
                  <p:par>
                    <p:cTn id="77" fill="hold" nodeType="clickPar">
                      <p:stCondLst>
                        <p:cond delay="indefinite"/>
                      </p:stCondLst>
                      <p:childTnLst>
                        <p:par>
                          <p:cTn id="78" fill="hold" nodeType="withGroup">
                            <p:stCondLst>
                              <p:cond delay="0"/>
                            </p:stCondLst>
                            <p:childTnLst>
                              <p:par>
                                <p:cTn id="79" presetID="22" presetClass="entr" presetSubtype="8" fill="hold" grpId="0" nodeType="clickEffect">
                                  <p:stCondLst>
                                    <p:cond delay="0"/>
                                  </p:stCondLst>
                                  <p:childTnLst>
                                    <p:set>
                                      <p:cBhvr>
                                        <p:cTn id="80" dur="1" fill="hold">
                                          <p:stCondLst>
                                            <p:cond delay="0"/>
                                          </p:stCondLst>
                                        </p:cTn>
                                        <p:tgtEl>
                                          <p:spTgt spid="229458">
                                            <p:txEl>
                                              <p:pRg st="0" end="0"/>
                                            </p:txEl>
                                          </p:spTgt>
                                        </p:tgtEl>
                                        <p:attrNameLst>
                                          <p:attrName>style.visibility</p:attrName>
                                        </p:attrNameLst>
                                      </p:cBhvr>
                                      <p:to>
                                        <p:strVal val="visible"/>
                                      </p:to>
                                    </p:set>
                                    <p:animEffect transition="in" filter="wipe(left)">
                                      <p:cBhvr>
                                        <p:cTn id="81" dur="500"/>
                                        <p:tgtEl>
                                          <p:spTgt spid="229458">
                                            <p:txEl>
                                              <p:pRg st="0" end="0"/>
                                            </p:txEl>
                                          </p:spTgt>
                                        </p:tgtEl>
                                      </p:cBhvr>
                                    </p:animEffect>
                                  </p:childTnLst>
                                </p:cTn>
                              </p:par>
                            </p:childTnLst>
                          </p:cTn>
                        </p:par>
                      </p:childTnLst>
                    </p:cTn>
                  </p:par>
                  <p:par>
                    <p:cTn id="82" fill="hold" nodeType="clickPar">
                      <p:stCondLst>
                        <p:cond delay="indefinite"/>
                      </p:stCondLst>
                      <p:childTnLst>
                        <p:par>
                          <p:cTn id="83" fill="hold" nodeType="withGroup">
                            <p:stCondLst>
                              <p:cond delay="0"/>
                            </p:stCondLst>
                            <p:childTnLst>
                              <p:par>
                                <p:cTn id="84" presetID="22" presetClass="entr" presetSubtype="8" fill="hold" grpId="0" nodeType="clickEffect">
                                  <p:stCondLst>
                                    <p:cond delay="0"/>
                                  </p:stCondLst>
                                  <p:childTnLst>
                                    <p:set>
                                      <p:cBhvr>
                                        <p:cTn id="85" dur="1" fill="hold">
                                          <p:stCondLst>
                                            <p:cond delay="0"/>
                                          </p:stCondLst>
                                        </p:cTn>
                                        <p:tgtEl>
                                          <p:spTgt spid="229487">
                                            <p:txEl>
                                              <p:pRg st="0" end="0"/>
                                            </p:txEl>
                                          </p:spTgt>
                                        </p:tgtEl>
                                        <p:attrNameLst>
                                          <p:attrName>style.visibility</p:attrName>
                                        </p:attrNameLst>
                                      </p:cBhvr>
                                      <p:to>
                                        <p:strVal val="visible"/>
                                      </p:to>
                                    </p:set>
                                    <p:animEffect transition="in" filter="wipe(left)">
                                      <p:cBhvr>
                                        <p:cTn id="86" dur="500"/>
                                        <p:tgtEl>
                                          <p:spTgt spid="229487">
                                            <p:txEl>
                                              <p:pRg st="0" end="0"/>
                                            </p:txEl>
                                          </p:spTgt>
                                        </p:tgtEl>
                                      </p:cBhvr>
                                    </p:animEffect>
                                  </p:childTnLst>
                                </p:cTn>
                              </p:par>
                            </p:childTnLst>
                          </p:cTn>
                        </p:par>
                      </p:childTnLst>
                    </p:cTn>
                  </p:par>
                  <p:par>
                    <p:cTn id="87" fill="hold" nodeType="clickPar">
                      <p:stCondLst>
                        <p:cond delay="indefinite"/>
                      </p:stCondLst>
                      <p:childTnLst>
                        <p:par>
                          <p:cTn id="88" fill="hold" nodeType="withGroup">
                            <p:stCondLst>
                              <p:cond delay="0"/>
                            </p:stCondLst>
                            <p:childTnLst>
                              <p:par>
                                <p:cTn id="89" presetID="22" presetClass="entr" presetSubtype="8" fill="hold" grpId="0" nodeType="clickEffect">
                                  <p:stCondLst>
                                    <p:cond delay="0"/>
                                  </p:stCondLst>
                                  <p:childTnLst>
                                    <p:set>
                                      <p:cBhvr>
                                        <p:cTn id="90" dur="1" fill="hold">
                                          <p:stCondLst>
                                            <p:cond delay="0"/>
                                          </p:stCondLst>
                                        </p:cTn>
                                        <p:tgtEl>
                                          <p:spTgt spid="229487">
                                            <p:txEl>
                                              <p:pRg st="1" end="1"/>
                                            </p:txEl>
                                          </p:spTgt>
                                        </p:tgtEl>
                                        <p:attrNameLst>
                                          <p:attrName>style.visibility</p:attrName>
                                        </p:attrNameLst>
                                      </p:cBhvr>
                                      <p:to>
                                        <p:strVal val="visible"/>
                                      </p:to>
                                    </p:set>
                                    <p:animEffect transition="in" filter="wipe(left)">
                                      <p:cBhvr>
                                        <p:cTn id="91" dur="500"/>
                                        <p:tgtEl>
                                          <p:spTgt spid="229487">
                                            <p:txEl>
                                              <p:pRg st="1" end="1"/>
                                            </p:txEl>
                                          </p:spTgt>
                                        </p:tgtEl>
                                      </p:cBhvr>
                                    </p:animEffect>
                                  </p:childTnLst>
                                </p:cTn>
                              </p:par>
                            </p:childTnLst>
                          </p:cTn>
                        </p:par>
                      </p:childTnLst>
                    </p:cTn>
                  </p:par>
                  <p:par>
                    <p:cTn id="92" fill="hold" nodeType="clickPar">
                      <p:stCondLst>
                        <p:cond delay="indefinite"/>
                      </p:stCondLst>
                      <p:childTnLst>
                        <p:par>
                          <p:cTn id="93" fill="hold" nodeType="withGroup">
                            <p:stCondLst>
                              <p:cond delay="0"/>
                            </p:stCondLst>
                            <p:childTnLst>
                              <p:par>
                                <p:cTn id="94" presetID="3" presetClass="entr" presetSubtype="10" fill="hold" grpId="0" nodeType="clickEffect">
                                  <p:stCondLst>
                                    <p:cond delay="0"/>
                                  </p:stCondLst>
                                  <p:childTnLst>
                                    <p:set>
                                      <p:cBhvr>
                                        <p:cTn id="95" dur="1" fill="hold">
                                          <p:stCondLst>
                                            <p:cond delay="0"/>
                                          </p:stCondLst>
                                        </p:cTn>
                                        <p:tgtEl>
                                          <p:spTgt spid="109675"/>
                                        </p:tgtEl>
                                        <p:attrNameLst>
                                          <p:attrName>style.visibility</p:attrName>
                                        </p:attrNameLst>
                                      </p:cBhvr>
                                      <p:to>
                                        <p:strVal val="visible"/>
                                      </p:to>
                                    </p:set>
                                    <p:animEffect transition="in" filter="blinds(horizontal)">
                                      <p:cBhvr>
                                        <p:cTn id="96" dur="500"/>
                                        <p:tgtEl>
                                          <p:spTgt spid="10967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9573" grpId="0" autoUpdateAnimBg="0"/>
      <p:bldP spid="109663" grpId="0"/>
      <p:bldP spid="109664" grpId="0"/>
      <p:bldP spid="109665" grpId="0"/>
      <p:bldP spid="109666" grpId="0" autoUpdateAnimBg="0"/>
      <p:bldP spid="146483" grpId="0"/>
      <p:bldP spid="146484" grpId="0" autoUpdateAnimBg="0"/>
      <p:bldP spid="146466" grpId="0" build="p"/>
      <p:bldP spid="229453" grpId="0" autoUpdateAnimBg="0"/>
      <p:bldP spid="229454" grpId="0" build="p" autoUpdateAnimBg="0"/>
      <p:bldP spid="229455" grpId="0" autoUpdateAnimBg="0"/>
      <p:bldP spid="229458" grpId="0" build="p"/>
      <p:bldP spid="229487" grpId="0" build="p"/>
      <p:bldP spid="109675" grpId="0"/>
      <p:bldP spid="85" grpId="0" animBg="1"/>
    </p:bld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8915" name="Object 3"/>
          <p:cNvGraphicFramePr>
            <a:graphicFrameLocks noChangeAspect="1"/>
          </p:cNvGraphicFramePr>
          <p:nvPr/>
        </p:nvGraphicFramePr>
        <p:xfrm>
          <a:off x="2609850" y="1779588"/>
          <a:ext cx="2060575" cy="423862"/>
        </p:xfrm>
        <a:graphic>
          <a:graphicData uri="http://schemas.openxmlformats.org/presentationml/2006/ole">
            <p:oleObj spid="_x0000_s36893" name="公式" r:id="rId5" imgW="799753" imgH="291973" progId="Equation.3">
              <p:embed/>
            </p:oleObj>
          </a:graphicData>
        </a:graphic>
      </p:graphicFrame>
      <p:graphicFrame>
        <p:nvGraphicFramePr>
          <p:cNvPr id="38916" name="Object 4"/>
          <p:cNvGraphicFramePr>
            <a:graphicFrameLocks noChangeAspect="1"/>
          </p:cNvGraphicFramePr>
          <p:nvPr/>
        </p:nvGraphicFramePr>
        <p:xfrm>
          <a:off x="5294313" y="1785938"/>
          <a:ext cx="2360612" cy="444500"/>
        </p:xfrm>
        <a:graphic>
          <a:graphicData uri="http://schemas.openxmlformats.org/presentationml/2006/ole">
            <p:oleObj spid="_x0000_s36894" name="公式" r:id="rId6" imgW="927100" imgH="292100" progId="Equation.3">
              <p:embed/>
            </p:oleObj>
          </a:graphicData>
        </a:graphic>
      </p:graphicFrame>
      <p:graphicFrame>
        <p:nvGraphicFramePr>
          <p:cNvPr id="38917" name="Object 5"/>
          <p:cNvGraphicFramePr>
            <a:graphicFrameLocks noChangeAspect="1"/>
          </p:cNvGraphicFramePr>
          <p:nvPr/>
        </p:nvGraphicFramePr>
        <p:xfrm>
          <a:off x="2333625" y="2308225"/>
          <a:ext cx="6054725" cy="398463"/>
        </p:xfrm>
        <a:graphic>
          <a:graphicData uri="http://schemas.openxmlformats.org/presentationml/2006/ole">
            <p:oleObj spid="_x0000_s36895" name="公式" r:id="rId7" imgW="2654300" imgH="292100" progId="Equation.3">
              <p:embed/>
            </p:oleObj>
          </a:graphicData>
        </a:graphic>
      </p:graphicFrame>
      <p:grpSp>
        <p:nvGrpSpPr>
          <p:cNvPr id="2" name="Group 14"/>
          <p:cNvGrpSpPr>
            <a:grpSpLocks/>
          </p:cNvGrpSpPr>
          <p:nvPr/>
        </p:nvGrpSpPr>
        <p:grpSpPr bwMode="auto">
          <a:xfrm>
            <a:off x="304800" y="1209675"/>
            <a:ext cx="8458200" cy="857250"/>
            <a:chOff x="192" y="415"/>
            <a:chExt cx="5328" cy="720"/>
          </a:xfrm>
        </p:grpSpPr>
        <p:sp>
          <p:nvSpPr>
            <p:cNvPr id="36876" name="Text Box 7"/>
            <p:cNvSpPr txBox="1">
              <a:spLocks noChangeArrowheads="1"/>
            </p:cNvSpPr>
            <p:nvPr/>
          </p:nvSpPr>
          <p:spPr bwMode="auto">
            <a:xfrm>
              <a:off x="192" y="415"/>
              <a:ext cx="5328" cy="6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40000"/>
                </a:lnSpc>
              </a:pPr>
              <a:r>
                <a:rPr kumimoji="0" lang="en-US" altLang="zh-CN" sz="1600" b="1">
                  <a:solidFill>
                    <a:schemeClr val="accent2"/>
                  </a:solidFill>
                  <a:latin typeface="华文中宋" pitchFamily="2" charset="-122"/>
                  <a:ea typeface="华文中宋" pitchFamily="2" charset="-122"/>
                </a:rPr>
                <a:t>1</a:t>
              </a:r>
              <a:r>
                <a:rPr kumimoji="0" lang="zh-CN" altLang="en-US" sz="1600" b="1">
                  <a:solidFill>
                    <a:schemeClr val="accent2"/>
                  </a:solidFill>
                  <a:latin typeface="华文中宋" pitchFamily="2" charset="-122"/>
                  <a:ea typeface="华文中宋" pitchFamily="2" charset="-122"/>
                </a:rPr>
                <a:t>、分子的平均平动动能平均地分配在每一个平动自由度上，且每一个平动自由度上的平均平动动能的大小都是</a:t>
              </a:r>
            </a:p>
          </p:txBody>
        </p:sp>
        <p:graphicFrame>
          <p:nvGraphicFramePr>
            <p:cNvPr id="36877" name="Object 8"/>
            <p:cNvGraphicFramePr>
              <a:graphicFrameLocks noChangeAspect="1"/>
            </p:cNvGraphicFramePr>
            <p:nvPr/>
          </p:nvGraphicFramePr>
          <p:xfrm>
            <a:off x="1324" y="717"/>
            <a:ext cx="377" cy="418"/>
          </p:xfrm>
          <a:graphic>
            <a:graphicData uri="http://schemas.openxmlformats.org/presentationml/2006/ole">
              <p:oleObj spid="_x0000_s36896" name="公式" r:id="rId8" imgW="266469" imgH="291847" progId="Equation.3">
                <p:embed/>
              </p:oleObj>
            </a:graphicData>
          </a:graphic>
        </p:graphicFrame>
      </p:grpSp>
      <p:sp>
        <p:nvSpPr>
          <p:cNvPr id="39952" name="Rectangle 16"/>
          <p:cNvSpPr>
            <a:spLocks noChangeArrowheads="1"/>
          </p:cNvSpPr>
          <p:nvPr/>
        </p:nvSpPr>
        <p:spPr bwMode="auto">
          <a:xfrm>
            <a:off x="395288" y="3363913"/>
            <a:ext cx="8137525" cy="584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en-US" altLang="zh-CN" sz="1600" b="1">
                <a:latin typeface="华文中宋" pitchFamily="2" charset="-122"/>
                <a:ea typeface="华文中宋" pitchFamily="2" charset="-122"/>
              </a:rPr>
              <a:t>      </a:t>
            </a:r>
            <a:r>
              <a:rPr kumimoji="0" lang="zh-CN" altLang="en-US" sz="1600" b="1">
                <a:latin typeface="华文中宋" pitchFamily="2" charset="-122"/>
                <a:ea typeface="华文中宋" pitchFamily="2" charset="-122"/>
              </a:rPr>
              <a:t>这是将</a:t>
            </a:r>
            <a:r>
              <a:rPr kumimoji="0" lang="en-US" altLang="zh-CN" sz="1600" b="1">
                <a:latin typeface="华文中宋" pitchFamily="2" charset="-122"/>
                <a:ea typeface="华文中宋" pitchFamily="2" charset="-122"/>
              </a:rPr>
              <a:t>1</a:t>
            </a:r>
            <a:r>
              <a:rPr kumimoji="0" lang="zh-CN" altLang="en-US" sz="1600" b="1">
                <a:latin typeface="华文中宋" pitchFamily="2" charset="-122"/>
                <a:ea typeface="华文中宋" pitchFamily="2" charset="-122"/>
              </a:rPr>
              <a:t>中所得结果推广到转动和振动自由度（这是因为他们之间都能通过碰撞而交换能量）的结论。</a:t>
            </a:r>
          </a:p>
        </p:txBody>
      </p:sp>
      <p:sp>
        <p:nvSpPr>
          <p:cNvPr id="39953" name="Text Box 17"/>
          <p:cNvSpPr txBox="1">
            <a:spLocks noChangeArrowheads="1"/>
          </p:cNvSpPr>
          <p:nvPr/>
        </p:nvSpPr>
        <p:spPr bwMode="auto">
          <a:xfrm>
            <a:off x="395288" y="3949700"/>
            <a:ext cx="8137525" cy="5842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600" b="1">
                <a:latin typeface="华文中宋" pitchFamily="2" charset="-122"/>
                <a:ea typeface="华文中宋" pitchFamily="2" charset="-122"/>
              </a:rPr>
              <a:t>       </a:t>
            </a:r>
            <a:r>
              <a:rPr kumimoji="0" lang="zh-CN" altLang="en-US" sz="1600" b="1">
                <a:latin typeface="华文中宋" pitchFamily="2" charset="-122"/>
                <a:ea typeface="华文中宋" pitchFamily="2" charset="-122"/>
              </a:rPr>
              <a:t>之所以会出现上述结果，这是因为分子无规则热运动相互碰撞后达热平衡的结果，使得</a:t>
            </a:r>
            <a:r>
              <a:rPr kumimoji="0" lang="zh-CN" altLang="en-US" sz="1600" b="1">
                <a:solidFill>
                  <a:srgbClr val="CC0000"/>
                </a:solidFill>
                <a:latin typeface="华文中宋" pitchFamily="2" charset="-122"/>
                <a:ea typeface="华文中宋" pitchFamily="2" charset="-122"/>
              </a:rPr>
              <a:t>没有那一个自由度上的能量比其它自由度上的能量更占优势。</a:t>
            </a:r>
            <a:endParaRPr kumimoji="0" lang="zh-CN" altLang="en-US" sz="1600" b="1">
              <a:latin typeface="华文中宋" pitchFamily="2" charset="-122"/>
              <a:ea typeface="华文中宋" pitchFamily="2" charset="-122"/>
            </a:endParaRPr>
          </a:p>
        </p:txBody>
      </p:sp>
      <p:grpSp>
        <p:nvGrpSpPr>
          <p:cNvPr id="3" name="Group 23"/>
          <p:cNvGrpSpPr>
            <a:grpSpLocks/>
          </p:cNvGrpSpPr>
          <p:nvPr/>
        </p:nvGrpSpPr>
        <p:grpSpPr bwMode="auto">
          <a:xfrm>
            <a:off x="323850" y="2768600"/>
            <a:ext cx="8351838" cy="595313"/>
            <a:chOff x="204" y="1970"/>
            <a:chExt cx="5261" cy="500"/>
          </a:xfrm>
        </p:grpSpPr>
        <p:sp>
          <p:nvSpPr>
            <p:cNvPr id="36874" name="Text Box 15"/>
            <p:cNvSpPr txBox="1">
              <a:spLocks noChangeArrowheads="1"/>
            </p:cNvSpPr>
            <p:nvPr/>
          </p:nvSpPr>
          <p:spPr bwMode="auto">
            <a:xfrm>
              <a:off x="204" y="1979"/>
              <a:ext cx="5261" cy="49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600" b="1">
                  <a:solidFill>
                    <a:srgbClr val="3333CC"/>
                  </a:solidFill>
                  <a:latin typeface="华文中宋" pitchFamily="2" charset="-122"/>
                  <a:ea typeface="华文中宋" pitchFamily="2" charset="-122"/>
                </a:rPr>
                <a:t>2</a:t>
              </a:r>
              <a:r>
                <a:rPr kumimoji="0" lang="zh-CN" altLang="en-US" sz="1600" b="1">
                  <a:solidFill>
                    <a:srgbClr val="3333CC"/>
                  </a:solidFill>
                  <a:latin typeface="华文中宋" pitchFamily="2" charset="-122"/>
                  <a:ea typeface="华文中宋" pitchFamily="2" charset="-122"/>
                </a:rPr>
                <a:t>、在平衡态下，气体分子的每一个自由度的平均动能相等，每一个自由度的能量均为                                                              </a:t>
              </a:r>
              <a:r>
                <a:rPr kumimoji="0" lang="en-US" altLang="zh-CN" sz="1600" b="1">
                  <a:solidFill>
                    <a:srgbClr val="008000"/>
                  </a:solidFill>
                  <a:latin typeface="华文中宋" pitchFamily="2" charset="-122"/>
                  <a:ea typeface="华文中宋" pitchFamily="2" charset="-122"/>
                </a:rPr>
                <a:t>-------</a:t>
              </a:r>
              <a:r>
                <a:rPr kumimoji="0" lang="zh-CN" altLang="en-US" sz="1600" b="1">
                  <a:solidFill>
                    <a:srgbClr val="008000"/>
                  </a:solidFill>
                  <a:latin typeface="华文中宋" pitchFamily="2" charset="-122"/>
                  <a:ea typeface="华文中宋" pitchFamily="2" charset="-122"/>
                </a:rPr>
                <a:t>能量均分原理</a:t>
              </a:r>
            </a:p>
          </p:txBody>
        </p:sp>
        <p:graphicFrame>
          <p:nvGraphicFramePr>
            <p:cNvPr id="36875" name="Object 20"/>
            <p:cNvGraphicFramePr>
              <a:graphicFrameLocks noChangeAspect="1"/>
            </p:cNvGraphicFramePr>
            <p:nvPr/>
          </p:nvGraphicFramePr>
          <p:xfrm>
            <a:off x="5083" y="1970"/>
            <a:ext cx="337" cy="440"/>
          </p:xfrm>
          <a:graphic>
            <a:graphicData uri="http://schemas.openxmlformats.org/presentationml/2006/ole">
              <p:oleObj spid="_x0000_s36897" name="Equation" r:id="rId9" imgW="342751" imgH="393529" progId="Equation.DSMT4">
                <p:embed/>
              </p:oleObj>
            </a:graphicData>
          </a:graphic>
        </p:graphicFrame>
      </p:grpSp>
      <p:sp>
        <p:nvSpPr>
          <p:cNvPr id="14" name="Text Box 2"/>
          <p:cNvSpPr>
            <a:spLocks noChangeArrowheads="1"/>
          </p:cNvSpPr>
          <p:nvPr/>
        </p:nvSpPr>
        <p:spPr bwMode="auto">
          <a:xfrm>
            <a:off x="827088" y="874713"/>
            <a:ext cx="3529012" cy="401637"/>
          </a:xfrm>
          <a:prstGeom prst="homePlate">
            <a:avLst>
              <a:gd name="adj" fmla="val 49709"/>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二、能量按自由度均分原理</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 presetClass="entr" presetSubtype="10" fill="hold" nodeType="clickEffect">
                                  <p:stCondLst>
                                    <p:cond delay="0"/>
                                  </p:stCondLst>
                                  <p:childTnLst>
                                    <p:set>
                                      <p:cBhvr>
                                        <p:cTn id="16" dur="1" fill="hold">
                                          <p:stCondLst>
                                            <p:cond delay="0"/>
                                          </p:stCondLst>
                                        </p:cTn>
                                        <p:tgtEl>
                                          <p:spTgt spid="38915"/>
                                        </p:tgtEl>
                                        <p:attrNameLst>
                                          <p:attrName>style.visibility</p:attrName>
                                        </p:attrNameLst>
                                      </p:cBhvr>
                                      <p:to>
                                        <p:strVal val="visible"/>
                                      </p:to>
                                    </p:set>
                                    <p:animEffect transition="in" filter="checkerboard(across)">
                                      <p:cBhvr>
                                        <p:cTn id="17" dur="500"/>
                                        <p:tgtEl>
                                          <p:spTgt spid="3891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5" presetClass="entr" presetSubtype="10" fill="hold" nodeType="clickEffect">
                                  <p:stCondLst>
                                    <p:cond delay="0"/>
                                  </p:stCondLst>
                                  <p:childTnLst>
                                    <p:set>
                                      <p:cBhvr>
                                        <p:cTn id="21" dur="1" fill="hold">
                                          <p:stCondLst>
                                            <p:cond delay="0"/>
                                          </p:stCondLst>
                                        </p:cTn>
                                        <p:tgtEl>
                                          <p:spTgt spid="38916"/>
                                        </p:tgtEl>
                                        <p:attrNameLst>
                                          <p:attrName>style.visibility</p:attrName>
                                        </p:attrNameLst>
                                      </p:cBhvr>
                                      <p:to>
                                        <p:strVal val="visible"/>
                                      </p:to>
                                    </p:set>
                                    <p:animEffect transition="in" filter="checkerboard(across)">
                                      <p:cBhvr>
                                        <p:cTn id="22" dur="500"/>
                                        <p:tgtEl>
                                          <p:spTgt spid="3891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5" presetClass="entr" presetSubtype="10" fill="hold" nodeType="clickEffect">
                                  <p:stCondLst>
                                    <p:cond delay="0"/>
                                  </p:stCondLst>
                                  <p:childTnLst>
                                    <p:set>
                                      <p:cBhvr>
                                        <p:cTn id="26" dur="1" fill="hold">
                                          <p:stCondLst>
                                            <p:cond delay="0"/>
                                          </p:stCondLst>
                                        </p:cTn>
                                        <p:tgtEl>
                                          <p:spTgt spid="38917"/>
                                        </p:tgtEl>
                                        <p:attrNameLst>
                                          <p:attrName>style.visibility</p:attrName>
                                        </p:attrNameLst>
                                      </p:cBhvr>
                                      <p:to>
                                        <p:strVal val="visible"/>
                                      </p:to>
                                    </p:set>
                                    <p:animEffect transition="in" filter="checkerboard(across)">
                                      <p:cBhvr>
                                        <p:cTn id="27" dur="500"/>
                                        <p:tgtEl>
                                          <p:spTgt spid="38917"/>
                                        </p:tgtEl>
                                      </p:cBhvr>
                                    </p:animEffect>
                                  </p:childTnLst>
                                  <p:subTnLst>
                                    <p:audio>
                                      <p:cMediaNode>
                                        <p:cTn display="0" masterRel="sameClick">
                                          <p:stCondLst>
                                            <p:cond evt="begin" delay="0">
                                              <p:tn val="25"/>
                                            </p:cond>
                                          </p:stCondLst>
                                          <p:endCondLst>
                                            <p:cond evt="onStopAudio" delay="0">
                                              <p:tgtEl>
                                                <p:sldTgt/>
                                              </p:tgtEl>
                                            </p:cond>
                                          </p:endCondLst>
                                        </p:cTn>
                                        <p:tgtEl>
                                          <p:sndTgt r:embed="rId3" name="WHOOSH.WAV"/>
                                        </p:tgtEl>
                                      </p:cMediaNode>
                                    </p:audio>
                                  </p:sub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blinds(horizontal)">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39952"/>
                                        </p:tgtEl>
                                        <p:attrNameLst>
                                          <p:attrName>style.visibility</p:attrName>
                                        </p:attrNameLst>
                                      </p:cBhvr>
                                      <p:to>
                                        <p:strVal val="visible"/>
                                      </p:to>
                                    </p:set>
                                    <p:animEffect transition="in" filter="box(in)">
                                      <p:cBhvr>
                                        <p:cTn id="37" dur="500"/>
                                        <p:tgtEl>
                                          <p:spTgt spid="3995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4" presetClass="entr" presetSubtype="16" fill="hold" grpId="0" nodeType="clickEffect">
                                  <p:stCondLst>
                                    <p:cond delay="0"/>
                                  </p:stCondLst>
                                  <p:childTnLst>
                                    <p:set>
                                      <p:cBhvr>
                                        <p:cTn id="41" dur="1" fill="hold">
                                          <p:stCondLst>
                                            <p:cond delay="0"/>
                                          </p:stCondLst>
                                        </p:cTn>
                                        <p:tgtEl>
                                          <p:spTgt spid="39953"/>
                                        </p:tgtEl>
                                        <p:attrNameLst>
                                          <p:attrName>style.visibility</p:attrName>
                                        </p:attrNameLst>
                                      </p:cBhvr>
                                      <p:to>
                                        <p:strVal val="visible"/>
                                      </p:to>
                                    </p:set>
                                    <p:animEffect transition="in" filter="box(in)">
                                      <p:cBhvr>
                                        <p:cTn id="42" dur="500"/>
                                        <p:tgtEl>
                                          <p:spTgt spid="39953"/>
                                        </p:tgtEl>
                                      </p:cBhvr>
                                    </p:animEffect>
                                  </p:childTnLst>
                                  <p:subTnLst>
                                    <p:audio>
                                      <p:cMediaNode>
                                        <p:cTn display="0" masterRel="sameClick">
                                          <p:stCondLst>
                                            <p:cond evt="begin" delay="0">
                                              <p:tn val="40"/>
                                            </p:cond>
                                          </p:stCondLst>
                                          <p:endCondLst>
                                            <p:cond evt="onStopAudio" delay="0">
                                              <p:tgtEl>
                                                <p:sldTgt/>
                                              </p:tgtEl>
                                            </p:cond>
                                          </p:endCondLst>
                                        </p:cTn>
                                        <p:tgtEl>
                                          <p:sndTgt r:embed="rId4" name="CAMERA.WAV"/>
                                        </p:tgtEl>
                                      </p:cMediaNode>
                                    </p:audio>
                                  </p:sub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52" grpId="0" autoUpdateAnimBg="0"/>
      <p:bldP spid="39953" grpId="0" autoUpdateAnimBg="0"/>
      <p:bldP spid="14" grpId="0" animBg="1"/>
    </p:bld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9945" name="Rectangle 1033"/>
          <p:cNvSpPr>
            <a:spLocks noChangeArrowheads="1"/>
          </p:cNvSpPr>
          <p:nvPr/>
        </p:nvSpPr>
        <p:spPr bwMode="auto">
          <a:xfrm>
            <a:off x="454025" y="835025"/>
            <a:ext cx="57023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en-US" altLang="zh-CN" sz="1800" b="1">
                <a:solidFill>
                  <a:schemeClr val="accent2"/>
                </a:solidFill>
                <a:latin typeface="华文中宋" pitchFamily="2" charset="-122"/>
                <a:ea typeface="华文中宋" pitchFamily="2" charset="-122"/>
              </a:rPr>
              <a:t>3</a:t>
            </a:r>
            <a:r>
              <a:rPr kumimoji="0" lang="zh-CN" altLang="en-US" sz="1800" b="1">
                <a:solidFill>
                  <a:schemeClr val="accent2"/>
                </a:solidFill>
                <a:latin typeface="华文中宋" pitchFamily="2" charset="-122"/>
                <a:ea typeface="华文中宋" pitchFamily="2" charset="-122"/>
              </a:rPr>
              <a:t>、气体分子的平均总动能，气体分子的热运动能量</a:t>
            </a:r>
          </a:p>
        </p:txBody>
      </p:sp>
      <p:sp>
        <p:nvSpPr>
          <p:cNvPr id="39947" name="Text Box 1035"/>
          <p:cNvSpPr txBox="1">
            <a:spLocks noChangeArrowheads="1"/>
          </p:cNvSpPr>
          <p:nvPr/>
        </p:nvSpPr>
        <p:spPr bwMode="auto">
          <a:xfrm>
            <a:off x="900113" y="1204913"/>
            <a:ext cx="496728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一个自由度为</a:t>
            </a:r>
            <a:r>
              <a:rPr kumimoji="0" lang="en-US" altLang="zh-CN" sz="1800" b="1" i="1">
                <a:ea typeface="华文中宋" pitchFamily="2" charset="-122"/>
                <a:cs typeface="Times New Roman" pitchFamily="18" charset="0"/>
              </a:rPr>
              <a:t>i</a:t>
            </a:r>
            <a:r>
              <a:rPr kumimoji="0" lang="zh-CN" altLang="en-US" sz="1800" b="1">
                <a:latin typeface="华文中宋" pitchFamily="2" charset="-122"/>
                <a:ea typeface="华文中宋" pitchFamily="2" charset="-122"/>
              </a:rPr>
              <a:t>的刚性分子所具有平均总动能： </a:t>
            </a:r>
          </a:p>
        </p:txBody>
      </p:sp>
      <p:graphicFrame>
        <p:nvGraphicFramePr>
          <p:cNvPr id="41000" name="Object 1064"/>
          <p:cNvGraphicFramePr>
            <a:graphicFrameLocks noChangeAspect="1"/>
          </p:cNvGraphicFramePr>
          <p:nvPr/>
        </p:nvGraphicFramePr>
        <p:xfrm>
          <a:off x="5886450" y="1089025"/>
          <a:ext cx="1277938" cy="546100"/>
        </p:xfrm>
        <a:graphic>
          <a:graphicData uri="http://schemas.openxmlformats.org/presentationml/2006/ole">
            <p:oleObj spid="_x0000_s37936" name="公式" r:id="rId3" imgW="482391" imgH="291973" progId="Equation.3">
              <p:embed/>
            </p:oleObj>
          </a:graphicData>
        </a:graphic>
      </p:graphicFrame>
      <p:grpSp>
        <p:nvGrpSpPr>
          <p:cNvPr id="2" name="Group 1062"/>
          <p:cNvGrpSpPr>
            <a:grpSpLocks/>
          </p:cNvGrpSpPr>
          <p:nvPr/>
        </p:nvGrpSpPr>
        <p:grpSpPr bwMode="auto">
          <a:xfrm>
            <a:off x="1258888" y="1589088"/>
            <a:ext cx="6842125" cy="2224087"/>
            <a:chOff x="295" y="1071"/>
            <a:chExt cx="4717" cy="2132"/>
          </a:xfrm>
        </p:grpSpPr>
        <p:sp>
          <p:nvSpPr>
            <p:cNvPr id="37895" name="Rectangle 1043"/>
            <p:cNvSpPr>
              <a:spLocks noChangeArrowheads="1"/>
            </p:cNvSpPr>
            <p:nvPr/>
          </p:nvSpPr>
          <p:spPr bwMode="auto">
            <a:xfrm>
              <a:off x="295" y="1196"/>
              <a:ext cx="1497"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单原子分子</a:t>
              </a:r>
              <a:r>
                <a:rPr kumimoji="0" lang="en-US" altLang="zh-CN" sz="1500" b="1" i="1">
                  <a:ea typeface="华文中宋" pitchFamily="2" charset="-122"/>
                </a:rPr>
                <a:t>i</a:t>
              </a:r>
              <a:r>
                <a:rPr kumimoji="0" lang="en-US" altLang="zh-CN" sz="1500" b="1">
                  <a:ea typeface="华文中宋" pitchFamily="2" charset="-122"/>
                </a:rPr>
                <a:t>=3</a:t>
              </a:r>
            </a:p>
          </p:txBody>
        </p:sp>
        <p:graphicFrame>
          <p:nvGraphicFramePr>
            <p:cNvPr id="37896" name="Object 1044"/>
            <p:cNvGraphicFramePr>
              <a:graphicFrameLocks noChangeAspect="1"/>
            </p:cNvGraphicFramePr>
            <p:nvPr/>
          </p:nvGraphicFramePr>
          <p:xfrm>
            <a:off x="1974" y="1071"/>
            <a:ext cx="770" cy="488"/>
          </p:xfrm>
          <a:graphic>
            <a:graphicData uri="http://schemas.openxmlformats.org/presentationml/2006/ole">
              <p:oleObj spid="_x0000_s37937" name="公式" r:id="rId4" imgW="482391" imgH="291973" progId="Equation.3">
                <p:embed/>
              </p:oleObj>
            </a:graphicData>
          </a:graphic>
        </p:graphicFrame>
        <p:sp>
          <p:nvSpPr>
            <p:cNvPr id="37897" name="Rectangle 1045"/>
            <p:cNvSpPr>
              <a:spLocks noChangeArrowheads="1"/>
            </p:cNvSpPr>
            <p:nvPr/>
          </p:nvSpPr>
          <p:spPr bwMode="auto">
            <a:xfrm>
              <a:off x="3152" y="1180"/>
              <a:ext cx="1860"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全为平均平动动能 </a:t>
              </a:r>
            </a:p>
          </p:txBody>
        </p:sp>
        <p:sp>
          <p:nvSpPr>
            <p:cNvPr id="37898" name="Rectangle 1046"/>
            <p:cNvSpPr>
              <a:spLocks noChangeArrowheads="1"/>
            </p:cNvSpPr>
            <p:nvPr/>
          </p:nvSpPr>
          <p:spPr bwMode="auto">
            <a:xfrm>
              <a:off x="295" y="1847"/>
              <a:ext cx="1634"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双原子分子</a:t>
              </a:r>
              <a:r>
                <a:rPr kumimoji="0" lang="en-US" altLang="zh-CN" sz="1500" b="1" i="1">
                  <a:ea typeface="华文中宋" pitchFamily="2" charset="-122"/>
                </a:rPr>
                <a:t>i</a:t>
              </a:r>
              <a:r>
                <a:rPr kumimoji="0" lang="en-US" altLang="zh-CN" sz="1500" b="1">
                  <a:ea typeface="华文中宋" pitchFamily="2" charset="-122"/>
                </a:rPr>
                <a:t>=3+2</a:t>
              </a:r>
            </a:p>
          </p:txBody>
        </p:sp>
        <p:graphicFrame>
          <p:nvGraphicFramePr>
            <p:cNvPr id="37899" name="Object 1047"/>
            <p:cNvGraphicFramePr>
              <a:graphicFrameLocks noChangeAspect="1"/>
            </p:cNvGraphicFramePr>
            <p:nvPr/>
          </p:nvGraphicFramePr>
          <p:xfrm>
            <a:off x="1989" y="1752"/>
            <a:ext cx="755" cy="474"/>
          </p:xfrm>
          <a:graphic>
            <a:graphicData uri="http://schemas.openxmlformats.org/presentationml/2006/ole">
              <p:oleObj spid="_x0000_s37938" name="公式" r:id="rId5" imgW="482391" imgH="291973" progId="Equation.3">
                <p:embed/>
              </p:oleObj>
            </a:graphicData>
          </a:graphic>
        </p:graphicFrame>
        <p:sp>
          <p:nvSpPr>
            <p:cNvPr id="37900" name="Rectangle 1051"/>
            <p:cNvSpPr>
              <a:spLocks noChangeArrowheads="1"/>
            </p:cNvSpPr>
            <p:nvPr/>
          </p:nvSpPr>
          <p:spPr bwMode="auto">
            <a:xfrm>
              <a:off x="295" y="2702"/>
              <a:ext cx="163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多原子分子</a:t>
              </a:r>
              <a:r>
                <a:rPr kumimoji="0" lang="en-US" altLang="zh-CN" sz="1500" b="1" i="1">
                  <a:ea typeface="华文中宋" pitchFamily="2" charset="-122"/>
                </a:rPr>
                <a:t>i</a:t>
              </a:r>
              <a:r>
                <a:rPr kumimoji="0" lang="en-US" altLang="zh-CN" sz="1500" b="1">
                  <a:ea typeface="华文中宋" pitchFamily="2" charset="-122"/>
                </a:rPr>
                <a:t>=3+3</a:t>
              </a:r>
            </a:p>
          </p:txBody>
        </p:sp>
        <p:graphicFrame>
          <p:nvGraphicFramePr>
            <p:cNvPr id="37901" name="Object 1052"/>
            <p:cNvGraphicFramePr>
              <a:graphicFrameLocks noChangeAspect="1"/>
            </p:cNvGraphicFramePr>
            <p:nvPr/>
          </p:nvGraphicFramePr>
          <p:xfrm>
            <a:off x="2008" y="2568"/>
            <a:ext cx="788" cy="486"/>
          </p:xfrm>
          <a:graphic>
            <a:graphicData uri="http://schemas.openxmlformats.org/presentationml/2006/ole">
              <p:oleObj spid="_x0000_s37939" name="公式" r:id="rId6" imgW="482391" imgH="291973" progId="Equation.3">
                <p:embed/>
              </p:oleObj>
            </a:graphicData>
          </a:graphic>
        </p:graphicFrame>
        <p:grpSp>
          <p:nvGrpSpPr>
            <p:cNvPr id="37902" name="Group 1059"/>
            <p:cNvGrpSpPr>
              <a:grpSpLocks/>
            </p:cNvGrpSpPr>
            <p:nvPr/>
          </p:nvGrpSpPr>
          <p:grpSpPr bwMode="auto">
            <a:xfrm>
              <a:off x="3133" y="2387"/>
              <a:ext cx="1879" cy="816"/>
              <a:chOff x="3107" y="2342"/>
              <a:chExt cx="1879" cy="816"/>
            </a:xfrm>
          </p:grpSpPr>
          <p:sp>
            <p:nvSpPr>
              <p:cNvPr id="37908" name="Rectangle 1050"/>
              <p:cNvSpPr>
                <a:spLocks noChangeArrowheads="1"/>
              </p:cNvSpPr>
              <p:nvPr/>
            </p:nvSpPr>
            <p:spPr bwMode="auto">
              <a:xfrm>
                <a:off x="3107" y="2416"/>
                <a:ext cx="187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平均平动动能为 </a:t>
                </a:r>
              </a:p>
            </p:txBody>
          </p:sp>
          <p:sp>
            <p:nvSpPr>
              <p:cNvPr id="37909" name="Rectangle 1053"/>
              <p:cNvSpPr>
                <a:spLocks noChangeArrowheads="1"/>
              </p:cNvSpPr>
              <p:nvPr/>
            </p:nvSpPr>
            <p:spPr bwMode="auto">
              <a:xfrm>
                <a:off x="3111" y="2765"/>
                <a:ext cx="1765"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平均转动动能为 </a:t>
                </a:r>
              </a:p>
            </p:txBody>
          </p:sp>
          <p:graphicFrame>
            <p:nvGraphicFramePr>
              <p:cNvPr id="37910" name="Object 1054"/>
              <p:cNvGraphicFramePr>
                <a:graphicFrameLocks noChangeAspect="1"/>
              </p:cNvGraphicFramePr>
              <p:nvPr/>
            </p:nvGraphicFramePr>
            <p:xfrm>
              <a:off x="4261" y="2342"/>
              <a:ext cx="397" cy="453"/>
            </p:xfrm>
            <a:graphic>
              <a:graphicData uri="http://schemas.openxmlformats.org/presentationml/2006/ole">
                <p:oleObj spid="_x0000_s37940" name="公式" r:id="rId7" imgW="266469" imgH="291847" progId="Equation.3">
                  <p:embed/>
                </p:oleObj>
              </a:graphicData>
            </a:graphic>
          </p:graphicFrame>
          <p:graphicFrame>
            <p:nvGraphicFramePr>
              <p:cNvPr id="37911" name="Object 1055"/>
              <p:cNvGraphicFramePr>
                <a:graphicFrameLocks noChangeAspect="1"/>
              </p:cNvGraphicFramePr>
              <p:nvPr/>
            </p:nvGraphicFramePr>
            <p:xfrm>
              <a:off x="4272" y="2704"/>
              <a:ext cx="397" cy="454"/>
            </p:xfrm>
            <a:graphic>
              <a:graphicData uri="http://schemas.openxmlformats.org/presentationml/2006/ole">
                <p:oleObj spid="_x0000_s37941" name="公式" r:id="rId8" imgW="266469" imgH="291847" progId="Equation.3">
                  <p:embed/>
                </p:oleObj>
              </a:graphicData>
            </a:graphic>
          </p:graphicFrame>
        </p:grpSp>
        <p:grpSp>
          <p:nvGrpSpPr>
            <p:cNvPr id="37903" name="Group 1061"/>
            <p:cNvGrpSpPr>
              <a:grpSpLocks/>
            </p:cNvGrpSpPr>
            <p:nvPr/>
          </p:nvGrpSpPr>
          <p:grpSpPr bwMode="auto">
            <a:xfrm>
              <a:off x="3140" y="1570"/>
              <a:ext cx="1765" cy="832"/>
              <a:chOff x="3128" y="1646"/>
              <a:chExt cx="1765" cy="832"/>
            </a:xfrm>
          </p:grpSpPr>
          <p:graphicFrame>
            <p:nvGraphicFramePr>
              <p:cNvPr id="37904" name="Object 1048"/>
              <p:cNvGraphicFramePr>
                <a:graphicFrameLocks noChangeAspect="1"/>
              </p:cNvGraphicFramePr>
              <p:nvPr/>
            </p:nvGraphicFramePr>
            <p:xfrm>
              <a:off x="4260" y="1646"/>
              <a:ext cx="391" cy="454"/>
            </p:xfrm>
            <a:graphic>
              <a:graphicData uri="http://schemas.openxmlformats.org/presentationml/2006/ole">
                <p:oleObj spid="_x0000_s37942" name="公式" r:id="rId9" imgW="266469" imgH="291847" progId="Equation.3">
                  <p:embed/>
                </p:oleObj>
              </a:graphicData>
            </a:graphic>
          </p:graphicFrame>
          <p:sp>
            <p:nvSpPr>
              <p:cNvPr id="37905" name="Rectangle 1049"/>
              <p:cNvSpPr>
                <a:spLocks noChangeArrowheads="1"/>
              </p:cNvSpPr>
              <p:nvPr/>
            </p:nvSpPr>
            <p:spPr bwMode="auto">
              <a:xfrm>
                <a:off x="3138" y="1737"/>
                <a:ext cx="1573"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平均平动动能为 </a:t>
                </a:r>
              </a:p>
            </p:txBody>
          </p:sp>
          <p:sp>
            <p:nvSpPr>
              <p:cNvPr id="37906" name="Rectangle 1057"/>
              <p:cNvSpPr>
                <a:spLocks noChangeArrowheads="1"/>
              </p:cNvSpPr>
              <p:nvPr/>
            </p:nvSpPr>
            <p:spPr bwMode="auto">
              <a:xfrm>
                <a:off x="3128" y="2100"/>
                <a:ext cx="1765"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500" b="1">
                    <a:ea typeface="华文中宋" pitchFamily="2" charset="-122"/>
                  </a:rPr>
                  <a:t>平均转动动能为 </a:t>
                </a:r>
              </a:p>
            </p:txBody>
          </p:sp>
          <p:graphicFrame>
            <p:nvGraphicFramePr>
              <p:cNvPr id="37907" name="Object 1058"/>
              <p:cNvGraphicFramePr>
                <a:graphicFrameLocks noChangeAspect="1"/>
              </p:cNvGraphicFramePr>
              <p:nvPr/>
            </p:nvGraphicFramePr>
            <p:xfrm>
              <a:off x="4260" y="2025"/>
              <a:ext cx="397" cy="453"/>
            </p:xfrm>
            <a:graphic>
              <a:graphicData uri="http://schemas.openxmlformats.org/presentationml/2006/ole">
                <p:oleObj spid="_x0000_s37943" name="公式" r:id="rId10" imgW="266469" imgH="291847" progId="Equation.3">
                  <p:embed/>
                </p:oleObj>
              </a:graphicData>
            </a:graphic>
          </p:graphicFrame>
        </p:grpSp>
      </p:grpSp>
      <p:sp>
        <p:nvSpPr>
          <p:cNvPr id="40999" name="Text Box 1063"/>
          <p:cNvSpPr txBox="1">
            <a:spLocks noChangeArrowheads="1"/>
          </p:cNvSpPr>
          <p:nvPr/>
        </p:nvSpPr>
        <p:spPr bwMode="auto">
          <a:xfrm>
            <a:off x="539750" y="3508375"/>
            <a:ext cx="8208963" cy="1076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600" b="1">
                <a:solidFill>
                  <a:srgbClr val="FF0000"/>
                </a:solidFill>
                <a:latin typeface="华文中宋" pitchFamily="2" charset="-122"/>
                <a:ea typeface="华文中宋" pitchFamily="2" charset="-122"/>
              </a:rPr>
              <a:t>注意：</a:t>
            </a:r>
          </a:p>
          <a:p>
            <a:r>
              <a:rPr kumimoji="0" lang="zh-CN" altLang="en-US" sz="1600" b="1">
                <a:latin typeface="华文中宋" pitchFamily="2" charset="-122"/>
                <a:ea typeface="华文中宋" pitchFamily="2" charset="-122"/>
              </a:rPr>
              <a:t>      刚性分子：分子的平均总动能</a:t>
            </a:r>
            <a:r>
              <a:rPr kumimoji="0" lang="en-US" altLang="zh-CN" sz="1600" b="1">
                <a:latin typeface="华文中宋" pitchFamily="2" charset="-122"/>
                <a:ea typeface="华文中宋" pitchFamily="2" charset="-122"/>
              </a:rPr>
              <a:t>=</a:t>
            </a:r>
            <a:r>
              <a:rPr kumimoji="0" lang="zh-CN" altLang="en-US" sz="1600" b="1">
                <a:latin typeface="华文中宋" pitchFamily="2" charset="-122"/>
                <a:ea typeface="华文中宋" pitchFamily="2" charset="-122"/>
              </a:rPr>
              <a:t>分子的热运动总能。</a:t>
            </a:r>
          </a:p>
          <a:p>
            <a:r>
              <a:rPr kumimoji="0" lang="zh-CN" altLang="en-US" sz="1600" b="1">
                <a:latin typeface="华文中宋" pitchFamily="2" charset="-122"/>
                <a:ea typeface="华文中宋" pitchFamily="2" charset="-122"/>
              </a:rPr>
              <a:t>      非刚性分子：因其还有振动自由度，因此热运动总能还抱过振动自由度上的振动动能与振动势能。</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39945"/>
                                        </p:tgtEl>
                                        <p:attrNameLst>
                                          <p:attrName>style.visibility</p:attrName>
                                        </p:attrNameLst>
                                      </p:cBhvr>
                                      <p:to>
                                        <p:strVal val="visible"/>
                                      </p:to>
                                    </p:set>
                                    <p:animEffect transition="in" filter="box(in)">
                                      <p:cBhvr>
                                        <p:cTn id="7" dur="500"/>
                                        <p:tgtEl>
                                          <p:spTgt spid="39945"/>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39947"/>
                                        </p:tgtEl>
                                        <p:attrNameLst>
                                          <p:attrName>style.visibility</p:attrName>
                                        </p:attrNameLst>
                                      </p:cBhvr>
                                      <p:to>
                                        <p:strVal val="visible"/>
                                      </p:to>
                                    </p:set>
                                    <p:animEffect transition="in" filter="box(in)">
                                      <p:cBhvr>
                                        <p:cTn id="12" dur="500"/>
                                        <p:tgtEl>
                                          <p:spTgt spid="39947"/>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4" presetClass="entr" presetSubtype="16" fill="hold" nodeType="clickEffect">
                                  <p:stCondLst>
                                    <p:cond delay="0"/>
                                  </p:stCondLst>
                                  <p:childTnLst>
                                    <p:set>
                                      <p:cBhvr>
                                        <p:cTn id="16" dur="1" fill="hold">
                                          <p:stCondLst>
                                            <p:cond delay="0"/>
                                          </p:stCondLst>
                                        </p:cTn>
                                        <p:tgtEl>
                                          <p:spTgt spid="41000"/>
                                        </p:tgtEl>
                                        <p:attrNameLst>
                                          <p:attrName>style.visibility</p:attrName>
                                        </p:attrNameLst>
                                      </p:cBhvr>
                                      <p:to>
                                        <p:strVal val="visible"/>
                                      </p:to>
                                    </p:set>
                                    <p:animEffect transition="in" filter="box(in)">
                                      <p:cBhvr>
                                        <p:cTn id="17" dur="500"/>
                                        <p:tgtEl>
                                          <p:spTgt spid="41000"/>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2"/>
                                        </p:tgtEl>
                                        <p:attrNameLst>
                                          <p:attrName>style.visibility</p:attrName>
                                        </p:attrNameLst>
                                      </p:cBhvr>
                                      <p:to>
                                        <p:strVal val="visible"/>
                                      </p:to>
                                    </p:set>
                                    <p:animEffect transition="in" filter="blinds(horizontal)">
                                      <p:cBhvr>
                                        <p:cTn id="22" dur="500"/>
                                        <p:tgtEl>
                                          <p:spTgt spid="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4" presetClass="entr" presetSubtype="16" fill="hold" grpId="0" nodeType="clickEffect">
                                  <p:stCondLst>
                                    <p:cond delay="0"/>
                                  </p:stCondLst>
                                  <p:childTnLst>
                                    <p:set>
                                      <p:cBhvr>
                                        <p:cTn id="26" dur="1" fill="hold">
                                          <p:stCondLst>
                                            <p:cond delay="0"/>
                                          </p:stCondLst>
                                        </p:cTn>
                                        <p:tgtEl>
                                          <p:spTgt spid="40999"/>
                                        </p:tgtEl>
                                        <p:attrNameLst>
                                          <p:attrName>style.visibility</p:attrName>
                                        </p:attrNameLst>
                                      </p:cBhvr>
                                      <p:to>
                                        <p:strVal val="visible"/>
                                      </p:to>
                                    </p:set>
                                    <p:animEffect transition="in" filter="box(in)">
                                      <p:cBhvr>
                                        <p:cTn id="27" dur="500"/>
                                        <p:tgtEl>
                                          <p:spTgt spid="4099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9945" grpId="0" autoUpdateAnimBg="0"/>
      <p:bldP spid="39947" grpId="0" autoUpdateAnimBg="0"/>
      <p:bldP spid="40999" grpId="0" autoUpdateAnimBg="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988" name="Text Box 4"/>
          <p:cNvSpPr txBox="1">
            <a:spLocks noChangeArrowheads="1"/>
          </p:cNvSpPr>
          <p:nvPr/>
        </p:nvSpPr>
        <p:spPr bwMode="auto">
          <a:xfrm>
            <a:off x="250825" y="1328738"/>
            <a:ext cx="777557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内能是指系统内所有分子的</a:t>
            </a:r>
            <a:r>
              <a:rPr kumimoji="0" lang="zh-CN" altLang="en-US" sz="1800" b="1">
                <a:solidFill>
                  <a:srgbClr val="008000"/>
                </a:solidFill>
                <a:latin typeface="华文中宋" pitchFamily="2" charset="-122"/>
                <a:ea typeface="华文中宋" pitchFamily="2" charset="-122"/>
              </a:rPr>
              <a:t>热运动能量</a:t>
            </a:r>
            <a:r>
              <a:rPr kumimoji="0" lang="zh-CN" altLang="en-US" sz="1800" b="1">
                <a:latin typeface="华文中宋" pitchFamily="2" charset="-122"/>
                <a:ea typeface="华文中宋" pitchFamily="2" charset="-122"/>
              </a:rPr>
              <a:t>和</a:t>
            </a:r>
            <a:r>
              <a:rPr kumimoji="0" lang="zh-CN" altLang="en-US" sz="1800" b="1">
                <a:solidFill>
                  <a:srgbClr val="008000"/>
                </a:solidFill>
                <a:latin typeface="华文中宋" pitchFamily="2" charset="-122"/>
                <a:ea typeface="华文中宋" pitchFamily="2" charset="-122"/>
              </a:rPr>
              <a:t>分子间相互作用势能</a:t>
            </a:r>
            <a:r>
              <a:rPr kumimoji="0" lang="zh-CN" altLang="en-US" sz="1800" b="1">
                <a:latin typeface="华文中宋" pitchFamily="2" charset="-122"/>
                <a:ea typeface="华文中宋" pitchFamily="2" charset="-122"/>
              </a:rPr>
              <a:t>之总和。</a:t>
            </a:r>
          </a:p>
        </p:txBody>
      </p:sp>
      <p:sp>
        <p:nvSpPr>
          <p:cNvPr id="41993" name="Text Box 9"/>
          <p:cNvSpPr txBox="1">
            <a:spLocks noChangeArrowheads="1"/>
          </p:cNvSpPr>
          <p:nvPr/>
        </p:nvSpPr>
        <p:spPr bwMode="auto">
          <a:xfrm>
            <a:off x="250825" y="2355850"/>
            <a:ext cx="8534400" cy="7381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solidFill>
                  <a:srgbClr val="FF0000"/>
                </a:solidFill>
                <a:latin typeface="华文中宋" pitchFamily="2" charset="-122"/>
                <a:ea typeface="华文中宋" pitchFamily="2" charset="-122"/>
              </a:rPr>
              <a:t>理想气体内能：</a:t>
            </a:r>
            <a:r>
              <a:rPr kumimoji="0" lang="zh-CN" altLang="en-US" sz="1800" b="1">
                <a:solidFill>
                  <a:srgbClr val="008000"/>
                </a:solidFill>
                <a:latin typeface="华文中宋" pitchFamily="2" charset="-122"/>
                <a:ea typeface="华文中宋" pitchFamily="2" charset="-122"/>
              </a:rPr>
              <a:t>所有分子的平均总动能之和</a:t>
            </a:r>
            <a:endParaRPr kumimoji="0" lang="en-US" altLang="zh-CN" sz="100" b="1">
              <a:solidFill>
                <a:srgbClr val="008000"/>
              </a:solidFill>
              <a:latin typeface="华文中宋" pitchFamily="2" charset="-122"/>
              <a:ea typeface="华文中宋" pitchFamily="2" charset="-122"/>
            </a:endParaRPr>
          </a:p>
          <a:p>
            <a:endParaRPr kumimoji="0" lang="zh-CN" altLang="en-US" sz="600" b="1">
              <a:solidFill>
                <a:srgbClr val="008000"/>
              </a:solidFill>
              <a:latin typeface="华文中宋" pitchFamily="2" charset="-122"/>
              <a:ea typeface="华文中宋" pitchFamily="2" charset="-122"/>
            </a:endParaRPr>
          </a:p>
          <a:p>
            <a:r>
              <a:rPr kumimoji="0" lang="zh-CN" altLang="en-US" sz="600" b="1">
                <a:solidFill>
                  <a:srgbClr val="FF0000"/>
                </a:solidFill>
                <a:latin typeface="华文中宋" pitchFamily="2" charset="-122"/>
                <a:ea typeface="华文中宋" pitchFamily="2" charset="-122"/>
              </a:rPr>
              <a:t>                   </a:t>
            </a:r>
            <a:r>
              <a:rPr kumimoji="0" lang="zh-CN" altLang="en-US" sz="1800" b="1">
                <a:latin typeface="华文中宋" pitchFamily="2" charset="-122"/>
                <a:ea typeface="华文中宋" pitchFamily="2" charset="-122"/>
              </a:rPr>
              <a:t>设热力学体系内有</a:t>
            </a:r>
            <a:r>
              <a:rPr kumimoji="0" lang="en-US" altLang="zh-CN" sz="1800" b="1" i="1">
                <a:ea typeface="华文中宋" pitchFamily="2" charset="-122"/>
                <a:cs typeface="Times New Roman" pitchFamily="18" charset="0"/>
              </a:rPr>
              <a:t>N</a:t>
            </a:r>
            <a:r>
              <a:rPr kumimoji="0" lang="zh-CN" altLang="en-US" sz="1800" b="1">
                <a:latin typeface="华文中宋" pitchFamily="2" charset="-122"/>
                <a:ea typeface="华文中宋" pitchFamily="2" charset="-122"/>
              </a:rPr>
              <a:t>个刚性分子，则</a:t>
            </a:r>
            <a:r>
              <a:rPr kumimoji="0" lang="en-US" altLang="zh-CN" sz="1800" b="1" i="1">
                <a:ea typeface="华文中宋" pitchFamily="2" charset="-122"/>
              </a:rPr>
              <a:t>N</a:t>
            </a:r>
            <a:r>
              <a:rPr kumimoji="0" lang="zh-CN" altLang="en-US" sz="1800" b="1">
                <a:latin typeface="华文中宋" pitchFamily="2" charset="-122"/>
                <a:ea typeface="华文中宋" pitchFamily="2" charset="-122"/>
              </a:rPr>
              <a:t>个分子的平均总动能的总和为：</a:t>
            </a:r>
          </a:p>
        </p:txBody>
      </p:sp>
      <p:sp>
        <p:nvSpPr>
          <p:cNvPr id="43022" name="Rectangle 14"/>
          <p:cNvSpPr>
            <a:spLocks noChangeArrowheads="1"/>
          </p:cNvSpPr>
          <p:nvPr/>
        </p:nvSpPr>
        <p:spPr bwMode="auto">
          <a:xfrm>
            <a:off x="898525" y="1944688"/>
            <a:ext cx="1150938" cy="322262"/>
          </a:xfrm>
          <a:prstGeom prst="rect">
            <a:avLst/>
          </a:prstGeom>
          <a:noFill/>
          <a:ln w="9525">
            <a:solidFill>
              <a:srgbClr val="CC00CC"/>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p>
            <a:pPr algn="ctr"/>
            <a:r>
              <a:rPr lang="zh-CN" altLang="en-US" sz="1500" b="1">
                <a:latin typeface="华文中宋" pitchFamily="2" charset="-122"/>
                <a:ea typeface="华文中宋" pitchFamily="2" charset="-122"/>
              </a:rPr>
              <a:t>物体的内能</a:t>
            </a:r>
          </a:p>
        </p:txBody>
      </p:sp>
      <p:sp>
        <p:nvSpPr>
          <p:cNvPr id="43025" name="Rectangle 17"/>
          <p:cNvSpPr>
            <a:spLocks noChangeArrowheads="1"/>
          </p:cNvSpPr>
          <p:nvPr/>
        </p:nvSpPr>
        <p:spPr bwMode="auto">
          <a:xfrm>
            <a:off x="2047875" y="1851025"/>
            <a:ext cx="1514475"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zh-CN" altLang="en-US" sz="1500" b="1">
                <a:latin typeface="华文中宋" pitchFamily="2" charset="-122"/>
                <a:ea typeface="华文中宋" pitchFamily="2" charset="-122"/>
              </a:rPr>
              <a:t>忽略分子</a:t>
            </a:r>
          </a:p>
          <a:p>
            <a:pPr algn="ctr"/>
            <a:r>
              <a:rPr lang="zh-CN" altLang="en-US" sz="1500" b="1">
                <a:latin typeface="华文中宋" pitchFamily="2" charset="-122"/>
                <a:ea typeface="华文中宋" pitchFamily="2" charset="-122"/>
              </a:rPr>
              <a:t>间势能</a:t>
            </a:r>
          </a:p>
        </p:txBody>
      </p:sp>
      <p:sp>
        <p:nvSpPr>
          <p:cNvPr id="43027" name="Rectangle 19"/>
          <p:cNvSpPr>
            <a:spLocks noChangeArrowheads="1"/>
          </p:cNvSpPr>
          <p:nvPr/>
        </p:nvSpPr>
        <p:spPr bwMode="auto">
          <a:xfrm>
            <a:off x="3417888" y="1944688"/>
            <a:ext cx="1585912" cy="322262"/>
          </a:xfrm>
          <a:prstGeom prst="rect">
            <a:avLst/>
          </a:prstGeom>
          <a:noFill/>
          <a:ln w="9525">
            <a:solidFill>
              <a:srgbClr val="CC00CC"/>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p>
            <a:pPr algn="ctr"/>
            <a:r>
              <a:rPr lang="zh-CN" altLang="en-US" sz="1500" b="1">
                <a:latin typeface="华文中宋" pitchFamily="2" charset="-122"/>
                <a:ea typeface="华文中宋" pitchFamily="2" charset="-122"/>
              </a:rPr>
              <a:t>理想气体的内能</a:t>
            </a:r>
          </a:p>
        </p:txBody>
      </p:sp>
      <p:sp>
        <p:nvSpPr>
          <p:cNvPr id="43028" name="Rectangle 20"/>
          <p:cNvSpPr>
            <a:spLocks noChangeArrowheads="1"/>
          </p:cNvSpPr>
          <p:nvPr/>
        </p:nvSpPr>
        <p:spPr bwMode="auto">
          <a:xfrm>
            <a:off x="6370638" y="1857375"/>
            <a:ext cx="1441450" cy="554038"/>
          </a:xfrm>
          <a:prstGeom prst="rect">
            <a:avLst/>
          </a:prstGeom>
          <a:noFill/>
          <a:ln w="9525">
            <a:solidFill>
              <a:srgbClr val="CC00CC"/>
            </a:solidFill>
            <a:miter lim="800000"/>
            <a:headEnd/>
            <a:tailEnd/>
          </a:ln>
          <a:extLst>
            <a:ext uri="{909E8E84-426E-40DD-AFC4-6F175D3DCCD1}">
              <a14:hiddenFill xmlns:a14="http://schemas.microsoft.com/office/drawing/2010/main" xmlns="">
                <a:solidFill>
                  <a:srgbClr val="FFFFFF"/>
                </a:solidFill>
              </a14:hiddenFill>
            </a:ext>
          </a:extLst>
        </p:spPr>
        <p:txBody>
          <a:bodyPr>
            <a:spAutoFit/>
          </a:bodyPr>
          <a:lstStyle/>
          <a:p>
            <a:pPr algn="ctr"/>
            <a:r>
              <a:rPr lang="zh-CN" altLang="en-US" sz="1500" b="1">
                <a:latin typeface="华文中宋" pitchFamily="2" charset="-122"/>
                <a:ea typeface="华文中宋" pitchFamily="2" charset="-122"/>
              </a:rPr>
              <a:t>理想刚性分子气体的内能</a:t>
            </a:r>
          </a:p>
        </p:txBody>
      </p:sp>
      <p:sp>
        <p:nvSpPr>
          <p:cNvPr id="43029" name="Line 21"/>
          <p:cNvSpPr>
            <a:spLocks noChangeShapeType="1"/>
          </p:cNvSpPr>
          <p:nvPr/>
        </p:nvSpPr>
        <p:spPr bwMode="auto">
          <a:xfrm>
            <a:off x="2049463" y="2139950"/>
            <a:ext cx="1368425"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43030" name="Rectangle 22"/>
          <p:cNvSpPr>
            <a:spLocks noChangeArrowheads="1"/>
          </p:cNvSpPr>
          <p:nvPr/>
        </p:nvSpPr>
        <p:spPr bwMode="auto">
          <a:xfrm>
            <a:off x="4930775" y="1851025"/>
            <a:ext cx="1514475" cy="5540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zh-CN" altLang="en-US" sz="1500" b="1">
                <a:latin typeface="华文中宋" pitchFamily="2" charset="-122"/>
                <a:ea typeface="华文中宋" pitchFamily="2" charset="-122"/>
              </a:rPr>
              <a:t>忽略振动</a:t>
            </a:r>
          </a:p>
          <a:p>
            <a:pPr algn="ctr"/>
            <a:r>
              <a:rPr lang="zh-CN" altLang="en-US" sz="1500" b="1">
                <a:latin typeface="华文中宋" pitchFamily="2" charset="-122"/>
                <a:ea typeface="华文中宋" pitchFamily="2" charset="-122"/>
              </a:rPr>
              <a:t>能量</a:t>
            </a:r>
          </a:p>
        </p:txBody>
      </p:sp>
      <p:sp>
        <p:nvSpPr>
          <p:cNvPr id="43031" name="Line 23"/>
          <p:cNvSpPr>
            <a:spLocks noChangeShapeType="1"/>
          </p:cNvSpPr>
          <p:nvPr/>
        </p:nvSpPr>
        <p:spPr bwMode="auto">
          <a:xfrm>
            <a:off x="4932363" y="2120900"/>
            <a:ext cx="1368425" cy="0"/>
          </a:xfrm>
          <a:prstGeom prst="line">
            <a:avLst/>
          </a:prstGeom>
          <a:noFill/>
          <a:ln w="9525">
            <a:solidFill>
              <a:schemeClr val="tx1"/>
            </a:solidFill>
            <a:round/>
            <a:headEnd/>
            <a:tailEnd type="triangle" w="med" len="med"/>
          </a:ln>
          <a:extLst>
            <a:ext uri="{909E8E84-426E-40DD-AFC4-6F175D3DCCD1}">
              <a14:hiddenFill xmlns:a14="http://schemas.microsoft.com/office/drawing/2010/main" xmlns="">
                <a:noFill/>
              </a14:hiddenFill>
            </a:ext>
          </a:extLst>
        </p:spPr>
        <p:txBody>
          <a:bodyPr>
            <a:spAutoFit/>
          </a:bodyPr>
          <a:lstStyle/>
          <a:p>
            <a:endParaRPr lang="zh-CN" altLang="en-US"/>
          </a:p>
        </p:txBody>
      </p:sp>
      <p:graphicFrame>
        <p:nvGraphicFramePr>
          <p:cNvPr id="43032" name="Object 24"/>
          <p:cNvGraphicFramePr>
            <a:graphicFrameLocks noChangeAspect="1"/>
          </p:cNvGraphicFramePr>
          <p:nvPr/>
        </p:nvGraphicFramePr>
        <p:xfrm>
          <a:off x="1776413" y="3148013"/>
          <a:ext cx="6035675" cy="625475"/>
        </p:xfrm>
        <a:graphic>
          <a:graphicData uri="http://schemas.openxmlformats.org/presentationml/2006/ole">
            <p:oleObj spid="_x0000_s38934" name="Equation" r:id="rId3" imgW="3175000" imgH="431800" progId="Equation.DSMT4">
              <p:embed/>
            </p:oleObj>
          </a:graphicData>
        </a:graphic>
      </p:graphicFrame>
      <p:sp>
        <p:nvSpPr>
          <p:cNvPr id="43035" name="Rectangle 27"/>
          <p:cNvSpPr>
            <a:spLocks noChangeArrowheads="1"/>
          </p:cNvSpPr>
          <p:nvPr/>
        </p:nvSpPr>
        <p:spPr bwMode="auto">
          <a:xfrm>
            <a:off x="250825" y="3613150"/>
            <a:ext cx="110331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en-US" sz="1800" b="1">
                <a:solidFill>
                  <a:srgbClr val="FF0000"/>
                </a:solidFill>
                <a:latin typeface="华文中宋" pitchFamily="2" charset="-122"/>
                <a:ea typeface="华文中宋" pitchFamily="2" charset="-122"/>
              </a:rPr>
              <a:t>说明：</a:t>
            </a:r>
          </a:p>
        </p:txBody>
      </p:sp>
      <p:sp>
        <p:nvSpPr>
          <p:cNvPr id="43036" name="Rectangle 28"/>
          <p:cNvSpPr>
            <a:spLocks noChangeArrowheads="1"/>
          </p:cNvSpPr>
          <p:nvPr/>
        </p:nvSpPr>
        <p:spPr bwMode="auto">
          <a:xfrm>
            <a:off x="539750" y="3795713"/>
            <a:ext cx="7993063" cy="323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en-US" altLang="zh-CN" sz="1500" b="1">
                <a:latin typeface="华文中宋" pitchFamily="2" charset="-122"/>
                <a:ea typeface="华文中宋" pitchFamily="2" charset="-122"/>
              </a:rPr>
              <a:t>       </a:t>
            </a:r>
            <a:r>
              <a:rPr kumimoji="0" lang="zh-CN" altLang="en-US" sz="1500" b="1">
                <a:latin typeface="华文中宋" pitchFamily="2" charset="-122"/>
                <a:ea typeface="华文中宋" pitchFamily="2" charset="-122"/>
              </a:rPr>
              <a:t>（</a:t>
            </a:r>
            <a:r>
              <a:rPr kumimoji="0" lang="en-US" altLang="zh-CN" sz="1500" b="1">
                <a:latin typeface="华文中宋" pitchFamily="2" charset="-122"/>
                <a:ea typeface="华文中宋" pitchFamily="2" charset="-122"/>
              </a:rPr>
              <a:t>1</a:t>
            </a:r>
            <a:r>
              <a:rPr kumimoji="0" lang="zh-CN" altLang="en-US" sz="1500" b="1">
                <a:latin typeface="华文中宋" pitchFamily="2" charset="-122"/>
                <a:ea typeface="华文中宋" pitchFamily="2" charset="-122"/>
              </a:rPr>
              <a:t>）内能仅为温度的单值函数，其增量仅与始末状态的温度有关，而与过程无关，即：</a:t>
            </a:r>
          </a:p>
        </p:txBody>
      </p:sp>
      <p:graphicFrame>
        <p:nvGraphicFramePr>
          <p:cNvPr id="43037" name="Object 29"/>
          <p:cNvGraphicFramePr>
            <a:graphicFrameLocks noChangeAspect="1"/>
          </p:cNvGraphicFramePr>
          <p:nvPr/>
        </p:nvGraphicFramePr>
        <p:xfrm>
          <a:off x="3087688" y="4084638"/>
          <a:ext cx="2779712" cy="566737"/>
        </p:xfrm>
        <a:graphic>
          <a:graphicData uri="http://schemas.openxmlformats.org/presentationml/2006/ole">
            <p:oleObj spid="_x0000_s38935" name="Equation" r:id="rId4" imgW="1816100" imgH="431800" progId="Equation.DSMT4">
              <p:embed/>
            </p:oleObj>
          </a:graphicData>
        </a:graphic>
      </p:graphicFrame>
      <p:sp>
        <p:nvSpPr>
          <p:cNvPr id="16" name="Text Box 2"/>
          <p:cNvSpPr>
            <a:spLocks noChangeArrowheads="1"/>
          </p:cNvSpPr>
          <p:nvPr/>
        </p:nvSpPr>
        <p:spPr bwMode="auto">
          <a:xfrm>
            <a:off x="827088" y="874713"/>
            <a:ext cx="3960812" cy="401637"/>
          </a:xfrm>
          <a:prstGeom prst="homePlate">
            <a:avLst>
              <a:gd name="adj" fmla="val 49719"/>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三、理想气体的内能（刚性分子）</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6"/>
                                        </p:tgtEl>
                                        <p:attrNameLst>
                                          <p:attrName>style.visibility</p:attrName>
                                        </p:attrNameLst>
                                      </p:cBhvr>
                                      <p:to>
                                        <p:strVal val="visible"/>
                                      </p:to>
                                    </p:set>
                                    <p:animEffect transition="in" filter="wipe(left)">
                                      <p:cBhvr>
                                        <p:cTn id="7" dur="500"/>
                                        <p:tgtEl>
                                          <p:spTgt spid="1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41988"/>
                                        </p:tgtEl>
                                        <p:attrNameLst>
                                          <p:attrName>style.visibility</p:attrName>
                                        </p:attrNameLst>
                                      </p:cBhvr>
                                      <p:to>
                                        <p:strVal val="visible"/>
                                      </p:to>
                                    </p:set>
                                    <p:animEffect transition="in" filter="box(in)">
                                      <p:cBhvr>
                                        <p:cTn id="12" dur="500"/>
                                        <p:tgtEl>
                                          <p:spTgt spid="41988"/>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43022"/>
                                        </p:tgtEl>
                                        <p:attrNameLst>
                                          <p:attrName>style.visibility</p:attrName>
                                        </p:attrNameLst>
                                      </p:cBhvr>
                                      <p:to>
                                        <p:strVal val="visible"/>
                                      </p:to>
                                    </p:set>
                                    <p:animEffect transition="in" filter="blinds(horizontal)">
                                      <p:cBhvr>
                                        <p:cTn id="17" dur="500"/>
                                        <p:tgtEl>
                                          <p:spTgt spid="4302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grpId="0" nodeType="clickEffect">
                                  <p:stCondLst>
                                    <p:cond delay="0"/>
                                  </p:stCondLst>
                                  <p:childTnLst>
                                    <p:set>
                                      <p:cBhvr>
                                        <p:cTn id="21" dur="1" fill="hold">
                                          <p:stCondLst>
                                            <p:cond delay="0"/>
                                          </p:stCondLst>
                                        </p:cTn>
                                        <p:tgtEl>
                                          <p:spTgt spid="43029"/>
                                        </p:tgtEl>
                                        <p:attrNameLst>
                                          <p:attrName>style.visibility</p:attrName>
                                        </p:attrNameLst>
                                      </p:cBhvr>
                                      <p:to>
                                        <p:strVal val="visible"/>
                                      </p:to>
                                    </p:set>
                                    <p:animEffect transition="in" filter="blinds(horizontal)">
                                      <p:cBhvr>
                                        <p:cTn id="22" dur="500"/>
                                        <p:tgtEl>
                                          <p:spTgt spid="43029"/>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43025"/>
                                        </p:tgtEl>
                                        <p:attrNameLst>
                                          <p:attrName>style.visibility</p:attrName>
                                        </p:attrNameLst>
                                      </p:cBhvr>
                                      <p:to>
                                        <p:strVal val="visible"/>
                                      </p:to>
                                    </p:set>
                                    <p:animEffect transition="in" filter="blinds(horizontal)">
                                      <p:cBhvr>
                                        <p:cTn id="25" dur="500"/>
                                        <p:tgtEl>
                                          <p:spTgt spid="43025"/>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grpId="0" nodeType="clickEffect">
                                  <p:stCondLst>
                                    <p:cond delay="0"/>
                                  </p:stCondLst>
                                  <p:childTnLst>
                                    <p:set>
                                      <p:cBhvr>
                                        <p:cTn id="29" dur="1" fill="hold">
                                          <p:stCondLst>
                                            <p:cond delay="0"/>
                                          </p:stCondLst>
                                        </p:cTn>
                                        <p:tgtEl>
                                          <p:spTgt spid="43027"/>
                                        </p:tgtEl>
                                        <p:attrNameLst>
                                          <p:attrName>style.visibility</p:attrName>
                                        </p:attrNameLst>
                                      </p:cBhvr>
                                      <p:to>
                                        <p:strVal val="visible"/>
                                      </p:to>
                                    </p:set>
                                    <p:animEffect transition="in" filter="blinds(horizontal)">
                                      <p:cBhvr>
                                        <p:cTn id="30" dur="500"/>
                                        <p:tgtEl>
                                          <p:spTgt spid="43027"/>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grpId="0" nodeType="clickEffect">
                                  <p:stCondLst>
                                    <p:cond delay="0"/>
                                  </p:stCondLst>
                                  <p:childTnLst>
                                    <p:set>
                                      <p:cBhvr>
                                        <p:cTn id="34" dur="1" fill="hold">
                                          <p:stCondLst>
                                            <p:cond delay="0"/>
                                          </p:stCondLst>
                                        </p:cTn>
                                        <p:tgtEl>
                                          <p:spTgt spid="43031"/>
                                        </p:tgtEl>
                                        <p:attrNameLst>
                                          <p:attrName>style.visibility</p:attrName>
                                        </p:attrNameLst>
                                      </p:cBhvr>
                                      <p:to>
                                        <p:strVal val="visible"/>
                                      </p:to>
                                    </p:set>
                                    <p:animEffect transition="in" filter="blinds(horizontal)">
                                      <p:cBhvr>
                                        <p:cTn id="35" dur="500"/>
                                        <p:tgtEl>
                                          <p:spTgt spid="43031"/>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43030"/>
                                        </p:tgtEl>
                                        <p:attrNameLst>
                                          <p:attrName>style.visibility</p:attrName>
                                        </p:attrNameLst>
                                      </p:cBhvr>
                                      <p:to>
                                        <p:strVal val="visible"/>
                                      </p:to>
                                    </p:set>
                                    <p:animEffect transition="in" filter="blinds(horizontal)">
                                      <p:cBhvr>
                                        <p:cTn id="38" dur="500"/>
                                        <p:tgtEl>
                                          <p:spTgt spid="43030"/>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grpId="0" nodeType="clickEffect">
                                  <p:stCondLst>
                                    <p:cond delay="0"/>
                                  </p:stCondLst>
                                  <p:childTnLst>
                                    <p:set>
                                      <p:cBhvr>
                                        <p:cTn id="42" dur="1" fill="hold">
                                          <p:stCondLst>
                                            <p:cond delay="0"/>
                                          </p:stCondLst>
                                        </p:cTn>
                                        <p:tgtEl>
                                          <p:spTgt spid="43028"/>
                                        </p:tgtEl>
                                        <p:attrNameLst>
                                          <p:attrName>style.visibility</p:attrName>
                                        </p:attrNameLst>
                                      </p:cBhvr>
                                      <p:to>
                                        <p:strVal val="visible"/>
                                      </p:to>
                                    </p:set>
                                    <p:animEffect transition="in" filter="blinds(horizontal)">
                                      <p:cBhvr>
                                        <p:cTn id="43" dur="500"/>
                                        <p:tgtEl>
                                          <p:spTgt spid="43028"/>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4" presetClass="entr" presetSubtype="16" fill="hold" grpId="0" nodeType="clickEffect">
                                  <p:stCondLst>
                                    <p:cond delay="0"/>
                                  </p:stCondLst>
                                  <p:childTnLst>
                                    <p:set>
                                      <p:cBhvr>
                                        <p:cTn id="47" dur="1" fill="hold">
                                          <p:stCondLst>
                                            <p:cond delay="0"/>
                                          </p:stCondLst>
                                        </p:cTn>
                                        <p:tgtEl>
                                          <p:spTgt spid="41993"/>
                                        </p:tgtEl>
                                        <p:attrNameLst>
                                          <p:attrName>style.visibility</p:attrName>
                                        </p:attrNameLst>
                                      </p:cBhvr>
                                      <p:to>
                                        <p:strVal val="visible"/>
                                      </p:to>
                                    </p:set>
                                    <p:animEffect transition="in" filter="box(in)">
                                      <p:cBhvr>
                                        <p:cTn id="48" dur="500"/>
                                        <p:tgtEl>
                                          <p:spTgt spid="4199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4" presetClass="entr" presetSubtype="16" fill="hold" nodeType="clickEffect">
                                  <p:stCondLst>
                                    <p:cond delay="0"/>
                                  </p:stCondLst>
                                  <p:childTnLst>
                                    <p:set>
                                      <p:cBhvr>
                                        <p:cTn id="52" dur="1" fill="hold">
                                          <p:stCondLst>
                                            <p:cond delay="0"/>
                                          </p:stCondLst>
                                        </p:cTn>
                                        <p:tgtEl>
                                          <p:spTgt spid="43032"/>
                                        </p:tgtEl>
                                        <p:attrNameLst>
                                          <p:attrName>style.visibility</p:attrName>
                                        </p:attrNameLst>
                                      </p:cBhvr>
                                      <p:to>
                                        <p:strVal val="visible"/>
                                      </p:to>
                                    </p:set>
                                    <p:animEffect transition="in" filter="box(in)">
                                      <p:cBhvr>
                                        <p:cTn id="53" dur="500"/>
                                        <p:tgtEl>
                                          <p:spTgt spid="43032"/>
                                        </p:tgtEl>
                                      </p:cBhvr>
                                    </p:animEffect>
                                  </p:childTnLst>
                                </p:cTn>
                              </p:par>
                            </p:childTnLst>
                          </p:cTn>
                        </p:par>
                      </p:childTnLst>
                    </p:cTn>
                  </p:par>
                  <p:par>
                    <p:cTn id="54" fill="hold" nodeType="clickPar">
                      <p:stCondLst>
                        <p:cond delay="indefinite"/>
                      </p:stCondLst>
                      <p:childTnLst>
                        <p:par>
                          <p:cTn id="55" fill="hold" nodeType="withGroup">
                            <p:stCondLst>
                              <p:cond delay="0"/>
                            </p:stCondLst>
                            <p:childTnLst>
                              <p:par>
                                <p:cTn id="56" presetID="3" presetClass="entr" presetSubtype="10" fill="hold" grpId="0" nodeType="clickEffect">
                                  <p:stCondLst>
                                    <p:cond delay="0"/>
                                  </p:stCondLst>
                                  <p:childTnLst>
                                    <p:set>
                                      <p:cBhvr>
                                        <p:cTn id="57" dur="1" fill="hold">
                                          <p:stCondLst>
                                            <p:cond delay="0"/>
                                          </p:stCondLst>
                                        </p:cTn>
                                        <p:tgtEl>
                                          <p:spTgt spid="43035"/>
                                        </p:tgtEl>
                                        <p:attrNameLst>
                                          <p:attrName>style.visibility</p:attrName>
                                        </p:attrNameLst>
                                      </p:cBhvr>
                                      <p:to>
                                        <p:strVal val="visible"/>
                                      </p:to>
                                    </p:set>
                                    <p:animEffect transition="in" filter="blinds(horizontal)">
                                      <p:cBhvr>
                                        <p:cTn id="58" dur="500"/>
                                        <p:tgtEl>
                                          <p:spTgt spid="43035"/>
                                        </p:tgtEl>
                                      </p:cBhvr>
                                    </p:animEffect>
                                  </p:childTnLst>
                                </p:cTn>
                              </p:par>
                              <p:par>
                                <p:cTn id="59" presetID="3" presetClass="entr" presetSubtype="10" fill="hold" grpId="0" nodeType="withEffect">
                                  <p:stCondLst>
                                    <p:cond delay="0"/>
                                  </p:stCondLst>
                                  <p:childTnLst>
                                    <p:set>
                                      <p:cBhvr>
                                        <p:cTn id="60" dur="1" fill="hold">
                                          <p:stCondLst>
                                            <p:cond delay="0"/>
                                          </p:stCondLst>
                                        </p:cTn>
                                        <p:tgtEl>
                                          <p:spTgt spid="43036"/>
                                        </p:tgtEl>
                                        <p:attrNameLst>
                                          <p:attrName>style.visibility</p:attrName>
                                        </p:attrNameLst>
                                      </p:cBhvr>
                                      <p:to>
                                        <p:strVal val="visible"/>
                                      </p:to>
                                    </p:set>
                                    <p:animEffect transition="in" filter="blinds(horizontal)">
                                      <p:cBhvr>
                                        <p:cTn id="61" dur="500"/>
                                        <p:tgtEl>
                                          <p:spTgt spid="43036"/>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4" presetClass="entr" presetSubtype="16" fill="hold" nodeType="clickEffect">
                                  <p:stCondLst>
                                    <p:cond delay="0"/>
                                  </p:stCondLst>
                                  <p:childTnLst>
                                    <p:set>
                                      <p:cBhvr>
                                        <p:cTn id="65" dur="1" fill="hold">
                                          <p:stCondLst>
                                            <p:cond delay="0"/>
                                          </p:stCondLst>
                                        </p:cTn>
                                        <p:tgtEl>
                                          <p:spTgt spid="43037"/>
                                        </p:tgtEl>
                                        <p:attrNameLst>
                                          <p:attrName>style.visibility</p:attrName>
                                        </p:attrNameLst>
                                      </p:cBhvr>
                                      <p:to>
                                        <p:strVal val="visible"/>
                                      </p:to>
                                    </p:set>
                                    <p:animEffect transition="in" filter="box(in)">
                                      <p:cBhvr>
                                        <p:cTn id="66" dur="500"/>
                                        <p:tgtEl>
                                          <p:spTgt spid="4303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988" grpId="0" autoUpdateAnimBg="0"/>
      <p:bldP spid="41993" grpId="0" autoUpdateAnimBg="0"/>
      <p:bldP spid="43022" grpId="0" animBg="1"/>
      <p:bldP spid="43025" grpId="0"/>
      <p:bldP spid="43027" grpId="0" animBg="1"/>
      <p:bldP spid="43028" grpId="0" animBg="1"/>
      <p:bldP spid="43029" grpId="0" animBg="1"/>
      <p:bldP spid="43030" grpId="0"/>
      <p:bldP spid="43031" grpId="0" animBg="1"/>
      <p:bldP spid="43035" grpId="0"/>
      <p:bldP spid="43036" grpId="0"/>
      <p:bldP spid="16" grpId="0" animBg="1"/>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3"/>
          <p:cNvGrpSpPr>
            <a:grpSpLocks/>
          </p:cNvGrpSpPr>
          <p:nvPr/>
        </p:nvGrpSpPr>
        <p:grpSpPr bwMode="auto">
          <a:xfrm>
            <a:off x="2627313" y="1276350"/>
            <a:ext cx="3168650" cy="1439863"/>
            <a:chOff x="1338" y="2082"/>
            <a:chExt cx="1996" cy="1209"/>
          </a:xfrm>
        </p:grpSpPr>
        <p:sp>
          <p:nvSpPr>
            <p:cNvPr id="39955" name="Text Box 7"/>
            <p:cNvSpPr txBox="1">
              <a:spLocks noChangeArrowheads="1"/>
            </p:cNvSpPr>
            <p:nvPr/>
          </p:nvSpPr>
          <p:spPr bwMode="auto">
            <a:xfrm>
              <a:off x="1338" y="2128"/>
              <a:ext cx="1081" cy="104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500" b="1">
                  <a:latin typeface="华文中宋" pitchFamily="2" charset="-122"/>
                  <a:ea typeface="华文中宋" pitchFamily="2" charset="-122"/>
                </a:rPr>
                <a:t>单原子气体</a:t>
              </a:r>
            </a:p>
            <a:p>
              <a:endParaRPr kumimoji="0" lang="zh-CN" altLang="en-US" sz="1500" b="1">
                <a:latin typeface="华文中宋" pitchFamily="2" charset="-122"/>
                <a:ea typeface="华文中宋" pitchFamily="2" charset="-122"/>
              </a:endParaRPr>
            </a:p>
            <a:p>
              <a:r>
                <a:rPr kumimoji="0" lang="zh-CN" altLang="en-US" sz="1500" b="1">
                  <a:latin typeface="华文中宋" pitchFamily="2" charset="-122"/>
                  <a:ea typeface="华文中宋" pitchFamily="2" charset="-122"/>
                </a:rPr>
                <a:t>双原子气体</a:t>
              </a:r>
            </a:p>
            <a:p>
              <a:endParaRPr kumimoji="0" lang="zh-CN" altLang="en-US" sz="1500" b="1">
                <a:latin typeface="华文中宋" pitchFamily="2" charset="-122"/>
                <a:ea typeface="华文中宋" pitchFamily="2" charset="-122"/>
              </a:endParaRPr>
            </a:p>
            <a:p>
              <a:r>
                <a:rPr kumimoji="0" lang="zh-CN" altLang="en-US" sz="1500" b="1">
                  <a:latin typeface="华文中宋" pitchFamily="2" charset="-122"/>
                  <a:ea typeface="华文中宋" pitchFamily="2" charset="-122"/>
                </a:rPr>
                <a:t>多原子气体</a:t>
              </a:r>
            </a:p>
          </p:txBody>
        </p:sp>
        <p:graphicFrame>
          <p:nvGraphicFramePr>
            <p:cNvPr id="39956" name="Object 19"/>
            <p:cNvGraphicFramePr>
              <a:graphicFrameLocks noChangeAspect="1"/>
            </p:cNvGraphicFramePr>
            <p:nvPr/>
          </p:nvGraphicFramePr>
          <p:xfrm>
            <a:off x="2472" y="2082"/>
            <a:ext cx="859" cy="356"/>
          </p:xfrm>
          <a:graphic>
            <a:graphicData uri="http://schemas.openxmlformats.org/presentationml/2006/ole">
              <p:oleObj spid="_x0000_s40004" name="公式" r:id="rId3" imgW="545863" imgH="291973" progId="Equation.3">
                <p:embed/>
              </p:oleObj>
            </a:graphicData>
          </a:graphic>
        </p:graphicFrame>
        <p:graphicFrame>
          <p:nvGraphicFramePr>
            <p:cNvPr id="39957" name="Object 20"/>
            <p:cNvGraphicFramePr>
              <a:graphicFrameLocks noChangeAspect="1"/>
            </p:cNvGraphicFramePr>
            <p:nvPr/>
          </p:nvGraphicFramePr>
          <p:xfrm>
            <a:off x="2473" y="2505"/>
            <a:ext cx="861" cy="356"/>
          </p:xfrm>
          <a:graphic>
            <a:graphicData uri="http://schemas.openxmlformats.org/presentationml/2006/ole">
              <p:oleObj spid="_x0000_s40005" name="公式" r:id="rId4" imgW="545863" imgH="291973" progId="Equation.3">
                <p:embed/>
              </p:oleObj>
            </a:graphicData>
          </a:graphic>
        </p:graphicFrame>
        <p:graphicFrame>
          <p:nvGraphicFramePr>
            <p:cNvPr id="39958" name="Object 21"/>
            <p:cNvGraphicFramePr>
              <a:graphicFrameLocks noChangeAspect="1"/>
            </p:cNvGraphicFramePr>
            <p:nvPr/>
          </p:nvGraphicFramePr>
          <p:xfrm>
            <a:off x="2472" y="2943"/>
            <a:ext cx="842" cy="348"/>
          </p:xfrm>
          <a:graphic>
            <a:graphicData uri="http://schemas.openxmlformats.org/presentationml/2006/ole">
              <p:oleObj spid="_x0000_s40006" name="公式" r:id="rId5" imgW="545863" imgH="291973" progId="Equation.3">
                <p:embed/>
              </p:oleObj>
            </a:graphicData>
          </a:graphic>
        </p:graphicFrame>
      </p:grpSp>
      <p:sp>
        <p:nvSpPr>
          <p:cNvPr id="120834" name="Rectangle 2"/>
          <p:cNvSpPr>
            <a:spLocks noChangeArrowheads="1"/>
          </p:cNvSpPr>
          <p:nvPr/>
        </p:nvSpPr>
        <p:spPr bwMode="auto">
          <a:xfrm>
            <a:off x="539750" y="835025"/>
            <a:ext cx="7993063"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en-US" sz="1800" b="1">
                <a:latin typeface="华文中宋" pitchFamily="2" charset="-122"/>
                <a:ea typeface="华文中宋" pitchFamily="2" charset="-122"/>
              </a:rPr>
              <a:t>（</a:t>
            </a:r>
            <a:r>
              <a:rPr kumimoji="0" lang="en-US" altLang="zh-CN" sz="1800" b="1">
                <a:latin typeface="华文中宋" pitchFamily="2" charset="-122"/>
                <a:ea typeface="华文中宋" pitchFamily="2" charset="-122"/>
              </a:rPr>
              <a:t>2</a:t>
            </a:r>
            <a:r>
              <a:rPr kumimoji="0" lang="zh-CN" altLang="en-US" sz="1800" b="1">
                <a:latin typeface="华文中宋" pitchFamily="2" charset="-122"/>
                <a:ea typeface="华文中宋" pitchFamily="2" charset="-122"/>
              </a:rPr>
              <a:t>）内能与自由度有关，不同气体分子，内能不同，例如：</a:t>
            </a:r>
          </a:p>
        </p:txBody>
      </p:sp>
      <p:grpSp>
        <p:nvGrpSpPr>
          <p:cNvPr id="5" name="Group 4"/>
          <p:cNvGrpSpPr>
            <a:grpSpLocks/>
          </p:cNvGrpSpPr>
          <p:nvPr/>
        </p:nvGrpSpPr>
        <p:grpSpPr bwMode="auto">
          <a:xfrm>
            <a:off x="468313" y="2719388"/>
            <a:ext cx="8207375" cy="1292225"/>
            <a:chOff x="467" y="267"/>
            <a:chExt cx="5170" cy="1086"/>
          </a:xfrm>
        </p:grpSpPr>
        <p:sp>
          <p:nvSpPr>
            <p:cNvPr id="39944" name="Text Box 3"/>
            <p:cNvSpPr txBox="1">
              <a:spLocks noChangeArrowheads="1"/>
            </p:cNvSpPr>
            <p:nvPr/>
          </p:nvSpPr>
          <p:spPr bwMode="auto">
            <a:xfrm>
              <a:off x="467" y="267"/>
              <a:ext cx="5135" cy="108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dirty="0">
                  <a:solidFill>
                    <a:srgbClr val="0000FF"/>
                  </a:solidFill>
                  <a:latin typeface="黑体" pitchFamily="49" charset="-122"/>
                </a:rPr>
                <a:t>例 温度、压强相同的氦气和氧气，它们分子的平均动能    和平均平动动能   有如下关系，表述正确的是：（    ）</a:t>
              </a:r>
              <a:endParaRPr kumimoji="0" lang="en-US" altLang="zh-CN" sz="1800" b="1" dirty="0">
                <a:solidFill>
                  <a:srgbClr val="0000FF"/>
                </a:solidFill>
                <a:latin typeface="黑体" pitchFamily="49" charset="-122"/>
              </a:endParaRPr>
            </a:p>
            <a:p>
              <a:pPr eaLnBrk="1" hangingPunct="1"/>
              <a:r>
                <a:rPr kumimoji="0" lang="en-US" altLang="zh-CN" b="1" dirty="0">
                  <a:solidFill>
                    <a:srgbClr val="0000FF"/>
                  </a:solidFill>
                  <a:latin typeface="黑体" pitchFamily="49" charset="-122"/>
                </a:rPr>
                <a:t>   </a:t>
              </a:r>
              <a:r>
                <a:rPr kumimoji="0" lang="en-US" altLang="zh-CN" sz="1800" b="1" dirty="0">
                  <a:solidFill>
                    <a:srgbClr val="0000FF"/>
                  </a:solidFill>
                  <a:cs typeface="Times New Roman" pitchFamily="18" charset="0"/>
                </a:rPr>
                <a:t>(A)</a:t>
              </a:r>
              <a:r>
                <a:rPr kumimoji="0" lang="en-US" altLang="zh-CN" sz="1800" b="1" dirty="0">
                  <a:solidFill>
                    <a:srgbClr val="0000FF"/>
                  </a:solidFill>
                  <a:latin typeface="黑体" pitchFamily="49" charset="-122"/>
                </a:rPr>
                <a:t>     </a:t>
              </a:r>
              <a:r>
                <a:rPr kumimoji="0" lang="zh-CN" altLang="en-US" sz="1800" b="1" dirty="0">
                  <a:solidFill>
                    <a:srgbClr val="0000FF"/>
                  </a:solidFill>
                  <a:latin typeface="黑体" pitchFamily="49" charset="-122"/>
                </a:rPr>
                <a:t>和   都相等。  </a:t>
              </a:r>
              <a:r>
                <a:rPr kumimoji="0" lang="en-US" altLang="zh-CN" sz="1800" b="1" dirty="0">
                  <a:solidFill>
                    <a:srgbClr val="0000FF"/>
                  </a:solidFill>
                  <a:cs typeface="Times New Roman" pitchFamily="18" charset="0"/>
                </a:rPr>
                <a:t>(B)</a:t>
              </a:r>
              <a:r>
                <a:rPr kumimoji="0" lang="en-US" altLang="zh-CN" sz="1800" b="1" dirty="0">
                  <a:solidFill>
                    <a:srgbClr val="0000FF"/>
                  </a:solidFill>
                  <a:latin typeface="黑体" pitchFamily="49" charset="-122"/>
                </a:rPr>
                <a:t>    </a:t>
              </a:r>
              <a:r>
                <a:rPr kumimoji="0" lang="zh-CN" altLang="en-US" sz="1800" b="1" dirty="0">
                  <a:solidFill>
                    <a:srgbClr val="0000FF"/>
                  </a:solidFill>
                  <a:latin typeface="黑体" pitchFamily="49" charset="-122"/>
                </a:rPr>
                <a:t>相等，而   不相等。 </a:t>
              </a:r>
            </a:p>
            <a:p>
              <a:pPr eaLnBrk="1" hangingPunct="1"/>
              <a:r>
                <a:rPr kumimoji="0" lang="zh-CN" altLang="en-US" sz="1800" b="1" dirty="0">
                  <a:solidFill>
                    <a:srgbClr val="0000FF"/>
                  </a:solidFill>
                  <a:latin typeface="黑体" pitchFamily="49" charset="-122"/>
                </a:rPr>
                <a:t>    </a:t>
              </a:r>
              <a:r>
                <a:rPr kumimoji="0" lang="en-US" altLang="zh-CN" sz="1800" b="1" dirty="0">
                  <a:solidFill>
                    <a:srgbClr val="0000FF"/>
                  </a:solidFill>
                  <a:cs typeface="Times New Roman" pitchFamily="18" charset="0"/>
                </a:rPr>
                <a:t>(C)</a:t>
              </a:r>
              <a:r>
                <a:rPr kumimoji="0" lang="en-US" altLang="zh-CN" sz="1800" b="1" dirty="0">
                  <a:solidFill>
                    <a:srgbClr val="0000FF"/>
                  </a:solidFill>
                  <a:latin typeface="黑体" pitchFamily="49" charset="-122"/>
                </a:rPr>
                <a:t>     </a:t>
              </a:r>
              <a:r>
                <a:rPr kumimoji="0" lang="zh-CN" altLang="en-US" sz="1800" b="1" dirty="0">
                  <a:solidFill>
                    <a:srgbClr val="0000FF"/>
                  </a:solidFill>
                  <a:latin typeface="黑体" pitchFamily="49" charset="-122"/>
                </a:rPr>
                <a:t>相等，而   不  </a:t>
              </a:r>
              <a:r>
                <a:rPr kumimoji="0" lang="en-US" altLang="zh-CN" sz="1800" b="1" dirty="0">
                  <a:solidFill>
                    <a:srgbClr val="0000FF"/>
                  </a:solidFill>
                  <a:cs typeface="Times New Roman" pitchFamily="18" charset="0"/>
                </a:rPr>
                <a:t>(D)</a:t>
              </a:r>
              <a:r>
                <a:rPr kumimoji="0" lang="en-US" altLang="zh-CN" sz="1800" b="1" dirty="0">
                  <a:solidFill>
                    <a:srgbClr val="0000FF"/>
                  </a:solidFill>
                  <a:latin typeface="黑体" pitchFamily="49" charset="-122"/>
                </a:rPr>
                <a:t>    </a:t>
              </a:r>
              <a:r>
                <a:rPr kumimoji="0" lang="zh-CN" altLang="en-US" sz="1800" b="1" dirty="0">
                  <a:solidFill>
                    <a:srgbClr val="0000FF"/>
                  </a:solidFill>
                  <a:latin typeface="黑体" pitchFamily="49" charset="-122"/>
                </a:rPr>
                <a:t>和   都不相等。 </a:t>
              </a:r>
            </a:p>
          </p:txBody>
        </p:sp>
        <p:graphicFrame>
          <p:nvGraphicFramePr>
            <p:cNvPr id="39945" name="Object 19"/>
            <p:cNvGraphicFramePr>
              <a:graphicFrameLocks noChangeAspect="1"/>
            </p:cNvGraphicFramePr>
            <p:nvPr/>
          </p:nvGraphicFramePr>
          <p:xfrm>
            <a:off x="4095" y="300"/>
            <a:ext cx="240" cy="248"/>
          </p:xfrm>
          <a:graphic>
            <a:graphicData uri="http://schemas.openxmlformats.org/presentationml/2006/ole">
              <p:oleObj spid="_x0000_s40007" name="Equation" r:id="rId6" imgW="139579" imgH="164957" progId="Equation.3">
                <p:embed/>
              </p:oleObj>
            </a:graphicData>
          </a:graphic>
        </p:graphicFrame>
        <p:graphicFrame>
          <p:nvGraphicFramePr>
            <p:cNvPr id="39946" name="Object 10"/>
            <p:cNvGraphicFramePr>
              <a:graphicFrameLocks noChangeAspect="1"/>
            </p:cNvGraphicFramePr>
            <p:nvPr/>
          </p:nvGraphicFramePr>
          <p:xfrm>
            <a:off x="1102" y="836"/>
            <a:ext cx="240" cy="248"/>
          </p:xfrm>
          <a:graphic>
            <a:graphicData uri="http://schemas.openxmlformats.org/presentationml/2006/ole">
              <p:oleObj spid="_x0000_s40008" name="Equation" r:id="rId7" imgW="139579" imgH="164957" progId="Equation.3">
                <p:embed/>
              </p:oleObj>
            </a:graphicData>
          </a:graphic>
        </p:graphicFrame>
        <p:graphicFrame>
          <p:nvGraphicFramePr>
            <p:cNvPr id="39947" name="Object 11"/>
            <p:cNvGraphicFramePr>
              <a:graphicFrameLocks noChangeAspect="1"/>
            </p:cNvGraphicFramePr>
            <p:nvPr/>
          </p:nvGraphicFramePr>
          <p:xfrm>
            <a:off x="1102" y="1105"/>
            <a:ext cx="240" cy="248"/>
          </p:xfrm>
          <a:graphic>
            <a:graphicData uri="http://schemas.openxmlformats.org/presentationml/2006/ole">
              <p:oleObj spid="_x0000_s40009" name="Equation" r:id="rId8" imgW="139579" imgH="164957" progId="Equation.3">
                <p:embed/>
              </p:oleObj>
            </a:graphicData>
          </a:graphic>
        </p:graphicFrame>
        <p:graphicFrame>
          <p:nvGraphicFramePr>
            <p:cNvPr id="39948" name="Object 12"/>
            <p:cNvGraphicFramePr>
              <a:graphicFrameLocks noChangeAspect="1"/>
            </p:cNvGraphicFramePr>
            <p:nvPr/>
          </p:nvGraphicFramePr>
          <p:xfrm>
            <a:off x="2734" y="1072"/>
            <a:ext cx="240" cy="248"/>
          </p:xfrm>
          <a:graphic>
            <a:graphicData uri="http://schemas.openxmlformats.org/presentationml/2006/ole">
              <p:oleObj spid="_x0000_s40010" name="Equation" r:id="rId9" imgW="139579" imgH="164957" progId="Equation.3">
                <p:embed/>
              </p:oleObj>
            </a:graphicData>
          </a:graphic>
        </p:graphicFrame>
        <p:graphicFrame>
          <p:nvGraphicFramePr>
            <p:cNvPr id="39949" name="Object 13"/>
            <p:cNvGraphicFramePr>
              <a:graphicFrameLocks noChangeAspect="1"/>
            </p:cNvGraphicFramePr>
            <p:nvPr/>
          </p:nvGraphicFramePr>
          <p:xfrm>
            <a:off x="3596" y="823"/>
            <a:ext cx="240" cy="248"/>
          </p:xfrm>
          <a:graphic>
            <a:graphicData uri="http://schemas.openxmlformats.org/presentationml/2006/ole">
              <p:oleObj spid="_x0000_s40011" name="Equation" r:id="rId10" imgW="139579" imgH="164957" progId="Equation.3">
                <p:embed/>
              </p:oleObj>
            </a:graphicData>
          </a:graphic>
        </p:graphicFrame>
        <p:graphicFrame>
          <p:nvGraphicFramePr>
            <p:cNvPr id="39950" name="Object 26"/>
            <p:cNvGraphicFramePr>
              <a:graphicFrameLocks noChangeAspect="1"/>
            </p:cNvGraphicFramePr>
            <p:nvPr/>
          </p:nvGraphicFramePr>
          <p:xfrm>
            <a:off x="5389" y="291"/>
            <a:ext cx="248" cy="248"/>
          </p:xfrm>
          <a:graphic>
            <a:graphicData uri="http://schemas.openxmlformats.org/presentationml/2006/ole">
              <p:oleObj spid="_x0000_s40012" name="Equation" r:id="rId11" imgW="164885" imgH="164885" progId="Equation.3">
                <p:embed/>
              </p:oleObj>
            </a:graphicData>
          </a:graphic>
        </p:graphicFrame>
        <p:graphicFrame>
          <p:nvGraphicFramePr>
            <p:cNvPr id="39951" name="Object 15"/>
            <p:cNvGraphicFramePr>
              <a:graphicFrameLocks noChangeAspect="1"/>
            </p:cNvGraphicFramePr>
            <p:nvPr/>
          </p:nvGraphicFramePr>
          <p:xfrm>
            <a:off x="1555" y="830"/>
            <a:ext cx="248" cy="248"/>
          </p:xfrm>
          <a:graphic>
            <a:graphicData uri="http://schemas.openxmlformats.org/presentationml/2006/ole">
              <p:oleObj spid="_x0000_s40013" name="Equation" r:id="rId12" imgW="164885" imgH="164885" progId="Equation.3">
                <p:embed/>
              </p:oleObj>
            </a:graphicData>
          </a:graphic>
        </p:graphicFrame>
        <p:graphicFrame>
          <p:nvGraphicFramePr>
            <p:cNvPr id="39952" name="Object 16"/>
            <p:cNvGraphicFramePr>
              <a:graphicFrameLocks noChangeAspect="1"/>
            </p:cNvGraphicFramePr>
            <p:nvPr/>
          </p:nvGraphicFramePr>
          <p:xfrm>
            <a:off x="2748" y="810"/>
            <a:ext cx="248" cy="248"/>
          </p:xfrm>
          <a:graphic>
            <a:graphicData uri="http://schemas.openxmlformats.org/presentationml/2006/ole">
              <p:oleObj spid="_x0000_s40014" name="Equation" r:id="rId13" imgW="164885" imgH="164885" progId="Equation.3">
                <p:embed/>
              </p:oleObj>
            </a:graphicData>
          </a:graphic>
        </p:graphicFrame>
        <p:graphicFrame>
          <p:nvGraphicFramePr>
            <p:cNvPr id="39953" name="Object 30"/>
            <p:cNvGraphicFramePr>
              <a:graphicFrameLocks noChangeAspect="1"/>
            </p:cNvGraphicFramePr>
            <p:nvPr/>
          </p:nvGraphicFramePr>
          <p:xfrm>
            <a:off x="1963" y="1078"/>
            <a:ext cx="248" cy="248"/>
          </p:xfrm>
          <a:graphic>
            <a:graphicData uri="http://schemas.openxmlformats.org/presentationml/2006/ole">
              <p:oleObj spid="_x0000_s40015" name="Equation" r:id="rId14" imgW="164885" imgH="164885" progId="Equation.3">
                <p:embed/>
              </p:oleObj>
            </a:graphicData>
          </a:graphic>
        </p:graphicFrame>
        <p:graphicFrame>
          <p:nvGraphicFramePr>
            <p:cNvPr id="39954" name="Object 31"/>
            <p:cNvGraphicFramePr>
              <a:graphicFrameLocks noChangeAspect="1"/>
            </p:cNvGraphicFramePr>
            <p:nvPr/>
          </p:nvGraphicFramePr>
          <p:xfrm>
            <a:off x="3143" y="1078"/>
            <a:ext cx="248" cy="248"/>
          </p:xfrm>
          <a:graphic>
            <a:graphicData uri="http://schemas.openxmlformats.org/presentationml/2006/ole">
              <p:oleObj spid="_x0000_s40016" name="Equation" r:id="rId15" imgW="164885" imgH="164885" progId="Equation.3">
                <p:embed/>
              </p:oleObj>
            </a:graphicData>
          </a:graphic>
        </p:graphicFrame>
      </p:grpSp>
      <p:graphicFrame>
        <p:nvGraphicFramePr>
          <p:cNvPr id="3" name="Object 27"/>
          <p:cNvGraphicFramePr>
            <a:graphicFrameLocks noChangeAspect="1"/>
          </p:cNvGraphicFramePr>
          <p:nvPr/>
        </p:nvGraphicFramePr>
        <p:xfrm>
          <a:off x="1619250" y="4065588"/>
          <a:ext cx="2160588" cy="550862"/>
        </p:xfrm>
        <a:graphic>
          <a:graphicData uri="http://schemas.openxmlformats.org/presentationml/2006/ole">
            <p:oleObj spid="_x0000_s40017" name="Equation" r:id="rId16" imgW="1193282" imgH="406224" progId="Equation.3">
              <p:embed/>
            </p:oleObj>
          </a:graphicData>
        </a:graphic>
      </p:graphicFrame>
      <p:graphicFrame>
        <p:nvGraphicFramePr>
          <p:cNvPr id="4" name="Object 28"/>
          <p:cNvGraphicFramePr>
            <a:graphicFrameLocks noChangeAspect="1"/>
          </p:cNvGraphicFramePr>
          <p:nvPr/>
        </p:nvGraphicFramePr>
        <p:xfrm>
          <a:off x="4716463" y="4011613"/>
          <a:ext cx="1728787" cy="620712"/>
        </p:xfrm>
        <a:graphic>
          <a:graphicData uri="http://schemas.openxmlformats.org/presentationml/2006/ole">
            <p:oleObj spid="_x0000_s40018" name="Equation" r:id="rId17" imgW="850531" imgH="406224" progId="Equation.3">
              <p:embed/>
            </p:oleObj>
          </a:graphicData>
        </a:graphic>
      </p:graphicFrame>
      <p:sp>
        <p:nvSpPr>
          <p:cNvPr id="36" name="Rectangle 30"/>
          <p:cNvSpPr>
            <a:spLocks noChangeArrowheads="1"/>
          </p:cNvSpPr>
          <p:nvPr/>
        </p:nvSpPr>
        <p:spPr bwMode="auto">
          <a:xfrm>
            <a:off x="3779838" y="3003550"/>
            <a:ext cx="441325"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kumimoji="0" lang="en-US" altLang="zh-CN" sz="1800" b="1" dirty="0" smtClean="0">
                <a:solidFill>
                  <a:srgbClr val="FF0000"/>
                </a:solidFill>
                <a:ea typeface="宋体" pitchFamily="2" charset="-122"/>
              </a:rPr>
              <a:t>B</a:t>
            </a:r>
            <a:endParaRPr kumimoji="0" lang="en-US" altLang="zh-CN" sz="1800" b="1" dirty="0">
              <a:solidFill>
                <a:srgbClr val="FF0000"/>
              </a:solidFill>
              <a:ea typeface="宋体"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grpId="0" nodeType="clickEffect">
                                  <p:stCondLst>
                                    <p:cond delay="0"/>
                                  </p:stCondLst>
                                  <p:childTnLst>
                                    <p:set>
                                      <p:cBhvr>
                                        <p:cTn id="6" dur="1" fill="hold">
                                          <p:stCondLst>
                                            <p:cond delay="0"/>
                                          </p:stCondLst>
                                        </p:cTn>
                                        <p:tgtEl>
                                          <p:spTgt spid="120834"/>
                                        </p:tgtEl>
                                        <p:attrNameLst>
                                          <p:attrName>style.visibility</p:attrName>
                                        </p:attrNameLst>
                                      </p:cBhvr>
                                      <p:to>
                                        <p:strVal val="visible"/>
                                      </p:to>
                                    </p:set>
                                    <p:animEffect transition="in" filter="blinds(horizontal)">
                                      <p:cBhvr>
                                        <p:cTn id="7" dur="500"/>
                                        <p:tgtEl>
                                          <p:spTgt spid="12083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blinds(horizontal)">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
                                        </p:tgtEl>
                                        <p:attrNameLst>
                                          <p:attrName>style.visibility</p:attrName>
                                        </p:attrNameLst>
                                      </p:cBhvr>
                                      <p:to>
                                        <p:strVal val="visible"/>
                                      </p:to>
                                    </p:set>
                                    <p:animEffect transition="in" filter="wipe(left)">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3" presetClass="entr" presetSubtype="16" fill="hold" grpId="0" nodeType="clickEffect">
                                  <p:stCondLst>
                                    <p:cond delay="0"/>
                                  </p:stCondLst>
                                  <p:childTnLst>
                                    <p:set>
                                      <p:cBhvr>
                                        <p:cTn id="31" dur="1" fill="hold">
                                          <p:stCondLst>
                                            <p:cond delay="0"/>
                                          </p:stCondLst>
                                        </p:cTn>
                                        <p:tgtEl>
                                          <p:spTgt spid="36"/>
                                        </p:tgtEl>
                                        <p:attrNameLst>
                                          <p:attrName>style.visibility</p:attrName>
                                        </p:attrNameLst>
                                      </p:cBhvr>
                                      <p:to>
                                        <p:strVal val="visible"/>
                                      </p:to>
                                    </p:set>
                                    <p:anim calcmode="lin" valueType="num">
                                      <p:cBhvr>
                                        <p:cTn id="32" dur="500" fill="hold"/>
                                        <p:tgtEl>
                                          <p:spTgt spid="36"/>
                                        </p:tgtEl>
                                        <p:attrNameLst>
                                          <p:attrName>ppt_w</p:attrName>
                                        </p:attrNameLst>
                                      </p:cBhvr>
                                      <p:tavLst>
                                        <p:tav tm="0">
                                          <p:val>
                                            <p:fltVal val="0"/>
                                          </p:val>
                                        </p:tav>
                                        <p:tav tm="100000">
                                          <p:val>
                                            <p:strVal val="#ppt_w"/>
                                          </p:val>
                                        </p:tav>
                                      </p:tavLst>
                                    </p:anim>
                                    <p:anim calcmode="lin" valueType="num">
                                      <p:cBhvr>
                                        <p:cTn id="33" dur="500" fill="hold"/>
                                        <p:tgtEl>
                                          <p:spTgt spid="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20834" grpId="0"/>
      <p:bldP spid="36" grpId="0"/>
    </p:bldLst>
  </p:timing>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9730" name="Text Box 2"/>
          <p:cNvSpPr txBox="1">
            <a:spLocks noChangeArrowheads="1"/>
          </p:cNvSpPr>
          <p:nvPr/>
        </p:nvSpPr>
        <p:spPr bwMode="auto">
          <a:xfrm>
            <a:off x="531813" y="774700"/>
            <a:ext cx="8010525" cy="12001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00FF"/>
                </a:solidFill>
                <a:ea typeface="华文中宋" pitchFamily="2" charset="-122"/>
              </a:rPr>
              <a:t>例    </a:t>
            </a:r>
            <a:r>
              <a:rPr kumimoji="0" lang="zh-CN" altLang="en-US" sz="1800" b="1">
                <a:solidFill>
                  <a:srgbClr val="0000FF"/>
                </a:solidFill>
                <a:ea typeface="华文中宋" pitchFamily="2" charset="-122"/>
              </a:rPr>
              <a:t>一容积为</a:t>
            </a:r>
            <a:r>
              <a:rPr kumimoji="0" lang="en-US" altLang="zh-CN" sz="1800" b="1">
                <a:solidFill>
                  <a:srgbClr val="0000FF"/>
                </a:solidFill>
                <a:ea typeface="华文中宋" pitchFamily="2" charset="-122"/>
              </a:rPr>
              <a:t>10 cm</a:t>
            </a:r>
            <a:r>
              <a:rPr kumimoji="0" lang="en-US" altLang="zh-CN" sz="1800" b="1" baseline="30000">
                <a:solidFill>
                  <a:srgbClr val="0000FF"/>
                </a:solidFill>
                <a:ea typeface="华文中宋" pitchFamily="2" charset="-122"/>
              </a:rPr>
              <a:t>3</a:t>
            </a:r>
            <a:r>
              <a:rPr kumimoji="0" lang="zh-CN" altLang="en-US" sz="1800" b="1">
                <a:solidFill>
                  <a:srgbClr val="0000FF"/>
                </a:solidFill>
                <a:ea typeface="华文中宋" pitchFamily="2" charset="-122"/>
              </a:rPr>
              <a:t>的电子管，当温度为</a:t>
            </a:r>
            <a:r>
              <a:rPr kumimoji="0" lang="en-US" altLang="zh-CN" sz="1800" b="1">
                <a:solidFill>
                  <a:srgbClr val="0000FF"/>
                </a:solidFill>
                <a:ea typeface="华文中宋" pitchFamily="2" charset="-122"/>
              </a:rPr>
              <a:t>300 K</a:t>
            </a:r>
            <a:r>
              <a:rPr kumimoji="0" lang="zh-CN" altLang="en-US" sz="1800" b="1">
                <a:solidFill>
                  <a:srgbClr val="0000FF"/>
                </a:solidFill>
                <a:ea typeface="华文中宋" pitchFamily="2" charset="-122"/>
              </a:rPr>
              <a:t>时</a:t>
            </a:r>
            <a:r>
              <a:rPr kumimoji="0" lang="en-US" altLang="zh-CN" sz="1800" b="1">
                <a:solidFill>
                  <a:srgbClr val="0000FF"/>
                </a:solidFill>
                <a:ea typeface="华文中宋" pitchFamily="2" charset="-122"/>
              </a:rPr>
              <a:t>,</a:t>
            </a:r>
            <a:r>
              <a:rPr kumimoji="0" lang="zh-CN" altLang="en-US" sz="1800" b="1">
                <a:solidFill>
                  <a:srgbClr val="0000FF"/>
                </a:solidFill>
                <a:ea typeface="华文中宋" pitchFamily="2" charset="-122"/>
              </a:rPr>
              <a:t>用真空泵把管内空气抽成压强为 </a:t>
            </a:r>
            <a:r>
              <a:rPr kumimoji="0" lang="en-US" altLang="zh-CN" sz="1800" b="1">
                <a:solidFill>
                  <a:srgbClr val="0000FF"/>
                </a:solidFill>
                <a:ea typeface="华文中宋" pitchFamily="2" charset="-122"/>
              </a:rPr>
              <a:t>5×10</a:t>
            </a:r>
            <a:r>
              <a:rPr kumimoji="0" lang="en-US" altLang="zh-CN" sz="1800" b="1" baseline="30000">
                <a:solidFill>
                  <a:srgbClr val="0000FF"/>
                </a:solidFill>
                <a:ea typeface="华文中宋" pitchFamily="2" charset="-122"/>
              </a:rPr>
              <a:t>-6</a:t>
            </a:r>
            <a:r>
              <a:rPr kumimoji="0" lang="en-US" altLang="zh-CN" sz="1800" b="1">
                <a:solidFill>
                  <a:srgbClr val="0000FF"/>
                </a:solidFill>
                <a:ea typeface="华文中宋" pitchFamily="2" charset="-122"/>
              </a:rPr>
              <a:t> mmHg</a:t>
            </a:r>
            <a:r>
              <a:rPr kumimoji="0" lang="zh-CN" altLang="en-US" sz="1800" b="1">
                <a:solidFill>
                  <a:srgbClr val="0000FF"/>
                </a:solidFill>
                <a:ea typeface="华文中宋" pitchFamily="2" charset="-122"/>
              </a:rPr>
              <a:t>的高真空，</a:t>
            </a:r>
            <a:r>
              <a:rPr kumimoji="0" lang="en-US" altLang="zh-CN" sz="1800" b="1">
                <a:solidFill>
                  <a:srgbClr val="0000FF"/>
                </a:solidFill>
                <a:ea typeface="华文中宋" pitchFamily="2" charset="-122"/>
              </a:rPr>
              <a:t>(760 mmHg</a:t>
            </a:r>
            <a:r>
              <a:rPr kumimoji="0" lang="zh-CN" altLang="en-US" sz="1800" b="1">
                <a:solidFill>
                  <a:srgbClr val="0000FF"/>
                </a:solidFill>
                <a:ea typeface="华文中宋" pitchFamily="2" charset="-122"/>
              </a:rPr>
              <a:t>＝</a:t>
            </a:r>
            <a:r>
              <a:rPr kumimoji="0" lang="en-US" altLang="zh-CN" sz="1800" b="1">
                <a:solidFill>
                  <a:srgbClr val="0000FF"/>
                </a:solidFill>
                <a:ea typeface="华文中宋" pitchFamily="2" charset="-122"/>
              </a:rPr>
              <a:t>1.013×10</a:t>
            </a:r>
            <a:r>
              <a:rPr kumimoji="0" lang="en-US" altLang="zh-CN" sz="1800" b="1" baseline="30000">
                <a:solidFill>
                  <a:srgbClr val="0000FF"/>
                </a:solidFill>
                <a:ea typeface="华文中宋" pitchFamily="2" charset="-122"/>
              </a:rPr>
              <a:t>5</a:t>
            </a:r>
            <a:r>
              <a:rPr kumimoji="0" lang="en-US" altLang="zh-CN" sz="1800" b="1">
                <a:solidFill>
                  <a:srgbClr val="0000FF"/>
                </a:solidFill>
                <a:ea typeface="华文中宋" pitchFamily="2" charset="-122"/>
              </a:rPr>
              <a:t> Pa</a:t>
            </a:r>
            <a:r>
              <a:rPr kumimoji="0" lang="zh-CN" altLang="en-US" sz="1800" b="1">
                <a:solidFill>
                  <a:srgbClr val="0000FF"/>
                </a:solidFill>
                <a:ea typeface="华文中宋" pitchFamily="2" charset="-122"/>
              </a:rPr>
              <a:t>，空气分子可认为是刚性双原子分子</a:t>
            </a:r>
            <a:r>
              <a:rPr kumimoji="0" lang="en-US" altLang="zh-CN" sz="1800" b="1">
                <a:solidFill>
                  <a:srgbClr val="0000FF"/>
                </a:solidFill>
                <a:ea typeface="华文中宋" pitchFamily="2" charset="-122"/>
              </a:rPr>
              <a:t>), </a:t>
            </a:r>
            <a:r>
              <a:rPr kumimoji="0" lang="zh-CN" altLang="en-US" sz="1800" b="1">
                <a:solidFill>
                  <a:srgbClr val="0000FF"/>
                </a:solidFill>
                <a:ea typeface="华文中宋" pitchFamily="2" charset="-122"/>
              </a:rPr>
              <a:t>问：</a:t>
            </a:r>
          </a:p>
          <a:p>
            <a:pPr eaLnBrk="1" hangingPunct="1"/>
            <a:r>
              <a:rPr kumimoji="0" lang="zh-CN" altLang="en-US" sz="1800" b="1">
                <a:solidFill>
                  <a:srgbClr val="0000FF"/>
                </a:solidFill>
                <a:ea typeface="华文中宋" pitchFamily="2" charset="-122"/>
              </a:rPr>
              <a:t>        </a:t>
            </a:r>
            <a:r>
              <a:rPr kumimoji="0" lang="zh-CN" altLang="en-US" sz="1800" b="1">
                <a:solidFill>
                  <a:srgbClr val="0000FF"/>
                </a:solidFill>
                <a:latin typeface="华文中宋" pitchFamily="2" charset="-122"/>
                <a:ea typeface="华文中宋" pitchFamily="2" charset="-122"/>
              </a:rPr>
              <a:t> </a:t>
            </a:r>
            <a:r>
              <a:rPr kumimoji="0" lang="en-US" altLang="zh-CN" sz="1800" b="1">
                <a:solidFill>
                  <a:srgbClr val="0000FF"/>
                </a:solidFill>
                <a:latin typeface="华文中宋" pitchFamily="2" charset="-122"/>
                <a:ea typeface="华文中宋" pitchFamily="2" charset="-122"/>
              </a:rPr>
              <a:t>(1)  </a:t>
            </a:r>
            <a:r>
              <a:rPr kumimoji="0" lang="zh-CN" altLang="en-US" sz="1800" b="1">
                <a:solidFill>
                  <a:srgbClr val="0000FF"/>
                </a:solidFill>
                <a:ea typeface="华文中宋" pitchFamily="2" charset="-122"/>
              </a:rPr>
              <a:t>此时管内有多少个空气分子？</a:t>
            </a:r>
          </a:p>
        </p:txBody>
      </p:sp>
      <p:sp>
        <p:nvSpPr>
          <p:cNvPr id="329731" name="Text Box 3"/>
          <p:cNvSpPr txBox="1">
            <a:spLocks noChangeArrowheads="1"/>
          </p:cNvSpPr>
          <p:nvPr/>
        </p:nvSpPr>
        <p:spPr bwMode="auto">
          <a:xfrm>
            <a:off x="579438" y="1995488"/>
            <a:ext cx="27686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FF0000"/>
                </a:solidFill>
                <a:ea typeface="华文中宋" pitchFamily="2" charset="-122"/>
              </a:rPr>
              <a:t>解：</a:t>
            </a:r>
            <a:r>
              <a:rPr kumimoji="0" lang="zh-CN" altLang="en-US" sz="1800" b="1">
                <a:ea typeface="华文中宋" pitchFamily="2" charset="-122"/>
              </a:rPr>
              <a:t>设管内总分子数为</a:t>
            </a:r>
            <a:r>
              <a:rPr kumimoji="0" lang="en-US" altLang="zh-CN" sz="1800" b="1" i="1">
                <a:ea typeface="华文中宋" pitchFamily="2" charset="-122"/>
              </a:rPr>
              <a:t>N</a:t>
            </a:r>
          </a:p>
        </p:txBody>
      </p:sp>
      <p:sp>
        <p:nvSpPr>
          <p:cNvPr id="329732" name="Text Box 4"/>
          <p:cNvSpPr txBox="1">
            <a:spLocks noChangeArrowheads="1"/>
          </p:cNvSpPr>
          <p:nvPr/>
        </p:nvSpPr>
        <p:spPr bwMode="auto">
          <a:xfrm>
            <a:off x="3843338" y="2192338"/>
            <a:ext cx="6445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latin typeface="楷体_GB2312" pitchFamily="49" charset="-122"/>
                <a:ea typeface="楷体_GB2312" pitchFamily="49" charset="-122"/>
              </a:rPr>
              <a:t>由 </a:t>
            </a:r>
          </a:p>
        </p:txBody>
      </p:sp>
      <p:graphicFrame>
        <p:nvGraphicFramePr>
          <p:cNvPr id="329734" name="Object 6"/>
          <p:cNvGraphicFramePr>
            <a:graphicFrameLocks noChangeAspect="1"/>
          </p:cNvGraphicFramePr>
          <p:nvPr/>
        </p:nvGraphicFramePr>
        <p:xfrm>
          <a:off x="4243388" y="2138363"/>
          <a:ext cx="1120775" cy="504825"/>
        </p:xfrm>
        <a:graphic>
          <a:graphicData uri="http://schemas.openxmlformats.org/presentationml/2006/ole">
            <p:oleObj spid="_x0000_s40980" name="公式" r:id="rId3" imgW="672808" imgH="406224" progId="Equation.3">
              <p:embed/>
            </p:oleObj>
          </a:graphicData>
        </a:graphic>
      </p:graphicFrame>
      <p:sp>
        <p:nvSpPr>
          <p:cNvPr id="329735" name="Text Box 7"/>
          <p:cNvSpPr txBox="1">
            <a:spLocks noChangeArrowheads="1"/>
          </p:cNvSpPr>
          <p:nvPr/>
        </p:nvSpPr>
        <p:spPr bwMode="auto">
          <a:xfrm>
            <a:off x="1225550" y="2562225"/>
            <a:ext cx="24828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latin typeface="华文中宋" pitchFamily="2" charset="-122"/>
                <a:ea typeface="华文中宋" pitchFamily="2" charset="-122"/>
              </a:rPr>
              <a:t>管内空气分子数 </a:t>
            </a:r>
          </a:p>
        </p:txBody>
      </p:sp>
      <p:graphicFrame>
        <p:nvGraphicFramePr>
          <p:cNvPr id="329736" name="Object 8"/>
          <p:cNvGraphicFramePr>
            <a:graphicFrameLocks noChangeAspect="1"/>
          </p:cNvGraphicFramePr>
          <p:nvPr/>
        </p:nvGraphicFramePr>
        <p:xfrm>
          <a:off x="1908175" y="2841625"/>
          <a:ext cx="5689600" cy="827088"/>
        </p:xfrm>
        <a:graphic>
          <a:graphicData uri="http://schemas.openxmlformats.org/presentationml/2006/ole">
            <p:oleObj spid="_x0000_s40981" name="公式" r:id="rId4" imgW="2413000" imgH="469900" progId="Equation.3">
              <p:embed/>
            </p:oleObj>
          </a:graphicData>
        </a:graphic>
      </p:graphicFrame>
      <p:sp>
        <p:nvSpPr>
          <p:cNvPr id="330754" name="Text Box 2"/>
          <p:cNvSpPr txBox="1">
            <a:spLocks noChangeArrowheads="1"/>
          </p:cNvSpPr>
          <p:nvPr/>
        </p:nvSpPr>
        <p:spPr bwMode="auto">
          <a:xfrm>
            <a:off x="1225550" y="3741738"/>
            <a:ext cx="705643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solidFill>
                  <a:srgbClr val="0000FF"/>
                </a:solidFill>
                <a:latin typeface="华文中宋" pitchFamily="2" charset="-122"/>
                <a:ea typeface="华文中宋" pitchFamily="2" charset="-122"/>
              </a:rPr>
              <a:t>(2) </a:t>
            </a:r>
            <a:r>
              <a:rPr kumimoji="0" lang="zh-CN" altLang="en-US" sz="1800" b="1">
                <a:solidFill>
                  <a:srgbClr val="0000FF"/>
                </a:solidFill>
                <a:latin typeface="华文中宋" pitchFamily="2" charset="-122"/>
                <a:ea typeface="华文中宋" pitchFamily="2" charset="-122"/>
              </a:rPr>
              <a:t>这些空气分子的平均平动动能的总和是多少？</a:t>
            </a:r>
          </a:p>
        </p:txBody>
      </p:sp>
      <p:sp>
        <p:nvSpPr>
          <p:cNvPr id="330755" name="Text Box 3"/>
          <p:cNvSpPr txBox="1">
            <a:spLocks noChangeArrowheads="1"/>
          </p:cNvSpPr>
          <p:nvPr/>
        </p:nvSpPr>
        <p:spPr bwMode="auto">
          <a:xfrm>
            <a:off x="611188" y="4164013"/>
            <a:ext cx="5048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FF0000"/>
                </a:solidFill>
                <a:latin typeface="华文中宋" pitchFamily="2" charset="-122"/>
                <a:ea typeface="华文中宋" pitchFamily="2" charset="-122"/>
              </a:rPr>
              <a:t>解：</a:t>
            </a:r>
          </a:p>
        </p:txBody>
      </p:sp>
      <p:graphicFrame>
        <p:nvGraphicFramePr>
          <p:cNvPr id="330756" name="Object 4"/>
          <p:cNvGraphicFramePr>
            <a:graphicFrameLocks noChangeAspect="1"/>
          </p:cNvGraphicFramePr>
          <p:nvPr/>
        </p:nvGraphicFramePr>
        <p:xfrm>
          <a:off x="1258888" y="4084638"/>
          <a:ext cx="6265862" cy="571500"/>
        </p:xfrm>
        <a:graphic>
          <a:graphicData uri="http://schemas.openxmlformats.org/presentationml/2006/ole">
            <p:oleObj spid="_x0000_s40982" name="Equation" r:id="rId5" imgW="3911600" imgH="3937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29730"/>
                                        </p:tgtEl>
                                        <p:attrNameLst>
                                          <p:attrName>style.visibility</p:attrName>
                                        </p:attrNameLst>
                                      </p:cBhvr>
                                      <p:to>
                                        <p:strVal val="visible"/>
                                      </p:to>
                                    </p:set>
                                    <p:animEffect transition="in" filter="wipe(left)">
                                      <p:cBhvr>
                                        <p:cTn id="7" dur="500"/>
                                        <p:tgtEl>
                                          <p:spTgt spid="329730"/>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29731"/>
                                        </p:tgtEl>
                                        <p:attrNameLst>
                                          <p:attrName>style.visibility</p:attrName>
                                        </p:attrNameLst>
                                      </p:cBhvr>
                                      <p:to>
                                        <p:strVal val="visible"/>
                                      </p:to>
                                    </p:set>
                                    <p:animEffect transition="in" filter="wipe(left)">
                                      <p:cBhvr>
                                        <p:cTn id="12" dur="500"/>
                                        <p:tgtEl>
                                          <p:spTgt spid="32973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29732"/>
                                        </p:tgtEl>
                                        <p:attrNameLst>
                                          <p:attrName>style.visibility</p:attrName>
                                        </p:attrNameLst>
                                      </p:cBhvr>
                                      <p:to>
                                        <p:strVal val="visible"/>
                                      </p:to>
                                    </p:set>
                                    <p:animEffect transition="in" filter="wipe(left)">
                                      <p:cBhvr>
                                        <p:cTn id="17" dur="500"/>
                                        <p:tgtEl>
                                          <p:spTgt spid="32973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29734"/>
                                        </p:tgtEl>
                                        <p:attrNameLst>
                                          <p:attrName>style.visibility</p:attrName>
                                        </p:attrNameLst>
                                      </p:cBhvr>
                                      <p:to>
                                        <p:strVal val="visible"/>
                                      </p:to>
                                    </p:set>
                                    <p:animEffect transition="in" filter="wipe(left)">
                                      <p:cBhvr>
                                        <p:cTn id="22" dur="500"/>
                                        <p:tgtEl>
                                          <p:spTgt spid="32973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29735"/>
                                        </p:tgtEl>
                                        <p:attrNameLst>
                                          <p:attrName>style.visibility</p:attrName>
                                        </p:attrNameLst>
                                      </p:cBhvr>
                                      <p:to>
                                        <p:strVal val="visible"/>
                                      </p:to>
                                    </p:set>
                                    <p:animEffect transition="in" filter="wipe(left)">
                                      <p:cBhvr>
                                        <p:cTn id="27" dur="500"/>
                                        <p:tgtEl>
                                          <p:spTgt spid="32973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29736"/>
                                        </p:tgtEl>
                                        <p:attrNameLst>
                                          <p:attrName>style.visibility</p:attrName>
                                        </p:attrNameLst>
                                      </p:cBhvr>
                                      <p:to>
                                        <p:strVal val="visible"/>
                                      </p:to>
                                    </p:set>
                                    <p:animEffect transition="in" filter="wipe(left)">
                                      <p:cBhvr>
                                        <p:cTn id="32" dur="500"/>
                                        <p:tgtEl>
                                          <p:spTgt spid="329736"/>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30754"/>
                                        </p:tgtEl>
                                        <p:attrNameLst>
                                          <p:attrName>style.visibility</p:attrName>
                                        </p:attrNameLst>
                                      </p:cBhvr>
                                      <p:to>
                                        <p:strVal val="visible"/>
                                      </p:to>
                                    </p:set>
                                    <p:animEffect transition="in" filter="wipe(left)">
                                      <p:cBhvr>
                                        <p:cTn id="37" dur="500"/>
                                        <p:tgtEl>
                                          <p:spTgt spid="330754"/>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30755"/>
                                        </p:tgtEl>
                                        <p:attrNameLst>
                                          <p:attrName>style.visibility</p:attrName>
                                        </p:attrNameLst>
                                      </p:cBhvr>
                                      <p:to>
                                        <p:strVal val="visible"/>
                                      </p:to>
                                    </p:set>
                                    <p:animEffect transition="in" filter="wipe(left)">
                                      <p:cBhvr>
                                        <p:cTn id="42" dur="500"/>
                                        <p:tgtEl>
                                          <p:spTgt spid="33075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30756"/>
                                        </p:tgtEl>
                                        <p:attrNameLst>
                                          <p:attrName>style.visibility</p:attrName>
                                        </p:attrNameLst>
                                      </p:cBhvr>
                                      <p:to>
                                        <p:strVal val="visible"/>
                                      </p:to>
                                    </p:set>
                                    <p:animEffect transition="in" filter="wipe(left)">
                                      <p:cBhvr>
                                        <p:cTn id="47" dur="500"/>
                                        <p:tgtEl>
                                          <p:spTgt spid="33075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29730" grpId="0"/>
      <p:bldP spid="329731" grpId="0"/>
      <p:bldP spid="329732" grpId="0"/>
      <p:bldP spid="329735" grpId="0"/>
      <p:bldP spid="330754" grpId="0"/>
      <p:bldP spid="330755" grpId="0"/>
    </p:bldLst>
  </p:timing>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0759" name="Text Box 7"/>
          <p:cNvSpPr txBox="1">
            <a:spLocks noChangeArrowheads="1"/>
          </p:cNvSpPr>
          <p:nvPr/>
        </p:nvSpPr>
        <p:spPr bwMode="auto">
          <a:xfrm>
            <a:off x="1123950" y="771525"/>
            <a:ext cx="58959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solidFill>
                  <a:srgbClr val="0000FF"/>
                </a:solidFill>
                <a:latin typeface="华文中宋" pitchFamily="2" charset="-122"/>
                <a:ea typeface="华文中宋" pitchFamily="2" charset="-122"/>
              </a:rPr>
              <a:t>(3) </a:t>
            </a:r>
            <a:r>
              <a:rPr kumimoji="0" lang="zh-CN" altLang="en-US" sz="1800" b="1">
                <a:solidFill>
                  <a:srgbClr val="0000FF"/>
                </a:solidFill>
                <a:latin typeface="华文中宋" pitchFamily="2" charset="-122"/>
                <a:ea typeface="华文中宋" pitchFamily="2" charset="-122"/>
              </a:rPr>
              <a:t>平均转动动能的总和是多少？</a:t>
            </a:r>
          </a:p>
        </p:txBody>
      </p:sp>
      <p:sp>
        <p:nvSpPr>
          <p:cNvPr id="330760" name="Text Box 8"/>
          <p:cNvSpPr txBox="1">
            <a:spLocks noChangeArrowheads="1"/>
          </p:cNvSpPr>
          <p:nvPr/>
        </p:nvSpPr>
        <p:spPr bwMode="auto">
          <a:xfrm>
            <a:off x="615950" y="1122363"/>
            <a:ext cx="7969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FF0000"/>
                </a:solidFill>
                <a:latin typeface="华文中宋" pitchFamily="2" charset="-122"/>
                <a:ea typeface="华文中宋" pitchFamily="2" charset="-122"/>
              </a:rPr>
              <a:t>解：</a:t>
            </a:r>
          </a:p>
        </p:txBody>
      </p:sp>
      <p:sp>
        <p:nvSpPr>
          <p:cNvPr id="330764" name="Text Box 12"/>
          <p:cNvSpPr txBox="1">
            <a:spLocks noChangeArrowheads="1"/>
          </p:cNvSpPr>
          <p:nvPr/>
        </p:nvSpPr>
        <p:spPr bwMode="auto">
          <a:xfrm>
            <a:off x="1187450" y="1482725"/>
            <a:ext cx="478472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solidFill>
                  <a:srgbClr val="0000FF"/>
                </a:solidFill>
                <a:latin typeface="华文中宋" pitchFamily="2" charset="-122"/>
                <a:ea typeface="华文中宋" pitchFamily="2" charset="-122"/>
              </a:rPr>
              <a:t>(4) </a:t>
            </a:r>
            <a:r>
              <a:rPr kumimoji="0" lang="zh-CN" altLang="en-US" sz="1800" b="1">
                <a:solidFill>
                  <a:srgbClr val="0000FF"/>
                </a:solidFill>
                <a:latin typeface="华文中宋" pitchFamily="2" charset="-122"/>
                <a:ea typeface="华文中宋" pitchFamily="2" charset="-122"/>
              </a:rPr>
              <a:t>平均动能的总和是多少？</a:t>
            </a:r>
          </a:p>
        </p:txBody>
      </p:sp>
      <p:sp>
        <p:nvSpPr>
          <p:cNvPr id="330765" name="Text Box 13"/>
          <p:cNvSpPr txBox="1">
            <a:spLocks noChangeArrowheads="1"/>
          </p:cNvSpPr>
          <p:nvPr/>
        </p:nvSpPr>
        <p:spPr bwMode="auto">
          <a:xfrm>
            <a:off x="611188" y="1833563"/>
            <a:ext cx="7969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FF0000"/>
                </a:solidFill>
                <a:latin typeface="华文中宋" pitchFamily="2" charset="-122"/>
                <a:ea typeface="华文中宋" pitchFamily="2" charset="-122"/>
              </a:rPr>
              <a:t>解：</a:t>
            </a:r>
          </a:p>
        </p:txBody>
      </p:sp>
      <p:graphicFrame>
        <p:nvGraphicFramePr>
          <p:cNvPr id="330756" name="Object 4"/>
          <p:cNvGraphicFramePr>
            <a:graphicFrameLocks noChangeAspect="1"/>
          </p:cNvGraphicFramePr>
          <p:nvPr/>
        </p:nvGraphicFramePr>
        <p:xfrm>
          <a:off x="1260475" y="1058863"/>
          <a:ext cx="6264275" cy="514350"/>
        </p:xfrm>
        <a:graphic>
          <a:graphicData uri="http://schemas.openxmlformats.org/presentationml/2006/ole">
            <p:oleObj spid="_x0000_s42017" name="Equation" r:id="rId3" imgW="3987800" imgH="393700" progId="Equation.DSMT4">
              <p:embed/>
            </p:oleObj>
          </a:graphicData>
        </a:graphic>
      </p:graphicFrame>
      <p:graphicFrame>
        <p:nvGraphicFramePr>
          <p:cNvPr id="3" name="Object 4"/>
          <p:cNvGraphicFramePr>
            <a:graphicFrameLocks noChangeAspect="1"/>
          </p:cNvGraphicFramePr>
          <p:nvPr/>
        </p:nvGraphicFramePr>
        <p:xfrm>
          <a:off x="1290638" y="1779588"/>
          <a:ext cx="6234112" cy="522287"/>
        </p:xfrm>
        <a:graphic>
          <a:graphicData uri="http://schemas.openxmlformats.org/presentationml/2006/ole">
            <p:oleObj spid="_x0000_s42018" name="Equation" r:id="rId4" imgW="3911600" imgH="393700" progId="Equation.DSMT4">
              <p:embed/>
            </p:oleObj>
          </a:graphicData>
        </a:graphic>
      </p:graphicFrame>
      <p:sp>
        <p:nvSpPr>
          <p:cNvPr id="302082" name="Text Box 2"/>
          <p:cNvSpPr txBox="1">
            <a:spLocks noChangeArrowheads="1"/>
          </p:cNvSpPr>
          <p:nvPr/>
        </p:nvSpPr>
        <p:spPr bwMode="auto">
          <a:xfrm>
            <a:off x="395288" y="2211388"/>
            <a:ext cx="8461375"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solidFill>
                  <a:srgbClr val="0000FF"/>
                </a:solidFill>
                <a:ea typeface="华文中宋" pitchFamily="2" charset="-122"/>
              </a:rPr>
              <a:t>例  储有</a:t>
            </a:r>
            <a:r>
              <a:rPr kumimoji="0" lang="en-US" altLang="zh-CN" sz="1800" b="1">
                <a:solidFill>
                  <a:srgbClr val="0000FF"/>
                </a:solidFill>
                <a:ea typeface="华文中宋" pitchFamily="2" charset="-122"/>
              </a:rPr>
              <a:t>1mol</a:t>
            </a:r>
            <a:r>
              <a:rPr kumimoji="0" lang="zh-CN" altLang="en-US" sz="1800" b="1">
                <a:solidFill>
                  <a:srgbClr val="0000FF"/>
                </a:solidFill>
                <a:ea typeface="华文中宋" pitchFamily="2" charset="-122"/>
              </a:rPr>
              <a:t>氧气，容积为</a:t>
            </a:r>
            <a:r>
              <a:rPr kumimoji="0" lang="en-US" altLang="zh-CN" sz="1800" b="1">
                <a:solidFill>
                  <a:srgbClr val="0000FF"/>
                </a:solidFill>
                <a:ea typeface="华文中宋" pitchFamily="2" charset="-122"/>
              </a:rPr>
              <a:t>1m</a:t>
            </a:r>
            <a:r>
              <a:rPr kumimoji="0" lang="en-US" altLang="zh-CN" sz="1800" b="1" baseline="30000">
                <a:solidFill>
                  <a:srgbClr val="0000FF"/>
                </a:solidFill>
                <a:ea typeface="华文中宋" pitchFamily="2" charset="-122"/>
              </a:rPr>
              <a:t>3</a:t>
            </a:r>
            <a:r>
              <a:rPr kumimoji="0" lang="zh-CN" altLang="en-US" sz="1800" b="1">
                <a:solidFill>
                  <a:srgbClr val="0000FF"/>
                </a:solidFill>
                <a:ea typeface="华文中宋" pitchFamily="2" charset="-122"/>
              </a:rPr>
              <a:t>的容器以</a:t>
            </a:r>
            <a:r>
              <a:rPr kumimoji="0" lang="zh-CN" altLang="en-US" sz="1800" b="1" i="1">
                <a:solidFill>
                  <a:srgbClr val="0000FF"/>
                </a:solidFill>
                <a:ea typeface="华文中宋" pitchFamily="2" charset="-122"/>
                <a:sym typeface="Symbol" pitchFamily="18" charset="2"/>
              </a:rPr>
              <a:t></a:t>
            </a:r>
            <a:r>
              <a:rPr kumimoji="0" lang="zh-CN" altLang="en-US" sz="1800" b="1">
                <a:solidFill>
                  <a:srgbClr val="0000FF"/>
                </a:solidFill>
                <a:ea typeface="华文中宋" pitchFamily="2" charset="-122"/>
              </a:rPr>
              <a:t>＝</a:t>
            </a:r>
            <a:r>
              <a:rPr kumimoji="0" lang="en-US" altLang="zh-CN" sz="1800" b="1">
                <a:solidFill>
                  <a:srgbClr val="0000FF"/>
                </a:solidFill>
                <a:ea typeface="华文中宋" pitchFamily="2" charset="-122"/>
              </a:rPr>
              <a:t>10 m·s</a:t>
            </a:r>
            <a:r>
              <a:rPr kumimoji="0" lang="en-US" altLang="zh-CN" sz="1800" b="1" baseline="30000">
                <a:solidFill>
                  <a:srgbClr val="0000FF"/>
                </a:solidFill>
                <a:ea typeface="华文中宋" pitchFamily="2" charset="-122"/>
              </a:rPr>
              <a:t>-1</a:t>
            </a:r>
            <a:r>
              <a:rPr kumimoji="0" lang="en-US" altLang="zh-CN" sz="1800" b="1">
                <a:solidFill>
                  <a:srgbClr val="0000FF"/>
                </a:solidFill>
                <a:ea typeface="华文中宋" pitchFamily="2" charset="-122"/>
              </a:rPr>
              <a:t> </a:t>
            </a:r>
            <a:r>
              <a:rPr kumimoji="0" lang="zh-CN" altLang="en-US" sz="1800" b="1">
                <a:solidFill>
                  <a:srgbClr val="0000FF"/>
                </a:solidFill>
                <a:ea typeface="华文中宋" pitchFamily="2" charset="-122"/>
              </a:rPr>
              <a:t>的速度运动．设容器突然停止，其中氧气的</a:t>
            </a:r>
            <a:r>
              <a:rPr kumimoji="0" lang="en-US" altLang="zh-CN" sz="1800" b="1">
                <a:solidFill>
                  <a:srgbClr val="0000FF"/>
                </a:solidFill>
                <a:ea typeface="华文中宋" pitchFamily="2" charset="-122"/>
              </a:rPr>
              <a:t>80</a:t>
            </a:r>
            <a:r>
              <a:rPr kumimoji="0" lang="zh-CN" altLang="en-US" sz="1800" b="1">
                <a:solidFill>
                  <a:srgbClr val="0000FF"/>
                </a:solidFill>
                <a:ea typeface="华文中宋" pitchFamily="2" charset="-122"/>
              </a:rPr>
              <a:t>％的机械运动动能转化为气体分子热运动动能，问气体的温度及压强各升高了多少？  </a:t>
            </a:r>
            <a:r>
              <a:rPr kumimoji="0" lang="en-US" altLang="zh-CN" sz="1800" b="1">
                <a:solidFill>
                  <a:srgbClr val="0000FF"/>
                </a:solidFill>
                <a:ea typeface="华文中宋" pitchFamily="2" charset="-122"/>
              </a:rPr>
              <a:t>(</a:t>
            </a:r>
            <a:r>
              <a:rPr kumimoji="0" lang="zh-CN" altLang="en-US" sz="1800" b="1">
                <a:solidFill>
                  <a:srgbClr val="0000FF"/>
                </a:solidFill>
                <a:ea typeface="华文中宋" pitchFamily="2" charset="-122"/>
              </a:rPr>
              <a:t>氧气分子视为刚性分子</a:t>
            </a:r>
            <a:r>
              <a:rPr kumimoji="0" lang="en-US" altLang="zh-CN" sz="1800" b="1">
                <a:solidFill>
                  <a:srgbClr val="0000FF"/>
                </a:solidFill>
                <a:ea typeface="华文中宋" pitchFamily="2" charset="-122"/>
              </a:rPr>
              <a:t>)</a:t>
            </a:r>
          </a:p>
        </p:txBody>
      </p:sp>
      <p:sp>
        <p:nvSpPr>
          <p:cNvPr id="302083" name="Rectangle 3"/>
          <p:cNvSpPr>
            <a:spLocks noChangeArrowheads="1"/>
          </p:cNvSpPr>
          <p:nvPr/>
        </p:nvSpPr>
        <p:spPr bwMode="auto">
          <a:xfrm>
            <a:off x="611188" y="3113088"/>
            <a:ext cx="7969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en-US" sz="1800" b="1">
                <a:solidFill>
                  <a:srgbClr val="FF0000"/>
                </a:solidFill>
                <a:latin typeface="华文中宋" pitchFamily="2" charset="-122"/>
                <a:ea typeface="华文中宋" pitchFamily="2" charset="-122"/>
              </a:rPr>
              <a:t>解：</a:t>
            </a:r>
          </a:p>
        </p:txBody>
      </p:sp>
      <p:graphicFrame>
        <p:nvGraphicFramePr>
          <p:cNvPr id="302084" name="Object 4"/>
          <p:cNvGraphicFramePr>
            <a:graphicFrameLocks noChangeAspect="1"/>
          </p:cNvGraphicFramePr>
          <p:nvPr/>
        </p:nvGraphicFramePr>
        <p:xfrm>
          <a:off x="1930400" y="3219450"/>
          <a:ext cx="4441825" cy="509588"/>
        </p:xfrm>
        <a:graphic>
          <a:graphicData uri="http://schemas.openxmlformats.org/presentationml/2006/ole">
            <p:oleObj spid="_x0000_s42019" name="Equation" r:id="rId5" imgW="2286000" imgH="431800" progId="Equation.DSMT4">
              <p:embed/>
            </p:oleObj>
          </a:graphicData>
        </a:graphic>
      </p:graphicFrame>
      <p:graphicFrame>
        <p:nvGraphicFramePr>
          <p:cNvPr id="2" name="对象 1"/>
          <p:cNvGraphicFramePr>
            <a:graphicFrameLocks noChangeAspect="1"/>
          </p:cNvGraphicFramePr>
          <p:nvPr/>
        </p:nvGraphicFramePr>
        <p:xfrm>
          <a:off x="1992313" y="3795713"/>
          <a:ext cx="5675312" cy="476250"/>
        </p:xfrm>
        <a:graphic>
          <a:graphicData uri="http://schemas.openxmlformats.org/presentationml/2006/ole">
            <p:oleObj spid="_x0000_s42020" name="Equation" r:id="rId6" imgW="3644900" imgH="431800" progId="Equation.DSMT4">
              <p:embed/>
            </p:oleObj>
          </a:graphicData>
        </a:graphic>
      </p:graphicFrame>
      <p:sp>
        <p:nvSpPr>
          <p:cNvPr id="26" name="Text Box 9"/>
          <p:cNvSpPr txBox="1">
            <a:spLocks noChangeArrowheads="1"/>
          </p:cNvSpPr>
          <p:nvPr/>
        </p:nvSpPr>
        <p:spPr bwMode="auto">
          <a:xfrm>
            <a:off x="1258888" y="4313238"/>
            <a:ext cx="14414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latin typeface="华文中宋" pitchFamily="2" charset="-122"/>
                <a:ea typeface="华文中宋" pitchFamily="2" charset="-122"/>
              </a:rPr>
              <a:t>1mol</a:t>
            </a:r>
            <a:r>
              <a:rPr kumimoji="0" lang="zh-CN" altLang="en-US" sz="1800" b="1">
                <a:latin typeface="华文中宋" pitchFamily="2" charset="-122"/>
                <a:ea typeface="华文中宋" pitchFamily="2" charset="-122"/>
              </a:rPr>
              <a:t>氧气：</a:t>
            </a:r>
          </a:p>
        </p:txBody>
      </p:sp>
      <p:graphicFrame>
        <p:nvGraphicFramePr>
          <p:cNvPr id="31" name="Object 8"/>
          <p:cNvGraphicFramePr>
            <a:graphicFrameLocks noChangeAspect="1"/>
          </p:cNvGraphicFramePr>
          <p:nvPr/>
        </p:nvGraphicFramePr>
        <p:xfrm>
          <a:off x="2674938" y="4298950"/>
          <a:ext cx="960437" cy="430213"/>
        </p:xfrm>
        <a:graphic>
          <a:graphicData uri="http://schemas.openxmlformats.org/presentationml/2006/ole">
            <p:oleObj spid="_x0000_s42021" name="公式" r:id="rId7" imgW="558558" imgH="406224" progId="Equation.3">
              <p:embed/>
            </p:oleObj>
          </a:graphicData>
        </a:graphic>
      </p:graphicFrame>
      <p:graphicFrame>
        <p:nvGraphicFramePr>
          <p:cNvPr id="33" name="Object 11"/>
          <p:cNvGraphicFramePr>
            <a:graphicFrameLocks noChangeAspect="1"/>
          </p:cNvGraphicFramePr>
          <p:nvPr/>
        </p:nvGraphicFramePr>
        <p:xfrm>
          <a:off x="3851275" y="4300538"/>
          <a:ext cx="1800225" cy="436562"/>
        </p:xfrm>
        <a:graphic>
          <a:graphicData uri="http://schemas.openxmlformats.org/presentationml/2006/ole">
            <p:oleObj spid="_x0000_s42022" name="Equation" r:id="rId8" imgW="1282700" imgH="3937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30759"/>
                                        </p:tgtEl>
                                        <p:attrNameLst>
                                          <p:attrName>style.visibility</p:attrName>
                                        </p:attrNameLst>
                                      </p:cBhvr>
                                      <p:to>
                                        <p:strVal val="visible"/>
                                      </p:to>
                                    </p:set>
                                    <p:animEffect transition="in" filter="wipe(left)">
                                      <p:cBhvr>
                                        <p:cTn id="7" dur="500"/>
                                        <p:tgtEl>
                                          <p:spTgt spid="33075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30760"/>
                                        </p:tgtEl>
                                        <p:attrNameLst>
                                          <p:attrName>style.visibility</p:attrName>
                                        </p:attrNameLst>
                                      </p:cBhvr>
                                      <p:to>
                                        <p:strVal val="visible"/>
                                      </p:to>
                                    </p:set>
                                    <p:animEffect transition="in" filter="wipe(left)">
                                      <p:cBhvr>
                                        <p:cTn id="12" dur="500"/>
                                        <p:tgtEl>
                                          <p:spTgt spid="330760"/>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30756"/>
                                        </p:tgtEl>
                                        <p:attrNameLst>
                                          <p:attrName>style.visibility</p:attrName>
                                        </p:attrNameLst>
                                      </p:cBhvr>
                                      <p:to>
                                        <p:strVal val="visible"/>
                                      </p:to>
                                    </p:set>
                                    <p:animEffect transition="in" filter="wipe(left)">
                                      <p:cBhvr>
                                        <p:cTn id="17" dur="500"/>
                                        <p:tgtEl>
                                          <p:spTgt spid="330756"/>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330764"/>
                                        </p:tgtEl>
                                        <p:attrNameLst>
                                          <p:attrName>style.visibility</p:attrName>
                                        </p:attrNameLst>
                                      </p:cBhvr>
                                      <p:to>
                                        <p:strVal val="visible"/>
                                      </p:to>
                                    </p:set>
                                    <p:animEffect transition="in" filter="wipe(left)">
                                      <p:cBhvr>
                                        <p:cTn id="22" dur="500"/>
                                        <p:tgtEl>
                                          <p:spTgt spid="330764"/>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330765"/>
                                        </p:tgtEl>
                                        <p:attrNameLst>
                                          <p:attrName>style.visibility</p:attrName>
                                        </p:attrNameLst>
                                      </p:cBhvr>
                                      <p:to>
                                        <p:strVal val="visible"/>
                                      </p:to>
                                    </p:set>
                                    <p:animEffect transition="in" filter="wipe(left)">
                                      <p:cBhvr>
                                        <p:cTn id="27" dur="500"/>
                                        <p:tgtEl>
                                          <p:spTgt spid="330765"/>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nodeType="clickEffect">
                                  <p:stCondLst>
                                    <p:cond delay="0"/>
                                  </p:stCondLst>
                                  <p:childTnLst>
                                    <p:set>
                                      <p:cBhvr>
                                        <p:cTn id="31" dur="1" fill="hold">
                                          <p:stCondLst>
                                            <p:cond delay="0"/>
                                          </p:stCondLst>
                                        </p:cTn>
                                        <p:tgtEl>
                                          <p:spTgt spid="3"/>
                                        </p:tgtEl>
                                        <p:attrNameLst>
                                          <p:attrName>style.visibility</p:attrName>
                                        </p:attrNameLst>
                                      </p:cBhvr>
                                      <p:to>
                                        <p:strVal val="visible"/>
                                      </p:to>
                                    </p:set>
                                    <p:animEffect transition="in" filter="wipe(left)">
                                      <p:cBhvr>
                                        <p:cTn id="32" dur="500"/>
                                        <p:tgtEl>
                                          <p:spTgt spid="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302082"/>
                                        </p:tgtEl>
                                        <p:attrNameLst>
                                          <p:attrName>style.visibility</p:attrName>
                                        </p:attrNameLst>
                                      </p:cBhvr>
                                      <p:to>
                                        <p:strVal val="visible"/>
                                      </p:to>
                                    </p:set>
                                    <p:animEffect transition="in" filter="wipe(left)">
                                      <p:cBhvr>
                                        <p:cTn id="37" dur="500"/>
                                        <p:tgtEl>
                                          <p:spTgt spid="30208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302083"/>
                                        </p:tgtEl>
                                        <p:attrNameLst>
                                          <p:attrName>style.visibility</p:attrName>
                                        </p:attrNameLst>
                                      </p:cBhvr>
                                      <p:to>
                                        <p:strVal val="visible"/>
                                      </p:to>
                                    </p:set>
                                    <p:animEffect transition="in" filter="wipe(left)">
                                      <p:cBhvr>
                                        <p:cTn id="42" dur="500"/>
                                        <p:tgtEl>
                                          <p:spTgt spid="30208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302084"/>
                                        </p:tgtEl>
                                        <p:attrNameLst>
                                          <p:attrName>style.visibility</p:attrName>
                                        </p:attrNameLst>
                                      </p:cBhvr>
                                      <p:to>
                                        <p:strVal val="visible"/>
                                      </p:to>
                                    </p:set>
                                    <p:animEffect transition="in" filter="wipe(left)">
                                      <p:cBhvr>
                                        <p:cTn id="47" dur="500"/>
                                        <p:tgtEl>
                                          <p:spTgt spid="302084"/>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
                                        </p:tgtEl>
                                        <p:attrNameLst>
                                          <p:attrName>style.visibility</p:attrName>
                                        </p:attrNameLst>
                                      </p:cBhvr>
                                      <p:to>
                                        <p:strVal val="visible"/>
                                      </p:to>
                                    </p:set>
                                    <p:animEffect transition="in" filter="wipe(left)">
                                      <p:cBhvr>
                                        <p:cTn id="52" dur="500"/>
                                        <p:tgtEl>
                                          <p:spTgt spid="2"/>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6"/>
                                        </p:tgtEl>
                                        <p:attrNameLst>
                                          <p:attrName>style.visibility</p:attrName>
                                        </p:attrNameLst>
                                      </p:cBhvr>
                                      <p:to>
                                        <p:strVal val="visible"/>
                                      </p:to>
                                    </p:set>
                                    <p:animEffect transition="in" filter="wipe(left)">
                                      <p:cBhvr>
                                        <p:cTn id="57" dur="500"/>
                                        <p:tgtEl>
                                          <p:spTgt spid="26"/>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31"/>
                                        </p:tgtEl>
                                        <p:attrNameLst>
                                          <p:attrName>style.visibility</p:attrName>
                                        </p:attrNameLst>
                                      </p:cBhvr>
                                      <p:to>
                                        <p:strVal val="visible"/>
                                      </p:to>
                                    </p:set>
                                    <p:animEffect transition="in" filter="wipe(left)">
                                      <p:cBhvr>
                                        <p:cTn id="62" dur="500"/>
                                        <p:tgtEl>
                                          <p:spTgt spid="31"/>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3"/>
                                        </p:tgtEl>
                                        <p:attrNameLst>
                                          <p:attrName>style.visibility</p:attrName>
                                        </p:attrNameLst>
                                      </p:cBhvr>
                                      <p:to>
                                        <p:strVal val="visible"/>
                                      </p:to>
                                    </p:set>
                                    <p:animEffect transition="in" filter="wipe(left)">
                                      <p:cBhvr>
                                        <p:cTn id="67" dur="500"/>
                                        <p:tgtEl>
                                          <p:spTgt spid="3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0759" grpId="0"/>
      <p:bldP spid="330760" grpId="0"/>
      <p:bldP spid="330764" grpId="0"/>
      <p:bldP spid="330765" grpId="0"/>
      <p:bldP spid="302082" grpId="0"/>
      <p:bldP spid="302083" grpId="0"/>
      <p:bldP spid="26" grpId="0"/>
    </p:bldLst>
  </p:timing>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74" name="Text Box 1042"/>
          <p:cNvSpPr txBox="1">
            <a:spLocks noChangeArrowheads="1"/>
          </p:cNvSpPr>
          <p:nvPr/>
        </p:nvSpPr>
        <p:spPr bwMode="auto">
          <a:xfrm>
            <a:off x="381000" y="828675"/>
            <a:ext cx="8763000" cy="5905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90000"/>
              </a:lnSpc>
            </a:pPr>
            <a:r>
              <a:rPr kumimoji="0" lang="zh-CN" altLang="en-US" sz="1800" b="1">
                <a:ea typeface="华文中宋" pitchFamily="2" charset="-122"/>
              </a:rPr>
              <a:t>         对某一分子，其任一时刻的速度具有偶然性，但对于大量分子，其速率的分布从整体上会出现一些统计规律。</a:t>
            </a:r>
            <a:endParaRPr kumimoji="0" lang="zh-CN" altLang="en-US" sz="1800" b="1">
              <a:solidFill>
                <a:schemeClr val="accent2"/>
              </a:solidFill>
              <a:ea typeface="华文中宋" pitchFamily="2" charset="-122"/>
            </a:endParaRPr>
          </a:p>
        </p:txBody>
      </p:sp>
      <p:sp>
        <p:nvSpPr>
          <p:cNvPr id="45075" name="Text Box 1043"/>
          <p:cNvSpPr txBox="1">
            <a:spLocks noChangeArrowheads="1"/>
          </p:cNvSpPr>
          <p:nvPr/>
        </p:nvSpPr>
        <p:spPr bwMode="auto">
          <a:xfrm>
            <a:off x="684213" y="1878013"/>
            <a:ext cx="5616575" cy="341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90000"/>
              </a:lnSpc>
            </a:pPr>
            <a:r>
              <a:rPr kumimoji="0" lang="en-US" altLang="zh-CN" sz="1800" b="1">
                <a:solidFill>
                  <a:srgbClr val="CC0000"/>
                </a:solidFill>
                <a:ea typeface="华文中宋" pitchFamily="2" charset="-122"/>
              </a:rPr>
              <a:t>1</a:t>
            </a:r>
            <a:r>
              <a:rPr kumimoji="0" lang="zh-CN" altLang="en-US" sz="1800" b="1">
                <a:solidFill>
                  <a:srgbClr val="CC0000"/>
                </a:solidFill>
                <a:ea typeface="华文中宋" pitchFamily="2" charset="-122"/>
              </a:rPr>
              <a:t>、描述速率分布的三种方式：</a:t>
            </a:r>
          </a:p>
        </p:txBody>
      </p:sp>
      <p:sp>
        <p:nvSpPr>
          <p:cNvPr id="45076" name="Text Box 1044"/>
          <p:cNvSpPr txBox="1">
            <a:spLocks noChangeArrowheads="1"/>
          </p:cNvSpPr>
          <p:nvPr/>
        </p:nvSpPr>
        <p:spPr bwMode="auto">
          <a:xfrm>
            <a:off x="755650" y="2363788"/>
            <a:ext cx="5199063" cy="341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90000"/>
              </a:lnSpc>
            </a:pPr>
            <a:r>
              <a:rPr kumimoji="0" lang="zh-CN" altLang="en-US" sz="1800" b="1">
                <a:ea typeface="华文中宋" pitchFamily="2" charset="-122"/>
              </a:rPr>
              <a:t>（１）分布表：根据实验数据列表</a:t>
            </a:r>
            <a:endParaRPr kumimoji="0" lang="zh-CN" altLang="en-US" sz="1800" b="1">
              <a:solidFill>
                <a:schemeClr val="accent2"/>
              </a:solidFill>
              <a:ea typeface="华文中宋" pitchFamily="2" charset="-122"/>
            </a:endParaRPr>
          </a:p>
        </p:txBody>
      </p:sp>
      <p:sp>
        <p:nvSpPr>
          <p:cNvPr id="151563" name="Text Box 11"/>
          <p:cNvSpPr txBox="1">
            <a:spLocks noChangeArrowheads="1"/>
          </p:cNvSpPr>
          <p:nvPr/>
        </p:nvSpPr>
        <p:spPr bwMode="auto">
          <a:xfrm>
            <a:off x="1835150" y="3219450"/>
            <a:ext cx="5084763" cy="323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en-US" altLang="zh-CN" sz="1500" b="1">
                <a:ea typeface="华文中宋" pitchFamily="2" charset="-122"/>
              </a:rPr>
              <a:t>0</a:t>
            </a:r>
            <a:r>
              <a:rPr lang="en-US" altLang="en-US" sz="1500" b="1">
                <a:ea typeface="华文中宋" pitchFamily="2" charset="-122"/>
              </a:rPr>
              <a:t>℃</a:t>
            </a:r>
            <a:r>
              <a:rPr lang="en-US" altLang="zh-CN" sz="1500" b="1">
                <a:ea typeface="华文中宋" pitchFamily="2" charset="-122"/>
                <a:cs typeface="Times New Roman" pitchFamily="18" charset="0"/>
              </a:rPr>
              <a:t> </a:t>
            </a:r>
            <a:r>
              <a:rPr lang="zh-CN" altLang="en-US" sz="1500" b="1">
                <a:ea typeface="华文中宋" pitchFamily="2" charset="-122"/>
                <a:cs typeface="Times New Roman" pitchFamily="18" charset="0"/>
              </a:rPr>
              <a:t>时</a:t>
            </a:r>
            <a:r>
              <a:rPr lang="en-US" altLang="zh-CN" sz="1500" b="1">
                <a:ea typeface="华文中宋" pitchFamily="2" charset="-122"/>
                <a:cs typeface="Times New Roman" pitchFamily="18" charset="0"/>
              </a:rPr>
              <a:t>,</a:t>
            </a:r>
            <a:r>
              <a:rPr lang="zh-CN" altLang="en-US" sz="1500" b="1">
                <a:ea typeface="华文中宋" pitchFamily="2" charset="-122"/>
                <a:cs typeface="Times New Roman" pitchFamily="18" charset="0"/>
              </a:rPr>
              <a:t>氧气分子速率分布的粗略情况</a:t>
            </a:r>
            <a:endParaRPr lang="en-US" altLang="en-US" sz="1500" b="1">
              <a:ea typeface="华文中宋" pitchFamily="2" charset="-122"/>
              <a:cs typeface="Times New Roman" pitchFamily="18" charset="0"/>
            </a:endParaRPr>
          </a:p>
        </p:txBody>
      </p:sp>
      <p:graphicFrame>
        <p:nvGraphicFramePr>
          <p:cNvPr id="45117" name="Group 1085"/>
          <p:cNvGraphicFramePr>
            <a:graphicFrameLocks noGrp="1"/>
          </p:cNvGraphicFramePr>
          <p:nvPr/>
        </p:nvGraphicFramePr>
        <p:xfrm>
          <a:off x="836613" y="3597275"/>
          <a:ext cx="7559675" cy="869950"/>
        </p:xfrm>
        <a:graphic>
          <a:graphicData uri="http://schemas.openxmlformats.org/drawingml/2006/table">
            <a:tbl>
              <a:tblPr/>
              <a:tblGrid>
                <a:gridCol w="782637"/>
                <a:gridCol w="701675"/>
                <a:gridCol w="630238"/>
                <a:gridCol w="630237"/>
                <a:gridCol w="630238"/>
                <a:gridCol w="630237"/>
                <a:gridCol w="630238"/>
                <a:gridCol w="674687"/>
                <a:gridCol w="674688"/>
                <a:gridCol w="674687"/>
                <a:gridCol w="900113"/>
              </a:tblGrid>
              <a:tr h="52672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500" b="1" i="0" u="none" strike="noStrike" cap="none" normalizeH="0" baseline="0" dirty="0" smtClean="0">
                          <a:ln>
                            <a:noFill/>
                          </a:ln>
                          <a:solidFill>
                            <a:srgbClr val="0000FF"/>
                          </a:solidFill>
                          <a:effectLst/>
                          <a:latin typeface="Times New Roman" pitchFamily="18" charset="0"/>
                          <a:ea typeface="宋体" pitchFamily="2" charset="-122"/>
                        </a:rPr>
                        <a:t>100</a:t>
                      </a:r>
                    </a:p>
                    <a:p>
                      <a:pPr marL="0" marR="0" lvl="0" indent="0" algn="ctr" defTabSz="914400" rtl="0" eaLnBrk="1" fontAlgn="base" latinLnBrk="0" hangingPunct="1">
                        <a:lnSpc>
                          <a:spcPct val="100000"/>
                        </a:lnSpc>
                        <a:spcBef>
                          <a:spcPct val="0"/>
                        </a:spcBef>
                        <a:spcAft>
                          <a:spcPct val="0"/>
                        </a:spcAft>
                        <a:buClrTx/>
                        <a:buSzTx/>
                        <a:buFontTx/>
                        <a:buNone/>
                        <a:tabLst/>
                      </a:pPr>
                      <a:r>
                        <a:rPr kumimoji="1" lang="en-US" altLang="zh-CN" sz="1500" b="1" i="0" u="none" strike="noStrike" cap="none" normalizeH="0" baseline="0" dirty="0" smtClean="0">
                          <a:ln>
                            <a:noFill/>
                          </a:ln>
                          <a:solidFill>
                            <a:srgbClr val="0000FF"/>
                          </a:solidFill>
                          <a:effectLst/>
                          <a:latin typeface="Times New Roman" pitchFamily="18" charset="0"/>
                          <a:ea typeface="宋体" pitchFamily="2" charset="-122"/>
                        </a:rPr>
                        <a:t>m/s</a:t>
                      </a:r>
                    </a:p>
                  </a:txBody>
                  <a:tcPr marT="34334" marB="343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宋体" pitchFamily="2" charset="-122"/>
                        </a:rPr>
                        <a:t>0~2</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1~2</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2~3</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3~4</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4~5</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5~6</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6~7</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7~8</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8~9</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l"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9</a:t>
                      </a:r>
                      <a:r>
                        <a:rPr kumimoji="1" lang="zh-CN" altLang="en-US" sz="1500" b="1" i="0" u="none" strike="noStrike" cap="none" normalizeH="0" baseline="0" smtClean="0">
                          <a:ln>
                            <a:noFill/>
                          </a:ln>
                          <a:solidFill>
                            <a:schemeClr val="tx1"/>
                          </a:solidFill>
                          <a:effectLst/>
                          <a:latin typeface="Times New Roman" pitchFamily="18" charset="0"/>
                          <a:ea typeface="宋体" pitchFamily="2" charset="-122"/>
                        </a:rPr>
                        <a:t>以上</a:t>
                      </a:r>
                    </a:p>
                  </a:txBody>
                  <a:tcPr marT="34334" marB="343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r h="343230">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800" b="0" i="0" u="none" strike="noStrike" cap="none" normalizeH="0" baseline="0" dirty="0" smtClean="0">
                          <a:ln>
                            <a:noFill/>
                          </a:ln>
                          <a:solidFill>
                            <a:srgbClr val="0000FF"/>
                          </a:solidFill>
                          <a:effectLst/>
                          <a:latin typeface="Times New Roman" pitchFamily="18" charset="0"/>
                          <a:ea typeface="宋体" pitchFamily="2" charset="-122"/>
                        </a:rPr>
                        <a:t>%</a:t>
                      </a:r>
                    </a:p>
                  </a:txBody>
                  <a:tcPr marT="34334" marB="34334" anchor="ctr"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1.4</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8.1</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16.5</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21.4</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20.6</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15.1</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9.2</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4.8</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smtClean="0">
                          <a:ln>
                            <a:noFill/>
                          </a:ln>
                          <a:solidFill>
                            <a:schemeClr val="tx1"/>
                          </a:solidFill>
                          <a:effectLst/>
                          <a:latin typeface="Times New Roman" pitchFamily="18" charset="0"/>
                          <a:ea typeface="宋体" pitchFamily="2" charset="-122"/>
                        </a:rPr>
                        <a:t>2.0</a:t>
                      </a:r>
                    </a:p>
                  </a:txBody>
                  <a:tcPr marT="34334" marB="34334" anchor="ctr"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914400" rtl="0" eaLnBrk="1" fontAlgn="base" latinLnBrk="0" hangingPunct="1">
                        <a:lnSpc>
                          <a:spcPct val="100000"/>
                        </a:lnSpc>
                        <a:spcBef>
                          <a:spcPct val="20000"/>
                        </a:spcBef>
                        <a:spcAft>
                          <a:spcPct val="0"/>
                        </a:spcAft>
                        <a:buClrTx/>
                        <a:buSzTx/>
                        <a:buFontTx/>
                        <a:buNone/>
                        <a:tabLst/>
                      </a:pPr>
                      <a:r>
                        <a:rPr kumimoji="1" lang="en-US" altLang="zh-CN" sz="1500" b="1" i="0" u="none" strike="noStrike" cap="none" normalizeH="0" baseline="0" dirty="0" smtClean="0">
                          <a:ln>
                            <a:noFill/>
                          </a:ln>
                          <a:solidFill>
                            <a:schemeClr val="tx1"/>
                          </a:solidFill>
                          <a:effectLst/>
                          <a:latin typeface="Times New Roman" pitchFamily="18" charset="0"/>
                          <a:ea typeface="宋体" pitchFamily="2" charset="-122"/>
                        </a:rPr>
                        <a:t>0.9</a:t>
                      </a:r>
                    </a:p>
                  </a:txBody>
                  <a:tcPr marT="34334" marB="34334" anchor="ctr"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r>
            </a:tbl>
          </a:graphicData>
        </a:graphic>
      </p:graphicFrame>
      <p:sp>
        <p:nvSpPr>
          <p:cNvPr id="151632" name="Text Box 80"/>
          <p:cNvSpPr txBox="1">
            <a:spLocks noChangeArrowheads="1"/>
          </p:cNvSpPr>
          <p:nvPr/>
        </p:nvSpPr>
        <p:spPr bwMode="auto">
          <a:xfrm>
            <a:off x="971550" y="2733675"/>
            <a:ext cx="74882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　　把速率分成若干相等区间</a:t>
            </a:r>
            <a:r>
              <a:rPr kumimoji="0" lang="zh-CN" altLang="en-US" sz="1800" b="1" i="1">
                <a:ea typeface="华文中宋" pitchFamily="2" charset="-122"/>
                <a:sym typeface="Symbol" pitchFamily="18" charset="2"/>
              </a:rPr>
              <a:t></a:t>
            </a:r>
            <a:r>
              <a:rPr kumimoji="0" lang="zh-CN" altLang="en-US" sz="1800" b="1">
                <a:ea typeface="华文中宋" pitchFamily="2" charset="-122"/>
              </a:rPr>
              <a:t>～</a:t>
            </a:r>
            <a:r>
              <a:rPr kumimoji="0" lang="zh-CN" altLang="en-US" sz="1800" b="1" i="1">
                <a:ea typeface="华文中宋" pitchFamily="2" charset="-122"/>
                <a:sym typeface="Symbol" pitchFamily="18" charset="2"/>
              </a:rPr>
              <a:t> </a:t>
            </a:r>
            <a:r>
              <a:rPr kumimoji="0" lang="en-US" altLang="zh-CN" sz="1800" b="1">
                <a:ea typeface="华文中宋" pitchFamily="2" charset="-122"/>
              </a:rPr>
              <a:t>+</a:t>
            </a:r>
            <a:r>
              <a:rPr kumimoji="0" lang="en-US" altLang="zh-CN" sz="1800" b="1" i="1">
                <a:ea typeface="华文中宋" pitchFamily="2" charset="-122"/>
              </a:rPr>
              <a:t>△</a:t>
            </a:r>
            <a:r>
              <a:rPr kumimoji="0" lang="en-US" altLang="zh-CN" sz="1800" b="1" i="1">
                <a:ea typeface="华文中宋" pitchFamily="2" charset="-122"/>
                <a:sym typeface="Symbol" pitchFamily="18" charset="2"/>
              </a:rPr>
              <a:t></a:t>
            </a:r>
            <a:r>
              <a:rPr kumimoji="0" lang="en-US" altLang="zh-CN" sz="1800" b="1">
                <a:ea typeface="华文中宋" pitchFamily="2" charset="-122"/>
                <a:sym typeface="Symbol" pitchFamily="18" charset="2"/>
              </a:rPr>
              <a:t>,</a:t>
            </a:r>
            <a:r>
              <a:rPr kumimoji="0" lang="zh-CN" altLang="en-US" sz="1800" b="1">
                <a:ea typeface="华文中宋" pitchFamily="2" charset="-122"/>
                <a:sym typeface="Symbol" pitchFamily="18" charset="2"/>
              </a:rPr>
              <a:t>统计每个区间内的分子数。</a:t>
            </a:r>
          </a:p>
        </p:txBody>
      </p:sp>
      <p:sp>
        <p:nvSpPr>
          <p:cNvPr id="10" name="Text Box 2"/>
          <p:cNvSpPr>
            <a:spLocks noChangeArrowheads="1"/>
          </p:cNvSpPr>
          <p:nvPr/>
        </p:nvSpPr>
        <p:spPr bwMode="auto">
          <a:xfrm>
            <a:off x="827088" y="1450975"/>
            <a:ext cx="3816350" cy="400050"/>
          </a:xfrm>
          <a:prstGeom prst="homePlate">
            <a:avLst>
              <a:gd name="adj" fmla="val 49907"/>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一、气体分子的速率分布函数</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5074"/>
                                        </p:tgtEl>
                                        <p:attrNameLst>
                                          <p:attrName>style.visibility</p:attrName>
                                        </p:attrNameLst>
                                      </p:cBhvr>
                                      <p:to>
                                        <p:strVal val="visible"/>
                                      </p:to>
                                    </p:set>
                                    <p:anim calcmode="lin" valueType="num">
                                      <p:cBhvr>
                                        <p:cTn id="7" dur="500" fill="hold"/>
                                        <p:tgtEl>
                                          <p:spTgt spid="45074"/>
                                        </p:tgtEl>
                                        <p:attrNameLst>
                                          <p:attrName>ppt_w</p:attrName>
                                        </p:attrNameLst>
                                      </p:cBhvr>
                                      <p:tavLst>
                                        <p:tav tm="0">
                                          <p:val>
                                            <p:fltVal val="0"/>
                                          </p:val>
                                        </p:tav>
                                        <p:tav tm="100000">
                                          <p:val>
                                            <p:strVal val="#ppt_w"/>
                                          </p:val>
                                        </p:tav>
                                      </p:tavLst>
                                    </p:anim>
                                    <p:anim calcmode="lin" valueType="num">
                                      <p:cBhvr>
                                        <p:cTn id="8" dur="500" fill="hold"/>
                                        <p:tgtEl>
                                          <p:spTgt spid="4507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2" presetClass="entr" presetSubtype="8" fill="hold" grpId="0" nodeType="clickEffect">
                                  <p:stCondLst>
                                    <p:cond delay="0"/>
                                  </p:stCondLst>
                                  <p:childTnLst>
                                    <p:set>
                                      <p:cBhvr>
                                        <p:cTn id="12" dur="1" fill="hold">
                                          <p:stCondLst>
                                            <p:cond delay="0"/>
                                          </p:stCondLst>
                                        </p:cTn>
                                        <p:tgtEl>
                                          <p:spTgt spid="10"/>
                                        </p:tgtEl>
                                        <p:attrNameLst>
                                          <p:attrName>style.visibility</p:attrName>
                                        </p:attrNameLst>
                                      </p:cBhvr>
                                      <p:to>
                                        <p:strVal val="visible"/>
                                      </p:to>
                                    </p:set>
                                    <p:animEffect transition="in" filter="wipe(left)">
                                      <p:cBhvr>
                                        <p:cTn id="13" dur="500"/>
                                        <p:tgtEl>
                                          <p:spTgt spid="10"/>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45075"/>
                                        </p:tgtEl>
                                        <p:attrNameLst>
                                          <p:attrName>style.visibility</p:attrName>
                                        </p:attrNameLst>
                                      </p:cBhvr>
                                      <p:to>
                                        <p:strVal val="visible"/>
                                      </p:to>
                                    </p:set>
                                    <p:anim calcmode="lin" valueType="num">
                                      <p:cBhvr>
                                        <p:cTn id="18" dur="500" fill="hold"/>
                                        <p:tgtEl>
                                          <p:spTgt spid="45075"/>
                                        </p:tgtEl>
                                        <p:attrNameLst>
                                          <p:attrName>ppt_w</p:attrName>
                                        </p:attrNameLst>
                                      </p:cBhvr>
                                      <p:tavLst>
                                        <p:tav tm="0">
                                          <p:val>
                                            <p:fltVal val="0"/>
                                          </p:val>
                                        </p:tav>
                                        <p:tav tm="100000">
                                          <p:val>
                                            <p:strVal val="#ppt_w"/>
                                          </p:val>
                                        </p:tav>
                                      </p:tavLst>
                                    </p:anim>
                                    <p:anim calcmode="lin" valueType="num">
                                      <p:cBhvr>
                                        <p:cTn id="19" dur="500" fill="hold"/>
                                        <p:tgtEl>
                                          <p:spTgt spid="45075"/>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45076"/>
                                        </p:tgtEl>
                                        <p:attrNameLst>
                                          <p:attrName>style.visibility</p:attrName>
                                        </p:attrNameLst>
                                      </p:cBhvr>
                                      <p:to>
                                        <p:strVal val="visible"/>
                                      </p:to>
                                    </p:set>
                                    <p:anim calcmode="lin" valueType="num">
                                      <p:cBhvr>
                                        <p:cTn id="24" dur="500" fill="hold"/>
                                        <p:tgtEl>
                                          <p:spTgt spid="45076"/>
                                        </p:tgtEl>
                                        <p:attrNameLst>
                                          <p:attrName>ppt_w</p:attrName>
                                        </p:attrNameLst>
                                      </p:cBhvr>
                                      <p:tavLst>
                                        <p:tav tm="0">
                                          <p:val>
                                            <p:fltVal val="0"/>
                                          </p:val>
                                        </p:tav>
                                        <p:tav tm="100000">
                                          <p:val>
                                            <p:strVal val="#ppt_w"/>
                                          </p:val>
                                        </p:tav>
                                      </p:tavLst>
                                    </p:anim>
                                    <p:anim calcmode="lin" valueType="num">
                                      <p:cBhvr>
                                        <p:cTn id="25" dur="500" fill="hold"/>
                                        <p:tgtEl>
                                          <p:spTgt spid="45076"/>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22" presetClass="entr" presetSubtype="8" fill="hold" grpId="0" nodeType="clickEffect">
                                  <p:stCondLst>
                                    <p:cond delay="0"/>
                                  </p:stCondLst>
                                  <p:childTnLst>
                                    <p:set>
                                      <p:cBhvr>
                                        <p:cTn id="29" dur="1" fill="hold">
                                          <p:stCondLst>
                                            <p:cond delay="0"/>
                                          </p:stCondLst>
                                        </p:cTn>
                                        <p:tgtEl>
                                          <p:spTgt spid="151632">
                                            <p:txEl>
                                              <p:pRg st="0" end="0"/>
                                            </p:txEl>
                                          </p:spTgt>
                                        </p:tgtEl>
                                        <p:attrNameLst>
                                          <p:attrName>style.visibility</p:attrName>
                                        </p:attrNameLst>
                                      </p:cBhvr>
                                      <p:to>
                                        <p:strVal val="visible"/>
                                      </p:to>
                                    </p:set>
                                    <p:animEffect transition="in" filter="wipe(left)">
                                      <p:cBhvr>
                                        <p:cTn id="30" dur="500"/>
                                        <p:tgtEl>
                                          <p:spTgt spid="151632">
                                            <p:txEl>
                                              <p:pRg st="0" end="0"/>
                                            </p:txEl>
                                          </p:spTgt>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2" presetClass="entr" presetSubtype="8" fill="hold" grpId="0" nodeType="clickEffect">
                                  <p:stCondLst>
                                    <p:cond delay="0"/>
                                  </p:stCondLst>
                                  <p:childTnLst>
                                    <p:set>
                                      <p:cBhvr>
                                        <p:cTn id="34" dur="1" fill="hold">
                                          <p:stCondLst>
                                            <p:cond delay="0"/>
                                          </p:stCondLst>
                                        </p:cTn>
                                        <p:tgtEl>
                                          <p:spTgt spid="151563"/>
                                        </p:tgtEl>
                                        <p:attrNameLst>
                                          <p:attrName>style.visibility</p:attrName>
                                        </p:attrNameLst>
                                      </p:cBhvr>
                                      <p:to>
                                        <p:strVal val="visible"/>
                                      </p:to>
                                    </p:set>
                                    <p:animEffect transition="in" filter="wipe(left)">
                                      <p:cBhvr>
                                        <p:cTn id="35" dur="500"/>
                                        <p:tgtEl>
                                          <p:spTgt spid="151563"/>
                                        </p:tgtEl>
                                      </p:cBhvr>
                                    </p:animEffect>
                                  </p:childTnLst>
                                </p:cTn>
                              </p:par>
                            </p:childTnLst>
                          </p:cTn>
                        </p:par>
                      </p:childTnLst>
                    </p:cTn>
                  </p:par>
                  <p:par>
                    <p:cTn id="36" fill="hold" nodeType="clickPar">
                      <p:stCondLst>
                        <p:cond delay="indefinite"/>
                      </p:stCondLst>
                      <p:childTnLst>
                        <p:par>
                          <p:cTn id="37" fill="hold" nodeType="withGroup">
                            <p:stCondLst>
                              <p:cond delay="0"/>
                            </p:stCondLst>
                            <p:childTnLst>
                              <p:par>
                                <p:cTn id="38" presetID="22" presetClass="entr" presetSubtype="8" fill="hold" nodeType="clickEffect">
                                  <p:stCondLst>
                                    <p:cond delay="0"/>
                                  </p:stCondLst>
                                  <p:childTnLst>
                                    <p:set>
                                      <p:cBhvr>
                                        <p:cTn id="39" dur="1" fill="hold">
                                          <p:stCondLst>
                                            <p:cond delay="0"/>
                                          </p:stCondLst>
                                        </p:cTn>
                                        <p:tgtEl>
                                          <p:spTgt spid="45117"/>
                                        </p:tgtEl>
                                        <p:attrNameLst>
                                          <p:attrName>style.visibility</p:attrName>
                                        </p:attrNameLst>
                                      </p:cBhvr>
                                      <p:to>
                                        <p:strVal val="visible"/>
                                      </p:to>
                                    </p:set>
                                    <p:animEffect transition="in" filter="wipe(left)">
                                      <p:cBhvr>
                                        <p:cTn id="40" dur="500"/>
                                        <p:tgtEl>
                                          <p:spTgt spid="4511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5074" grpId="0" autoUpdateAnimBg="0"/>
      <p:bldP spid="45075" grpId="0" autoUpdateAnimBg="0"/>
      <p:bldP spid="45076" grpId="0" autoUpdateAnimBg="0"/>
      <p:bldP spid="151563" grpId="0"/>
      <p:bldP spid="151632" grpId="0" build="p" autoUpdateAnimBg="0"/>
      <p:bldP spid="10" grpId="0" animBg="1"/>
    </p:bldLst>
  </p:timing>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6094" name="Text Box 14"/>
          <p:cNvSpPr txBox="1">
            <a:spLocks noChangeArrowheads="1"/>
          </p:cNvSpPr>
          <p:nvPr/>
        </p:nvSpPr>
        <p:spPr bwMode="auto">
          <a:xfrm>
            <a:off x="395288" y="842963"/>
            <a:ext cx="5199062" cy="3429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90000"/>
              </a:lnSpc>
            </a:pPr>
            <a:r>
              <a:rPr kumimoji="0" lang="zh-CN" altLang="en-US" sz="1800" b="1">
                <a:latin typeface="华文中宋" pitchFamily="2" charset="-122"/>
                <a:ea typeface="华文中宋" pitchFamily="2" charset="-122"/>
              </a:rPr>
              <a:t>（２）分布曲线：数据作出曲线</a:t>
            </a:r>
            <a:endParaRPr kumimoji="0" lang="zh-CN" altLang="en-US" sz="1800" b="1">
              <a:solidFill>
                <a:schemeClr val="accent2"/>
              </a:solidFill>
              <a:latin typeface="华文中宋" pitchFamily="2" charset="-122"/>
              <a:ea typeface="华文中宋" pitchFamily="2" charset="-122"/>
            </a:endParaRPr>
          </a:p>
        </p:txBody>
      </p:sp>
      <p:grpSp>
        <p:nvGrpSpPr>
          <p:cNvPr id="2" name="组合 57"/>
          <p:cNvGrpSpPr>
            <a:grpSpLocks/>
          </p:cNvGrpSpPr>
          <p:nvPr/>
        </p:nvGrpSpPr>
        <p:grpSpPr bwMode="auto">
          <a:xfrm>
            <a:off x="1054100" y="1192213"/>
            <a:ext cx="3127375" cy="1217612"/>
            <a:chOff x="4809743" y="1252728"/>
            <a:chExt cx="3288752" cy="1799585"/>
          </a:xfrm>
        </p:grpSpPr>
        <p:graphicFrame>
          <p:nvGraphicFramePr>
            <p:cNvPr id="44055" name="Object 23"/>
            <p:cNvGraphicFramePr>
              <a:graphicFrameLocks noChangeAspect="1"/>
            </p:cNvGraphicFramePr>
            <p:nvPr/>
          </p:nvGraphicFramePr>
          <p:xfrm>
            <a:off x="4809743" y="1270505"/>
            <a:ext cx="581025" cy="530185"/>
          </p:xfrm>
          <a:graphic>
            <a:graphicData uri="http://schemas.openxmlformats.org/presentationml/2006/ole">
              <p:oleObj spid="_x0000_s44101" name="公式" r:id="rId3" imgW="444114" imgH="406048" progId="Equation.3">
                <p:embed/>
              </p:oleObj>
            </a:graphicData>
          </a:graphic>
        </p:graphicFrame>
        <p:sp>
          <p:nvSpPr>
            <p:cNvPr id="44056" name="Text Box 76"/>
            <p:cNvSpPr txBox="1">
              <a:spLocks noChangeArrowheads="1"/>
            </p:cNvSpPr>
            <p:nvPr/>
          </p:nvSpPr>
          <p:spPr bwMode="auto">
            <a:xfrm>
              <a:off x="5124014" y="2538653"/>
              <a:ext cx="324093" cy="4310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O</a:t>
              </a:r>
            </a:p>
          </p:txBody>
        </p:sp>
        <p:sp>
          <p:nvSpPr>
            <p:cNvPr id="44057" name="Text Box 77"/>
            <p:cNvSpPr txBox="1">
              <a:spLocks noChangeArrowheads="1"/>
            </p:cNvSpPr>
            <p:nvPr/>
          </p:nvSpPr>
          <p:spPr bwMode="auto">
            <a:xfrm>
              <a:off x="6546169" y="2619675"/>
              <a:ext cx="1061396" cy="4310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sym typeface="Symbol" pitchFamily="18" charset="2"/>
                </a:rPr>
                <a:t></a:t>
              </a:r>
              <a:r>
                <a:rPr kumimoji="0" lang="en-US" altLang="zh-CN" sz="1500" b="1">
                  <a:ea typeface="宋体" pitchFamily="2" charset="-122"/>
                  <a:sym typeface="Symbol" pitchFamily="18" charset="2"/>
                </a:rPr>
                <a:t> ~ </a:t>
              </a:r>
              <a:r>
                <a:rPr kumimoji="0" lang="en-US" altLang="zh-CN" sz="1500" b="1" i="1">
                  <a:ea typeface="宋体" pitchFamily="2" charset="-122"/>
                  <a:sym typeface="Symbol" pitchFamily="18" charset="2"/>
                </a:rPr>
                <a:t></a:t>
              </a:r>
              <a:r>
                <a:rPr kumimoji="0" lang="en-US" altLang="zh-CN" sz="1500" b="1">
                  <a:ea typeface="宋体" pitchFamily="2" charset="-122"/>
                </a:rPr>
                <a:t> +</a:t>
              </a:r>
              <a:r>
                <a:rPr kumimoji="0" lang="en-US" altLang="zh-CN" sz="1500" b="1" i="1">
                  <a:ea typeface="宋体" pitchFamily="2" charset="-122"/>
                </a:rPr>
                <a:t>△</a:t>
              </a:r>
              <a:r>
                <a:rPr kumimoji="0" lang="en-US" altLang="zh-CN" sz="1500" b="1" i="1">
                  <a:ea typeface="宋体" pitchFamily="2" charset="-122"/>
                  <a:sym typeface="Symbol" pitchFamily="18" charset="2"/>
                </a:rPr>
                <a:t></a:t>
              </a:r>
            </a:p>
          </p:txBody>
        </p:sp>
        <p:sp>
          <p:nvSpPr>
            <p:cNvPr id="44058" name="Rectangle 78"/>
            <p:cNvSpPr>
              <a:spLocks noChangeArrowheads="1"/>
            </p:cNvSpPr>
            <p:nvPr/>
          </p:nvSpPr>
          <p:spPr bwMode="auto">
            <a:xfrm>
              <a:off x="7803253" y="2621264"/>
              <a:ext cx="295242" cy="43104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kumimoji="0" lang="en-US" altLang="zh-CN" sz="1500" b="1" i="1">
                  <a:ea typeface="宋体" pitchFamily="2" charset="-122"/>
                  <a:sym typeface="Symbol" pitchFamily="18" charset="2"/>
                </a:rPr>
                <a:t></a:t>
              </a:r>
            </a:p>
          </p:txBody>
        </p:sp>
        <p:cxnSp>
          <p:nvCxnSpPr>
            <p:cNvPr id="44059" name="直接箭头连接符 36"/>
            <p:cNvCxnSpPr>
              <a:cxnSpLocks noChangeShapeType="1"/>
            </p:cNvCxnSpPr>
            <p:nvPr/>
          </p:nvCxnSpPr>
          <p:spPr bwMode="auto">
            <a:xfrm>
              <a:off x="5422392" y="2697480"/>
              <a:ext cx="2642616" cy="0"/>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xmlns="">
                  <a:noFill/>
                </a14:hiddenFill>
              </a:ext>
            </a:extLst>
          </p:spPr>
        </p:cxnSp>
        <p:cxnSp>
          <p:nvCxnSpPr>
            <p:cNvPr id="44060" name="直接箭头连接符 38"/>
            <p:cNvCxnSpPr>
              <a:cxnSpLocks noChangeShapeType="1"/>
            </p:cNvCxnSpPr>
            <p:nvPr/>
          </p:nvCxnSpPr>
          <p:spPr bwMode="auto">
            <a:xfrm flipV="1">
              <a:off x="5422392" y="1252728"/>
              <a:ext cx="0" cy="1444752"/>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xmlns="">
                  <a:noFill/>
                </a14:hiddenFill>
              </a:ext>
            </a:extLst>
          </p:spPr>
        </p:cxnSp>
        <p:sp>
          <p:nvSpPr>
            <p:cNvPr id="44061" name="任意多边形 39"/>
            <p:cNvSpPr>
              <a:spLocks/>
            </p:cNvSpPr>
            <p:nvPr/>
          </p:nvSpPr>
          <p:spPr bwMode="auto">
            <a:xfrm>
              <a:off x="5431536" y="1425673"/>
              <a:ext cx="2505456" cy="1253517"/>
            </a:xfrm>
            <a:custGeom>
              <a:avLst/>
              <a:gdLst>
                <a:gd name="T0" fmla="*/ 0 w 3547151"/>
                <a:gd name="T1" fmla="*/ 1253517 h 1253517"/>
                <a:gd name="T2" fmla="*/ 1581 w 3547151"/>
                <a:gd name="T3" fmla="*/ 9933 h 1253517"/>
                <a:gd name="T4" fmla="*/ 2792 w 3547151"/>
                <a:gd name="T5" fmla="*/ 695733 h 1253517"/>
                <a:gd name="T6" fmla="*/ 4797 w 3547151"/>
                <a:gd name="T7" fmla="*/ 1116357 h 1253517"/>
                <a:gd name="T8" fmla="*/ 0 60000 65536"/>
                <a:gd name="T9" fmla="*/ 0 60000 65536"/>
                <a:gd name="T10" fmla="*/ 0 60000 65536"/>
                <a:gd name="T11" fmla="*/ 0 60000 65536"/>
                <a:gd name="T12" fmla="*/ 0 w 3547151"/>
                <a:gd name="T13" fmla="*/ 0 h 1253517"/>
                <a:gd name="T14" fmla="*/ 3547151 w 3547151"/>
                <a:gd name="T15" fmla="*/ 1253517 h 1253517"/>
              </a:gdLst>
              <a:ahLst/>
              <a:cxnLst>
                <a:cxn ang="T8">
                  <a:pos x="T0" y="T1"/>
                </a:cxn>
                <a:cxn ang="T9">
                  <a:pos x="T2" y="T3"/>
                </a:cxn>
                <a:cxn ang="T10">
                  <a:pos x="T4" y="T5"/>
                </a:cxn>
                <a:cxn ang="T11">
                  <a:pos x="T6" y="T7"/>
                </a:cxn>
              </a:cxnLst>
              <a:rect l="T12" t="T13" r="T14" b="T15"/>
              <a:pathLst>
                <a:path w="3547151" h="1253517">
                  <a:moveTo>
                    <a:pt x="0" y="1253517"/>
                  </a:moveTo>
                  <a:cubicBezTo>
                    <a:pt x="450631" y="1088925"/>
                    <a:pt x="824763" y="102897"/>
                    <a:pt x="1168794" y="9933"/>
                  </a:cubicBezTo>
                  <a:cubicBezTo>
                    <a:pt x="1512825" y="-83031"/>
                    <a:pt x="1797249" y="502185"/>
                    <a:pt x="2064184" y="695733"/>
                  </a:cubicBezTo>
                  <a:cubicBezTo>
                    <a:pt x="2331119" y="889281"/>
                    <a:pt x="2726609" y="1118643"/>
                    <a:pt x="3547151" y="1116357"/>
                  </a:cubicBezTo>
                </a:path>
              </a:pathLst>
            </a:custGeom>
            <a:noFill/>
            <a:ln w="12700" algn="ctr">
              <a:solidFill>
                <a:srgbClr val="C00000"/>
              </a:solidFill>
              <a:prstDash val="dash"/>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44062" name="矩形 40"/>
            <p:cNvSpPr>
              <a:spLocks noChangeArrowheads="1"/>
            </p:cNvSpPr>
            <p:nvPr/>
          </p:nvSpPr>
          <p:spPr bwMode="auto">
            <a:xfrm>
              <a:off x="6245352" y="1444752"/>
              <a:ext cx="137160" cy="1252728"/>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3" name="矩形 41"/>
            <p:cNvSpPr>
              <a:spLocks noChangeArrowheads="1"/>
            </p:cNvSpPr>
            <p:nvPr/>
          </p:nvSpPr>
          <p:spPr bwMode="auto">
            <a:xfrm>
              <a:off x="6126480" y="1581912"/>
              <a:ext cx="118872" cy="1115568"/>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4" name="矩形 42"/>
            <p:cNvSpPr>
              <a:spLocks noChangeArrowheads="1"/>
            </p:cNvSpPr>
            <p:nvPr/>
          </p:nvSpPr>
          <p:spPr bwMode="auto">
            <a:xfrm>
              <a:off x="5998464" y="1801368"/>
              <a:ext cx="118872" cy="896112"/>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5" name="矩形 43"/>
            <p:cNvSpPr>
              <a:spLocks noChangeArrowheads="1"/>
            </p:cNvSpPr>
            <p:nvPr/>
          </p:nvSpPr>
          <p:spPr bwMode="auto">
            <a:xfrm>
              <a:off x="5879592" y="2029968"/>
              <a:ext cx="109728" cy="667512"/>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6" name="矩形 44"/>
            <p:cNvSpPr>
              <a:spLocks noChangeArrowheads="1"/>
            </p:cNvSpPr>
            <p:nvPr/>
          </p:nvSpPr>
          <p:spPr bwMode="auto">
            <a:xfrm>
              <a:off x="6958584" y="2286000"/>
              <a:ext cx="118872" cy="402336"/>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7" name="矩形 45"/>
            <p:cNvSpPr>
              <a:spLocks noChangeArrowheads="1"/>
            </p:cNvSpPr>
            <p:nvPr/>
          </p:nvSpPr>
          <p:spPr bwMode="auto">
            <a:xfrm>
              <a:off x="5632704" y="2478024"/>
              <a:ext cx="109728" cy="219456"/>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8" name="矩形 46"/>
            <p:cNvSpPr>
              <a:spLocks noChangeArrowheads="1"/>
            </p:cNvSpPr>
            <p:nvPr/>
          </p:nvSpPr>
          <p:spPr bwMode="auto">
            <a:xfrm>
              <a:off x="7333488" y="2478024"/>
              <a:ext cx="109728" cy="219456"/>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69" name="矩形 47"/>
            <p:cNvSpPr>
              <a:spLocks noChangeArrowheads="1"/>
            </p:cNvSpPr>
            <p:nvPr/>
          </p:nvSpPr>
          <p:spPr bwMode="auto">
            <a:xfrm>
              <a:off x="7214616" y="2432304"/>
              <a:ext cx="109728" cy="256032"/>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70" name="矩形 48"/>
            <p:cNvSpPr>
              <a:spLocks noChangeArrowheads="1"/>
            </p:cNvSpPr>
            <p:nvPr/>
          </p:nvSpPr>
          <p:spPr bwMode="auto">
            <a:xfrm>
              <a:off x="7086600" y="2386584"/>
              <a:ext cx="118872" cy="301752"/>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71" name="矩形 50"/>
            <p:cNvSpPr>
              <a:spLocks noChangeArrowheads="1"/>
            </p:cNvSpPr>
            <p:nvPr/>
          </p:nvSpPr>
          <p:spPr bwMode="auto">
            <a:xfrm>
              <a:off x="5751576" y="2267712"/>
              <a:ext cx="128016" cy="429768"/>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72" name="矩形 51"/>
            <p:cNvSpPr>
              <a:spLocks noChangeArrowheads="1"/>
            </p:cNvSpPr>
            <p:nvPr/>
          </p:nvSpPr>
          <p:spPr bwMode="auto">
            <a:xfrm>
              <a:off x="6830568" y="2167128"/>
              <a:ext cx="118872" cy="521208"/>
            </a:xfrm>
            <a:prstGeom prst="rect">
              <a:avLst/>
            </a:prstGeom>
            <a:pattFill prst="ltUpDiag">
              <a:fgClr>
                <a:srgbClr val="0070C0"/>
              </a:fgClr>
              <a:bgClr>
                <a:schemeClr val="bg1"/>
              </a:bgClr>
            </a:pattFill>
            <a:ln w="12700" algn="ctr">
              <a:solidFill>
                <a:schemeClr val="tx1"/>
              </a:solidFill>
              <a:round/>
              <a:headEnd/>
              <a:tailEnd/>
            </a:ln>
          </p:spPr>
          <p:txBody>
            <a:bodyPr/>
            <a:lstStyle/>
            <a:p>
              <a:endParaRPr kumimoji="0" lang="zh-CN" altLang="zh-CN" sz="2800" b="1">
                <a:ea typeface="宋体" pitchFamily="2" charset="-122"/>
              </a:endParaRPr>
            </a:p>
          </p:txBody>
        </p:sp>
        <p:sp>
          <p:nvSpPr>
            <p:cNvPr id="44073" name="矩形 52"/>
            <p:cNvSpPr>
              <a:spLocks noChangeArrowheads="1"/>
            </p:cNvSpPr>
            <p:nvPr/>
          </p:nvSpPr>
          <p:spPr bwMode="auto">
            <a:xfrm>
              <a:off x="6693408" y="1984248"/>
              <a:ext cx="118872" cy="713232"/>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74" name="矩形 53"/>
            <p:cNvSpPr>
              <a:spLocks noChangeArrowheads="1"/>
            </p:cNvSpPr>
            <p:nvPr/>
          </p:nvSpPr>
          <p:spPr bwMode="auto">
            <a:xfrm>
              <a:off x="6547104" y="1819656"/>
              <a:ext cx="128016" cy="877824"/>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75" name="矩形 54"/>
            <p:cNvSpPr>
              <a:spLocks noChangeArrowheads="1"/>
            </p:cNvSpPr>
            <p:nvPr/>
          </p:nvSpPr>
          <p:spPr bwMode="auto">
            <a:xfrm>
              <a:off x="6400800" y="1600200"/>
              <a:ext cx="128016" cy="1097280"/>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sp>
          <p:nvSpPr>
            <p:cNvPr id="44076" name="矩形 56"/>
            <p:cNvSpPr>
              <a:spLocks noChangeArrowheads="1"/>
            </p:cNvSpPr>
            <p:nvPr/>
          </p:nvSpPr>
          <p:spPr bwMode="auto">
            <a:xfrm>
              <a:off x="7452360" y="2514600"/>
              <a:ext cx="118872" cy="173736"/>
            </a:xfrm>
            <a:prstGeom prst="rect">
              <a:avLst/>
            </a:prstGeom>
            <a:solidFill>
              <a:schemeClr val="bg1"/>
            </a:solidFill>
            <a:ln w="12700" algn="ctr">
              <a:solidFill>
                <a:schemeClr val="tx1"/>
              </a:solidFill>
              <a:round/>
              <a:headEnd/>
              <a:tailEnd/>
            </a:ln>
          </p:spPr>
          <p:txBody>
            <a:bodyPr/>
            <a:lstStyle/>
            <a:p>
              <a:endParaRPr kumimoji="0" lang="zh-CN" altLang="zh-CN" sz="2800" b="1">
                <a:ea typeface="宋体" pitchFamily="2" charset="-122"/>
              </a:endParaRPr>
            </a:p>
          </p:txBody>
        </p:sp>
      </p:grpSp>
      <p:grpSp>
        <p:nvGrpSpPr>
          <p:cNvPr id="3" name="组合 65"/>
          <p:cNvGrpSpPr>
            <a:grpSpLocks/>
          </p:cNvGrpSpPr>
          <p:nvPr/>
        </p:nvGrpSpPr>
        <p:grpSpPr bwMode="auto">
          <a:xfrm>
            <a:off x="5254625" y="1058863"/>
            <a:ext cx="2974975" cy="1352550"/>
            <a:chOff x="5122912" y="1249024"/>
            <a:chExt cx="2975575" cy="1803825"/>
          </a:xfrm>
        </p:grpSpPr>
        <p:graphicFrame>
          <p:nvGraphicFramePr>
            <p:cNvPr id="44047" name="Object 75"/>
            <p:cNvGraphicFramePr>
              <a:graphicFrameLocks noChangeAspect="1"/>
            </p:cNvGraphicFramePr>
            <p:nvPr/>
          </p:nvGraphicFramePr>
          <p:xfrm>
            <a:off x="5160393" y="1249024"/>
            <a:ext cx="847947" cy="408734"/>
          </p:xfrm>
          <a:graphic>
            <a:graphicData uri="http://schemas.openxmlformats.org/presentationml/2006/ole">
              <p:oleObj spid="_x0000_s44102" name="Equation" r:id="rId4" imgW="812447" imgH="393529" progId="Equation.DSMT4">
                <p:embed/>
              </p:oleObj>
            </a:graphicData>
          </a:graphic>
        </p:graphicFrame>
        <p:sp>
          <p:nvSpPr>
            <p:cNvPr id="44048" name="Text Box 76"/>
            <p:cNvSpPr txBox="1">
              <a:spLocks noChangeArrowheads="1"/>
            </p:cNvSpPr>
            <p:nvPr/>
          </p:nvSpPr>
          <p:spPr bwMode="auto">
            <a:xfrm>
              <a:off x="5122912" y="2538891"/>
              <a:ext cx="324213" cy="4313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O</a:t>
              </a:r>
            </a:p>
          </p:txBody>
        </p:sp>
        <p:sp>
          <p:nvSpPr>
            <p:cNvPr id="44049" name="Text Box 77"/>
            <p:cNvSpPr txBox="1">
              <a:spLocks noChangeArrowheads="1"/>
            </p:cNvSpPr>
            <p:nvPr/>
          </p:nvSpPr>
          <p:spPr bwMode="auto">
            <a:xfrm>
              <a:off x="6372519" y="2619871"/>
              <a:ext cx="976805" cy="4313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sym typeface="Symbol" pitchFamily="18" charset="2"/>
                </a:rPr>
                <a:t></a:t>
              </a:r>
              <a:r>
                <a:rPr kumimoji="0" lang="en-US" altLang="zh-CN" sz="1500" b="1">
                  <a:ea typeface="宋体" pitchFamily="2" charset="-122"/>
                  <a:sym typeface="Symbol" pitchFamily="18" charset="2"/>
                </a:rPr>
                <a:t> ~ </a:t>
              </a:r>
              <a:r>
                <a:rPr kumimoji="0" lang="en-US" altLang="zh-CN" sz="1500" b="1" i="1">
                  <a:ea typeface="宋体" pitchFamily="2" charset="-122"/>
                  <a:sym typeface="Symbol" pitchFamily="18" charset="2"/>
                </a:rPr>
                <a:t></a:t>
              </a:r>
              <a:r>
                <a:rPr kumimoji="0" lang="en-US" altLang="zh-CN" sz="1500" b="1">
                  <a:ea typeface="宋体" pitchFamily="2" charset="-122"/>
                </a:rPr>
                <a:t> +d</a:t>
              </a:r>
              <a:r>
                <a:rPr kumimoji="0" lang="en-US" altLang="zh-CN" sz="1500" b="1" i="1">
                  <a:ea typeface="宋体" pitchFamily="2" charset="-122"/>
                  <a:sym typeface="Symbol" pitchFamily="18" charset="2"/>
                </a:rPr>
                <a:t></a:t>
              </a:r>
            </a:p>
          </p:txBody>
        </p:sp>
        <p:sp>
          <p:nvSpPr>
            <p:cNvPr id="44050" name="Rectangle 78"/>
            <p:cNvSpPr>
              <a:spLocks noChangeArrowheads="1"/>
            </p:cNvSpPr>
            <p:nvPr/>
          </p:nvSpPr>
          <p:spPr bwMode="auto">
            <a:xfrm>
              <a:off x="7803136" y="2621460"/>
              <a:ext cx="295351" cy="43138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kumimoji="0" lang="en-US" altLang="zh-CN" sz="1500" b="1" i="1">
                  <a:ea typeface="宋体" pitchFamily="2" charset="-122"/>
                  <a:sym typeface="Symbol" pitchFamily="18" charset="2"/>
                </a:rPr>
                <a:t></a:t>
              </a:r>
            </a:p>
          </p:txBody>
        </p:sp>
        <p:cxnSp>
          <p:nvCxnSpPr>
            <p:cNvPr id="44051" name="直接箭头连接符 70"/>
            <p:cNvCxnSpPr>
              <a:cxnSpLocks noChangeShapeType="1"/>
            </p:cNvCxnSpPr>
            <p:nvPr/>
          </p:nvCxnSpPr>
          <p:spPr bwMode="auto">
            <a:xfrm>
              <a:off x="5422392" y="2697480"/>
              <a:ext cx="2642616" cy="0"/>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xmlns="">
                  <a:noFill/>
                </a14:hiddenFill>
              </a:ext>
            </a:extLst>
          </p:spPr>
        </p:cxnSp>
        <p:cxnSp>
          <p:nvCxnSpPr>
            <p:cNvPr id="44052" name="直接箭头连接符 71"/>
            <p:cNvCxnSpPr>
              <a:cxnSpLocks noChangeShapeType="1"/>
            </p:cNvCxnSpPr>
            <p:nvPr/>
          </p:nvCxnSpPr>
          <p:spPr bwMode="auto">
            <a:xfrm flipV="1">
              <a:off x="5422392" y="1252728"/>
              <a:ext cx="0" cy="1444752"/>
            </a:xfrm>
            <a:prstGeom prst="straightConnector1">
              <a:avLst/>
            </a:prstGeom>
            <a:noFill/>
            <a:ln w="9525" algn="ctr">
              <a:solidFill>
                <a:srgbClr val="0070C0"/>
              </a:solidFill>
              <a:round/>
              <a:headEnd/>
              <a:tailEnd type="arrow" w="med" len="med"/>
            </a:ln>
            <a:extLst>
              <a:ext uri="{909E8E84-426E-40DD-AFC4-6F175D3DCCD1}">
                <a14:hiddenFill xmlns:a14="http://schemas.microsoft.com/office/drawing/2010/main" xmlns="">
                  <a:noFill/>
                </a14:hiddenFill>
              </a:ext>
            </a:extLst>
          </p:spPr>
        </p:cxnSp>
        <p:sp>
          <p:nvSpPr>
            <p:cNvPr id="44053" name="任意多边形 72"/>
            <p:cNvSpPr>
              <a:spLocks/>
            </p:cNvSpPr>
            <p:nvPr/>
          </p:nvSpPr>
          <p:spPr bwMode="auto">
            <a:xfrm>
              <a:off x="5431536" y="1425673"/>
              <a:ext cx="2505456" cy="1253517"/>
            </a:xfrm>
            <a:custGeom>
              <a:avLst/>
              <a:gdLst>
                <a:gd name="T0" fmla="*/ 0 w 3547151"/>
                <a:gd name="T1" fmla="*/ 1253517 h 1253517"/>
                <a:gd name="T2" fmla="*/ 1581 w 3547151"/>
                <a:gd name="T3" fmla="*/ 9933 h 1253517"/>
                <a:gd name="T4" fmla="*/ 2792 w 3547151"/>
                <a:gd name="T5" fmla="*/ 695733 h 1253517"/>
                <a:gd name="T6" fmla="*/ 4797 w 3547151"/>
                <a:gd name="T7" fmla="*/ 1116357 h 1253517"/>
                <a:gd name="T8" fmla="*/ 0 60000 65536"/>
                <a:gd name="T9" fmla="*/ 0 60000 65536"/>
                <a:gd name="T10" fmla="*/ 0 60000 65536"/>
                <a:gd name="T11" fmla="*/ 0 60000 65536"/>
                <a:gd name="T12" fmla="*/ 0 w 3547151"/>
                <a:gd name="T13" fmla="*/ 0 h 1253517"/>
                <a:gd name="T14" fmla="*/ 3547151 w 3547151"/>
                <a:gd name="T15" fmla="*/ 1253517 h 1253517"/>
              </a:gdLst>
              <a:ahLst/>
              <a:cxnLst>
                <a:cxn ang="T8">
                  <a:pos x="T0" y="T1"/>
                </a:cxn>
                <a:cxn ang="T9">
                  <a:pos x="T2" y="T3"/>
                </a:cxn>
                <a:cxn ang="T10">
                  <a:pos x="T4" y="T5"/>
                </a:cxn>
                <a:cxn ang="T11">
                  <a:pos x="T6" y="T7"/>
                </a:cxn>
              </a:cxnLst>
              <a:rect l="T12" t="T13" r="T14" b="T15"/>
              <a:pathLst>
                <a:path w="3547151" h="1253517">
                  <a:moveTo>
                    <a:pt x="0" y="1253517"/>
                  </a:moveTo>
                  <a:cubicBezTo>
                    <a:pt x="450631" y="1088925"/>
                    <a:pt x="824763" y="102897"/>
                    <a:pt x="1168794" y="9933"/>
                  </a:cubicBezTo>
                  <a:cubicBezTo>
                    <a:pt x="1512825" y="-83031"/>
                    <a:pt x="1797249" y="502185"/>
                    <a:pt x="2064184" y="695733"/>
                  </a:cubicBezTo>
                  <a:cubicBezTo>
                    <a:pt x="2331119" y="889281"/>
                    <a:pt x="2726609" y="1118643"/>
                    <a:pt x="3547151" y="1116357"/>
                  </a:cubicBezTo>
                </a:path>
              </a:pathLst>
            </a:custGeom>
            <a:noFill/>
            <a:ln w="12700" algn="ctr">
              <a:solidFill>
                <a:srgbClr val="C00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44054" name="矩形 84"/>
            <p:cNvSpPr>
              <a:spLocks noChangeArrowheads="1"/>
            </p:cNvSpPr>
            <p:nvPr/>
          </p:nvSpPr>
          <p:spPr bwMode="auto">
            <a:xfrm>
              <a:off x="6693408" y="1901952"/>
              <a:ext cx="45719" cy="795528"/>
            </a:xfrm>
            <a:prstGeom prst="rect">
              <a:avLst/>
            </a:prstGeom>
            <a:pattFill prst="dkUpDiag">
              <a:fgClr>
                <a:srgbClr val="0070C0"/>
              </a:fgClr>
              <a:bgClr>
                <a:schemeClr val="bg1"/>
              </a:bgClr>
            </a:pattFill>
            <a:ln w="9525" algn="ctr">
              <a:solidFill>
                <a:schemeClr val="tx1"/>
              </a:solidFill>
              <a:round/>
              <a:headEnd/>
              <a:tailEnd/>
            </a:ln>
          </p:spPr>
          <p:txBody>
            <a:bodyPr/>
            <a:lstStyle/>
            <a:p>
              <a:endParaRPr kumimoji="0" lang="zh-CN" altLang="zh-CN" sz="2800" b="1">
                <a:ea typeface="宋体" pitchFamily="2" charset="-122"/>
              </a:endParaRPr>
            </a:p>
          </p:txBody>
        </p:sp>
      </p:grpSp>
      <p:graphicFrame>
        <p:nvGraphicFramePr>
          <p:cNvPr id="4" name="Object 47"/>
          <p:cNvGraphicFramePr>
            <a:graphicFrameLocks noChangeAspect="1"/>
          </p:cNvGraphicFramePr>
          <p:nvPr/>
        </p:nvGraphicFramePr>
        <p:xfrm>
          <a:off x="1539875" y="2408238"/>
          <a:ext cx="511175" cy="511175"/>
        </p:xfrm>
        <a:graphic>
          <a:graphicData uri="http://schemas.openxmlformats.org/presentationml/2006/ole">
            <p:oleObj spid="_x0000_s44103" name="公式" r:id="rId5" imgW="304536" imgH="406048" progId="Equation.3">
              <p:embed/>
            </p:oleObj>
          </a:graphicData>
        </a:graphic>
      </p:graphicFrame>
      <p:sp>
        <p:nvSpPr>
          <p:cNvPr id="5" name="Text Box 48"/>
          <p:cNvSpPr txBox="1">
            <a:spLocks noChangeArrowheads="1"/>
          </p:cNvSpPr>
          <p:nvPr/>
        </p:nvSpPr>
        <p:spPr bwMode="auto">
          <a:xfrm>
            <a:off x="1936750" y="2451100"/>
            <a:ext cx="2706688" cy="374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zh-CN" altLang="en-US" sz="1800" b="1">
                <a:latin typeface="华文中宋" pitchFamily="2" charset="-122"/>
                <a:ea typeface="华文中宋" pitchFamily="2" charset="-122"/>
              </a:rPr>
              <a:t>与</a:t>
            </a:r>
            <a:r>
              <a:rPr kumimoji="0" lang="zh-CN" altLang="en-US" sz="1800" b="1" i="1">
                <a:latin typeface="华文中宋" pitchFamily="2" charset="-122"/>
                <a:ea typeface="华文中宋" pitchFamily="2" charset="-122"/>
                <a:sym typeface="Symbol" pitchFamily="18" charset="2"/>
              </a:rPr>
              <a:t></a:t>
            </a:r>
            <a:r>
              <a:rPr kumimoji="0" lang="zh-CN" altLang="en-US" sz="1800" b="1">
                <a:latin typeface="华文中宋" pitchFamily="2" charset="-122"/>
                <a:ea typeface="华文中宋" pitchFamily="2" charset="-122"/>
              </a:rPr>
              <a:t>及</a:t>
            </a:r>
            <a:r>
              <a:rPr kumimoji="0" lang="zh-CN" altLang="en-US" sz="1800" b="1" i="1">
                <a:latin typeface="华文中宋" pitchFamily="2" charset="-122"/>
                <a:ea typeface="华文中宋" pitchFamily="2" charset="-122"/>
              </a:rPr>
              <a:t>△</a:t>
            </a:r>
            <a:r>
              <a:rPr kumimoji="0" lang="zh-CN" altLang="en-US" sz="1800" b="1" i="1">
                <a:latin typeface="华文中宋" pitchFamily="2" charset="-122"/>
                <a:ea typeface="华文中宋" pitchFamily="2" charset="-122"/>
                <a:sym typeface="Symbol" pitchFamily="18" charset="2"/>
              </a:rPr>
              <a:t></a:t>
            </a:r>
            <a:r>
              <a:rPr kumimoji="0" lang="zh-CN" altLang="en-US" sz="1800" b="1">
                <a:latin typeface="华文中宋" pitchFamily="2" charset="-122"/>
                <a:ea typeface="华文中宋" pitchFamily="2" charset="-122"/>
              </a:rPr>
              <a:t>有关</a:t>
            </a:r>
          </a:p>
        </p:txBody>
      </p:sp>
      <p:graphicFrame>
        <p:nvGraphicFramePr>
          <p:cNvPr id="7" name="Object 50"/>
          <p:cNvGraphicFramePr>
            <a:graphicFrameLocks noChangeAspect="1"/>
          </p:cNvGraphicFramePr>
          <p:nvPr/>
        </p:nvGraphicFramePr>
        <p:xfrm>
          <a:off x="5794375" y="2363788"/>
          <a:ext cx="792163" cy="501650"/>
        </p:xfrm>
        <a:graphic>
          <a:graphicData uri="http://schemas.openxmlformats.org/presentationml/2006/ole">
            <p:oleObj spid="_x0000_s44104" name="公式" r:id="rId6" imgW="494870" imgH="406048" progId="Equation.3">
              <p:embed/>
            </p:oleObj>
          </a:graphicData>
        </a:graphic>
      </p:graphicFrame>
      <p:sp>
        <p:nvSpPr>
          <p:cNvPr id="8" name="Text Box 51"/>
          <p:cNvSpPr txBox="1">
            <a:spLocks noChangeArrowheads="1"/>
          </p:cNvSpPr>
          <p:nvPr/>
        </p:nvSpPr>
        <p:spPr bwMode="auto">
          <a:xfrm>
            <a:off x="6515100" y="2471738"/>
            <a:ext cx="1585913" cy="374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zh-CN" altLang="en-US" sz="1800" b="1">
                <a:latin typeface="华文中宋" pitchFamily="2" charset="-122"/>
                <a:ea typeface="华文中宋" pitchFamily="2" charset="-122"/>
              </a:rPr>
              <a:t>只与</a:t>
            </a:r>
            <a:r>
              <a:rPr kumimoji="0" lang="zh-CN" altLang="en-US" sz="1800" b="1" i="1">
                <a:latin typeface="华文中宋" pitchFamily="2" charset="-122"/>
                <a:ea typeface="华文中宋" pitchFamily="2" charset="-122"/>
                <a:sym typeface="Symbol" pitchFamily="18" charset="2"/>
              </a:rPr>
              <a:t></a:t>
            </a:r>
            <a:r>
              <a:rPr kumimoji="0" lang="zh-CN" altLang="en-US" sz="1800" b="1">
                <a:latin typeface="华文中宋" pitchFamily="2" charset="-122"/>
                <a:ea typeface="华文中宋" pitchFamily="2" charset="-122"/>
              </a:rPr>
              <a:t>有关</a:t>
            </a:r>
          </a:p>
        </p:txBody>
      </p:sp>
      <p:graphicFrame>
        <p:nvGraphicFramePr>
          <p:cNvPr id="60" name="对象 59"/>
          <p:cNvGraphicFramePr>
            <a:graphicFrameLocks noChangeAspect="1"/>
          </p:cNvGraphicFramePr>
          <p:nvPr/>
        </p:nvGraphicFramePr>
        <p:xfrm>
          <a:off x="1274763" y="2884488"/>
          <a:ext cx="1909762" cy="509587"/>
        </p:xfrm>
        <a:graphic>
          <a:graphicData uri="http://schemas.openxmlformats.org/presentationml/2006/ole">
            <p:oleObj spid="_x0000_s44105" name="公式" r:id="rId7" imgW="1143000" imgH="406400" progId="Equation.3">
              <p:embed/>
            </p:oleObj>
          </a:graphicData>
        </a:graphic>
      </p:graphicFrame>
      <p:graphicFrame>
        <p:nvGraphicFramePr>
          <p:cNvPr id="63" name="对象 62"/>
          <p:cNvGraphicFramePr>
            <a:graphicFrameLocks noChangeAspect="1"/>
          </p:cNvGraphicFramePr>
          <p:nvPr/>
        </p:nvGraphicFramePr>
        <p:xfrm>
          <a:off x="3163888" y="2906713"/>
          <a:ext cx="912812" cy="493712"/>
        </p:xfrm>
        <a:graphic>
          <a:graphicData uri="http://schemas.openxmlformats.org/presentationml/2006/ole">
            <p:oleObj spid="_x0000_s44106" name="Equation" r:id="rId8" imgW="545863" imgH="393529" progId="Equation.DSMT4">
              <p:embed/>
            </p:oleObj>
          </a:graphicData>
        </a:graphic>
      </p:graphicFrame>
      <p:graphicFrame>
        <p:nvGraphicFramePr>
          <p:cNvPr id="64" name="对象 63"/>
          <p:cNvGraphicFramePr>
            <a:graphicFrameLocks noChangeAspect="1"/>
          </p:cNvGraphicFramePr>
          <p:nvPr/>
        </p:nvGraphicFramePr>
        <p:xfrm>
          <a:off x="5746750" y="2900363"/>
          <a:ext cx="1466850" cy="534987"/>
        </p:xfrm>
        <a:graphic>
          <a:graphicData uri="http://schemas.openxmlformats.org/presentationml/2006/ole">
            <p:oleObj spid="_x0000_s44107" name="Equation" r:id="rId9" imgW="812447" imgH="393529" progId="Equation.DSMT4">
              <p:embed/>
            </p:oleObj>
          </a:graphicData>
        </a:graphic>
      </p:graphicFrame>
      <p:sp>
        <p:nvSpPr>
          <p:cNvPr id="46134" name="Text Box 54"/>
          <p:cNvSpPr txBox="1">
            <a:spLocks noChangeArrowheads="1"/>
          </p:cNvSpPr>
          <p:nvPr/>
        </p:nvSpPr>
        <p:spPr bwMode="auto">
          <a:xfrm>
            <a:off x="539750" y="3525838"/>
            <a:ext cx="4608513" cy="341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90000"/>
              </a:lnSpc>
            </a:pPr>
            <a:r>
              <a:rPr kumimoji="0" lang="zh-CN" altLang="en-US" sz="1800" b="1">
                <a:latin typeface="华文中宋" pitchFamily="2" charset="-122"/>
                <a:ea typeface="华文中宋" pitchFamily="2" charset="-122"/>
              </a:rPr>
              <a:t>（３）分布函数：分布曲线的数学函数</a:t>
            </a:r>
            <a:endParaRPr kumimoji="0" lang="zh-CN" altLang="en-US" sz="1800" b="1">
              <a:solidFill>
                <a:schemeClr val="accent2"/>
              </a:solidFill>
              <a:latin typeface="华文中宋" pitchFamily="2" charset="-122"/>
              <a:ea typeface="华文中宋" pitchFamily="2" charset="-122"/>
            </a:endParaRPr>
          </a:p>
        </p:txBody>
      </p:sp>
      <p:graphicFrame>
        <p:nvGraphicFramePr>
          <p:cNvPr id="46135" name="Object 55"/>
          <p:cNvGraphicFramePr>
            <a:graphicFrameLocks noChangeAspect="1"/>
          </p:cNvGraphicFramePr>
          <p:nvPr/>
        </p:nvGraphicFramePr>
        <p:xfrm>
          <a:off x="2487613" y="3724275"/>
          <a:ext cx="3813175" cy="622300"/>
        </p:xfrm>
        <a:graphic>
          <a:graphicData uri="http://schemas.openxmlformats.org/presentationml/2006/ole">
            <p:oleObj spid="_x0000_s44108" name="Equation" r:id="rId10" imgW="1854200" imgH="444500" progId="Equation.DSMT4">
              <p:embed/>
            </p:oleObj>
          </a:graphicData>
        </a:graphic>
      </p:graphicFrame>
      <p:sp>
        <p:nvSpPr>
          <p:cNvPr id="46137" name="Text Box 57"/>
          <p:cNvSpPr txBox="1">
            <a:spLocks noChangeArrowheads="1"/>
          </p:cNvSpPr>
          <p:nvPr/>
        </p:nvSpPr>
        <p:spPr bwMode="auto">
          <a:xfrm>
            <a:off x="4643438" y="4227513"/>
            <a:ext cx="4249737" cy="3413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lnSpc>
                <a:spcPct val="90000"/>
              </a:lnSpc>
            </a:pPr>
            <a:r>
              <a:rPr kumimoji="0" lang="en-US" altLang="zh-CN" sz="1800" b="1">
                <a:latin typeface="华文中宋" pitchFamily="2" charset="-122"/>
                <a:ea typeface="华文中宋" pitchFamily="2" charset="-122"/>
              </a:rPr>
              <a:t>-----</a:t>
            </a:r>
            <a:r>
              <a:rPr kumimoji="0" lang="zh-CN" altLang="en-US" sz="1800" b="1">
                <a:latin typeface="华文中宋" pitchFamily="2" charset="-122"/>
                <a:ea typeface="华文中宋" pitchFamily="2" charset="-122"/>
              </a:rPr>
              <a:t>麦克斯韦速率分布函数（</a:t>
            </a:r>
            <a:r>
              <a:rPr kumimoji="0" lang="en-US" altLang="zh-CN" sz="1800" b="1">
                <a:latin typeface="华文中宋" pitchFamily="2" charset="-122"/>
                <a:ea typeface="华文中宋" pitchFamily="2" charset="-122"/>
              </a:rPr>
              <a:t>1860</a:t>
            </a:r>
            <a:r>
              <a:rPr kumimoji="0" lang="zh-CN" altLang="en-US" sz="1800" b="1">
                <a:latin typeface="华文中宋" pitchFamily="2" charset="-122"/>
                <a:ea typeface="华文中宋" pitchFamily="2" charset="-122"/>
              </a:rPr>
              <a:t>年）</a:t>
            </a:r>
            <a:endParaRPr kumimoji="0" lang="zh-CN" altLang="en-US" sz="1800" b="1">
              <a:solidFill>
                <a:schemeClr val="accent2"/>
              </a:solidFill>
              <a:latin typeface="华文中宋" pitchFamily="2" charset="-122"/>
              <a:ea typeface="华文中宋"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6094"/>
                                        </p:tgtEl>
                                        <p:attrNameLst>
                                          <p:attrName>style.visibility</p:attrName>
                                        </p:attrNameLst>
                                      </p:cBhvr>
                                      <p:to>
                                        <p:strVal val="visible"/>
                                      </p:to>
                                    </p:set>
                                    <p:anim calcmode="lin" valueType="num">
                                      <p:cBhvr>
                                        <p:cTn id="7" dur="500" fill="hold"/>
                                        <p:tgtEl>
                                          <p:spTgt spid="46094"/>
                                        </p:tgtEl>
                                        <p:attrNameLst>
                                          <p:attrName>ppt_w</p:attrName>
                                        </p:attrNameLst>
                                      </p:cBhvr>
                                      <p:tavLst>
                                        <p:tav tm="0">
                                          <p:val>
                                            <p:fltVal val="0"/>
                                          </p:val>
                                        </p:tav>
                                        <p:tav tm="100000">
                                          <p:val>
                                            <p:strVal val="#ppt_w"/>
                                          </p:val>
                                        </p:tav>
                                      </p:tavLst>
                                    </p:anim>
                                    <p:anim calcmode="lin" valueType="num">
                                      <p:cBhvr>
                                        <p:cTn id="8" dur="500" fill="hold"/>
                                        <p:tgtEl>
                                          <p:spTgt spid="4609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53" presetClass="entr" presetSubtype="16" fill="hold" nodeType="clickEffect">
                                  <p:stCondLst>
                                    <p:cond delay="0"/>
                                  </p:stCondLst>
                                  <p:childTnLst>
                                    <p:set>
                                      <p:cBhvr>
                                        <p:cTn id="12" dur="1" fill="hold">
                                          <p:stCondLst>
                                            <p:cond delay="0"/>
                                          </p:stCondLst>
                                        </p:cTn>
                                        <p:tgtEl>
                                          <p:spTgt spid="2"/>
                                        </p:tgtEl>
                                        <p:attrNameLst>
                                          <p:attrName>style.visibility</p:attrName>
                                        </p:attrNameLst>
                                      </p:cBhvr>
                                      <p:to>
                                        <p:strVal val="visible"/>
                                      </p:to>
                                    </p:set>
                                    <p:anim calcmode="lin" valueType="num">
                                      <p:cBhvr>
                                        <p:cTn id="13" dur="500" fill="hold"/>
                                        <p:tgtEl>
                                          <p:spTgt spid="2"/>
                                        </p:tgtEl>
                                        <p:attrNameLst>
                                          <p:attrName>ppt_w</p:attrName>
                                        </p:attrNameLst>
                                      </p:cBhvr>
                                      <p:tavLst>
                                        <p:tav tm="0">
                                          <p:val>
                                            <p:fltVal val="0"/>
                                          </p:val>
                                        </p:tav>
                                        <p:tav tm="100000">
                                          <p:val>
                                            <p:strVal val="#ppt_w"/>
                                          </p:val>
                                        </p:tav>
                                      </p:tavLst>
                                    </p:anim>
                                    <p:anim calcmode="lin" valueType="num">
                                      <p:cBhvr>
                                        <p:cTn id="14" dur="500" fill="hold"/>
                                        <p:tgtEl>
                                          <p:spTgt spid="2"/>
                                        </p:tgtEl>
                                        <p:attrNameLst>
                                          <p:attrName>ppt_h</p:attrName>
                                        </p:attrNameLst>
                                      </p:cBhvr>
                                      <p:tavLst>
                                        <p:tav tm="0">
                                          <p:val>
                                            <p:fltVal val="0"/>
                                          </p:val>
                                        </p:tav>
                                        <p:tav tm="100000">
                                          <p:val>
                                            <p:strVal val="#ppt_h"/>
                                          </p:val>
                                        </p:tav>
                                      </p:tavLst>
                                    </p:anim>
                                    <p:animEffect transition="in" filter="fade">
                                      <p:cBhvr>
                                        <p:cTn id="15" dur="500"/>
                                        <p:tgtEl>
                                          <p:spTgt spid="2"/>
                                        </p:tgtEl>
                                      </p:cBhvr>
                                    </p:animEffect>
                                  </p:childTnLst>
                                </p:cTn>
                              </p:par>
                            </p:childTnLst>
                          </p:cTn>
                        </p:par>
                      </p:childTnLst>
                    </p:cTn>
                  </p:par>
                  <p:par>
                    <p:cTn id="16" fill="hold" nodeType="clickPar">
                      <p:stCondLst>
                        <p:cond delay="indefinite"/>
                      </p:stCondLst>
                      <p:childTnLst>
                        <p:par>
                          <p:cTn id="17" fill="hold" nodeType="withGroup">
                            <p:stCondLst>
                              <p:cond delay="0"/>
                            </p:stCondLst>
                            <p:childTnLst>
                              <p:par>
                                <p:cTn id="18" presetID="53" presetClass="entr" presetSubtype="16" fill="hold" nodeType="clickEffect">
                                  <p:stCondLst>
                                    <p:cond delay="0"/>
                                  </p:stCondLst>
                                  <p:childTnLst>
                                    <p:set>
                                      <p:cBhvr>
                                        <p:cTn id="19" dur="1" fill="hold">
                                          <p:stCondLst>
                                            <p:cond delay="0"/>
                                          </p:stCondLst>
                                        </p:cTn>
                                        <p:tgtEl>
                                          <p:spTgt spid="3"/>
                                        </p:tgtEl>
                                        <p:attrNameLst>
                                          <p:attrName>style.visibility</p:attrName>
                                        </p:attrNameLst>
                                      </p:cBhvr>
                                      <p:to>
                                        <p:strVal val="visible"/>
                                      </p:to>
                                    </p:set>
                                    <p:anim calcmode="lin" valueType="num">
                                      <p:cBhvr>
                                        <p:cTn id="20" dur="500" fill="hold"/>
                                        <p:tgtEl>
                                          <p:spTgt spid="3"/>
                                        </p:tgtEl>
                                        <p:attrNameLst>
                                          <p:attrName>ppt_w</p:attrName>
                                        </p:attrNameLst>
                                      </p:cBhvr>
                                      <p:tavLst>
                                        <p:tav tm="0">
                                          <p:val>
                                            <p:fltVal val="0"/>
                                          </p:val>
                                        </p:tav>
                                        <p:tav tm="100000">
                                          <p:val>
                                            <p:strVal val="#ppt_w"/>
                                          </p:val>
                                        </p:tav>
                                      </p:tavLst>
                                    </p:anim>
                                    <p:anim calcmode="lin" valueType="num">
                                      <p:cBhvr>
                                        <p:cTn id="21" dur="500" fill="hold"/>
                                        <p:tgtEl>
                                          <p:spTgt spid="3"/>
                                        </p:tgtEl>
                                        <p:attrNameLst>
                                          <p:attrName>ppt_h</p:attrName>
                                        </p:attrNameLst>
                                      </p:cBhvr>
                                      <p:tavLst>
                                        <p:tav tm="0">
                                          <p:val>
                                            <p:fltVal val="0"/>
                                          </p:val>
                                        </p:tav>
                                        <p:tav tm="100000">
                                          <p:val>
                                            <p:strVal val="#ppt_h"/>
                                          </p:val>
                                        </p:tav>
                                      </p:tavLst>
                                    </p:anim>
                                    <p:animEffect transition="in" filter="fade">
                                      <p:cBhvr>
                                        <p:cTn id="22" dur="500"/>
                                        <p:tgtEl>
                                          <p:spTgt spid="3"/>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wipe(left)">
                                      <p:cBhvr>
                                        <p:cTn id="27" dur="500"/>
                                        <p:tgtEl>
                                          <p:spTgt spid="4"/>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5"/>
                                        </p:tgtEl>
                                        <p:attrNameLst>
                                          <p:attrName>style.visibility</p:attrName>
                                        </p:attrNameLst>
                                      </p:cBhvr>
                                      <p:to>
                                        <p:strVal val="visible"/>
                                      </p:to>
                                    </p:set>
                                    <p:animEffect transition="in" filter="wipe(left)">
                                      <p:cBhvr>
                                        <p:cTn id="32" dur="500"/>
                                        <p:tgtEl>
                                          <p:spTgt spid="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7"/>
                                        </p:tgtEl>
                                        <p:attrNameLst>
                                          <p:attrName>style.visibility</p:attrName>
                                        </p:attrNameLst>
                                      </p:cBhvr>
                                      <p:to>
                                        <p:strVal val="visible"/>
                                      </p:to>
                                    </p:set>
                                    <p:animEffect transition="in" filter="wipe(left)">
                                      <p:cBhvr>
                                        <p:cTn id="37" dur="500"/>
                                        <p:tgtEl>
                                          <p:spTgt spid="7"/>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8"/>
                                        </p:tgtEl>
                                        <p:attrNameLst>
                                          <p:attrName>style.visibility</p:attrName>
                                        </p:attrNameLst>
                                      </p:cBhvr>
                                      <p:to>
                                        <p:strVal val="visible"/>
                                      </p:to>
                                    </p:set>
                                    <p:animEffect transition="in" filter="wipe(left)">
                                      <p:cBhvr>
                                        <p:cTn id="42" dur="500"/>
                                        <p:tgtEl>
                                          <p:spTgt spid="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60"/>
                                        </p:tgtEl>
                                        <p:attrNameLst>
                                          <p:attrName>style.visibility</p:attrName>
                                        </p:attrNameLst>
                                      </p:cBhvr>
                                      <p:to>
                                        <p:strVal val="visible"/>
                                      </p:to>
                                    </p:set>
                                    <p:animEffect transition="in" filter="wipe(left)">
                                      <p:cBhvr>
                                        <p:cTn id="47" dur="500"/>
                                        <p:tgtEl>
                                          <p:spTgt spid="60"/>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3"/>
                                        </p:tgtEl>
                                        <p:attrNameLst>
                                          <p:attrName>style.visibility</p:attrName>
                                        </p:attrNameLst>
                                      </p:cBhvr>
                                      <p:to>
                                        <p:strVal val="visible"/>
                                      </p:to>
                                    </p:set>
                                    <p:animEffect transition="in" filter="wipe(left)">
                                      <p:cBhvr>
                                        <p:cTn id="52" dur="500"/>
                                        <p:tgtEl>
                                          <p:spTgt spid="63"/>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53" presetClass="entr" presetSubtype="16" fill="hold" nodeType="clickEffect">
                                  <p:stCondLst>
                                    <p:cond delay="0"/>
                                  </p:stCondLst>
                                  <p:childTnLst>
                                    <p:set>
                                      <p:cBhvr>
                                        <p:cTn id="56" dur="1" fill="hold">
                                          <p:stCondLst>
                                            <p:cond delay="0"/>
                                          </p:stCondLst>
                                        </p:cTn>
                                        <p:tgtEl>
                                          <p:spTgt spid="64"/>
                                        </p:tgtEl>
                                        <p:attrNameLst>
                                          <p:attrName>style.visibility</p:attrName>
                                        </p:attrNameLst>
                                      </p:cBhvr>
                                      <p:to>
                                        <p:strVal val="visible"/>
                                      </p:to>
                                    </p:set>
                                    <p:anim calcmode="lin" valueType="num">
                                      <p:cBhvr>
                                        <p:cTn id="57" dur="500" fill="hold"/>
                                        <p:tgtEl>
                                          <p:spTgt spid="64"/>
                                        </p:tgtEl>
                                        <p:attrNameLst>
                                          <p:attrName>ppt_w</p:attrName>
                                        </p:attrNameLst>
                                      </p:cBhvr>
                                      <p:tavLst>
                                        <p:tav tm="0">
                                          <p:val>
                                            <p:fltVal val="0"/>
                                          </p:val>
                                        </p:tav>
                                        <p:tav tm="100000">
                                          <p:val>
                                            <p:strVal val="#ppt_w"/>
                                          </p:val>
                                        </p:tav>
                                      </p:tavLst>
                                    </p:anim>
                                    <p:anim calcmode="lin" valueType="num">
                                      <p:cBhvr>
                                        <p:cTn id="58" dur="500" fill="hold"/>
                                        <p:tgtEl>
                                          <p:spTgt spid="64"/>
                                        </p:tgtEl>
                                        <p:attrNameLst>
                                          <p:attrName>ppt_h</p:attrName>
                                        </p:attrNameLst>
                                      </p:cBhvr>
                                      <p:tavLst>
                                        <p:tav tm="0">
                                          <p:val>
                                            <p:fltVal val="0"/>
                                          </p:val>
                                        </p:tav>
                                        <p:tav tm="100000">
                                          <p:val>
                                            <p:strVal val="#ppt_h"/>
                                          </p:val>
                                        </p:tav>
                                      </p:tavLst>
                                    </p:anim>
                                    <p:animEffect transition="in" filter="fade">
                                      <p:cBhvr>
                                        <p:cTn id="59" dur="500"/>
                                        <p:tgtEl>
                                          <p:spTgt spid="64"/>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23" presetClass="entr" presetSubtype="16" fill="hold" grpId="0" nodeType="clickEffect">
                                  <p:stCondLst>
                                    <p:cond delay="0"/>
                                  </p:stCondLst>
                                  <p:childTnLst>
                                    <p:set>
                                      <p:cBhvr>
                                        <p:cTn id="63" dur="1" fill="hold">
                                          <p:stCondLst>
                                            <p:cond delay="0"/>
                                          </p:stCondLst>
                                        </p:cTn>
                                        <p:tgtEl>
                                          <p:spTgt spid="46134"/>
                                        </p:tgtEl>
                                        <p:attrNameLst>
                                          <p:attrName>style.visibility</p:attrName>
                                        </p:attrNameLst>
                                      </p:cBhvr>
                                      <p:to>
                                        <p:strVal val="visible"/>
                                      </p:to>
                                    </p:set>
                                    <p:anim calcmode="lin" valueType="num">
                                      <p:cBhvr>
                                        <p:cTn id="64" dur="500" fill="hold"/>
                                        <p:tgtEl>
                                          <p:spTgt spid="46134"/>
                                        </p:tgtEl>
                                        <p:attrNameLst>
                                          <p:attrName>ppt_w</p:attrName>
                                        </p:attrNameLst>
                                      </p:cBhvr>
                                      <p:tavLst>
                                        <p:tav tm="0">
                                          <p:val>
                                            <p:fltVal val="0"/>
                                          </p:val>
                                        </p:tav>
                                        <p:tav tm="100000">
                                          <p:val>
                                            <p:strVal val="#ppt_w"/>
                                          </p:val>
                                        </p:tav>
                                      </p:tavLst>
                                    </p:anim>
                                    <p:anim calcmode="lin" valueType="num">
                                      <p:cBhvr>
                                        <p:cTn id="65" dur="500" fill="hold"/>
                                        <p:tgtEl>
                                          <p:spTgt spid="46134"/>
                                        </p:tgtEl>
                                        <p:attrNameLst>
                                          <p:attrName>ppt_h</p:attrName>
                                        </p:attrNameLst>
                                      </p:cBhvr>
                                      <p:tavLst>
                                        <p:tav tm="0">
                                          <p:val>
                                            <p:fltVal val="0"/>
                                          </p:val>
                                        </p:tav>
                                        <p:tav tm="100000">
                                          <p:val>
                                            <p:strVal val="#ppt_h"/>
                                          </p:val>
                                        </p:tav>
                                      </p:tavLst>
                                    </p:anim>
                                  </p:childTnLst>
                                </p:cTn>
                              </p:par>
                            </p:childTnLst>
                          </p:cTn>
                        </p:par>
                      </p:childTnLst>
                    </p:cTn>
                  </p:par>
                  <p:par>
                    <p:cTn id="66" fill="hold" nodeType="clickPar">
                      <p:stCondLst>
                        <p:cond delay="indefinite"/>
                      </p:stCondLst>
                      <p:childTnLst>
                        <p:par>
                          <p:cTn id="67" fill="hold" nodeType="withGroup">
                            <p:stCondLst>
                              <p:cond delay="0"/>
                            </p:stCondLst>
                            <p:childTnLst>
                              <p:par>
                                <p:cTn id="68" presetID="23" presetClass="entr" presetSubtype="16" fill="hold" nodeType="clickEffect">
                                  <p:stCondLst>
                                    <p:cond delay="0"/>
                                  </p:stCondLst>
                                  <p:childTnLst>
                                    <p:set>
                                      <p:cBhvr>
                                        <p:cTn id="69" dur="1" fill="hold">
                                          <p:stCondLst>
                                            <p:cond delay="0"/>
                                          </p:stCondLst>
                                        </p:cTn>
                                        <p:tgtEl>
                                          <p:spTgt spid="46135"/>
                                        </p:tgtEl>
                                        <p:attrNameLst>
                                          <p:attrName>style.visibility</p:attrName>
                                        </p:attrNameLst>
                                      </p:cBhvr>
                                      <p:to>
                                        <p:strVal val="visible"/>
                                      </p:to>
                                    </p:set>
                                    <p:anim calcmode="lin" valueType="num">
                                      <p:cBhvr>
                                        <p:cTn id="70" dur="500" fill="hold"/>
                                        <p:tgtEl>
                                          <p:spTgt spid="46135"/>
                                        </p:tgtEl>
                                        <p:attrNameLst>
                                          <p:attrName>ppt_w</p:attrName>
                                        </p:attrNameLst>
                                      </p:cBhvr>
                                      <p:tavLst>
                                        <p:tav tm="0">
                                          <p:val>
                                            <p:fltVal val="0"/>
                                          </p:val>
                                        </p:tav>
                                        <p:tav tm="100000">
                                          <p:val>
                                            <p:strVal val="#ppt_w"/>
                                          </p:val>
                                        </p:tav>
                                      </p:tavLst>
                                    </p:anim>
                                    <p:anim calcmode="lin" valueType="num">
                                      <p:cBhvr>
                                        <p:cTn id="71" dur="500" fill="hold"/>
                                        <p:tgtEl>
                                          <p:spTgt spid="46135"/>
                                        </p:tgtEl>
                                        <p:attrNameLst>
                                          <p:attrName>ppt_h</p:attrName>
                                        </p:attrNameLst>
                                      </p:cBhvr>
                                      <p:tavLst>
                                        <p:tav tm="0">
                                          <p:val>
                                            <p:fltVal val="0"/>
                                          </p:val>
                                        </p:tav>
                                        <p:tav tm="100000">
                                          <p:val>
                                            <p:strVal val="#ppt_h"/>
                                          </p:val>
                                        </p:tav>
                                      </p:tavLst>
                                    </p:anim>
                                  </p:childTnLst>
                                </p:cTn>
                              </p:par>
                            </p:childTnLst>
                          </p:cTn>
                        </p:par>
                      </p:childTnLst>
                    </p:cTn>
                  </p:par>
                  <p:par>
                    <p:cTn id="72" fill="hold" nodeType="clickPar">
                      <p:stCondLst>
                        <p:cond delay="indefinite"/>
                      </p:stCondLst>
                      <p:childTnLst>
                        <p:par>
                          <p:cTn id="73" fill="hold" nodeType="withGroup">
                            <p:stCondLst>
                              <p:cond delay="0"/>
                            </p:stCondLst>
                            <p:childTnLst>
                              <p:par>
                                <p:cTn id="74" presetID="23" presetClass="entr" presetSubtype="16" fill="hold" grpId="0" nodeType="clickEffect">
                                  <p:stCondLst>
                                    <p:cond delay="0"/>
                                  </p:stCondLst>
                                  <p:childTnLst>
                                    <p:set>
                                      <p:cBhvr>
                                        <p:cTn id="75" dur="1" fill="hold">
                                          <p:stCondLst>
                                            <p:cond delay="0"/>
                                          </p:stCondLst>
                                        </p:cTn>
                                        <p:tgtEl>
                                          <p:spTgt spid="46137"/>
                                        </p:tgtEl>
                                        <p:attrNameLst>
                                          <p:attrName>style.visibility</p:attrName>
                                        </p:attrNameLst>
                                      </p:cBhvr>
                                      <p:to>
                                        <p:strVal val="visible"/>
                                      </p:to>
                                    </p:set>
                                    <p:anim calcmode="lin" valueType="num">
                                      <p:cBhvr>
                                        <p:cTn id="76" dur="500" fill="hold"/>
                                        <p:tgtEl>
                                          <p:spTgt spid="46137"/>
                                        </p:tgtEl>
                                        <p:attrNameLst>
                                          <p:attrName>ppt_w</p:attrName>
                                        </p:attrNameLst>
                                      </p:cBhvr>
                                      <p:tavLst>
                                        <p:tav tm="0">
                                          <p:val>
                                            <p:fltVal val="0"/>
                                          </p:val>
                                        </p:tav>
                                        <p:tav tm="100000">
                                          <p:val>
                                            <p:strVal val="#ppt_w"/>
                                          </p:val>
                                        </p:tav>
                                      </p:tavLst>
                                    </p:anim>
                                    <p:anim calcmode="lin" valueType="num">
                                      <p:cBhvr>
                                        <p:cTn id="77" dur="500" fill="hold"/>
                                        <p:tgtEl>
                                          <p:spTgt spid="46137"/>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6094" grpId="0" autoUpdateAnimBg="0"/>
      <p:bldP spid="5" grpId="0"/>
      <p:bldP spid="8" grpId="0"/>
      <p:bldP spid="46134" grpId="0" autoUpdateAnimBg="0"/>
      <p:bldP spid="46137" grpId="0" autoUpdateAnimBg="0"/>
    </p:bldLst>
  </p:timing>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57" name="Text Box 29"/>
          <p:cNvSpPr txBox="1">
            <a:spLocks noChangeArrowheads="1"/>
          </p:cNvSpPr>
          <p:nvPr/>
        </p:nvSpPr>
        <p:spPr bwMode="auto">
          <a:xfrm>
            <a:off x="539750" y="762000"/>
            <a:ext cx="33845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rgbClr val="CC0000"/>
                </a:solidFill>
                <a:ea typeface="华文中宋" pitchFamily="2" charset="-122"/>
              </a:rPr>
              <a:t>2</a:t>
            </a:r>
            <a:r>
              <a:rPr lang="zh-CN" altLang="en-US" sz="1800" b="1">
                <a:solidFill>
                  <a:srgbClr val="CC0000"/>
                </a:solidFill>
                <a:ea typeface="华文中宋" pitchFamily="2" charset="-122"/>
              </a:rPr>
              <a:t>、速率分布函数的物理意义          </a:t>
            </a:r>
            <a:endParaRPr lang="zh-CN" altLang="en-US" sz="1800" b="1">
              <a:ea typeface="华文中宋" pitchFamily="2" charset="-122"/>
            </a:endParaRPr>
          </a:p>
        </p:txBody>
      </p:sp>
      <p:sp>
        <p:nvSpPr>
          <p:cNvPr id="48158" name="Text Box 30"/>
          <p:cNvSpPr txBox="1">
            <a:spLocks noChangeArrowheads="1"/>
          </p:cNvSpPr>
          <p:nvPr/>
        </p:nvSpPr>
        <p:spPr bwMode="auto">
          <a:xfrm>
            <a:off x="900113" y="1050925"/>
            <a:ext cx="709453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一定质量的气体，在给定温度下，在平衡态时，</a:t>
            </a:r>
          </a:p>
        </p:txBody>
      </p:sp>
      <p:graphicFrame>
        <p:nvGraphicFramePr>
          <p:cNvPr id="48159" name="Object 31"/>
          <p:cNvGraphicFramePr>
            <a:graphicFrameLocks noChangeAspect="1"/>
          </p:cNvGraphicFramePr>
          <p:nvPr/>
        </p:nvGraphicFramePr>
        <p:xfrm>
          <a:off x="744538" y="1455738"/>
          <a:ext cx="1306512" cy="468312"/>
        </p:xfrm>
        <a:graphic>
          <a:graphicData uri="http://schemas.openxmlformats.org/presentationml/2006/ole">
            <p:oleObj spid="_x0000_s45110" name="Equation" r:id="rId3" imgW="850531" imgH="406224" progId="Equation.DSMT4">
              <p:embed/>
            </p:oleObj>
          </a:graphicData>
        </a:graphic>
      </p:graphicFrame>
      <p:grpSp>
        <p:nvGrpSpPr>
          <p:cNvPr id="2" name="Group 35"/>
          <p:cNvGrpSpPr>
            <a:grpSpLocks/>
          </p:cNvGrpSpPr>
          <p:nvPr/>
        </p:nvGrpSpPr>
        <p:grpSpPr bwMode="auto">
          <a:xfrm>
            <a:off x="2901950" y="1509713"/>
            <a:ext cx="6048375" cy="414337"/>
            <a:chOff x="1603" y="1026"/>
            <a:chExt cx="3676" cy="543"/>
          </a:xfrm>
        </p:grpSpPr>
        <p:sp>
          <p:nvSpPr>
            <p:cNvPr id="45078" name="Text Box 33"/>
            <p:cNvSpPr txBox="1">
              <a:spLocks noChangeArrowheads="1"/>
            </p:cNvSpPr>
            <p:nvPr/>
          </p:nvSpPr>
          <p:spPr bwMode="auto">
            <a:xfrm>
              <a:off x="1603" y="1026"/>
              <a:ext cx="3676" cy="5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速率   附近单位速率区间内的分子数占总分子数的百分比。</a:t>
              </a:r>
            </a:p>
          </p:txBody>
        </p:sp>
        <p:graphicFrame>
          <p:nvGraphicFramePr>
            <p:cNvPr id="45079" name="Object 34"/>
            <p:cNvGraphicFramePr>
              <a:graphicFrameLocks noChangeAspect="1"/>
            </p:cNvGraphicFramePr>
            <p:nvPr/>
          </p:nvGraphicFramePr>
          <p:xfrm>
            <a:off x="1916" y="1117"/>
            <a:ext cx="180" cy="357"/>
          </p:xfrm>
          <a:graphic>
            <a:graphicData uri="http://schemas.openxmlformats.org/presentationml/2006/ole">
              <p:oleObj spid="_x0000_s45111" name="Equation" r:id="rId4" imgW="139700" imgH="139700" progId="Equation.DSMT4">
                <p:embed/>
              </p:oleObj>
            </a:graphicData>
          </a:graphic>
        </p:graphicFrame>
      </p:grpSp>
      <p:graphicFrame>
        <p:nvGraphicFramePr>
          <p:cNvPr id="48164" name="Object 36"/>
          <p:cNvGraphicFramePr>
            <a:graphicFrameLocks noChangeAspect="1"/>
          </p:cNvGraphicFramePr>
          <p:nvPr/>
        </p:nvGraphicFramePr>
        <p:xfrm>
          <a:off x="744538" y="2114550"/>
          <a:ext cx="1343025" cy="436563"/>
        </p:xfrm>
        <a:graphic>
          <a:graphicData uri="http://schemas.openxmlformats.org/presentationml/2006/ole">
            <p:oleObj spid="_x0000_s45112" name="Equation" r:id="rId5" imgW="939392" imgH="406224" progId="Equation.DSMT4">
              <p:embed/>
            </p:oleObj>
          </a:graphicData>
        </a:graphic>
      </p:graphicFrame>
      <p:grpSp>
        <p:nvGrpSpPr>
          <p:cNvPr id="3" name="Group 40"/>
          <p:cNvGrpSpPr>
            <a:grpSpLocks/>
          </p:cNvGrpSpPr>
          <p:nvPr/>
        </p:nvGrpSpPr>
        <p:grpSpPr bwMode="auto">
          <a:xfrm>
            <a:off x="2913063" y="2160588"/>
            <a:ext cx="5835650" cy="368300"/>
            <a:chOff x="1655" y="1661"/>
            <a:chExt cx="3676" cy="310"/>
          </a:xfrm>
        </p:grpSpPr>
        <p:sp>
          <p:nvSpPr>
            <p:cNvPr id="45076" name="Text Box 38"/>
            <p:cNvSpPr txBox="1">
              <a:spLocks noChangeArrowheads="1"/>
            </p:cNvSpPr>
            <p:nvPr/>
          </p:nvSpPr>
          <p:spPr bwMode="auto">
            <a:xfrm>
              <a:off x="1655" y="1661"/>
              <a:ext cx="367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速率在                   区间内的分子数占总分子数的百分比。</a:t>
              </a:r>
            </a:p>
          </p:txBody>
        </p:sp>
        <p:graphicFrame>
          <p:nvGraphicFramePr>
            <p:cNvPr id="45077" name="Object 39"/>
            <p:cNvGraphicFramePr>
              <a:graphicFrameLocks noChangeAspect="1"/>
            </p:cNvGraphicFramePr>
            <p:nvPr/>
          </p:nvGraphicFramePr>
          <p:xfrm>
            <a:off x="2143" y="1706"/>
            <a:ext cx="692" cy="228"/>
          </p:xfrm>
          <a:graphic>
            <a:graphicData uri="http://schemas.openxmlformats.org/presentationml/2006/ole">
              <p:oleObj spid="_x0000_s45113" name="Equation" r:id="rId6" imgW="685502" imgH="177723" progId="Equation.DSMT4">
                <p:embed/>
              </p:oleObj>
            </a:graphicData>
          </a:graphic>
        </p:graphicFrame>
      </p:grpSp>
      <p:graphicFrame>
        <p:nvGraphicFramePr>
          <p:cNvPr id="48169" name="Object 41"/>
          <p:cNvGraphicFramePr>
            <a:graphicFrameLocks noChangeAspect="1"/>
          </p:cNvGraphicFramePr>
          <p:nvPr/>
        </p:nvGraphicFramePr>
        <p:xfrm>
          <a:off x="742950" y="2741613"/>
          <a:ext cx="1344613" cy="481012"/>
        </p:xfrm>
        <a:graphic>
          <a:graphicData uri="http://schemas.openxmlformats.org/presentationml/2006/ole">
            <p:oleObj spid="_x0000_s45114" name="Equation" r:id="rId7" imgW="748975" imgH="355446" progId="Equation.DSMT4">
              <p:embed/>
            </p:oleObj>
          </a:graphicData>
        </a:graphic>
      </p:graphicFrame>
      <p:grpSp>
        <p:nvGrpSpPr>
          <p:cNvPr id="4" name="Group 45"/>
          <p:cNvGrpSpPr>
            <a:grpSpLocks/>
          </p:cNvGrpSpPr>
          <p:nvPr/>
        </p:nvGrpSpPr>
        <p:grpSpPr bwMode="auto">
          <a:xfrm>
            <a:off x="2916238" y="2765425"/>
            <a:ext cx="5835650" cy="368300"/>
            <a:chOff x="1655" y="2277"/>
            <a:chExt cx="3676" cy="310"/>
          </a:xfrm>
        </p:grpSpPr>
        <p:sp>
          <p:nvSpPr>
            <p:cNvPr id="45074" name="Text Box 43"/>
            <p:cNvSpPr txBox="1">
              <a:spLocks noChangeArrowheads="1"/>
            </p:cNvSpPr>
            <p:nvPr/>
          </p:nvSpPr>
          <p:spPr bwMode="auto">
            <a:xfrm>
              <a:off x="1655" y="2277"/>
              <a:ext cx="367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速率在             区间内的分子数占总分子数的百分比。</a:t>
              </a:r>
            </a:p>
          </p:txBody>
        </p:sp>
        <p:graphicFrame>
          <p:nvGraphicFramePr>
            <p:cNvPr id="45075" name="Object 44"/>
            <p:cNvGraphicFramePr>
              <a:graphicFrameLocks noChangeAspect="1"/>
            </p:cNvGraphicFramePr>
            <p:nvPr/>
          </p:nvGraphicFramePr>
          <p:xfrm>
            <a:off x="2154" y="2289"/>
            <a:ext cx="454" cy="295"/>
          </p:xfrm>
          <a:graphic>
            <a:graphicData uri="http://schemas.openxmlformats.org/presentationml/2006/ole">
              <p:oleObj spid="_x0000_s45115" name="Equation" r:id="rId8" imgW="444307" imgH="228501" progId="Equation.DSMT4">
                <p:embed/>
              </p:oleObj>
            </a:graphicData>
          </a:graphic>
        </p:graphicFrame>
      </p:grpSp>
      <p:graphicFrame>
        <p:nvGraphicFramePr>
          <p:cNvPr id="48174" name="Object 46"/>
          <p:cNvGraphicFramePr>
            <a:graphicFrameLocks noChangeAspect="1"/>
          </p:cNvGraphicFramePr>
          <p:nvPr/>
        </p:nvGraphicFramePr>
        <p:xfrm>
          <a:off x="768350" y="3413125"/>
          <a:ext cx="1500188" cy="479425"/>
        </p:xfrm>
        <a:graphic>
          <a:graphicData uri="http://schemas.openxmlformats.org/presentationml/2006/ole">
            <p:oleObj spid="_x0000_s45116" name="Equation" r:id="rId9" imgW="837836" imgH="355446" progId="Equation.DSMT4">
              <p:embed/>
            </p:oleObj>
          </a:graphicData>
        </a:graphic>
      </p:graphicFrame>
      <p:grpSp>
        <p:nvGrpSpPr>
          <p:cNvPr id="5" name="Group 47"/>
          <p:cNvGrpSpPr>
            <a:grpSpLocks/>
          </p:cNvGrpSpPr>
          <p:nvPr/>
        </p:nvGrpSpPr>
        <p:grpSpPr bwMode="auto">
          <a:xfrm>
            <a:off x="2916238" y="3370263"/>
            <a:ext cx="5835650" cy="368300"/>
            <a:chOff x="1655" y="2277"/>
            <a:chExt cx="3676" cy="310"/>
          </a:xfrm>
        </p:grpSpPr>
        <p:sp>
          <p:nvSpPr>
            <p:cNvPr id="45072" name="Text Box 48"/>
            <p:cNvSpPr txBox="1">
              <a:spLocks noChangeArrowheads="1"/>
            </p:cNvSpPr>
            <p:nvPr/>
          </p:nvSpPr>
          <p:spPr bwMode="auto">
            <a:xfrm>
              <a:off x="1655" y="2277"/>
              <a:ext cx="3676"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速率在             区间内的分子数。</a:t>
              </a:r>
            </a:p>
          </p:txBody>
        </p:sp>
        <p:graphicFrame>
          <p:nvGraphicFramePr>
            <p:cNvPr id="45073" name="Object 49"/>
            <p:cNvGraphicFramePr>
              <a:graphicFrameLocks noChangeAspect="1"/>
            </p:cNvGraphicFramePr>
            <p:nvPr/>
          </p:nvGraphicFramePr>
          <p:xfrm>
            <a:off x="2185" y="2289"/>
            <a:ext cx="435" cy="295"/>
          </p:xfrm>
          <a:graphic>
            <a:graphicData uri="http://schemas.openxmlformats.org/presentationml/2006/ole">
              <p:oleObj spid="_x0000_s45117" name="Equation" r:id="rId10" imgW="444307" imgH="228501" progId="Equation.DSMT4">
                <p:embed/>
              </p:oleObj>
            </a:graphicData>
          </a:graphic>
        </p:graphicFrame>
      </p:grpSp>
      <p:graphicFrame>
        <p:nvGraphicFramePr>
          <p:cNvPr id="48178" name="Object 50"/>
          <p:cNvGraphicFramePr>
            <a:graphicFrameLocks noChangeAspect="1"/>
          </p:cNvGraphicFramePr>
          <p:nvPr/>
        </p:nvGraphicFramePr>
        <p:xfrm>
          <a:off x="754063" y="4084638"/>
          <a:ext cx="1892300" cy="500062"/>
        </p:xfrm>
        <a:graphic>
          <a:graphicData uri="http://schemas.openxmlformats.org/presentationml/2006/ole">
            <p:oleObj spid="_x0000_s45118" name="Equation" r:id="rId11" imgW="939392" imgH="330057" progId="Equation.DSMT4">
              <p:embed/>
            </p:oleObj>
          </a:graphicData>
        </a:graphic>
      </p:graphicFrame>
      <p:grpSp>
        <p:nvGrpSpPr>
          <p:cNvPr id="6" name="Group 51"/>
          <p:cNvGrpSpPr>
            <a:grpSpLocks/>
          </p:cNvGrpSpPr>
          <p:nvPr/>
        </p:nvGrpSpPr>
        <p:grpSpPr bwMode="auto">
          <a:xfrm>
            <a:off x="2916238" y="3975100"/>
            <a:ext cx="5835650" cy="646113"/>
            <a:chOff x="1655" y="2277"/>
            <a:chExt cx="3676" cy="542"/>
          </a:xfrm>
        </p:grpSpPr>
        <p:sp>
          <p:nvSpPr>
            <p:cNvPr id="45070" name="Text Box 52"/>
            <p:cNvSpPr txBox="1">
              <a:spLocks noChangeArrowheads="1"/>
            </p:cNvSpPr>
            <p:nvPr/>
          </p:nvSpPr>
          <p:spPr bwMode="auto">
            <a:xfrm>
              <a:off x="1655" y="2277"/>
              <a:ext cx="3676" cy="5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速率在           区间内的分子数占总分子数的百分比</a:t>
              </a:r>
              <a:endParaRPr lang="en-US" altLang="zh-CN" sz="1800" b="1">
                <a:ea typeface="华文中宋" pitchFamily="2" charset="-122"/>
              </a:endParaRPr>
            </a:p>
            <a:p>
              <a:pPr eaLnBrk="1" hangingPunct="1"/>
              <a:r>
                <a:rPr lang="zh-CN" altLang="en-US" sz="1800" b="1">
                  <a:ea typeface="华文中宋" pitchFamily="2" charset="-122"/>
                </a:rPr>
                <a:t>（</a:t>
              </a:r>
              <a:r>
                <a:rPr lang="zh-CN" altLang="en-US" sz="1800" b="1">
                  <a:solidFill>
                    <a:srgbClr val="FF0000"/>
                  </a:solidFill>
                  <a:ea typeface="华文中宋" pitchFamily="2" charset="-122"/>
                </a:rPr>
                <a:t>归一化条件</a:t>
              </a:r>
              <a:r>
                <a:rPr lang="zh-CN" altLang="en-US" sz="1800" b="1">
                  <a:ea typeface="华文中宋" pitchFamily="2" charset="-122"/>
                </a:rPr>
                <a:t>）。</a:t>
              </a:r>
            </a:p>
          </p:txBody>
        </p:sp>
        <p:graphicFrame>
          <p:nvGraphicFramePr>
            <p:cNvPr id="45071" name="Object 53"/>
            <p:cNvGraphicFramePr>
              <a:graphicFrameLocks noChangeAspect="1"/>
            </p:cNvGraphicFramePr>
            <p:nvPr/>
          </p:nvGraphicFramePr>
          <p:xfrm>
            <a:off x="2134" y="2321"/>
            <a:ext cx="474" cy="230"/>
          </p:xfrm>
          <a:graphic>
            <a:graphicData uri="http://schemas.openxmlformats.org/presentationml/2006/ole">
              <p:oleObj spid="_x0000_s45119" name="Equation" r:id="rId12" imgW="368140" imgH="177723" progId="Equation.DSMT4">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48157"/>
                                        </p:tgtEl>
                                        <p:attrNameLst>
                                          <p:attrName>style.visibility</p:attrName>
                                        </p:attrNameLst>
                                      </p:cBhvr>
                                      <p:to>
                                        <p:strVal val="visible"/>
                                      </p:to>
                                    </p:set>
                                    <p:anim calcmode="lin" valueType="num">
                                      <p:cBhvr>
                                        <p:cTn id="7" dur="500" fill="hold"/>
                                        <p:tgtEl>
                                          <p:spTgt spid="48157"/>
                                        </p:tgtEl>
                                        <p:attrNameLst>
                                          <p:attrName>ppt_w</p:attrName>
                                        </p:attrNameLst>
                                      </p:cBhvr>
                                      <p:tavLst>
                                        <p:tav tm="0">
                                          <p:val>
                                            <p:fltVal val="0"/>
                                          </p:val>
                                        </p:tav>
                                        <p:tav tm="100000">
                                          <p:val>
                                            <p:strVal val="#ppt_w"/>
                                          </p:val>
                                        </p:tav>
                                      </p:tavLst>
                                    </p:anim>
                                    <p:anim calcmode="lin" valueType="num">
                                      <p:cBhvr>
                                        <p:cTn id="8" dur="500" fill="hold"/>
                                        <p:tgtEl>
                                          <p:spTgt spid="48157"/>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48158"/>
                                        </p:tgtEl>
                                        <p:attrNameLst>
                                          <p:attrName>style.visibility</p:attrName>
                                        </p:attrNameLst>
                                      </p:cBhvr>
                                      <p:to>
                                        <p:strVal val="visible"/>
                                      </p:to>
                                    </p:set>
                                    <p:anim calcmode="lin" valueType="num">
                                      <p:cBhvr>
                                        <p:cTn id="13" dur="500" fill="hold"/>
                                        <p:tgtEl>
                                          <p:spTgt spid="48158"/>
                                        </p:tgtEl>
                                        <p:attrNameLst>
                                          <p:attrName>ppt_w</p:attrName>
                                        </p:attrNameLst>
                                      </p:cBhvr>
                                      <p:tavLst>
                                        <p:tav tm="0">
                                          <p:val>
                                            <p:fltVal val="0"/>
                                          </p:val>
                                        </p:tav>
                                        <p:tav tm="100000">
                                          <p:val>
                                            <p:strVal val="#ppt_w"/>
                                          </p:val>
                                        </p:tav>
                                      </p:tavLst>
                                    </p:anim>
                                    <p:anim calcmode="lin" valueType="num">
                                      <p:cBhvr>
                                        <p:cTn id="14" dur="500" fill="hold"/>
                                        <p:tgtEl>
                                          <p:spTgt spid="48158"/>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48159"/>
                                        </p:tgtEl>
                                        <p:attrNameLst>
                                          <p:attrName>style.visibility</p:attrName>
                                        </p:attrNameLst>
                                      </p:cBhvr>
                                      <p:to>
                                        <p:strVal val="visible"/>
                                      </p:to>
                                    </p:set>
                                    <p:animEffect transition="in" filter="blinds(horizontal)">
                                      <p:cBhvr>
                                        <p:cTn id="19" dur="500"/>
                                        <p:tgtEl>
                                          <p:spTgt spid="48159"/>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48164"/>
                                        </p:tgtEl>
                                        <p:attrNameLst>
                                          <p:attrName>style.visibility</p:attrName>
                                        </p:attrNameLst>
                                      </p:cBhvr>
                                      <p:to>
                                        <p:strVal val="visible"/>
                                      </p:to>
                                    </p:set>
                                    <p:animEffect transition="in" filter="blinds(horizontal)">
                                      <p:cBhvr>
                                        <p:cTn id="29" dur="500"/>
                                        <p:tgtEl>
                                          <p:spTgt spid="48164"/>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blinds(horizontal)">
                                      <p:cBhvr>
                                        <p:cTn id="34" dur="500"/>
                                        <p:tgtEl>
                                          <p:spTgt spid="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48169"/>
                                        </p:tgtEl>
                                        <p:attrNameLst>
                                          <p:attrName>style.visibility</p:attrName>
                                        </p:attrNameLst>
                                      </p:cBhvr>
                                      <p:to>
                                        <p:strVal val="visible"/>
                                      </p:to>
                                    </p:set>
                                    <p:animEffect transition="in" filter="blinds(horizontal)">
                                      <p:cBhvr>
                                        <p:cTn id="39" dur="500"/>
                                        <p:tgtEl>
                                          <p:spTgt spid="48169"/>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3" presetClass="entr" presetSubtype="10" fill="hold" nodeType="clickEffect">
                                  <p:stCondLst>
                                    <p:cond delay="0"/>
                                  </p:stCondLst>
                                  <p:childTnLst>
                                    <p:set>
                                      <p:cBhvr>
                                        <p:cTn id="43" dur="1" fill="hold">
                                          <p:stCondLst>
                                            <p:cond delay="0"/>
                                          </p:stCondLst>
                                        </p:cTn>
                                        <p:tgtEl>
                                          <p:spTgt spid="4"/>
                                        </p:tgtEl>
                                        <p:attrNameLst>
                                          <p:attrName>style.visibility</p:attrName>
                                        </p:attrNameLst>
                                      </p:cBhvr>
                                      <p:to>
                                        <p:strVal val="visible"/>
                                      </p:to>
                                    </p:set>
                                    <p:animEffect transition="in" filter="blinds(horizontal)">
                                      <p:cBhvr>
                                        <p:cTn id="44" dur="500"/>
                                        <p:tgtEl>
                                          <p:spTgt spid="4"/>
                                        </p:tgtEl>
                                      </p:cBhvr>
                                    </p:animEffect>
                                  </p:childTnLst>
                                </p:cTn>
                              </p:par>
                            </p:childTnLst>
                          </p:cTn>
                        </p:par>
                      </p:childTnLst>
                    </p:cTn>
                  </p:par>
                  <p:par>
                    <p:cTn id="45" fill="hold" nodeType="clickPar">
                      <p:stCondLst>
                        <p:cond delay="indefinite"/>
                      </p:stCondLst>
                      <p:childTnLst>
                        <p:par>
                          <p:cTn id="46" fill="hold" nodeType="withGroup">
                            <p:stCondLst>
                              <p:cond delay="0"/>
                            </p:stCondLst>
                            <p:childTnLst>
                              <p:par>
                                <p:cTn id="47" presetID="3" presetClass="entr" presetSubtype="10" fill="hold" nodeType="clickEffect">
                                  <p:stCondLst>
                                    <p:cond delay="0"/>
                                  </p:stCondLst>
                                  <p:childTnLst>
                                    <p:set>
                                      <p:cBhvr>
                                        <p:cTn id="48" dur="1" fill="hold">
                                          <p:stCondLst>
                                            <p:cond delay="0"/>
                                          </p:stCondLst>
                                        </p:cTn>
                                        <p:tgtEl>
                                          <p:spTgt spid="48174"/>
                                        </p:tgtEl>
                                        <p:attrNameLst>
                                          <p:attrName>style.visibility</p:attrName>
                                        </p:attrNameLst>
                                      </p:cBhvr>
                                      <p:to>
                                        <p:strVal val="visible"/>
                                      </p:to>
                                    </p:set>
                                    <p:animEffect transition="in" filter="blinds(horizontal)">
                                      <p:cBhvr>
                                        <p:cTn id="49" dur="500"/>
                                        <p:tgtEl>
                                          <p:spTgt spid="48174"/>
                                        </p:tgtEl>
                                      </p:cBhvr>
                                    </p:animEffect>
                                  </p:childTnLst>
                                </p:cTn>
                              </p:par>
                            </p:childTnLst>
                          </p:cTn>
                        </p:par>
                      </p:childTnLst>
                    </p:cTn>
                  </p:par>
                  <p:par>
                    <p:cTn id="50" fill="hold" nodeType="clickPar">
                      <p:stCondLst>
                        <p:cond delay="indefinite"/>
                      </p:stCondLst>
                      <p:childTnLst>
                        <p:par>
                          <p:cTn id="51" fill="hold" nodeType="withGroup">
                            <p:stCondLst>
                              <p:cond delay="0"/>
                            </p:stCondLst>
                            <p:childTnLst>
                              <p:par>
                                <p:cTn id="52" presetID="3" presetClass="entr" presetSubtype="10" fill="hold" nodeType="clickEffect">
                                  <p:stCondLst>
                                    <p:cond delay="0"/>
                                  </p:stCondLst>
                                  <p:childTnLst>
                                    <p:set>
                                      <p:cBhvr>
                                        <p:cTn id="53" dur="1" fill="hold">
                                          <p:stCondLst>
                                            <p:cond delay="0"/>
                                          </p:stCondLst>
                                        </p:cTn>
                                        <p:tgtEl>
                                          <p:spTgt spid="5"/>
                                        </p:tgtEl>
                                        <p:attrNameLst>
                                          <p:attrName>style.visibility</p:attrName>
                                        </p:attrNameLst>
                                      </p:cBhvr>
                                      <p:to>
                                        <p:strVal val="visible"/>
                                      </p:to>
                                    </p:set>
                                    <p:animEffect transition="in" filter="blinds(horizontal)">
                                      <p:cBhvr>
                                        <p:cTn id="54" dur="500"/>
                                        <p:tgtEl>
                                          <p:spTgt spid="5"/>
                                        </p:tgtEl>
                                      </p:cBhvr>
                                    </p:animEffect>
                                  </p:childTnLst>
                                </p:cTn>
                              </p:par>
                            </p:childTnLst>
                          </p:cTn>
                        </p:par>
                      </p:childTnLst>
                    </p:cTn>
                  </p:par>
                  <p:par>
                    <p:cTn id="55" fill="hold" nodeType="clickPar">
                      <p:stCondLst>
                        <p:cond delay="indefinite"/>
                      </p:stCondLst>
                      <p:childTnLst>
                        <p:par>
                          <p:cTn id="56" fill="hold" nodeType="withGroup">
                            <p:stCondLst>
                              <p:cond delay="0"/>
                            </p:stCondLst>
                            <p:childTnLst>
                              <p:par>
                                <p:cTn id="57" presetID="3" presetClass="entr" presetSubtype="10" fill="hold" nodeType="clickEffect">
                                  <p:stCondLst>
                                    <p:cond delay="0"/>
                                  </p:stCondLst>
                                  <p:childTnLst>
                                    <p:set>
                                      <p:cBhvr>
                                        <p:cTn id="58" dur="1" fill="hold">
                                          <p:stCondLst>
                                            <p:cond delay="0"/>
                                          </p:stCondLst>
                                        </p:cTn>
                                        <p:tgtEl>
                                          <p:spTgt spid="48178"/>
                                        </p:tgtEl>
                                        <p:attrNameLst>
                                          <p:attrName>style.visibility</p:attrName>
                                        </p:attrNameLst>
                                      </p:cBhvr>
                                      <p:to>
                                        <p:strVal val="visible"/>
                                      </p:to>
                                    </p:set>
                                    <p:animEffect transition="in" filter="blinds(horizontal)">
                                      <p:cBhvr>
                                        <p:cTn id="59" dur="500"/>
                                        <p:tgtEl>
                                          <p:spTgt spid="48178"/>
                                        </p:tgtEl>
                                      </p:cBhvr>
                                    </p:animEffect>
                                  </p:childTnLst>
                                </p:cTn>
                              </p:par>
                            </p:childTnLst>
                          </p:cTn>
                        </p:par>
                      </p:childTnLst>
                    </p:cTn>
                  </p:par>
                  <p:par>
                    <p:cTn id="60" fill="hold" nodeType="clickPar">
                      <p:stCondLst>
                        <p:cond delay="indefinite"/>
                      </p:stCondLst>
                      <p:childTnLst>
                        <p:par>
                          <p:cTn id="61" fill="hold" nodeType="withGroup">
                            <p:stCondLst>
                              <p:cond delay="0"/>
                            </p:stCondLst>
                            <p:childTnLst>
                              <p:par>
                                <p:cTn id="62" presetID="3" presetClass="entr" presetSubtype="10" fill="hold" nodeType="clickEffect">
                                  <p:stCondLst>
                                    <p:cond delay="0"/>
                                  </p:stCondLst>
                                  <p:childTnLst>
                                    <p:set>
                                      <p:cBhvr>
                                        <p:cTn id="63" dur="1" fill="hold">
                                          <p:stCondLst>
                                            <p:cond delay="0"/>
                                          </p:stCondLst>
                                        </p:cTn>
                                        <p:tgtEl>
                                          <p:spTgt spid="6"/>
                                        </p:tgtEl>
                                        <p:attrNameLst>
                                          <p:attrName>style.visibility</p:attrName>
                                        </p:attrNameLst>
                                      </p:cBhvr>
                                      <p:to>
                                        <p:strVal val="visible"/>
                                      </p:to>
                                    </p:set>
                                    <p:animEffect transition="in" filter="blinds(horizontal)">
                                      <p:cBhvr>
                                        <p:cTn id="64"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8157" grpId="0" autoUpdateAnimBg="0"/>
      <p:bldP spid="48158" grpId="0" autoUpdateAnimBg="0"/>
    </p:bldLst>
  </p:timing>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69"/>
          <p:cNvGrpSpPr>
            <a:grpSpLocks/>
          </p:cNvGrpSpPr>
          <p:nvPr/>
        </p:nvGrpSpPr>
        <p:grpSpPr bwMode="auto">
          <a:xfrm>
            <a:off x="4273550" y="1016000"/>
            <a:ext cx="4762500" cy="1622425"/>
            <a:chOff x="1202" y="572"/>
            <a:chExt cx="4036" cy="1633"/>
          </a:xfrm>
        </p:grpSpPr>
        <p:grpSp>
          <p:nvGrpSpPr>
            <p:cNvPr id="46097" name="Group 64"/>
            <p:cNvGrpSpPr>
              <a:grpSpLocks/>
            </p:cNvGrpSpPr>
            <p:nvPr/>
          </p:nvGrpSpPr>
          <p:grpSpPr bwMode="auto">
            <a:xfrm>
              <a:off x="1202" y="572"/>
              <a:ext cx="3175" cy="1633"/>
              <a:chOff x="1202" y="572"/>
              <a:chExt cx="3175" cy="1633"/>
            </a:xfrm>
          </p:grpSpPr>
          <p:grpSp>
            <p:nvGrpSpPr>
              <p:cNvPr id="46101" name="Group 62"/>
              <p:cNvGrpSpPr>
                <a:grpSpLocks/>
              </p:cNvGrpSpPr>
              <p:nvPr/>
            </p:nvGrpSpPr>
            <p:grpSpPr bwMode="auto">
              <a:xfrm>
                <a:off x="1202" y="572"/>
                <a:ext cx="3175" cy="1633"/>
                <a:chOff x="1202" y="572"/>
                <a:chExt cx="3175" cy="1633"/>
              </a:xfrm>
            </p:grpSpPr>
            <p:grpSp>
              <p:nvGrpSpPr>
                <p:cNvPr id="46103" name="Group 60"/>
                <p:cNvGrpSpPr>
                  <a:grpSpLocks/>
                </p:cNvGrpSpPr>
                <p:nvPr/>
              </p:nvGrpSpPr>
              <p:grpSpPr bwMode="auto">
                <a:xfrm>
                  <a:off x="1202" y="572"/>
                  <a:ext cx="3175" cy="1633"/>
                  <a:chOff x="975" y="1026"/>
                  <a:chExt cx="3175" cy="1633"/>
                </a:xfrm>
              </p:grpSpPr>
              <p:sp>
                <p:nvSpPr>
                  <p:cNvPr id="46105" name="Rectangle 3"/>
                  <p:cNvSpPr>
                    <a:spLocks noChangeArrowheads="1"/>
                  </p:cNvSpPr>
                  <p:nvPr/>
                </p:nvSpPr>
                <p:spPr bwMode="auto">
                  <a:xfrm>
                    <a:off x="975" y="1026"/>
                    <a:ext cx="3175" cy="1633"/>
                  </a:xfrm>
                  <a:prstGeom prst="rect">
                    <a:avLst/>
                  </a:prstGeom>
                  <a:noFill/>
                  <a:ln w="38100">
                    <a:solidFill>
                      <a:srgbClr val="3333FF"/>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nvGrpSpPr>
                  <p:cNvPr id="46106" name="Group 43"/>
                  <p:cNvGrpSpPr>
                    <a:grpSpLocks/>
                  </p:cNvGrpSpPr>
                  <p:nvPr/>
                </p:nvGrpSpPr>
                <p:grpSpPr bwMode="auto">
                  <a:xfrm>
                    <a:off x="1247" y="1344"/>
                    <a:ext cx="771" cy="861"/>
                    <a:chOff x="1247" y="1344"/>
                    <a:chExt cx="771" cy="861"/>
                  </a:xfrm>
                </p:grpSpPr>
                <p:grpSp>
                  <p:nvGrpSpPr>
                    <p:cNvPr id="46123" name="Group 11"/>
                    <p:cNvGrpSpPr>
                      <a:grpSpLocks/>
                    </p:cNvGrpSpPr>
                    <p:nvPr/>
                  </p:nvGrpSpPr>
                  <p:grpSpPr bwMode="auto">
                    <a:xfrm>
                      <a:off x="1247" y="1344"/>
                      <a:ext cx="771" cy="861"/>
                      <a:chOff x="1247" y="1344"/>
                      <a:chExt cx="726" cy="816"/>
                    </a:xfrm>
                  </p:grpSpPr>
                  <p:sp>
                    <p:nvSpPr>
                      <p:cNvPr id="46155" name="Rectangle 4"/>
                      <p:cNvSpPr>
                        <a:spLocks noChangeArrowheads="1"/>
                      </p:cNvSpPr>
                      <p:nvPr/>
                    </p:nvSpPr>
                    <p:spPr bwMode="auto">
                      <a:xfrm>
                        <a:off x="1247" y="1344"/>
                        <a:ext cx="680" cy="816"/>
                      </a:xfrm>
                      <a:prstGeom prst="rect">
                        <a:avLst/>
                      </a:prstGeom>
                      <a:noFill/>
                      <a:ln w="28575">
                        <a:solidFill>
                          <a:srgbClr val="FF0000"/>
                        </a:solidFill>
                        <a:miter lim="800000"/>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46156" name="Rectangle 10"/>
                      <p:cNvSpPr>
                        <a:spLocks noChangeArrowheads="1"/>
                      </p:cNvSpPr>
                      <p:nvPr/>
                    </p:nvSpPr>
                    <p:spPr bwMode="auto">
                      <a:xfrm>
                        <a:off x="1882" y="1661"/>
                        <a:ext cx="91" cy="136"/>
                      </a:xfrm>
                      <a:prstGeom prst="rect">
                        <a:avLst/>
                      </a:prstGeom>
                      <a:solidFill>
                        <a:schemeClr val="bg1"/>
                      </a:solidFill>
                      <a:ln w="9525">
                        <a:solidFill>
                          <a:schemeClr val="bg1"/>
                        </a:solidFill>
                        <a:miter lim="800000"/>
                        <a:headEnd/>
                        <a:tailEnd/>
                      </a:ln>
                    </p:spPr>
                    <p:txBody>
                      <a:bodyPr wrap="none" anchor="ctr"/>
                      <a:lstStyle/>
                      <a:p>
                        <a:endParaRPr lang="zh-CN" altLang="en-US"/>
                      </a:p>
                    </p:txBody>
                  </p:sp>
                </p:grpSp>
                <p:grpSp>
                  <p:nvGrpSpPr>
                    <p:cNvPr id="46124" name="Group 42"/>
                    <p:cNvGrpSpPr>
                      <a:grpSpLocks/>
                    </p:cNvGrpSpPr>
                    <p:nvPr/>
                  </p:nvGrpSpPr>
                  <p:grpSpPr bwMode="auto">
                    <a:xfrm>
                      <a:off x="1292" y="1389"/>
                      <a:ext cx="635" cy="771"/>
                      <a:chOff x="1292" y="2659"/>
                      <a:chExt cx="635" cy="771"/>
                    </a:xfrm>
                  </p:grpSpPr>
                  <p:sp>
                    <p:nvSpPr>
                      <p:cNvPr id="46125" name="Oval 12"/>
                      <p:cNvSpPr>
                        <a:spLocks noChangeArrowheads="1"/>
                      </p:cNvSpPr>
                      <p:nvPr/>
                    </p:nvSpPr>
                    <p:spPr bwMode="auto">
                      <a:xfrm>
                        <a:off x="1293" y="2795"/>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26" name="Oval 13"/>
                      <p:cNvSpPr>
                        <a:spLocks noChangeArrowheads="1"/>
                      </p:cNvSpPr>
                      <p:nvPr/>
                    </p:nvSpPr>
                    <p:spPr bwMode="auto">
                      <a:xfrm>
                        <a:off x="1429" y="2795"/>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27" name="Oval 14"/>
                      <p:cNvSpPr>
                        <a:spLocks noChangeArrowheads="1"/>
                      </p:cNvSpPr>
                      <p:nvPr/>
                    </p:nvSpPr>
                    <p:spPr bwMode="auto">
                      <a:xfrm>
                        <a:off x="1565" y="2795"/>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28" name="Oval 15"/>
                      <p:cNvSpPr>
                        <a:spLocks noChangeArrowheads="1"/>
                      </p:cNvSpPr>
                      <p:nvPr/>
                    </p:nvSpPr>
                    <p:spPr bwMode="auto">
                      <a:xfrm>
                        <a:off x="1701" y="2795"/>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29" name="Oval 16"/>
                      <p:cNvSpPr>
                        <a:spLocks noChangeArrowheads="1"/>
                      </p:cNvSpPr>
                      <p:nvPr/>
                    </p:nvSpPr>
                    <p:spPr bwMode="auto">
                      <a:xfrm>
                        <a:off x="1837" y="2795"/>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0" name="Oval 17"/>
                      <p:cNvSpPr>
                        <a:spLocks noChangeArrowheads="1"/>
                      </p:cNvSpPr>
                      <p:nvPr/>
                    </p:nvSpPr>
                    <p:spPr bwMode="auto">
                      <a:xfrm>
                        <a:off x="1292" y="265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1" name="Oval 18"/>
                      <p:cNvSpPr>
                        <a:spLocks noChangeArrowheads="1"/>
                      </p:cNvSpPr>
                      <p:nvPr/>
                    </p:nvSpPr>
                    <p:spPr bwMode="auto">
                      <a:xfrm>
                        <a:off x="1428" y="265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2" name="Oval 19"/>
                      <p:cNvSpPr>
                        <a:spLocks noChangeArrowheads="1"/>
                      </p:cNvSpPr>
                      <p:nvPr/>
                    </p:nvSpPr>
                    <p:spPr bwMode="auto">
                      <a:xfrm>
                        <a:off x="1564" y="265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3" name="Oval 20"/>
                      <p:cNvSpPr>
                        <a:spLocks noChangeArrowheads="1"/>
                      </p:cNvSpPr>
                      <p:nvPr/>
                    </p:nvSpPr>
                    <p:spPr bwMode="auto">
                      <a:xfrm>
                        <a:off x="1700" y="265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4" name="Oval 21"/>
                      <p:cNvSpPr>
                        <a:spLocks noChangeArrowheads="1"/>
                      </p:cNvSpPr>
                      <p:nvPr/>
                    </p:nvSpPr>
                    <p:spPr bwMode="auto">
                      <a:xfrm>
                        <a:off x="1836" y="265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5" name="Oval 22"/>
                      <p:cNvSpPr>
                        <a:spLocks noChangeArrowheads="1"/>
                      </p:cNvSpPr>
                      <p:nvPr/>
                    </p:nvSpPr>
                    <p:spPr bwMode="auto">
                      <a:xfrm>
                        <a:off x="1293" y="3067"/>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6" name="Oval 23"/>
                      <p:cNvSpPr>
                        <a:spLocks noChangeArrowheads="1"/>
                      </p:cNvSpPr>
                      <p:nvPr/>
                    </p:nvSpPr>
                    <p:spPr bwMode="auto">
                      <a:xfrm>
                        <a:off x="1429" y="3067"/>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7" name="Oval 24"/>
                      <p:cNvSpPr>
                        <a:spLocks noChangeArrowheads="1"/>
                      </p:cNvSpPr>
                      <p:nvPr/>
                    </p:nvSpPr>
                    <p:spPr bwMode="auto">
                      <a:xfrm>
                        <a:off x="1565" y="3067"/>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8" name="Oval 25"/>
                      <p:cNvSpPr>
                        <a:spLocks noChangeArrowheads="1"/>
                      </p:cNvSpPr>
                      <p:nvPr/>
                    </p:nvSpPr>
                    <p:spPr bwMode="auto">
                      <a:xfrm>
                        <a:off x="1701" y="3067"/>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39" name="Oval 26"/>
                      <p:cNvSpPr>
                        <a:spLocks noChangeArrowheads="1"/>
                      </p:cNvSpPr>
                      <p:nvPr/>
                    </p:nvSpPr>
                    <p:spPr bwMode="auto">
                      <a:xfrm>
                        <a:off x="1837" y="3067"/>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0" name="Oval 27"/>
                      <p:cNvSpPr>
                        <a:spLocks noChangeArrowheads="1"/>
                      </p:cNvSpPr>
                      <p:nvPr/>
                    </p:nvSpPr>
                    <p:spPr bwMode="auto">
                      <a:xfrm>
                        <a:off x="1292" y="2931"/>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1" name="Oval 28"/>
                      <p:cNvSpPr>
                        <a:spLocks noChangeArrowheads="1"/>
                      </p:cNvSpPr>
                      <p:nvPr/>
                    </p:nvSpPr>
                    <p:spPr bwMode="auto">
                      <a:xfrm>
                        <a:off x="1428" y="2931"/>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2" name="Oval 29"/>
                      <p:cNvSpPr>
                        <a:spLocks noChangeArrowheads="1"/>
                      </p:cNvSpPr>
                      <p:nvPr/>
                    </p:nvSpPr>
                    <p:spPr bwMode="auto">
                      <a:xfrm>
                        <a:off x="1564" y="2931"/>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3" name="Oval 30"/>
                      <p:cNvSpPr>
                        <a:spLocks noChangeArrowheads="1"/>
                      </p:cNvSpPr>
                      <p:nvPr/>
                    </p:nvSpPr>
                    <p:spPr bwMode="auto">
                      <a:xfrm>
                        <a:off x="1700" y="2931"/>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4" name="Oval 31"/>
                      <p:cNvSpPr>
                        <a:spLocks noChangeArrowheads="1"/>
                      </p:cNvSpPr>
                      <p:nvPr/>
                    </p:nvSpPr>
                    <p:spPr bwMode="auto">
                      <a:xfrm>
                        <a:off x="1836" y="2931"/>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5" name="Oval 32"/>
                      <p:cNvSpPr>
                        <a:spLocks noChangeArrowheads="1"/>
                      </p:cNvSpPr>
                      <p:nvPr/>
                    </p:nvSpPr>
                    <p:spPr bwMode="auto">
                      <a:xfrm>
                        <a:off x="1293" y="333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6" name="Oval 33"/>
                      <p:cNvSpPr>
                        <a:spLocks noChangeArrowheads="1"/>
                      </p:cNvSpPr>
                      <p:nvPr/>
                    </p:nvSpPr>
                    <p:spPr bwMode="auto">
                      <a:xfrm>
                        <a:off x="1429" y="333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7" name="Oval 34"/>
                      <p:cNvSpPr>
                        <a:spLocks noChangeArrowheads="1"/>
                      </p:cNvSpPr>
                      <p:nvPr/>
                    </p:nvSpPr>
                    <p:spPr bwMode="auto">
                      <a:xfrm>
                        <a:off x="1565" y="333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8" name="Oval 35"/>
                      <p:cNvSpPr>
                        <a:spLocks noChangeArrowheads="1"/>
                      </p:cNvSpPr>
                      <p:nvPr/>
                    </p:nvSpPr>
                    <p:spPr bwMode="auto">
                      <a:xfrm>
                        <a:off x="1701" y="333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49" name="Oval 36"/>
                      <p:cNvSpPr>
                        <a:spLocks noChangeArrowheads="1"/>
                      </p:cNvSpPr>
                      <p:nvPr/>
                    </p:nvSpPr>
                    <p:spPr bwMode="auto">
                      <a:xfrm>
                        <a:off x="1837" y="3339"/>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50" name="Oval 37"/>
                      <p:cNvSpPr>
                        <a:spLocks noChangeArrowheads="1"/>
                      </p:cNvSpPr>
                      <p:nvPr/>
                    </p:nvSpPr>
                    <p:spPr bwMode="auto">
                      <a:xfrm>
                        <a:off x="1292" y="3203"/>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51" name="Oval 38"/>
                      <p:cNvSpPr>
                        <a:spLocks noChangeArrowheads="1"/>
                      </p:cNvSpPr>
                      <p:nvPr/>
                    </p:nvSpPr>
                    <p:spPr bwMode="auto">
                      <a:xfrm>
                        <a:off x="1428" y="3203"/>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52" name="Oval 39"/>
                      <p:cNvSpPr>
                        <a:spLocks noChangeArrowheads="1"/>
                      </p:cNvSpPr>
                      <p:nvPr/>
                    </p:nvSpPr>
                    <p:spPr bwMode="auto">
                      <a:xfrm>
                        <a:off x="1564" y="3203"/>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53" name="Oval 40"/>
                      <p:cNvSpPr>
                        <a:spLocks noChangeArrowheads="1"/>
                      </p:cNvSpPr>
                      <p:nvPr/>
                    </p:nvSpPr>
                    <p:spPr bwMode="auto">
                      <a:xfrm>
                        <a:off x="1700" y="3203"/>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46154" name="Oval 41"/>
                      <p:cNvSpPr>
                        <a:spLocks noChangeArrowheads="1"/>
                      </p:cNvSpPr>
                      <p:nvPr/>
                    </p:nvSpPr>
                    <p:spPr bwMode="auto">
                      <a:xfrm>
                        <a:off x="1836" y="3203"/>
                        <a:ext cx="90" cy="91"/>
                      </a:xfrm>
                      <a:prstGeom prst="ellipse">
                        <a:avLst/>
                      </a:prstGeom>
                      <a:solidFill>
                        <a:schemeClr val="accent1"/>
                      </a:solidFill>
                      <a:ln w="9525">
                        <a:solidFill>
                          <a:schemeClr val="tx1"/>
                        </a:solidFill>
                        <a:round/>
                        <a:headEnd/>
                        <a:tailEnd/>
                      </a:ln>
                    </p:spPr>
                    <p:txBody>
                      <a:bodyPr wrap="none" anchor="ctr"/>
                      <a:lstStyle/>
                      <a:p>
                        <a:endParaRPr lang="zh-CN" altLang="en-US"/>
                      </a:p>
                    </p:txBody>
                  </p:sp>
                </p:grpSp>
              </p:grpSp>
              <p:sp>
                <p:nvSpPr>
                  <p:cNvPr id="46107" name="Line 44"/>
                  <p:cNvSpPr>
                    <a:spLocks noChangeShapeType="1"/>
                  </p:cNvSpPr>
                  <p:nvPr/>
                </p:nvSpPr>
                <p:spPr bwMode="auto">
                  <a:xfrm>
                    <a:off x="1973" y="1752"/>
                    <a:ext cx="816" cy="0"/>
                  </a:xfrm>
                  <a:prstGeom prst="line">
                    <a:avLst/>
                  </a:prstGeom>
                  <a:noFill/>
                  <a:ln w="28575">
                    <a:solidFill>
                      <a:schemeClr val="tx1"/>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grpSp>
                <p:nvGrpSpPr>
                  <p:cNvPr id="46108" name="Group 49"/>
                  <p:cNvGrpSpPr>
                    <a:grpSpLocks/>
                  </p:cNvGrpSpPr>
                  <p:nvPr/>
                </p:nvGrpSpPr>
                <p:grpSpPr bwMode="auto">
                  <a:xfrm>
                    <a:off x="2472" y="1344"/>
                    <a:ext cx="227" cy="815"/>
                    <a:chOff x="2472" y="1344"/>
                    <a:chExt cx="227" cy="815"/>
                  </a:xfrm>
                </p:grpSpPr>
                <p:sp>
                  <p:nvSpPr>
                    <p:cNvPr id="46119" name="Line 45"/>
                    <p:cNvSpPr>
                      <a:spLocks noChangeShapeType="1"/>
                    </p:cNvSpPr>
                    <p:nvPr/>
                  </p:nvSpPr>
                  <p:spPr bwMode="auto">
                    <a:xfrm>
                      <a:off x="2472" y="1344"/>
                      <a:ext cx="0" cy="362"/>
                    </a:xfrm>
                    <a:prstGeom prst="line">
                      <a:avLst/>
                    </a:prstGeom>
                    <a:noFill/>
                    <a:ln w="76200">
                      <a:solidFill>
                        <a:srgbClr val="CC66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46120" name="Line 46"/>
                    <p:cNvSpPr>
                      <a:spLocks noChangeShapeType="1"/>
                    </p:cNvSpPr>
                    <p:nvPr/>
                  </p:nvSpPr>
                  <p:spPr bwMode="auto">
                    <a:xfrm>
                      <a:off x="2699" y="1344"/>
                      <a:ext cx="0" cy="362"/>
                    </a:xfrm>
                    <a:prstGeom prst="line">
                      <a:avLst/>
                    </a:prstGeom>
                    <a:noFill/>
                    <a:ln w="76200">
                      <a:solidFill>
                        <a:srgbClr val="CC66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46121" name="Line 47"/>
                    <p:cNvSpPr>
                      <a:spLocks noChangeShapeType="1"/>
                    </p:cNvSpPr>
                    <p:nvPr/>
                  </p:nvSpPr>
                  <p:spPr bwMode="auto">
                    <a:xfrm>
                      <a:off x="2472" y="1797"/>
                      <a:ext cx="0" cy="362"/>
                    </a:xfrm>
                    <a:prstGeom prst="line">
                      <a:avLst/>
                    </a:prstGeom>
                    <a:noFill/>
                    <a:ln w="76200">
                      <a:solidFill>
                        <a:srgbClr val="CC66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46122" name="Line 48"/>
                    <p:cNvSpPr>
                      <a:spLocks noChangeShapeType="1"/>
                    </p:cNvSpPr>
                    <p:nvPr/>
                  </p:nvSpPr>
                  <p:spPr bwMode="auto">
                    <a:xfrm>
                      <a:off x="2699" y="1797"/>
                      <a:ext cx="0" cy="362"/>
                    </a:xfrm>
                    <a:prstGeom prst="line">
                      <a:avLst/>
                    </a:prstGeom>
                    <a:noFill/>
                    <a:ln w="76200">
                      <a:solidFill>
                        <a:srgbClr val="CC6600"/>
                      </a:solidFill>
                      <a:round/>
                      <a:headEnd/>
                      <a:tailEnd/>
                    </a:ln>
                    <a:extLst>
                      <a:ext uri="{909E8E84-426E-40DD-AFC4-6F175D3DCCD1}">
                        <a14:hiddenFill xmlns:a14="http://schemas.microsoft.com/office/drawing/2010/main" xmlns="">
                          <a:noFill/>
                        </a14:hiddenFill>
                      </a:ext>
                    </a:extLst>
                  </p:spPr>
                  <p:txBody>
                    <a:bodyPr/>
                    <a:lstStyle/>
                    <a:p>
                      <a:endParaRPr lang="zh-CN" altLang="en-US"/>
                    </a:p>
                  </p:txBody>
                </p:sp>
              </p:grpSp>
              <p:sp>
                <p:nvSpPr>
                  <p:cNvPr id="46109" name="Oval 50"/>
                  <p:cNvSpPr>
                    <a:spLocks noChangeArrowheads="1"/>
                  </p:cNvSpPr>
                  <p:nvPr/>
                </p:nvSpPr>
                <p:spPr bwMode="auto">
                  <a:xfrm>
                    <a:off x="2835" y="1207"/>
                    <a:ext cx="998" cy="1043"/>
                  </a:xfrm>
                  <a:prstGeom prst="ellipse">
                    <a:avLst/>
                  </a:prstGeom>
                  <a:noFill/>
                  <a:ln w="38100">
                    <a:solidFill>
                      <a:srgbClr val="CC00CC"/>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46110" name="Line 51"/>
                  <p:cNvSpPr>
                    <a:spLocks noChangeShapeType="1"/>
                  </p:cNvSpPr>
                  <p:nvPr/>
                </p:nvSpPr>
                <p:spPr bwMode="auto">
                  <a:xfrm>
                    <a:off x="2835" y="1752"/>
                    <a:ext cx="998" cy="0"/>
                  </a:xfrm>
                  <a:prstGeom prst="line">
                    <a:avLst/>
                  </a:prstGeom>
                  <a:noFill/>
                  <a:ln w="25400">
                    <a:solidFill>
                      <a:schemeClr val="tx1"/>
                    </a:solidFill>
                    <a:prstDash val="dash"/>
                    <a:round/>
                    <a:headEnd type="stealth" w="lg" len="lg"/>
                    <a:tailEnd type="stealth" w="lg" len="lg"/>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46111" name="Object 52"/>
                  <p:cNvGraphicFramePr>
                    <a:graphicFrameLocks noChangeAspect="1"/>
                  </p:cNvGraphicFramePr>
                  <p:nvPr/>
                </p:nvGraphicFramePr>
                <p:xfrm>
                  <a:off x="3243" y="1797"/>
                  <a:ext cx="181" cy="181"/>
                </p:xfrm>
                <a:graphic>
                  <a:graphicData uri="http://schemas.openxmlformats.org/presentationml/2006/ole">
                    <p:oleObj spid="_x0000_s46184" name="Equation" r:id="rId3" imgW="164885" imgH="164885" progId="Equation.DSMT4">
                      <p:embed/>
                    </p:oleObj>
                  </a:graphicData>
                </a:graphic>
              </p:graphicFrame>
              <p:sp>
                <p:nvSpPr>
                  <p:cNvPr id="46112" name="Line 53"/>
                  <p:cNvSpPr>
                    <a:spLocks noChangeShapeType="1"/>
                  </p:cNvSpPr>
                  <p:nvPr/>
                </p:nvSpPr>
                <p:spPr bwMode="auto">
                  <a:xfrm flipV="1">
                    <a:off x="3334" y="1253"/>
                    <a:ext cx="226" cy="499"/>
                  </a:xfrm>
                  <a:prstGeom prst="line">
                    <a:avLst/>
                  </a:prstGeom>
                  <a:noFill/>
                  <a:ln w="25400">
                    <a:solidFill>
                      <a:schemeClr val="tx1"/>
                    </a:solidFill>
                    <a:prstDash val="dash"/>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sp>
                <p:nvSpPr>
                  <p:cNvPr id="46113" name="Arc 54"/>
                  <p:cNvSpPr>
                    <a:spLocks/>
                  </p:cNvSpPr>
                  <p:nvPr/>
                </p:nvSpPr>
                <p:spPr bwMode="auto">
                  <a:xfrm>
                    <a:off x="3424" y="1616"/>
                    <a:ext cx="90" cy="136"/>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9525">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aphicFrame>
                <p:nvGraphicFramePr>
                  <p:cNvPr id="46114" name="Object 55"/>
                  <p:cNvGraphicFramePr>
                    <a:graphicFrameLocks noChangeAspect="1"/>
                  </p:cNvGraphicFramePr>
                  <p:nvPr/>
                </p:nvGraphicFramePr>
                <p:xfrm>
                  <a:off x="3470" y="1525"/>
                  <a:ext cx="152" cy="192"/>
                </p:xfrm>
                <a:graphic>
                  <a:graphicData uri="http://schemas.openxmlformats.org/presentationml/2006/ole">
                    <p:oleObj spid="_x0000_s46185" name="Equation" r:id="rId4" imgW="139579" imgH="177646" progId="Equation.DSMT4">
                      <p:embed/>
                    </p:oleObj>
                  </a:graphicData>
                </a:graphic>
              </p:graphicFrame>
              <p:sp>
                <p:nvSpPr>
                  <p:cNvPr id="46115" name="Arc 56"/>
                  <p:cNvSpPr>
                    <a:spLocks/>
                  </p:cNvSpPr>
                  <p:nvPr/>
                </p:nvSpPr>
                <p:spPr bwMode="auto">
                  <a:xfrm rot="4950287">
                    <a:off x="3537" y="1866"/>
                    <a:ext cx="363" cy="408"/>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lnTo>
                          <a:pt x="-1" y="0"/>
                        </a:lnTo>
                        <a:close/>
                      </a:path>
                    </a:pathLst>
                  </a:custGeom>
                  <a:noFill/>
                  <a:ln w="25400">
                    <a:solidFill>
                      <a:schemeClr val="tx1"/>
                    </a:solidFill>
                    <a:round/>
                    <a:headEnd/>
                    <a:tailEnd type="stealth" w="lg" len="lg"/>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aphicFrame>
                <p:nvGraphicFramePr>
                  <p:cNvPr id="46116" name="Object 57"/>
                  <p:cNvGraphicFramePr>
                    <a:graphicFrameLocks noChangeAspect="1"/>
                  </p:cNvGraphicFramePr>
                  <p:nvPr/>
                </p:nvGraphicFramePr>
                <p:xfrm>
                  <a:off x="3787" y="2115"/>
                  <a:ext cx="184" cy="169"/>
                </p:xfrm>
                <a:graphic>
                  <a:graphicData uri="http://schemas.openxmlformats.org/presentationml/2006/ole">
                    <p:oleObj spid="_x0000_s46186" name="Equation" r:id="rId5" imgW="152334" imgH="139639" progId="Equation.DSMT4">
                      <p:embed/>
                    </p:oleObj>
                  </a:graphicData>
                </a:graphic>
              </p:graphicFrame>
              <p:graphicFrame>
                <p:nvGraphicFramePr>
                  <p:cNvPr id="46117" name="Object 58"/>
                  <p:cNvGraphicFramePr>
                    <a:graphicFrameLocks noChangeAspect="1"/>
                  </p:cNvGraphicFramePr>
                  <p:nvPr/>
                </p:nvGraphicFramePr>
                <p:xfrm>
                  <a:off x="3878" y="1661"/>
                  <a:ext cx="181" cy="181"/>
                </p:xfrm>
                <a:graphic>
                  <a:graphicData uri="http://schemas.openxmlformats.org/presentationml/2006/ole">
                    <p:oleObj spid="_x0000_s46187" name="Equation" r:id="rId6" imgW="164885" imgH="164885" progId="Equation.DSMT4">
                      <p:embed/>
                    </p:oleObj>
                  </a:graphicData>
                </a:graphic>
              </p:graphicFrame>
              <p:graphicFrame>
                <p:nvGraphicFramePr>
                  <p:cNvPr id="46118" name="Object 59"/>
                  <p:cNvGraphicFramePr>
                    <a:graphicFrameLocks noChangeAspect="1"/>
                  </p:cNvGraphicFramePr>
                  <p:nvPr/>
                </p:nvGraphicFramePr>
                <p:xfrm>
                  <a:off x="3540" y="1071"/>
                  <a:ext cx="222" cy="181"/>
                </p:xfrm>
                <a:graphic>
                  <a:graphicData uri="http://schemas.openxmlformats.org/presentationml/2006/ole">
                    <p:oleObj spid="_x0000_s46188" name="Equation" r:id="rId7" imgW="203024" imgH="164957" progId="Equation.DSMT4">
                      <p:embed/>
                    </p:oleObj>
                  </a:graphicData>
                </a:graphic>
              </p:graphicFrame>
            </p:grpSp>
            <p:sp>
              <p:nvSpPr>
                <p:cNvPr id="46104" name="Text Box 61"/>
                <p:cNvSpPr txBox="1">
                  <a:spLocks noChangeArrowheads="1"/>
                </p:cNvSpPr>
                <p:nvPr/>
              </p:nvSpPr>
              <p:spPr bwMode="auto">
                <a:xfrm>
                  <a:off x="1474" y="1797"/>
                  <a:ext cx="2736" cy="3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ea typeface="华文中宋" pitchFamily="2" charset="-122"/>
                    </a:rPr>
                    <a:t>  分子源             狭缝              圆筒</a:t>
                  </a:r>
                </a:p>
              </p:txBody>
            </p:sp>
          </p:grpSp>
          <p:sp>
            <p:nvSpPr>
              <p:cNvPr id="46102" name="Text Box 63"/>
              <p:cNvSpPr txBox="1">
                <a:spLocks noChangeArrowheads="1"/>
              </p:cNvSpPr>
              <p:nvPr/>
            </p:nvSpPr>
            <p:spPr bwMode="auto">
              <a:xfrm>
                <a:off x="2427" y="572"/>
                <a:ext cx="725"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zh-CN" altLang="en-US" sz="1500" b="1">
                    <a:ea typeface="华文中宋" pitchFamily="2" charset="-122"/>
                  </a:rPr>
                  <a:t>真空室</a:t>
                </a:r>
              </a:p>
            </p:txBody>
          </p:sp>
        </p:grpSp>
        <p:sp>
          <p:nvSpPr>
            <p:cNvPr id="46098" name="Arc 66"/>
            <p:cNvSpPr>
              <a:spLocks/>
            </p:cNvSpPr>
            <p:nvPr/>
          </p:nvSpPr>
          <p:spPr bwMode="auto">
            <a:xfrm>
              <a:off x="3107" y="799"/>
              <a:ext cx="906" cy="499"/>
            </a:xfrm>
            <a:custGeom>
              <a:avLst/>
              <a:gdLst>
                <a:gd name="T0" fmla="*/ 0 w 43162"/>
                <a:gd name="T1" fmla="*/ 0 h 21600"/>
                <a:gd name="T2" fmla="*/ 0 w 43162"/>
                <a:gd name="T3" fmla="*/ 0 h 21600"/>
                <a:gd name="T4" fmla="*/ 0 w 43162"/>
                <a:gd name="T5" fmla="*/ 0 h 21600"/>
                <a:gd name="T6" fmla="*/ 0 60000 65536"/>
                <a:gd name="T7" fmla="*/ 0 60000 65536"/>
                <a:gd name="T8" fmla="*/ 0 60000 65536"/>
                <a:gd name="T9" fmla="*/ 0 w 43162"/>
                <a:gd name="T10" fmla="*/ 0 h 21600"/>
                <a:gd name="T11" fmla="*/ 43162 w 43162"/>
                <a:gd name="T12" fmla="*/ 21600 h 21600"/>
              </a:gdLst>
              <a:ahLst/>
              <a:cxnLst>
                <a:cxn ang="T6">
                  <a:pos x="T0" y="T1"/>
                </a:cxn>
                <a:cxn ang="T7">
                  <a:pos x="T2" y="T3"/>
                </a:cxn>
                <a:cxn ang="T8">
                  <a:pos x="T4" y="T5"/>
                </a:cxn>
              </a:cxnLst>
              <a:rect l="T9" t="T10" r="T11" b="T12"/>
              <a:pathLst>
                <a:path w="43162" h="21600" fill="none" extrusionOk="0">
                  <a:moveTo>
                    <a:pt x="-1" y="20320"/>
                  </a:moveTo>
                  <a:cubicBezTo>
                    <a:pt x="676" y="8908"/>
                    <a:pt x="10129" y="-1"/>
                    <a:pt x="21562" y="0"/>
                  </a:cubicBezTo>
                  <a:cubicBezTo>
                    <a:pt x="33491" y="0"/>
                    <a:pt x="43162" y="9670"/>
                    <a:pt x="43162" y="21600"/>
                  </a:cubicBezTo>
                </a:path>
                <a:path w="43162" h="21600" stroke="0" extrusionOk="0">
                  <a:moveTo>
                    <a:pt x="-1" y="20320"/>
                  </a:moveTo>
                  <a:cubicBezTo>
                    <a:pt x="676" y="8908"/>
                    <a:pt x="10129" y="-1"/>
                    <a:pt x="21562" y="0"/>
                  </a:cubicBezTo>
                  <a:cubicBezTo>
                    <a:pt x="33491" y="0"/>
                    <a:pt x="43162" y="9670"/>
                    <a:pt x="43162" y="21600"/>
                  </a:cubicBezTo>
                  <a:lnTo>
                    <a:pt x="21562" y="21600"/>
                  </a:lnTo>
                  <a:lnTo>
                    <a:pt x="-1" y="20320"/>
                  </a:lnTo>
                  <a:close/>
                </a:path>
              </a:pathLst>
            </a:custGeom>
            <a:noFill/>
            <a:ln w="25400">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46099" name="Text Box 67"/>
            <p:cNvSpPr txBox="1">
              <a:spLocks noChangeArrowheads="1"/>
            </p:cNvSpPr>
            <p:nvPr/>
          </p:nvSpPr>
          <p:spPr bwMode="auto">
            <a:xfrm>
              <a:off x="4513" y="618"/>
              <a:ext cx="725"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500" b="1">
                  <a:ea typeface="华文中宋" pitchFamily="2" charset="-122"/>
                </a:rPr>
                <a:t>玻璃板</a:t>
              </a:r>
            </a:p>
          </p:txBody>
        </p:sp>
        <p:sp>
          <p:nvSpPr>
            <p:cNvPr id="46100" name="Line 68"/>
            <p:cNvSpPr>
              <a:spLocks noChangeShapeType="1"/>
            </p:cNvSpPr>
            <p:nvPr/>
          </p:nvSpPr>
          <p:spPr bwMode="auto">
            <a:xfrm flipH="1">
              <a:off x="3969" y="799"/>
              <a:ext cx="589" cy="272"/>
            </a:xfrm>
            <a:prstGeom prst="line">
              <a:avLst/>
            </a:prstGeom>
            <a:noFill/>
            <a:ln w="25400">
              <a:solidFill>
                <a:srgbClr val="0000FF"/>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grpSp>
      <p:grpSp>
        <p:nvGrpSpPr>
          <p:cNvPr id="10" name="Group 78"/>
          <p:cNvGrpSpPr>
            <a:grpSpLocks/>
          </p:cNvGrpSpPr>
          <p:nvPr/>
        </p:nvGrpSpPr>
        <p:grpSpPr bwMode="auto">
          <a:xfrm>
            <a:off x="611188" y="3598863"/>
            <a:ext cx="5503862" cy="484187"/>
            <a:chOff x="385" y="3113"/>
            <a:chExt cx="3467" cy="408"/>
          </a:xfrm>
        </p:grpSpPr>
        <p:sp>
          <p:nvSpPr>
            <p:cNvPr id="46095" name="Text Box 72"/>
            <p:cNvSpPr txBox="1">
              <a:spLocks noChangeArrowheads="1"/>
            </p:cNvSpPr>
            <p:nvPr/>
          </p:nvSpPr>
          <p:spPr bwMode="auto">
            <a:xfrm>
              <a:off x="385" y="3158"/>
              <a:ext cx="2268" cy="3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ea typeface="华文中宋" pitchFamily="2" charset="-122"/>
                </a:rPr>
                <a:t>设弧</a:t>
              </a:r>
              <a:r>
                <a:rPr lang="zh-CN" altLang="en-US" sz="1800" b="1">
                  <a:ea typeface="华文中宋" pitchFamily="2" charset="-122"/>
                </a:rPr>
                <a:t>长</a:t>
              </a:r>
              <a:r>
                <a:rPr lang="en-US" altLang="zh-CN" sz="1800" b="1" i="1">
                  <a:ea typeface="华文中宋" pitchFamily="2" charset="-122"/>
                </a:rPr>
                <a:t>PP’=l</a:t>
              </a:r>
              <a:r>
                <a:rPr lang="zh-CN" altLang="en-US" sz="1800" b="1">
                  <a:ea typeface="华文中宋" pitchFamily="2" charset="-122"/>
                </a:rPr>
                <a:t>，那么：</a:t>
              </a:r>
            </a:p>
          </p:txBody>
        </p:sp>
        <p:graphicFrame>
          <p:nvGraphicFramePr>
            <p:cNvPr id="46096" name="Object 73"/>
            <p:cNvGraphicFramePr>
              <a:graphicFrameLocks noChangeAspect="1"/>
            </p:cNvGraphicFramePr>
            <p:nvPr/>
          </p:nvGraphicFramePr>
          <p:xfrm>
            <a:off x="2562" y="3113"/>
            <a:ext cx="1290" cy="408"/>
          </p:xfrm>
          <a:graphic>
            <a:graphicData uri="http://schemas.openxmlformats.org/presentationml/2006/ole">
              <p:oleObj spid="_x0000_s46189" name="Equation" r:id="rId8" imgW="1282700" imgH="406400" progId="Equation.DSMT4">
                <p:embed/>
              </p:oleObj>
            </a:graphicData>
          </a:graphic>
        </p:graphicFrame>
      </p:grpSp>
      <p:grpSp>
        <p:nvGrpSpPr>
          <p:cNvPr id="11" name="Group 79"/>
          <p:cNvGrpSpPr>
            <a:grpSpLocks/>
          </p:cNvGrpSpPr>
          <p:nvPr/>
        </p:nvGrpSpPr>
        <p:grpSpPr bwMode="auto">
          <a:xfrm>
            <a:off x="611188" y="3165475"/>
            <a:ext cx="5364162" cy="368300"/>
            <a:chOff x="385" y="2750"/>
            <a:chExt cx="3379" cy="310"/>
          </a:xfrm>
        </p:grpSpPr>
        <p:sp>
          <p:nvSpPr>
            <p:cNvPr id="46093" name="Text Box 71"/>
            <p:cNvSpPr txBox="1">
              <a:spLocks noChangeArrowheads="1"/>
            </p:cNvSpPr>
            <p:nvPr/>
          </p:nvSpPr>
          <p:spPr bwMode="auto">
            <a:xfrm>
              <a:off x="385" y="2750"/>
              <a:ext cx="2994"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此时间内，圆筒转过的角度为：</a:t>
              </a:r>
            </a:p>
          </p:txBody>
        </p:sp>
        <p:graphicFrame>
          <p:nvGraphicFramePr>
            <p:cNvPr id="46094" name="Object 74"/>
            <p:cNvGraphicFramePr>
              <a:graphicFrameLocks noChangeAspect="1"/>
            </p:cNvGraphicFramePr>
            <p:nvPr/>
          </p:nvGraphicFramePr>
          <p:xfrm>
            <a:off x="3016" y="2810"/>
            <a:ext cx="748" cy="240"/>
          </p:xfrm>
          <a:graphic>
            <a:graphicData uri="http://schemas.openxmlformats.org/presentationml/2006/ole">
              <p:oleObj spid="_x0000_s46190" name="Equation" r:id="rId9" imgW="672808" imgH="215806" progId="Equation.DSMT4">
                <p:embed/>
              </p:oleObj>
            </a:graphicData>
          </a:graphic>
        </p:graphicFrame>
      </p:grpSp>
      <p:grpSp>
        <p:nvGrpSpPr>
          <p:cNvPr id="12" name="Group 80"/>
          <p:cNvGrpSpPr>
            <a:grpSpLocks/>
          </p:cNvGrpSpPr>
          <p:nvPr/>
        </p:nvGrpSpPr>
        <p:grpSpPr bwMode="auto">
          <a:xfrm>
            <a:off x="611188" y="2716213"/>
            <a:ext cx="7094537" cy="368300"/>
            <a:chOff x="385" y="2387"/>
            <a:chExt cx="4469" cy="310"/>
          </a:xfrm>
        </p:grpSpPr>
        <p:sp>
          <p:nvSpPr>
            <p:cNvPr id="46091" name="Text Box 70"/>
            <p:cNvSpPr txBox="1">
              <a:spLocks noChangeArrowheads="1"/>
            </p:cNvSpPr>
            <p:nvPr/>
          </p:nvSpPr>
          <p:spPr bwMode="auto">
            <a:xfrm>
              <a:off x="385" y="2387"/>
              <a:ext cx="446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分子从小缝</a:t>
              </a:r>
              <a:r>
                <a:rPr lang="en-US" altLang="zh-CN" sz="1800" b="1">
                  <a:ea typeface="华文中宋" pitchFamily="2" charset="-122"/>
                </a:rPr>
                <a:t>S</a:t>
              </a:r>
              <a:r>
                <a:rPr lang="zh-CN" altLang="en-US" sz="1800" b="1">
                  <a:ea typeface="华文中宋" pitchFamily="2" charset="-122"/>
                </a:rPr>
                <a:t>到玻璃板的时间为：</a:t>
              </a:r>
            </a:p>
          </p:txBody>
        </p:sp>
        <p:graphicFrame>
          <p:nvGraphicFramePr>
            <p:cNvPr id="46092" name="Object 76"/>
            <p:cNvGraphicFramePr>
              <a:graphicFrameLocks noChangeAspect="1"/>
            </p:cNvGraphicFramePr>
            <p:nvPr/>
          </p:nvGraphicFramePr>
          <p:xfrm>
            <a:off x="3052" y="2437"/>
            <a:ext cx="327" cy="222"/>
          </p:xfrm>
          <a:graphic>
            <a:graphicData uri="http://schemas.openxmlformats.org/presentationml/2006/ole">
              <p:oleObj spid="_x0000_s46191" name="Equation" r:id="rId10" imgW="317087" imgH="215619" progId="Equation.DSMT4">
                <p:embed/>
              </p:oleObj>
            </a:graphicData>
          </a:graphic>
        </p:graphicFrame>
      </p:grpSp>
      <p:grpSp>
        <p:nvGrpSpPr>
          <p:cNvPr id="13" name="Group 82"/>
          <p:cNvGrpSpPr>
            <a:grpSpLocks/>
          </p:cNvGrpSpPr>
          <p:nvPr/>
        </p:nvGrpSpPr>
        <p:grpSpPr bwMode="auto">
          <a:xfrm>
            <a:off x="6300788" y="3327400"/>
            <a:ext cx="1439862" cy="647700"/>
            <a:chOff x="3969" y="2886"/>
            <a:chExt cx="907" cy="544"/>
          </a:xfrm>
        </p:grpSpPr>
        <p:sp>
          <p:nvSpPr>
            <p:cNvPr id="46089" name="AutoShape 77"/>
            <p:cNvSpPr>
              <a:spLocks/>
            </p:cNvSpPr>
            <p:nvPr/>
          </p:nvSpPr>
          <p:spPr bwMode="auto">
            <a:xfrm>
              <a:off x="3969" y="2886"/>
              <a:ext cx="136" cy="544"/>
            </a:xfrm>
            <a:prstGeom prst="rightBrace">
              <a:avLst>
                <a:gd name="adj1" fmla="val 33333"/>
                <a:gd name="adj2" fmla="val 50000"/>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aphicFrame>
          <p:nvGraphicFramePr>
            <p:cNvPr id="46090" name="Object 81"/>
            <p:cNvGraphicFramePr>
              <a:graphicFrameLocks noChangeAspect="1"/>
            </p:cNvGraphicFramePr>
            <p:nvPr/>
          </p:nvGraphicFramePr>
          <p:xfrm>
            <a:off x="4195" y="2886"/>
            <a:ext cx="681" cy="499"/>
          </p:xfrm>
          <a:graphic>
            <a:graphicData uri="http://schemas.openxmlformats.org/presentationml/2006/ole">
              <p:oleObj spid="_x0000_s46192" name="Equation" r:id="rId11" imgW="571252" imgH="418918" progId="Equation.DSMT4">
                <p:embed/>
              </p:oleObj>
            </a:graphicData>
          </a:graphic>
        </p:graphicFrame>
      </p:grpSp>
      <p:sp>
        <p:nvSpPr>
          <p:cNvPr id="119891" name="Text Box 83"/>
          <p:cNvSpPr txBox="1">
            <a:spLocks noChangeArrowheads="1"/>
          </p:cNvSpPr>
          <p:nvPr/>
        </p:nvSpPr>
        <p:spPr bwMode="auto">
          <a:xfrm>
            <a:off x="468313" y="4084638"/>
            <a:ext cx="84963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ea typeface="华文中宋" pitchFamily="2" charset="-122"/>
              </a:rPr>
              <a:t>         </a:t>
            </a:r>
            <a:r>
              <a:rPr lang="zh-CN" altLang="en-US" sz="1800" b="1">
                <a:ea typeface="华文中宋" pitchFamily="2" charset="-122"/>
              </a:rPr>
              <a:t>弧长与分子速率一一对应，测量不同弧长处沉积的分子层厚度，即可求得分子束中各种速率分子占总分子数的比例，从而验证麦氏速率分布规律。</a:t>
            </a:r>
          </a:p>
        </p:txBody>
      </p:sp>
      <p:sp>
        <p:nvSpPr>
          <p:cNvPr id="77" name="Text Box 2"/>
          <p:cNvSpPr>
            <a:spLocks noChangeArrowheads="1"/>
          </p:cNvSpPr>
          <p:nvPr/>
        </p:nvSpPr>
        <p:spPr bwMode="auto">
          <a:xfrm>
            <a:off x="828675" y="873125"/>
            <a:ext cx="3382963" cy="400050"/>
          </a:xfrm>
          <a:prstGeom prst="homePlate">
            <a:avLst>
              <a:gd name="adj" fmla="val 49877"/>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二、速率分布律的实验验证 </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77"/>
                                        </p:tgtEl>
                                        <p:attrNameLst>
                                          <p:attrName>style.visibility</p:attrName>
                                        </p:attrNameLst>
                                      </p:cBhvr>
                                      <p:to>
                                        <p:strVal val="visible"/>
                                      </p:to>
                                    </p:set>
                                    <p:animEffect transition="in" filter="wipe(left)">
                                      <p:cBhvr>
                                        <p:cTn id="7" dur="500"/>
                                        <p:tgtEl>
                                          <p:spTgt spid="77"/>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blinds(horizontal)">
                                      <p:cBhvr>
                                        <p:cTn id="17" dur="500"/>
                                        <p:tgtEl>
                                          <p:spTgt spid="12"/>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11"/>
                                        </p:tgtEl>
                                        <p:attrNameLst>
                                          <p:attrName>style.visibility</p:attrName>
                                        </p:attrNameLst>
                                      </p:cBhvr>
                                      <p:to>
                                        <p:strVal val="visible"/>
                                      </p:to>
                                    </p:set>
                                    <p:animEffect transition="in" filter="blinds(horizontal)">
                                      <p:cBhvr>
                                        <p:cTn id="22" dur="500"/>
                                        <p:tgtEl>
                                          <p:spTgt spid="11"/>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10"/>
                                        </p:tgtEl>
                                        <p:attrNameLst>
                                          <p:attrName>style.visibility</p:attrName>
                                        </p:attrNameLst>
                                      </p:cBhvr>
                                      <p:to>
                                        <p:strVal val="visible"/>
                                      </p:to>
                                    </p:set>
                                    <p:animEffect transition="in" filter="blinds(horizontal)">
                                      <p:cBhvr>
                                        <p:cTn id="27" dur="500"/>
                                        <p:tgtEl>
                                          <p:spTgt spid="1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3"/>
                                        </p:tgtEl>
                                        <p:attrNameLst>
                                          <p:attrName>style.visibility</p:attrName>
                                        </p:attrNameLst>
                                      </p:cBhvr>
                                      <p:to>
                                        <p:strVal val="visible"/>
                                      </p:to>
                                    </p:set>
                                    <p:animEffect transition="in" filter="blinds(horizontal)">
                                      <p:cBhvr>
                                        <p:cTn id="32" dur="500"/>
                                        <p:tgtEl>
                                          <p:spTgt spid="13"/>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3" presetClass="entr" presetSubtype="16" fill="hold" grpId="0" nodeType="clickEffect">
                                  <p:stCondLst>
                                    <p:cond delay="0"/>
                                  </p:stCondLst>
                                  <p:childTnLst>
                                    <p:set>
                                      <p:cBhvr>
                                        <p:cTn id="36" dur="1" fill="hold">
                                          <p:stCondLst>
                                            <p:cond delay="0"/>
                                          </p:stCondLst>
                                        </p:cTn>
                                        <p:tgtEl>
                                          <p:spTgt spid="119891"/>
                                        </p:tgtEl>
                                        <p:attrNameLst>
                                          <p:attrName>style.visibility</p:attrName>
                                        </p:attrNameLst>
                                      </p:cBhvr>
                                      <p:to>
                                        <p:strVal val="visible"/>
                                      </p:to>
                                    </p:set>
                                    <p:anim calcmode="lin" valueType="num">
                                      <p:cBhvr>
                                        <p:cTn id="37" dur="500" fill="hold"/>
                                        <p:tgtEl>
                                          <p:spTgt spid="119891"/>
                                        </p:tgtEl>
                                        <p:attrNameLst>
                                          <p:attrName>ppt_w</p:attrName>
                                        </p:attrNameLst>
                                      </p:cBhvr>
                                      <p:tavLst>
                                        <p:tav tm="0">
                                          <p:val>
                                            <p:fltVal val="0"/>
                                          </p:val>
                                        </p:tav>
                                        <p:tav tm="100000">
                                          <p:val>
                                            <p:strVal val="#ppt_w"/>
                                          </p:val>
                                        </p:tav>
                                      </p:tavLst>
                                    </p:anim>
                                    <p:anim calcmode="lin" valueType="num">
                                      <p:cBhvr>
                                        <p:cTn id="38" dur="500" fill="hold"/>
                                        <p:tgtEl>
                                          <p:spTgt spid="11989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9891" grpId="0" autoUpdateAnimBg="0"/>
      <p:bldP spid="77" grpId="0" animBg="1"/>
    </p:bldLst>
  </p:timing>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54286" name="Object 14"/>
          <p:cNvGraphicFramePr>
            <a:graphicFrameLocks noChangeAspect="1"/>
          </p:cNvGraphicFramePr>
          <p:nvPr/>
        </p:nvGraphicFramePr>
        <p:xfrm>
          <a:off x="4375150" y="3298825"/>
          <a:ext cx="1925638" cy="785813"/>
        </p:xfrm>
        <a:graphic>
          <a:graphicData uri="http://schemas.openxmlformats.org/presentationml/2006/ole">
            <p:oleObj spid="_x0000_s47150" name="Equation" r:id="rId3" imgW="888614" imgH="482391" progId="Equation.DSMT4">
              <p:embed/>
            </p:oleObj>
          </a:graphicData>
        </a:graphic>
      </p:graphicFrame>
      <p:sp>
        <p:nvSpPr>
          <p:cNvPr id="54289" name="Text Box 17"/>
          <p:cNvSpPr txBox="1">
            <a:spLocks noChangeArrowheads="1"/>
          </p:cNvSpPr>
          <p:nvPr/>
        </p:nvSpPr>
        <p:spPr bwMode="auto">
          <a:xfrm>
            <a:off x="395288" y="1338263"/>
            <a:ext cx="424656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800" b="1">
                <a:solidFill>
                  <a:schemeClr val="accent2"/>
                </a:solidFill>
                <a:ea typeface="华文中宋" pitchFamily="2" charset="-122"/>
              </a:rPr>
              <a:t>1</a:t>
            </a:r>
            <a:r>
              <a:rPr kumimoji="0" lang="zh-CN" altLang="en-US" sz="1800" b="1">
                <a:solidFill>
                  <a:schemeClr val="accent2"/>
                </a:solidFill>
                <a:ea typeface="华文中宋" pitchFamily="2" charset="-122"/>
              </a:rPr>
              <a:t>、最概然速率：定性分析速率分布规律</a:t>
            </a:r>
            <a:endParaRPr kumimoji="0" lang="zh-CN" altLang="en-US" sz="1800">
              <a:ea typeface="华文中宋" pitchFamily="2" charset="-122"/>
            </a:endParaRPr>
          </a:p>
        </p:txBody>
      </p:sp>
      <p:grpSp>
        <p:nvGrpSpPr>
          <p:cNvPr id="2" name="Group 33"/>
          <p:cNvGrpSpPr>
            <a:grpSpLocks/>
          </p:cNvGrpSpPr>
          <p:nvPr/>
        </p:nvGrpSpPr>
        <p:grpSpPr bwMode="auto">
          <a:xfrm>
            <a:off x="1979613" y="1760538"/>
            <a:ext cx="4043362" cy="1747837"/>
            <a:chOff x="975" y="910"/>
            <a:chExt cx="3447" cy="1689"/>
          </a:xfrm>
        </p:grpSpPr>
        <p:grpSp>
          <p:nvGrpSpPr>
            <p:cNvPr id="47116" name="Group 21"/>
            <p:cNvGrpSpPr>
              <a:grpSpLocks/>
            </p:cNvGrpSpPr>
            <p:nvPr/>
          </p:nvGrpSpPr>
          <p:grpSpPr bwMode="auto">
            <a:xfrm>
              <a:off x="1398" y="935"/>
              <a:ext cx="3024" cy="1392"/>
              <a:chOff x="1392" y="1200"/>
              <a:chExt cx="3024" cy="1392"/>
            </a:xfrm>
          </p:grpSpPr>
          <p:sp>
            <p:nvSpPr>
              <p:cNvPr id="47124" name="Line 22"/>
              <p:cNvSpPr>
                <a:spLocks noChangeShapeType="1"/>
              </p:cNvSpPr>
              <p:nvPr/>
            </p:nvSpPr>
            <p:spPr bwMode="auto">
              <a:xfrm>
                <a:off x="1392" y="2592"/>
                <a:ext cx="3024" cy="0"/>
              </a:xfrm>
              <a:prstGeom prst="line">
                <a:avLst/>
              </a:prstGeom>
              <a:noFill/>
              <a:ln w="28575">
                <a:solidFill>
                  <a:schemeClr val="tx1"/>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sp>
            <p:nvSpPr>
              <p:cNvPr id="47125" name="Line 23"/>
              <p:cNvSpPr>
                <a:spLocks noChangeShapeType="1"/>
              </p:cNvSpPr>
              <p:nvPr/>
            </p:nvSpPr>
            <p:spPr bwMode="auto">
              <a:xfrm flipV="1">
                <a:off x="1392" y="1200"/>
                <a:ext cx="0" cy="1392"/>
              </a:xfrm>
              <a:prstGeom prst="line">
                <a:avLst/>
              </a:prstGeom>
              <a:noFill/>
              <a:ln w="28575">
                <a:solidFill>
                  <a:schemeClr val="tx1"/>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grpSp>
        <p:sp>
          <p:nvSpPr>
            <p:cNvPr id="47117" name="Freeform 26"/>
            <p:cNvSpPr>
              <a:spLocks/>
            </p:cNvSpPr>
            <p:nvPr/>
          </p:nvSpPr>
          <p:spPr bwMode="auto">
            <a:xfrm>
              <a:off x="1383" y="1169"/>
              <a:ext cx="2561" cy="1172"/>
            </a:xfrm>
            <a:custGeom>
              <a:avLst/>
              <a:gdLst>
                <a:gd name="T0" fmla="*/ 0 w 2561"/>
                <a:gd name="T1" fmla="*/ 1160 h 1172"/>
                <a:gd name="T2" fmla="*/ 269 w 2561"/>
                <a:gd name="T3" fmla="*/ 988 h 1172"/>
                <a:gd name="T4" fmla="*/ 821 w 2561"/>
                <a:gd name="T5" fmla="*/ 57 h 1172"/>
                <a:gd name="T6" fmla="*/ 1335 w 2561"/>
                <a:gd name="T7" fmla="*/ 645 h 1172"/>
                <a:gd name="T8" fmla="*/ 1899 w 2561"/>
                <a:gd name="T9" fmla="*/ 1025 h 1172"/>
                <a:gd name="T10" fmla="*/ 2561 w 2561"/>
                <a:gd name="T11" fmla="*/ 1135 h 1172"/>
                <a:gd name="T12" fmla="*/ 0 60000 65536"/>
                <a:gd name="T13" fmla="*/ 0 60000 65536"/>
                <a:gd name="T14" fmla="*/ 0 60000 65536"/>
                <a:gd name="T15" fmla="*/ 0 60000 65536"/>
                <a:gd name="T16" fmla="*/ 0 60000 65536"/>
                <a:gd name="T17" fmla="*/ 0 60000 65536"/>
                <a:gd name="T18" fmla="*/ 0 w 2561"/>
                <a:gd name="T19" fmla="*/ 0 h 1172"/>
                <a:gd name="T20" fmla="*/ 2561 w 2561"/>
                <a:gd name="T21" fmla="*/ 1172 h 1172"/>
              </a:gdLst>
              <a:ahLst/>
              <a:cxnLst>
                <a:cxn ang="T12">
                  <a:pos x="T0" y="T1"/>
                </a:cxn>
                <a:cxn ang="T13">
                  <a:pos x="T2" y="T3"/>
                </a:cxn>
                <a:cxn ang="T14">
                  <a:pos x="T4" y="T5"/>
                </a:cxn>
                <a:cxn ang="T15">
                  <a:pos x="T6" y="T7"/>
                </a:cxn>
                <a:cxn ang="T16">
                  <a:pos x="T8" y="T9"/>
                </a:cxn>
                <a:cxn ang="T17">
                  <a:pos x="T10" y="T11"/>
                </a:cxn>
              </a:cxnLst>
              <a:rect l="T18" t="T19" r="T20" b="T21"/>
              <a:pathLst>
                <a:path w="2561" h="1172">
                  <a:moveTo>
                    <a:pt x="0" y="1160"/>
                  </a:moveTo>
                  <a:cubicBezTo>
                    <a:pt x="45" y="1131"/>
                    <a:pt x="132" y="1172"/>
                    <a:pt x="269" y="988"/>
                  </a:cubicBezTo>
                  <a:cubicBezTo>
                    <a:pt x="406" y="804"/>
                    <a:pt x="643" y="114"/>
                    <a:pt x="821" y="57"/>
                  </a:cubicBezTo>
                  <a:cubicBezTo>
                    <a:pt x="999" y="0"/>
                    <a:pt x="1155" y="484"/>
                    <a:pt x="1335" y="645"/>
                  </a:cubicBezTo>
                  <a:cubicBezTo>
                    <a:pt x="1515" y="806"/>
                    <a:pt x="1695" y="943"/>
                    <a:pt x="1899" y="1025"/>
                  </a:cubicBezTo>
                  <a:cubicBezTo>
                    <a:pt x="2103" y="1107"/>
                    <a:pt x="2423" y="1112"/>
                    <a:pt x="2561" y="1135"/>
                  </a:cubicBezTo>
                </a:path>
              </a:pathLst>
            </a:custGeom>
            <a:noFill/>
            <a:ln w="28575" cmpd="sng">
              <a:solidFill>
                <a:srgbClr val="FF0066"/>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graphicFrame>
          <p:nvGraphicFramePr>
            <p:cNvPr id="47118" name="Object 27"/>
            <p:cNvGraphicFramePr>
              <a:graphicFrameLocks noChangeAspect="1"/>
            </p:cNvGraphicFramePr>
            <p:nvPr/>
          </p:nvGraphicFramePr>
          <p:xfrm>
            <a:off x="1429" y="910"/>
            <a:ext cx="363" cy="207"/>
          </p:xfrm>
          <a:graphic>
            <a:graphicData uri="http://schemas.openxmlformats.org/presentationml/2006/ole">
              <p:oleObj spid="_x0000_s47151" name="Equation" r:id="rId4" imgW="355292" imgH="203024" progId="Equation.DSMT4">
                <p:embed/>
              </p:oleObj>
            </a:graphicData>
          </a:graphic>
        </p:graphicFrame>
        <p:sp>
          <p:nvSpPr>
            <p:cNvPr id="47119" name="Line 28"/>
            <p:cNvSpPr>
              <a:spLocks noChangeShapeType="1"/>
            </p:cNvSpPr>
            <p:nvPr/>
          </p:nvSpPr>
          <p:spPr bwMode="auto">
            <a:xfrm flipH="1">
              <a:off x="1383" y="1207"/>
              <a:ext cx="862" cy="0"/>
            </a:xfrm>
            <a:prstGeom prst="line">
              <a:avLst/>
            </a:prstGeom>
            <a:noFill/>
            <a:ln w="25400">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sp>
          <p:nvSpPr>
            <p:cNvPr id="47120" name="Line 29"/>
            <p:cNvSpPr>
              <a:spLocks noChangeShapeType="1"/>
            </p:cNvSpPr>
            <p:nvPr/>
          </p:nvSpPr>
          <p:spPr bwMode="auto">
            <a:xfrm>
              <a:off x="2245" y="1207"/>
              <a:ext cx="0" cy="1134"/>
            </a:xfrm>
            <a:prstGeom prst="line">
              <a:avLst/>
            </a:prstGeom>
            <a:noFill/>
            <a:ln w="25400">
              <a:solidFill>
                <a:schemeClr val="tx1"/>
              </a:solidFill>
              <a:prstDash val="dash"/>
              <a:round/>
              <a:headEnd/>
              <a:tailEnd/>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47121" name="Object 30"/>
            <p:cNvGraphicFramePr>
              <a:graphicFrameLocks noChangeAspect="1"/>
            </p:cNvGraphicFramePr>
            <p:nvPr/>
          </p:nvGraphicFramePr>
          <p:xfrm>
            <a:off x="975" y="1026"/>
            <a:ext cx="408" cy="306"/>
          </p:xfrm>
          <a:graphic>
            <a:graphicData uri="http://schemas.openxmlformats.org/presentationml/2006/ole">
              <p:oleObj spid="_x0000_s47152" name="Equation" r:id="rId5" imgW="304668" imgH="228501" progId="Equation.DSMT4">
                <p:embed/>
              </p:oleObj>
            </a:graphicData>
          </a:graphic>
        </p:graphicFrame>
        <p:graphicFrame>
          <p:nvGraphicFramePr>
            <p:cNvPr id="47122" name="Object 31"/>
            <p:cNvGraphicFramePr>
              <a:graphicFrameLocks noChangeAspect="1"/>
            </p:cNvGraphicFramePr>
            <p:nvPr/>
          </p:nvGraphicFramePr>
          <p:xfrm>
            <a:off x="4105" y="2117"/>
            <a:ext cx="179" cy="179"/>
          </p:xfrm>
          <a:graphic>
            <a:graphicData uri="http://schemas.openxmlformats.org/presentationml/2006/ole">
              <p:oleObj spid="_x0000_s47153" name="Equation" r:id="rId6" imgW="139700" imgH="139700" progId="Equation.DSMT4">
                <p:embed/>
              </p:oleObj>
            </a:graphicData>
          </a:graphic>
        </p:graphicFrame>
        <p:graphicFrame>
          <p:nvGraphicFramePr>
            <p:cNvPr id="47123" name="Object 32"/>
            <p:cNvGraphicFramePr>
              <a:graphicFrameLocks noChangeAspect="1"/>
            </p:cNvGraphicFramePr>
            <p:nvPr/>
          </p:nvGraphicFramePr>
          <p:xfrm>
            <a:off x="2142" y="2296"/>
            <a:ext cx="239" cy="303"/>
          </p:xfrm>
          <a:graphic>
            <a:graphicData uri="http://schemas.openxmlformats.org/presentationml/2006/ole">
              <p:oleObj spid="_x0000_s47154" name="Equation" r:id="rId7" imgW="190417" imgH="241195" progId="Equation.DSMT4">
                <p:embed/>
              </p:oleObj>
            </a:graphicData>
          </a:graphic>
        </p:graphicFrame>
      </p:grpSp>
      <p:sp>
        <p:nvSpPr>
          <p:cNvPr id="54308" name="AutoShape 36"/>
          <p:cNvSpPr>
            <a:spLocks/>
          </p:cNvSpPr>
          <p:nvPr/>
        </p:nvSpPr>
        <p:spPr bwMode="auto">
          <a:xfrm>
            <a:off x="4356100" y="1858963"/>
            <a:ext cx="2519363" cy="784225"/>
          </a:xfrm>
          <a:prstGeom prst="borderCallout1">
            <a:avLst>
              <a:gd name="adj1" fmla="val 7213"/>
              <a:gd name="adj2" fmla="val -2458"/>
              <a:gd name="adj3" fmla="val 24269"/>
              <a:gd name="adj4" fmla="val -35046"/>
            </a:avLst>
          </a:prstGeom>
          <a:noFill/>
          <a:ln w="25400">
            <a:solidFill>
              <a:srgbClr val="CC00CC"/>
            </a:solidFill>
            <a:miter lim="800000"/>
            <a:headEnd/>
            <a:tailEnd type="stealth" w="lg" len="lg"/>
          </a:ln>
          <a:extLst>
            <a:ext uri="{909E8E84-426E-40DD-AFC4-6F175D3DCCD1}">
              <a14:hiddenFill xmlns:a14="http://schemas.microsoft.com/office/drawing/2010/main" xmlns="">
                <a:solidFill>
                  <a:srgbClr val="FFFFFF"/>
                </a:solidFill>
              </a14:hiddenFill>
            </a:ext>
          </a:extLst>
        </p:spPr>
        <p:txBody>
          <a:bodyPr>
            <a:spAutoFit/>
          </a:bodyPr>
          <a:lstStyle/>
          <a:p>
            <a:pPr eaLnBrk="0" hangingPunct="0"/>
            <a:r>
              <a:rPr kumimoji="0" lang="zh-CN" altLang="en-US" sz="1500" b="1">
                <a:ea typeface="华文中宋" pitchFamily="2" charset="-122"/>
              </a:rPr>
              <a:t>分布曲线中的极大值对应的分子速率，即具有这一速率值的分子占的比例最大。</a:t>
            </a:r>
            <a:endParaRPr lang="zh-CN" altLang="en-US" sz="1500">
              <a:ea typeface="华文中宋" pitchFamily="2" charset="-122"/>
            </a:endParaRPr>
          </a:p>
        </p:txBody>
      </p:sp>
      <p:graphicFrame>
        <p:nvGraphicFramePr>
          <p:cNvPr id="54310" name="Object 38"/>
          <p:cNvGraphicFramePr>
            <a:graphicFrameLocks noChangeAspect="1"/>
          </p:cNvGraphicFramePr>
          <p:nvPr/>
        </p:nvGraphicFramePr>
        <p:xfrm>
          <a:off x="2871788" y="4084638"/>
          <a:ext cx="4076700" cy="593725"/>
        </p:xfrm>
        <a:graphic>
          <a:graphicData uri="http://schemas.openxmlformats.org/presentationml/2006/ole">
            <p:oleObj spid="_x0000_s47155" name="Equation" r:id="rId8" imgW="2222500" imgH="482600" progId="Equation.DSMT4">
              <p:embed/>
            </p:oleObj>
          </a:graphicData>
        </a:graphic>
      </p:graphicFrame>
      <p:grpSp>
        <p:nvGrpSpPr>
          <p:cNvPr id="4" name="Group 41"/>
          <p:cNvGrpSpPr>
            <a:grpSpLocks/>
          </p:cNvGrpSpPr>
          <p:nvPr/>
        </p:nvGrpSpPr>
        <p:grpSpPr bwMode="auto">
          <a:xfrm>
            <a:off x="1619250" y="3413125"/>
            <a:ext cx="3816350" cy="368300"/>
            <a:chOff x="567" y="2568"/>
            <a:chExt cx="2404" cy="310"/>
          </a:xfrm>
        </p:grpSpPr>
        <p:sp>
          <p:nvSpPr>
            <p:cNvPr id="47113" name="Text Box 13"/>
            <p:cNvSpPr txBox="1">
              <a:spLocks noChangeArrowheads="1"/>
            </p:cNvSpPr>
            <p:nvPr/>
          </p:nvSpPr>
          <p:spPr bwMode="auto">
            <a:xfrm>
              <a:off x="567" y="2568"/>
              <a:ext cx="2404"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ea typeface="华文中宋" pitchFamily="2" charset="-122"/>
                </a:rPr>
                <a:t>将函数    </a:t>
              </a:r>
              <a:r>
                <a:rPr kumimoji="0" lang="zh-CN" altLang="en-US" sz="1800" b="1" i="1">
                  <a:ea typeface="华文中宋" pitchFamily="2" charset="-122"/>
                </a:rPr>
                <a:t>      </a:t>
              </a:r>
              <a:r>
                <a:rPr kumimoji="0" lang="zh-CN" altLang="en-US" sz="1800" b="1">
                  <a:ea typeface="华文中宋" pitchFamily="2" charset="-122"/>
                </a:rPr>
                <a:t>对</a:t>
              </a:r>
              <a:r>
                <a:rPr kumimoji="0" lang="zh-CN" altLang="en-US" sz="1800" b="1" i="1">
                  <a:ea typeface="华文中宋" pitchFamily="2" charset="-122"/>
                </a:rPr>
                <a:t>     </a:t>
              </a:r>
              <a:r>
                <a:rPr kumimoji="0" lang="zh-CN" altLang="en-US" sz="1800" b="1">
                  <a:ea typeface="华文中宋" pitchFamily="2" charset="-122"/>
                </a:rPr>
                <a:t>求导得：</a:t>
              </a:r>
            </a:p>
          </p:txBody>
        </p:sp>
        <p:graphicFrame>
          <p:nvGraphicFramePr>
            <p:cNvPr id="47114" name="Object 39"/>
            <p:cNvGraphicFramePr>
              <a:graphicFrameLocks noChangeAspect="1"/>
            </p:cNvGraphicFramePr>
            <p:nvPr/>
          </p:nvGraphicFramePr>
          <p:xfrm>
            <a:off x="1066" y="2630"/>
            <a:ext cx="363" cy="207"/>
          </p:xfrm>
          <a:graphic>
            <a:graphicData uri="http://schemas.openxmlformats.org/presentationml/2006/ole">
              <p:oleObj spid="_x0000_s47156" name="Equation" r:id="rId9" imgW="355292" imgH="203024" progId="Equation.DSMT4">
                <p:embed/>
              </p:oleObj>
            </a:graphicData>
          </a:graphic>
        </p:graphicFrame>
        <p:graphicFrame>
          <p:nvGraphicFramePr>
            <p:cNvPr id="47115" name="Object 40"/>
            <p:cNvGraphicFramePr>
              <a:graphicFrameLocks noChangeAspect="1"/>
            </p:cNvGraphicFramePr>
            <p:nvPr/>
          </p:nvGraphicFramePr>
          <p:xfrm>
            <a:off x="1565" y="2630"/>
            <a:ext cx="180" cy="180"/>
          </p:xfrm>
          <a:graphic>
            <a:graphicData uri="http://schemas.openxmlformats.org/presentationml/2006/ole">
              <p:oleObj spid="_x0000_s47157" name="Equation" r:id="rId10" imgW="139700" imgH="139700" progId="Equation.DSMT4">
                <p:embed/>
              </p:oleObj>
            </a:graphicData>
          </a:graphic>
        </p:graphicFrame>
      </p:grpSp>
      <p:sp>
        <p:nvSpPr>
          <p:cNvPr id="22" name="Text Box 2"/>
          <p:cNvSpPr>
            <a:spLocks noChangeArrowheads="1"/>
          </p:cNvSpPr>
          <p:nvPr/>
        </p:nvSpPr>
        <p:spPr bwMode="auto">
          <a:xfrm>
            <a:off x="755650" y="874713"/>
            <a:ext cx="4175125" cy="401637"/>
          </a:xfrm>
          <a:prstGeom prst="homePlate">
            <a:avLst>
              <a:gd name="adj" fmla="val 49714"/>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三、分子速率的三个统计平均值</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2"/>
                                        </p:tgtEl>
                                        <p:attrNameLst>
                                          <p:attrName>style.visibility</p:attrName>
                                        </p:attrNameLst>
                                      </p:cBhvr>
                                      <p:to>
                                        <p:strVal val="visible"/>
                                      </p:to>
                                    </p:set>
                                    <p:animEffect transition="in" filter="wipe(left)">
                                      <p:cBhvr>
                                        <p:cTn id="7" dur="500"/>
                                        <p:tgtEl>
                                          <p:spTgt spid="2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3" presetClass="entr" presetSubtype="16" fill="hold" grpId="0" nodeType="clickEffect">
                                  <p:stCondLst>
                                    <p:cond delay="0"/>
                                  </p:stCondLst>
                                  <p:childTnLst>
                                    <p:set>
                                      <p:cBhvr>
                                        <p:cTn id="11" dur="1" fill="hold">
                                          <p:stCondLst>
                                            <p:cond delay="0"/>
                                          </p:stCondLst>
                                        </p:cTn>
                                        <p:tgtEl>
                                          <p:spTgt spid="54289"/>
                                        </p:tgtEl>
                                        <p:attrNameLst>
                                          <p:attrName>style.visibility</p:attrName>
                                        </p:attrNameLst>
                                      </p:cBhvr>
                                      <p:to>
                                        <p:strVal val="visible"/>
                                      </p:to>
                                    </p:set>
                                    <p:anim calcmode="lin" valueType="num">
                                      <p:cBhvr>
                                        <p:cTn id="12" dur="500" fill="hold"/>
                                        <p:tgtEl>
                                          <p:spTgt spid="54289"/>
                                        </p:tgtEl>
                                        <p:attrNameLst>
                                          <p:attrName>ppt_w</p:attrName>
                                        </p:attrNameLst>
                                      </p:cBhvr>
                                      <p:tavLst>
                                        <p:tav tm="0">
                                          <p:val>
                                            <p:fltVal val="0"/>
                                          </p:val>
                                        </p:tav>
                                        <p:tav tm="100000">
                                          <p:val>
                                            <p:strVal val="#ppt_w"/>
                                          </p:val>
                                        </p:tav>
                                      </p:tavLst>
                                    </p:anim>
                                    <p:anim calcmode="lin" valueType="num">
                                      <p:cBhvr>
                                        <p:cTn id="13" dur="500" fill="hold"/>
                                        <p:tgtEl>
                                          <p:spTgt spid="54289"/>
                                        </p:tgtEl>
                                        <p:attrNameLst>
                                          <p:attrName>ppt_h</p:attrName>
                                        </p:attrNameLst>
                                      </p:cBhvr>
                                      <p:tavLst>
                                        <p:tav tm="0">
                                          <p:val>
                                            <p:fltVal val="0"/>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grpId="0" nodeType="clickEffect">
                                  <p:stCondLst>
                                    <p:cond delay="0"/>
                                  </p:stCondLst>
                                  <p:childTnLst>
                                    <p:set>
                                      <p:cBhvr>
                                        <p:cTn id="22" dur="1" fill="hold">
                                          <p:stCondLst>
                                            <p:cond delay="0"/>
                                          </p:stCondLst>
                                        </p:cTn>
                                        <p:tgtEl>
                                          <p:spTgt spid="54308"/>
                                        </p:tgtEl>
                                        <p:attrNameLst>
                                          <p:attrName>style.visibility</p:attrName>
                                        </p:attrNameLst>
                                      </p:cBhvr>
                                      <p:to>
                                        <p:strVal val="visible"/>
                                      </p:to>
                                    </p:set>
                                    <p:animEffect transition="in" filter="blinds(horizontal)">
                                      <p:cBhvr>
                                        <p:cTn id="23" dur="500"/>
                                        <p:tgtEl>
                                          <p:spTgt spid="54308"/>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4"/>
                                        </p:tgtEl>
                                        <p:attrNameLst>
                                          <p:attrName>style.visibility</p:attrName>
                                        </p:attrNameLst>
                                      </p:cBhvr>
                                      <p:to>
                                        <p:strVal val="visible"/>
                                      </p:to>
                                    </p:set>
                                    <p:animEffect transition="in" filter="blinds(horizontal)">
                                      <p:cBhvr>
                                        <p:cTn id="28" dur="500"/>
                                        <p:tgtEl>
                                          <p:spTgt spid="4"/>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54286"/>
                                        </p:tgtEl>
                                        <p:attrNameLst>
                                          <p:attrName>style.visibility</p:attrName>
                                        </p:attrNameLst>
                                      </p:cBhvr>
                                      <p:to>
                                        <p:strVal val="visible"/>
                                      </p:to>
                                    </p:set>
                                    <p:animEffect transition="in" filter="blinds(horizontal)">
                                      <p:cBhvr>
                                        <p:cTn id="33" dur="500"/>
                                        <p:tgtEl>
                                          <p:spTgt spid="54286"/>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54310"/>
                                        </p:tgtEl>
                                        <p:attrNameLst>
                                          <p:attrName>style.visibility</p:attrName>
                                        </p:attrNameLst>
                                      </p:cBhvr>
                                      <p:to>
                                        <p:strVal val="visible"/>
                                      </p:to>
                                    </p:set>
                                    <p:animEffect transition="in" filter="blinds(horizontal)">
                                      <p:cBhvr>
                                        <p:cTn id="38" dur="500"/>
                                        <p:tgtEl>
                                          <p:spTgt spid="5431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89" grpId="0" autoUpdateAnimBg="0"/>
      <p:bldP spid="54308" grpId="0" animBg="1"/>
      <p:bldP spid="22" grpId="0" animBg="1"/>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8130" name="Text Box 5"/>
          <p:cNvSpPr txBox="1">
            <a:spLocks noChangeArrowheads="1"/>
          </p:cNvSpPr>
          <p:nvPr/>
        </p:nvSpPr>
        <p:spPr bwMode="auto">
          <a:xfrm>
            <a:off x="468313" y="835025"/>
            <a:ext cx="727233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800" b="1">
                <a:solidFill>
                  <a:schemeClr val="accent2"/>
                </a:solidFill>
                <a:latin typeface="华文中宋" pitchFamily="2" charset="-122"/>
                <a:ea typeface="华文中宋" pitchFamily="2" charset="-122"/>
              </a:rPr>
              <a:t>2</a:t>
            </a:r>
            <a:r>
              <a:rPr kumimoji="0" lang="zh-CN" altLang="en-US" sz="1800" b="1">
                <a:solidFill>
                  <a:schemeClr val="accent2"/>
                </a:solidFill>
                <a:latin typeface="华文中宋" pitchFamily="2" charset="-122"/>
                <a:ea typeface="华文中宋" pitchFamily="2" charset="-122"/>
              </a:rPr>
              <a:t>、平均速率：分析气体分子的碰撞规律</a:t>
            </a:r>
          </a:p>
        </p:txBody>
      </p:sp>
      <p:graphicFrame>
        <p:nvGraphicFramePr>
          <p:cNvPr id="130055" name="Object 7"/>
          <p:cNvGraphicFramePr>
            <a:graphicFrameLocks noChangeAspect="1"/>
          </p:cNvGraphicFramePr>
          <p:nvPr/>
        </p:nvGraphicFramePr>
        <p:xfrm>
          <a:off x="2092325" y="1347788"/>
          <a:ext cx="4711700" cy="771525"/>
        </p:xfrm>
        <a:graphic>
          <a:graphicData uri="http://schemas.openxmlformats.org/presentationml/2006/ole">
            <p:oleObj spid="_x0000_s48144" name="Equation" r:id="rId3" imgW="2590800" imgH="508000" progId="Equation.DSMT4">
              <p:embed/>
            </p:oleObj>
          </a:graphicData>
        </a:graphic>
      </p:graphicFrame>
      <p:sp>
        <p:nvSpPr>
          <p:cNvPr id="130056" name="Text Box 8"/>
          <p:cNvSpPr txBox="1">
            <a:spLocks noChangeArrowheads="1"/>
          </p:cNvSpPr>
          <p:nvPr/>
        </p:nvSpPr>
        <p:spPr bwMode="auto">
          <a:xfrm>
            <a:off x="611188" y="2284413"/>
            <a:ext cx="31686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将麦氏速率分布函数式代入得</a:t>
            </a:r>
          </a:p>
        </p:txBody>
      </p:sp>
      <p:graphicFrame>
        <p:nvGraphicFramePr>
          <p:cNvPr id="130057" name="Object 9"/>
          <p:cNvGraphicFramePr>
            <a:graphicFrameLocks noChangeAspect="1"/>
          </p:cNvGraphicFramePr>
          <p:nvPr/>
        </p:nvGraphicFramePr>
        <p:xfrm>
          <a:off x="2051050" y="2716213"/>
          <a:ext cx="4897438" cy="741362"/>
        </p:xfrm>
        <a:graphic>
          <a:graphicData uri="http://schemas.openxmlformats.org/presentationml/2006/ole">
            <p:oleObj spid="_x0000_s48145" name="Equation" r:id="rId4" imgW="2794000" imgH="444500" progId="Equation.DSMT4">
              <p:embed/>
            </p:oleObj>
          </a:graphicData>
        </a:graphic>
      </p:graphicFrame>
      <p:graphicFrame>
        <p:nvGraphicFramePr>
          <p:cNvPr id="130058" name="Object 10"/>
          <p:cNvGraphicFramePr>
            <a:graphicFrameLocks noChangeAspect="1"/>
          </p:cNvGraphicFramePr>
          <p:nvPr/>
        </p:nvGraphicFramePr>
        <p:xfrm>
          <a:off x="2051050" y="3527425"/>
          <a:ext cx="4360863" cy="793750"/>
        </p:xfrm>
        <a:graphic>
          <a:graphicData uri="http://schemas.openxmlformats.org/presentationml/2006/ole">
            <p:oleObj spid="_x0000_s48146" name="Equation" r:id="rId5" imgW="2184400" imgH="4826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nodeType="clickEffect">
                                  <p:stCondLst>
                                    <p:cond delay="0"/>
                                  </p:stCondLst>
                                  <p:childTnLst>
                                    <p:set>
                                      <p:cBhvr>
                                        <p:cTn id="6" dur="1" fill="hold">
                                          <p:stCondLst>
                                            <p:cond delay="0"/>
                                          </p:stCondLst>
                                        </p:cTn>
                                        <p:tgtEl>
                                          <p:spTgt spid="130055"/>
                                        </p:tgtEl>
                                        <p:attrNameLst>
                                          <p:attrName>style.visibility</p:attrName>
                                        </p:attrNameLst>
                                      </p:cBhvr>
                                      <p:to>
                                        <p:strVal val="visible"/>
                                      </p:to>
                                    </p:set>
                                    <p:anim calcmode="lin" valueType="num">
                                      <p:cBhvr>
                                        <p:cTn id="7" dur="500" fill="hold"/>
                                        <p:tgtEl>
                                          <p:spTgt spid="130055"/>
                                        </p:tgtEl>
                                        <p:attrNameLst>
                                          <p:attrName>ppt_w</p:attrName>
                                        </p:attrNameLst>
                                      </p:cBhvr>
                                      <p:tavLst>
                                        <p:tav tm="0">
                                          <p:val>
                                            <p:fltVal val="0"/>
                                          </p:val>
                                        </p:tav>
                                        <p:tav tm="100000">
                                          <p:val>
                                            <p:strVal val="#ppt_w"/>
                                          </p:val>
                                        </p:tav>
                                      </p:tavLst>
                                    </p:anim>
                                    <p:anim calcmode="lin" valueType="num">
                                      <p:cBhvr>
                                        <p:cTn id="8" dur="500" fill="hold"/>
                                        <p:tgtEl>
                                          <p:spTgt spid="130055"/>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130056"/>
                                        </p:tgtEl>
                                        <p:attrNameLst>
                                          <p:attrName>style.visibility</p:attrName>
                                        </p:attrNameLst>
                                      </p:cBhvr>
                                      <p:to>
                                        <p:strVal val="visible"/>
                                      </p:to>
                                    </p:set>
                                    <p:anim calcmode="lin" valueType="num">
                                      <p:cBhvr>
                                        <p:cTn id="13" dur="500" fill="hold"/>
                                        <p:tgtEl>
                                          <p:spTgt spid="130056"/>
                                        </p:tgtEl>
                                        <p:attrNameLst>
                                          <p:attrName>ppt_w</p:attrName>
                                        </p:attrNameLst>
                                      </p:cBhvr>
                                      <p:tavLst>
                                        <p:tav tm="0">
                                          <p:val>
                                            <p:fltVal val="0"/>
                                          </p:val>
                                        </p:tav>
                                        <p:tav tm="100000">
                                          <p:val>
                                            <p:strVal val="#ppt_w"/>
                                          </p:val>
                                        </p:tav>
                                      </p:tavLst>
                                    </p:anim>
                                    <p:anim calcmode="lin" valueType="num">
                                      <p:cBhvr>
                                        <p:cTn id="14" dur="500" fill="hold"/>
                                        <p:tgtEl>
                                          <p:spTgt spid="130056"/>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23" presetClass="entr" presetSubtype="16" fill="hold" nodeType="clickEffect">
                                  <p:stCondLst>
                                    <p:cond delay="0"/>
                                  </p:stCondLst>
                                  <p:childTnLst>
                                    <p:set>
                                      <p:cBhvr>
                                        <p:cTn id="18" dur="1" fill="hold">
                                          <p:stCondLst>
                                            <p:cond delay="0"/>
                                          </p:stCondLst>
                                        </p:cTn>
                                        <p:tgtEl>
                                          <p:spTgt spid="130057"/>
                                        </p:tgtEl>
                                        <p:attrNameLst>
                                          <p:attrName>style.visibility</p:attrName>
                                        </p:attrNameLst>
                                      </p:cBhvr>
                                      <p:to>
                                        <p:strVal val="visible"/>
                                      </p:to>
                                    </p:set>
                                    <p:anim calcmode="lin" valueType="num">
                                      <p:cBhvr>
                                        <p:cTn id="19" dur="500" fill="hold"/>
                                        <p:tgtEl>
                                          <p:spTgt spid="130057"/>
                                        </p:tgtEl>
                                        <p:attrNameLst>
                                          <p:attrName>ppt_w</p:attrName>
                                        </p:attrNameLst>
                                      </p:cBhvr>
                                      <p:tavLst>
                                        <p:tav tm="0">
                                          <p:val>
                                            <p:fltVal val="0"/>
                                          </p:val>
                                        </p:tav>
                                        <p:tav tm="100000">
                                          <p:val>
                                            <p:strVal val="#ppt_w"/>
                                          </p:val>
                                        </p:tav>
                                      </p:tavLst>
                                    </p:anim>
                                    <p:anim calcmode="lin" valueType="num">
                                      <p:cBhvr>
                                        <p:cTn id="20" dur="500" fill="hold"/>
                                        <p:tgtEl>
                                          <p:spTgt spid="130057"/>
                                        </p:tgtEl>
                                        <p:attrNameLst>
                                          <p:attrName>ppt_h</p:attrName>
                                        </p:attrNameLst>
                                      </p:cBhvr>
                                      <p:tavLst>
                                        <p:tav tm="0">
                                          <p:val>
                                            <p:fltVal val="0"/>
                                          </p:val>
                                        </p:tav>
                                        <p:tav tm="100000">
                                          <p:val>
                                            <p:strVal val="#ppt_h"/>
                                          </p:val>
                                        </p:tav>
                                      </p:tavLst>
                                    </p:anim>
                                  </p:childTnLst>
                                </p:cTn>
                              </p:par>
                            </p:childTnLst>
                          </p:cTn>
                        </p:par>
                      </p:childTnLst>
                    </p:cTn>
                  </p:par>
                  <p:par>
                    <p:cTn id="21" fill="hold" nodeType="clickPar">
                      <p:stCondLst>
                        <p:cond delay="indefinite"/>
                      </p:stCondLst>
                      <p:childTnLst>
                        <p:par>
                          <p:cTn id="22" fill="hold" nodeType="withGroup">
                            <p:stCondLst>
                              <p:cond delay="0"/>
                            </p:stCondLst>
                            <p:childTnLst>
                              <p:par>
                                <p:cTn id="23" presetID="23" presetClass="entr" presetSubtype="16" fill="hold" nodeType="clickEffect">
                                  <p:stCondLst>
                                    <p:cond delay="0"/>
                                  </p:stCondLst>
                                  <p:childTnLst>
                                    <p:set>
                                      <p:cBhvr>
                                        <p:cTn id="24" dur="1" fill="hold">
                                          <p:stCondLst>
                                            <p:cond delay="0"/>
                                          </p:stCondLst>
                                        </p:cTn>
                                        <p:tgtEl>
                                          <p:spTgt spid="130058"/>
                                        </p:tgtEl>
                                        <p:attrNameLst>
                                          <p:attrName>style.visibility</p:attrName>
                                        </p:attrNameLst>
                                      </p:cBhvr>
                                      <p:to>
                                        <p:strVal val="visible"/>
                                      </p:to>
                                    </p:set>
                                    <p:anim calcmode="lin" valueType="num">
                                      <p:cBhvr>
                                        <p:cTn id="25" dur="500" fill="hold"/>
                                        <p:tgtEl>
                                          <p:spTgt spid="130058"/>
                                        </p:tgtEl>
                                        <p:attrNameLst>
                                          <p:attrName>ppt_w</p:attrName>
                                        </p:attrNameLst>
                                      </p:cBhvr>
                                      <p:tavLst>
                                        <p:tav tm="0">
                                          <p:val>
                                            <p:fltVal val="0"/>
                                          </p:val>
                                        </p:tav>
                                        <p:tav tm="100000">
                                          <p:val>
                                            <p:strVal val="#ppt_w"/>
                                          </p:val>
                                        </p:tav>
                                      </p:tavLst>
                                    </p:anim>
                                    <p:anim calcmode="lin" valueType="num">
                                      <p:cBhvr>
                                        <p:cTn id="26" dur="500" fill="hold"/>
                                        <p:tgtEl>
                                          <p:spTgt spid="13005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0056" grpId="0" autoUpdateAnimBg="0"/>
    </p:bld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Text Box 2"/>
          <p:cNvSpPr txBox="1">
            <a:spLocks noChangeArrowheads="1"/>
          </p:cNvSpPr>
          <p:nvPr/>
        </p:nvSpPr>
        <p:spPr bwMode="auto">
          <a:xfrm>
            <a:off x="466725" y="835025"/>
            <a:ext cx="7129463"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800" b="1">
                <a:solidFill>
                  <a:schemeClr val="accent2"/>
                </a:solidFill>
                <a:latin typeface="华文中宋" pitchFamily="2" charset="-122"/>
                <a:ea typeface="华文中宋" pitchFamily="2" charset="-122"/>
              </a:rPr>
              <a:t>3</a:t>
            </a:r>
            <a:r>
              <a:rPr kumimoji="0" lang="zh-CN" altLang="en-US" sz="1800" b="1">
                <a:solidFill>
                  <a:schemeClr val="accent2"/>
                </a:solidFill>
                <a:latin typeface="华文中宋" pitchFamily="2" charset="-122"/>
                <a:ea typeface="华文中宋" pitchFamily="2" charset="-122"/>
              </a:rPr>
              <a:t>、方均根速率：计算分子的平均平动动能</a:t>
            </a:r>
            <a:endParaRPr kumimoji="0" lang="zh-CN" altLang="en-US" sz="1800">
              <a:latin typeface="华文中宋" pitchFamily="2" charset="-122"/>
              <a:ea typeface="华文中宋" pitchFamily="2" charset="-122"/>
            </a:endParaRPr>
          </a:p>
        </p:txBody>
      </p:sp>
      <p:graphicFrame>
        <p:nvGraphicFramePr>
          <p:cNvPr id="55326" name="Object 30"/>
          <p:cNvGraphicFramePr>
            <a:graphicFrameLocks noChangeAspect="1"/>
          </p:cNvGraphicFramePr>
          <p:nvPr/>
        </p:nvGraphicFramePr>
        <p:xfrm>
          <a:off x="2044700" y="2090738"/>
          <a:ext cx="4398963" cy="673100"/>
        </p:xfrm>
        <a:graphic>
          <a:graphicData uri="http://schemas.openxmlformats.org/presentationml/2006/ole">
            <p:oleObj spid="_x0000_s49173" name="Equation" r:id="rId3" imgW="2387600" imgH="444500" progId="Equation.DSMT4">
              <p:embed/>
            </p:oleObj>
          </a:graphicData>
        </a:graphic>
      </p:graphicFrame>
      <p:graphicFrame>
        <p:nvGraphicFramePr>
          <p:cNvPr id="55327" name="Object 31"/>
          <p:cNvGraphicFramePr>
            <a:graphicFrameLocks noChangeAspect="1"/>
          </p:cNvGraphicFramePr>
          <p:nvPr/>
        </p:nvGraphicFramePr>
        <p:xfrm>
          <a:off x="1763713" y="2857500"/>
          <a:ext cx="4752975" cy="735013"/>
        </p:xfrm>
        <a:graphic>
          <a:graphicData uri="http://schemas.openxmlformats.org/presentationml/2006/ole">
            <p:oleObj spid="_x0000_s49174" name="Equation" r:id="rId4" imgW="2273300" imgH="482600" progId="Equation.DSMT4">
              <p:embed/>
            </p:oleObj>
          </a:graphicData>
        </a:graphic>
      </p:graphicFrame>
      <p:graphicFrame>
        <p:nvGraphicFramePr>
          <p:cNvPr id="55322" name="Object 26"/>
          <p:cNvGraphicFramePr>
            <a:graphicFrameLocks noChangeAspect="1"/>
          </p:cNvGraphicFramePr>
          <p:nvPr/>
        </p:nvGraphicFramePr>
        <p:xfrm>
          <a:off x="2033588" y="1203325"/>
          <a:ext cx="5562600" cy="723900"/>
        </p:xfrm>
        <a:graphic>
          <a:graphicData uri="http://schemas.openxmlformats.org/presentationml/2006/ole">
            <p:oleObj spid="_x0000_s49175" name="Equation" r:id="rId5" imgW="2794000" imgH="508000" progId="Equation.DSMT4">
              <p:embed/>
            </p:oleObj>
          </a:graphicData>
        </a:graphic>
      </p:graphicFrame>
      <p:sp>
        <p:nvSpPr>
          <p:cNvPr id="55323" name="Text Box 27"/>
          <p:cNvSpPr txBox="1">
            <a:spLocks noChangeArrowheads="1"/>
          </p:cNvSpPr>
          <p:nvPr/>
        </p:nvSpPr>
        <p:spPr bwMode="auto">
          <a:xfrm>
            <a:off x="468313" y="1409700"/>
            <a:ext cx="1223962"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solidFill>
                  <a:schemeClr val="accent2"/>
                </a:solidFill>
                <a:latin typeface="华文中宋" pitchFamily="2" charset="-122"/>
                <a:ea typeface="华文中宋" pitchFamily="2" charset="-122"/>
              </a:rPr>
              <a:t>方法一：</a:t>
            </a:r>
            <a:endParaRPr kumimoji="0" lang="zh-CN" altLang="en-US" sz="1800">
              <a:latin typeface="华文中宋" pitchFamily="2" charset="-122"/>
              <a:ea typeface="华文中宋" pitchFamily="2" charset="-122"/>
            </a:endParaRPr>
          </a:p>
        </p:txBody>
      </p:sp>
      <p:sp>
        <p:nvSpPr>
          <p:cNvPr id="55324" name="Text Box 28"/>
          <p:cNvSpPr txBox="1">
            <a:spLocks noChangeArrowheads="1"/>
          </p:cNvSpPr>
          <p:nvPr/>
        </p:nvSpPr>
        <p:spPr bwMode="auto">
          <a:xfrm>
            <a:off x="468313" y="3598863"/>
            <a:ext cx="1150937"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solidFill>
                  <a:schemeClr val="accent2"/>
                </a:solidFill>
                <a:latin typeface="华文中宋" pitchFamily="2" charset="-122"/>
                <a:ea typeface="华文中宋" pitchFamily="2" charset="-122"/>
              </a:rPr>
              <a:t>方法二：</a:t>
            </a:r>
            <a:endParaRPr kumimoji="0" lang="zh-CN" altLang="en-US" sz="1800">
              <a:latin typeface="华文中宋" pitchFamily="2" charset="-122"/>
              <a:ea typeface="华文中宋" pitchFamily="2" charset="-122"/>
            </a:endParaRPr>
          </a:p>
        </p:txBody>
      </p:sp>
      <p:graphicFrame>
        <p:nvGraphicFramePr>
          <p:cNvPr id="55325" name="Object 29"/>
          <p:cNvGraphicFramePr>
            <a:graphicFrameLocks noChangeAspect="1"/>
          </p:cNvGraphicFramePr>
          <p:nvPr/>
        </p:nvGraphicFramePr>
        <p:xfrm>
          <a:off x="2124075" y="3917950"/>
          <a:ext cx="5832475" cy="738188"/>
        </p:xfrm>
        <a:graphic>
          <a:graphicData uri="http://schemas.openxmlformats.org/presentationml/2006/ole">
            <p:oleObj spid="_x0000_s49176" name="Equation" r:id="rId6" imgW="3568700" imgH="4826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16" fill="hold" grpId="0" nodeType="clickEffect">
                                  <p:stCondLst>
                                    <p:cond delay="0"/>
                                  </p:stCondLst>
                                  <p:childTnLst>
                                    <p:set>
                                      <p:cBhvr>
                                        <p:cTn id="6" dur="1" fill="hold">
                                          <p:stCondLst>
                                            <p:cond delay="0"/>
                                          </p:stCondLst>
                                        </p:cTn>
                                        <p:tgtEl>
                                          <p:spTgt spid="54274"/>
                                        </p:tgtEl>
                                        <p:attrNameLst>
                                          <p:attrName>style.visibility</p:attrName>
                                        </p:attrNameLst>
                                      </p:cBhvr>
                                      <p:to>
                                        <p:strVal val="visible"/>
                                      </p:to>
                                    </p:set>
                                    <p:animEffect transition="in" filter="box(in)">
                                      <p:cBhvr>
                                        <p:cTn id="7" dur="500"/>
                                        <p:tgtEl>
                                          <p:spTgt spid="5427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16" fill="hold" grpId="0" nodeType="clickEffect">
                                  <p:stCondLst>
                                    <p:cond delay="0"/>
                                  </p:stCondLst>
                                  <p:childTnLst>
                                    <p:set>
                                      <p:cBhvr>
                                        <p:cTn id="11" dur="1" fill="hold">
                                          <p:stCondLst>
                                            <p:cond delay="0"/>
                                          </p:stCondLst>
                                        </p:cTn>
                                        <p:tgtEl>
                                          <p:spTgt spid="55323"/>
                                        </p:tgtEl>
                                        <p:attrNameLst>
                                          <p:attrName>style.visibility</p:attrName>
                                        </p:attrNameLst>
                                      </p:cBhvr>
                                      <p:to>
                                        <p:strVal val="visible"/>
                                      </p:to>
                                    </p:set>
                                    <p:animEffect transition="in" filter="box(in)">
                                      <p:cBhvr>
                                        <p:cTn id="12" dur="500"/>
                                        <p:tgtEl>
                                          <p:spTgt spid="553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55322"/>
                                        </p:tgtEl>
                                        <p:attrNameLst>
                                          <p:attrName>style.visibility</p:attrName>
                                        </p:attrNameLst>
                                      </p:cBhvr>
                                      <p:to>
                                        <p:strVal val="visible"/>
                                      </p:to>
                                    </p:set>
                                    <p:anim calcmode="lin" valueType="num">
                                      <p:cBhvr>
                                        <p:cTn id="17" dur="500" fill="hold"/>
                                        <p:tgtEl>
                                          <p:spTgt spid="55322"/>
                                        </p:tgtEl>
                                        <p:attrNameLst>
                                          <p:attrName>ppt_w</p:attrName>
                                        </p:attrNameLst>
                                      </p:cBhvr>
                                      <p:tavLst>
                                        <p:tav tm="0">
                                          <p:val>
                                            <p:fltVal val="0"/>
                                          </p:val>
                                        </p:tav>
                                        <p:tav tm="100000">
                                          <p:val>
                                            <p:strVal val="#ppt_w"/>
                                          </p:val>
                                        </p:tav>
                                      </p:tavLst>
                                    </p:anim>
                                    <p:anim calcmode="lin" valueType="num">
                                      <p:cBhvr>
                                        <p:cTn id="18" dur="500" fill="hold"/>
                                        <p:tgtEl>
                                          <p:spTgt spid="55322"/>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4" presetClass="entr" presetSubtype="16" fill="hold" nodeType="clickEffect">
                                  <p:stCondLst>
                                    <p:cond delay="0"/>
                                  </p:stCondLst>
                                  <p:childTnLst>
                                    <p:set>
                                      <p:cBhvr>
                                        <p:cTn id="22" dur="1" fill="hold">
                                          <p:stCondLst>
                                            <p:cond delay="0"/>
                                          </p:stCondLst>
                                        </p:cTn>
                                        <p:tgtEl>
                                          <p:spTgt spid="55326"/>
                                        </p:tgtEl>
                                        <p:attrNameLst>
                                          <p:attrName>style.visibility</p:attrName>
                                        </p:attrNameLst>
                                      </p:cBhvr>
                                      <p:to>
                                        <p:strVal val="visible"/>
                                      </p:to>
                                    </p:set>
                                    <p:animEffect transition="in" filter="box(in)">
                                      <p:cBhvr>
                                        <p:cTn id="23" dur="500"/>
                                        <p:tgtEl>
                                          <p:spTgt spid="55326"/>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4" presetClass="entr" presetSubtype="16" fill="hold" nodeType="clickEffect">
                                  <p:stCondLst>
                                    <p:cond delay="0"/>
                                  </p:stCondLst>
                                  <p:childTnLst>
                                    <p:set>
                                      <p:cBhvr>
                                        <p:cTn id="27" dur="1" fill="hold">
                                          <p:stCondLst>
                                            <p:cond delay="0"/>
                                          </p:stCondLst>
                                        </p:cTn>
                                        <p:tgtEl>
                                          <p:spTgt spid="55327"/>
                                        </p:tgtEl>
                                        <p:attrNameLst>
                                          <p:attrName>style.visibility</p:attrName>
                                        </p:attrNameLst>
                                      </p:cBhvr>
                                      <p:to>
                                        <p:strVal val="visible"/>
                                      </p:to>
                                    </p:set>
                                    <p:animEffect transition="in" filter="box(in)">
                                      <p:cBhvr>
                                        <p:cTn id="28" dur="500"/>
                                        <p:tgtEl>
                                          <p:spTgt spid="55327"/>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4" presetClass="entr" presetSubtype="16" fill="hold" grpId="0" nodeType="clickEffect">
                                  <p:stCondLst>
                                    <p:cond delay="0"/>
                                  </p:stCondLst>
                                  <p:childTnLst>
                                    <p:set>
                                      <p:cBhvr>
                                        <p:cTn id="32" dur="1" fill="hold">
                                          <p:stCondLst>
                                            <p:cond delay="0"/>
                                          </p:stCondLst>
                                        </p:cTn>
                                        <p:tgtEl>
                                          <p:spTgt spid="55324"/>
                                        </p:tgtEl>
                                        <p:attrNameLst>
                                          <p:attrName>style.visibility</p:attrName>
                                        </p:attrNameLst>
                                      </p:cBhvr>
                                      <p:to>
                                        <p:strVal val="visible"/>
                                      </p:to>
                                    </p:set>
                                    <p:animEffect transition="in" filter="box(in)">
                                      <p:cBhvr>
                                        <p:cTn id="33" dur="500"/>
                                        <p:tgtEl>
                                          <p:spTgt spid="5532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3" presetClass="entr" presetSubtype="16" fill="hold" nodeType="clickEffect">
                                  <p:stCondLst>
                                    <p:cond delay="0"/>
                                  </p:stCondLst>
                                  <p:childTnLst>
                                    <p:set>
                                      <p:cBhvr>
                                        <p:cTn id="37" dur="1" fill="hold">
                                          <p:stCondLst>
                                            <p:cond delay="0"/>
                                          </p:stCondLst>
                                        </p:cTn>
                                        <p:tgtEl>
                                          <p:spTgt spid="55325"/>
                                        </p:tgtEl>
                                        <p:attrNameLst>
                                          <p:attrName>style.visibility</p:attrName>
                                        </p:attrNameLst>
                                      </p:cBhvr>
                                      <p:to>
                                        <p:strVal val="visible"/>
                                      </p:to>
                                    </p:set>
                                    <p:anim calcmode="lin" valueType="num">
                                      <p:cBhvr>
                                        <p:cTn id="38" dur="500" fill="hold"/>
                                        <p:tgtEl>
                                          <p:spTgt spid="55325"/>
                                        </p:tgtEl>
                                        <p:attrNameLst>
                                          <p:attrName>ppt_w</p:attrName>
                                        </p:attrNameLst>
                                      </p:cBhvr>
                                      <p:tavLst>
                                        <p:tav tm="0">
                                          <p:val>
                                            <p:fltVal val="0"/>
                                          </p:val>
                                        </p:tav>
                                        <p:tav tm="100000">
                                          <p:val>
                                            <p:strVal val="#ppt_w"/>
                                          </p:val>
                                        </p:tav>
                                      </p:tavLst>
                                    </p:anim>
                                    <p:anim calcmode="lin" valueType="num">
                                      <p:cBhvr>
                                        <p:cTn id="39" dur="500" fill="hold"/>
                                        <p:tgtEl>
                                          <p:spTgt spid="55325"/>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4274" grpId="0" autoUpdateAnimBg="0"/>
      <p:bldP spid="55323" grpId="0" autoUpdateAnimBg="0"/>
      <p:bldP spid="55324" grpId="0" autoUpdateAnimBg="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31" name="Rectangle 11"/>
          <p:cNvSpPr>
            <a:spLocks noChangeArrowheads="1"/>
          </p:cNvSpPr>
          <p:nvPr/>
        </p:nvSpPr>
        <p:spPr bwMode="auto">
          <a:xfrm>
            <a:off x="387350" y="1227138"/>
            <a:ext cx="324802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latin typeface="华文中宋" pitchFamily="2" charset="-122"/>
                <a:ea typeface="华文中宋" pitchFamily="2" charset="-122"/>
              </a:rPr>
              <a:t>  （１）温度与分子速率</a:t>
            </a:r>
          </a:p>
        </p:txBody>
      </p:sp>
      <p:graphicFrame>
        <p:nvGraphicFramePr>
          <p:cNvPr id="56349" name="Object 29"/>
          <p:cNvGraphicFramePr>
            <a:graphicFrameLocks noChangeAspect="1"/>
          </p:cNvGraphicFramePr>
          <p:nvPr/>
        </p:nvGraphicFramePr>
        <p:xfrm>
          <a:off x="2774950" y="1524000"/>
          <a:ext cx="2589213" cy="595313"/>
        </p:xfrm>
        <a:graphic>
          <a:graphicData uri="http://schemas.openxmlformats.org/presentationml/2006/ole">
            <p:oleObj spid="_x0000_s50206" name="Equation" r:id="rId4" imgW="1511300" imgH="482600" progId="Equation.DSMT4">
              <p:embed/>
            </p:oleObj>
          </a:graphicData>
        </a:graphic>
      </p:graphicFrame>
      <p:sp>
        <p:nvSpPr>
          <p:cNvPr id="56367" name="Text Box 47"/>
          <p:cNvSpPr txBox="1">
            <a:spLocks noChangeArrowheads="1"/>
          </p:cNvSpPr>
          <p:nvPr/>
        </p:nvSpPr>
        <p:spPr bwMode="auto">
          <a:xfrm>
            <a:off x="684213" y="2130425"/>
            <a:ext cx="66960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设某定量理想气体的温度分别为</a:t>
            </a:r>
            <a:r>
              <a:rPr lang="en-US" altLang="zh-CN" sz="1800" b="1">
                <a:ea typeface="华文中宋" pitchFamily="2" charset="-122"/>
              </a:rPr>
              <a:t>73K</a:t>
            </a:r>
            <a:r>
              <a:rPr lang="zh-CN" altLang="en-US" sz="1800" b="1">
                <a:ea typeface="华文中宋" pitchFamily="2" charset="-122"/>
              </a:rPr>
              <a:t>、</a:t>
            </a:r>
            <a:r>
              <a:rPr lang="en-US" altLang="zh-CN" sz="1800" b="1">
                <a:ea typeface="华文中宋" pitchFamily="2" charset="-122"/>
              </a:rPr>
              <a:t>273K</a:t>
            </a:r>
            <a:r>
              <a:rPr lang="zh-CN" altLang="en-US" sz="1800" b="1">
                <a:ea typeface="华文中宋" pitchFamily="2" charset="-122"/>
              </a:rPr>
              <a:t>、</a:t>
            </a:r>
            <a:r>
              <a:rPr lang="en-US" altLang="zh-CN" sz="1800" b="1">
                <a:ea typeface="华文中宋" pitchFamily="2" charset="-122"/>
              </a:rPr>
              <a:t>1273K</a:t>
            </a:r>
          </a:p>
        </p:txBody>
      </p:sp>
      <p:grpSp>
        <p:nvGrpSpPr>
          <p:cNvPr id="2" name="Group 102"/>
          <p:cNvGrpSpPr>
            <a:grpSpLocks/>
          </p:cNvGrpSpPr>
          <p:nvPr/>
        </p:nvGrpSpPr>
        <p:grpSpPr bwMode="auto">
          <a:xfrm>
            <a:off x="2987675" y="2463800"/>
            <a:ext cx="3689350" cy="1401763"/>
            <a:chOff x="1973" y="1979"/>
            <a:chExt cx="2324" cy="1178"/>
          </a:xfrm>
        </p:grpSpPr>
        <p:sp>
          <p:nvSpPr>
            <p:cNvPr id="50194" name="Rectangle 49"/>
            <p:cNvSpPr>
              <a:spLocks noChangeArrowheads="1"/>
            </p:cNvSpPr>
            <p:nvPr/>
          </p:nvSpPr>
          <p:spPr bwMode="auto">
            <a:xfrm>
              <a:off x="1973" y="1979"/>
              <a:ext cx="298"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zh-CN" sz="1500" b="1">
                  <a:solidFill>
                    <a:srgbClr val="008000"/>
                  </a:solidFill>
                  <a:latin typeface="黑体" pitchFamily="49" charset="-122"/>
                </a:rPr>
                <a:t>73K</a:t>
              </a:r>
            </a:p>
          </p:txBody>
        </p:sp>
        <p:sp>
          <p:nvSpPr>
            <p:cNvPr id="50195" name="Rectangle 50"/>
            <p:cNvSpPr>
              <a:spLocks noChangeArrowheads="1"/>
            </p:cNvSpPr>
            <p:nvPr/>
          </p:nvSpPr>
          <p:spPr bwMode="auto">
            <a:xfrm>
              <a:off x="2557" y="2251"/>
              <a:ext cx="359"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zh-CN" sz="1500" b="1">
                  <a:solidFill>
                    <a:srgbClr val="FF3300"/>
                  </a:solidFill>
                  <a:latin typeface="黑体" pitchFamily="49" charset="-122"/>
                </a:rPr>
                <a:t>273K</a:t>
              </a:r>
            </a:p>
          </p:txBody>
        </p:sp>
        <p:sp>
          <p:nvSpPr>
            <p:cNvPr id="50196" name="Rectangle 51"/>
            <p:cNvSpPr>
              <a:spLocks noChangeArrowheads="1"/>
            </p:cNvSpPr>
            <p:nvPr/>
          </p:nvSpPr>
          <p:spPr bwMode="auto">
            <a:xfrm>
              <a:off x="3878" y="2886"/>
              <a:ext cx="419"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p>
              <a:r>
                <a:rPr lang="en-US" altLang="zh-CN" sz="1500" b="1">
                  <a:solidFill>
                    <a:schemeClr val="accent2"/>
                  </a:solidFill>
                  <a:latin typeface="黑体" pitchFamily="49" charset="-122"/>
                </a:rPr>
                <a:t>1273K</a:t>
              </a:r>
            </a:p>
          </p:txBody>
        </p:sp>
      </p:grpSp>
      <p:grpSp>
        <p:nvGrpSpPr>
          <p:cNvPr id="3" name="Group 103"/>
          <p:cNvGrpSpPr>
            <a:grpSpLocks/>
          </p:cNvGrpSpPr>
          <p:nvPr/>
        </p:nvGrpSpPr>
        <p:grpSpPr bwMode="auto">
          <a:xfrm>
            <a:off x="1619250" y="2681288"/>
            <a:ext cx="6189663" cy="1511300"/>
            <a:chOff x="1111" y="2160"/>
            <a:chExt cx="3899" cy="1269"/>
          </a:xfrm>
        </p:grpSpPr>
        <p:grpSp>
          <p:nvGrpSpPr>
            <p:cNvPr id="50185" name="Group 35"/>
            <p:cNvGrpSpPr>
              <a:grpSpLocks/>
            </p:cNvGrpSpPr>
            <p:nvPr/>
          </p:nvGrpSpPr>
          <p:grpSpPr bwMode="auto">
            <a:xfrm>
              <a:off x="1478" y="2185"/>
              <a:ext cx="3334" cy="1218"/>
              <a:chOff x="1392" y="1200"/>
              <a:chExt cx="3024" cy="1392"/>
            </a:xfrm>
          </p:grpSpPr>
          <p:sp>
            <p:nvSpPr>
              <p:cNvPr id="50192" name="Line 36"/>
              <p:cNvSpPr>
                <a:spLocks noChangeShapeType="1"/>
              </p:cNvSpPr>
              <p:nvPr/>
            </p:nvSpPr>
            <p:spPr bwMode="auto">
              <a:xfrm>
                <a:off x="1392" y="2592"/>
                <a:ext cx="3024" cy="0"/>
              </a:xfrm>
              <a:prstGeom prst="line">
                <a:avLst/>
              </a:prstGeom>
              <a:noFill/>
              <a:ln w="28575">
                <a:solidFill>
                  <a:schemeClr val="tx1"/>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sp>
            <p:nvSpPr>
              <p:cNvPr id="50193" name="Line 37"/>
              <p:cNvSpPr>
                <a:spLocks noChangeShapeType="1"/>
              </p:cNvSpPr>
              <p:nvPr/>
            </p:nvSpPr>
            <p:spPr bwMode="auto">
              <a:xfrm flipV="1">
                <a:off x="1392" y="1200"/>
                <a:ext cx="0" cy="1392"/>
              </a:xfrm>
              <a:prstGeom prst="line">
                <a:avLst/>
              </a:prstGeom>
              <a:noFill/>
              <a:ln w="28575">
                <a:solidFill>
                  <a:schemeClr val="tx1"/>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grpSp>
        <p:sp>
          <p:nvSpPr>
            <p:cNvPr id="50186" name="Freeform 38"/>
            <p:cNvSpPr>
              <a:spLocks/>
            </p:cNvSpPr>
            <p:nvPr/>
          </p:nvSpPr>
          <p:spPr bwMode="auto">
            <a:xfrm>
              <a:off x="1478" y="2372"/>
              <a:ext cx="2824" cy="1026"/>
            </a:xfrm>
            <a:custGeom>
              <a:avLst/>
              <a:gdLst>
                <a:gd name="T0" fmla="*/ 0 w 2561"/>
                <a:gd name="T1" fmla="*/ 681 h 1172"/>
                <a:gd name="T2" fmla="*/ 399 w 2561"/>
                <a:gd name="T3" fmla="*/ 580 h 1172"/>
                <a:gd name="T4" fmla="*/ 1213 w 2561"/>
                <a:gd name="T5" fmla="*/ 34 h 1172"/>
                <a:gd name="T6" fmla="*/ 1974 w 2561"/>
                <a:gd name="T7" fmla="*/ 379 h 1172"/>
                <a:gd name="T8" fmla="*/ 2807 w 2561"/>
                <a:gd name="T9" fmla="*/ 601 h 1172"/>
                <a:gd name="T10" fmla="*/ 3787 w 2561"/>
                <a:gd name="T11" fmla="*/ 667 h 1172"/>
                <a:gd name="T12" fmla="*/ 0 60000 65536"/>
                <a:gd name="T13" fmla="*/ 0 60000 65536"/>
                <a:gd name="T14" fmla="*/ 0 60000 65536"/>
                <a:gd name="T15" fmla="*/ 0 60000 65536"/>
                <a:gd name="T16" fmla="*/ 0 60000 65536"/>
                <a:gd name="T17" fmla="*/ 0 60000 65536"/>
                <a:gd name="T18" fmla="*/ 0 w 2561"/>
                <a:gd name="T19" fmla="*/ 0 h 1172"/>
                <a:gd name="T20" fmla="*/ 2561 w 2561"/>
                <a:gd name="T21" fmla="*/ 1172 h 1172"/>
              </a:gdLst>
              <a:ahLst/>
              <a:cxnLst>
                <a:cxn ang="T12">
                  <a:pos x="T0" y="T1"/>
                </a:cxn>
                <a:cxn ang="T13">
                  <a:pos x="T2" y="T3"/>
                </a:cxn>
                <a:cxn ang="T14">
                  <a:pos x="T4" y="T5"/>
                </a:cxn>
                <a:cxn ang="T15">
                  <a:pos x="T6" y="T7"/>
                </a:cxn>
                <a:cxn ang="T16">
                  <a:pos x="T8" y="T9"/>
                </a:cxn>
                <a:cxn ang="T17">
                  <a:pos x="T10" y="T11"/>
                </a:cxn>
              </a:cxnLst>
              <a:rect l="T18" t="T19" r="T20" b="T21"/>
              <a:pathLst>
                <a:path w="2561" h="1172">
                  <a:moveTo>
                    <a:pt x="0" y="1160"/>
                  </a:moveTo>
                  <a:cubicBezTo>
                    <a:pt x="45" y="1131"/>
                    <a:pt x="132" y="1172"/>
                    <a:pt x="269" y="988"/>
                  </a:cubicBezTo>
                  <a:cubicBezTo>
                    <a:pt x="406" y="804"/>
                    <a:pt x="643" y="114"/>
                    <a:pt x="821" y="57"/>
                  </a:cubicBezTo>
                  <a:cubicBezTo>
                    <a:pt x="999" y="0"/>
                    <a:pt x="1155" y="484"/>
                    <a:pt x="1335" y="645"/>
                  </a:cubicBezTo>
                  <a:cubicBezTo>
                    <a:pt x="1515" y="806"/>
                    <a:pt x="1695" y="943"/>
                    <a:pt x="1899" y="1025"/>
                  </a:cubicBezTo>
                  <a:cubicBezTo>
                    <a:pt x="2103" y="1107"/>
                    <a:pt x="2423" y="1112"/>
                    <a:pt x="2561" y="1135"/>
                  </a:cubicBezTo>
                </a:path>
              </a:pathLst>
            </a:custGeom>
            <a:noFill/>
            <a:ln w="28575" cmpd="sng">
              <a:solidFill>
                <a:srgbClr val="FF0066"/>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50187" name="Freeform 41"/>
            <p:cNvSpPr>
              <a:spLocks/>
            </p:cNvSpPr>
            <p:nvPr/>
          </p:nvSpPr>
          <p:spPr bwMode="auto">
            <a:xfrm>
              <a:off x="1477" y="2631"/>
              <a:ext cx="3188" cy="771"/>
            </a:xfrm>
            <a:custGeom>
              <a:avLst/>
              <a:gdLst>
                <a:gd name="T0" fmla="*/ 0 w 2892"/>
                <a:gd name="T1" fmla="*/ 515 h 882"/>
                <a:gd name="T2" fmla="*/ 851 w 2892"/>
                <a:gd name="T3" fmla="*/ 400 h 882"/>
                <a:gd name="T4" fmla="*/ 2064 w 2892"/>
                <a:gd name="T5" fmla="*/ 7 h 882"/>
                <a:gd name="T6" fmla="*/ 3385 w 2892"/>
                <a:gd name="T7" fmla="*/ 358 h 882"/>
                <a:gd name="T8" fmla="*/ 4271 w 2892"/>
                <a:gd name="T9" fmla="*/ 486 h 882"/>
                <a:gd name="T10" fmla="*/ 0 60000 65536"/>
                <a:gd name="T11" fmla="*/ 0 60000 65536"/>
                <a:gd name="T12" fmla="*/ 0 60000 65536"/>
                <a:gd name="T13" fmla="*/ 0 60000 65536"/>
                <a:gd name="T14" fmla="*/ 0 60000 65536"/>
                <a:gd name="T15" fmla="*/ 0 w 2892"/>
                <a:gd name="T16" fmla="*/ 0 h 882"/>
                <a:gd name="T17" fmla="*/ 2892 w 2892"/>
                <a:gd name="T18" fmla="*/ 882 h 882"/>
              </a:gdLst>
              <a:ahLst/>
              <a:cxnLst>
                <a:cxn ang="T10">
                  <a:pos x="T0" y="T1"/>
                </a:cxn>
                <a:cxn ang="T11">
                  <a:pos x="T2" y="T3"/>
                </a:cxn>
                <a:cxn ang="T12">
                  <a:pos x="T4" y="T5"/>
                </a:cxn>
                <a:cxn ang="T13">
                  <a:pos x="T6" y="T7"/>
                </a:cxn>
                <a:cxn ang="T14">
                  <a:pos x="T8" y="T9"/>
                </a:cxn>
              </a:cxnLst>
              <a:rect l="T15" t="T16" r="T17" b="T18"/>
              <a:pathLst>
                <a:path w="2892" h="882">
                  <a:moveTo>
                    <a:pt x="0" y="882"/>
                  </a:moveTo>
                  <a:cubicBezTo>
                    <a:pt x="96" y="851"/>
                    <a:pt x="343" y="831"/>
                    <a:pt x="576" y="686"/>
                  </a:cubicBezTo>
                  <a:cubicBezTo>
                    <a:pt x="809" y="541"/>
                    <a:pt x="1111" y="24"/>
                    <a:pt x="1397" y="12"/>
                  </a:cubicBezTo>
                  <a:cubicBezTo>
                    <a:pt x="1683" y="0"/>
                    <a:pt x="2043" y="475"/>
                    <a:pt x="2292" y="612"/>
                  </a:cubicBezTo>
                  <a:cubicBezTo>
                    <a:pt x="2541" y="749"/>
                    <a:pt x="2767" y="787"/>
                    <a:pt x="2892" y="833"/>
                  </a:cubicBezTo>
                </a:path>
              </a:pathLst>
            </a:custGeom>
            <a:noFill/>
            <a:ln w="25400">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50188" name="Freeform 42"/>
            <p:cNvSpPr>
              <a:spLocks/>
            </p:cNvSpPr>
            <p:nvPr/>
          </p:nvSpPr>
          <p:spPr bwMode="auto">
            <a:xfrm>
              <a:off x="1478" y="2175"/>
              <a:ext cx="2094" cy="1228"/>
            </a:xfrm>
            <a:custGeom>
              <a:avLst/>
              <a:gdLst>
                <a:gd name="T0" fmla="*/ 0 w 1899"/>
                <a:gd name="T1" fmla="*/ 821 h 1404"/>
                <a:gd name="T2" fmla="*/ 288 w 1899"/>
                <a:gd name="T3" fmla="*/ 670 h 1404"/>
                <a:gd name="T4" fmla="*/ 667 w 1899"/>
                <a:gd name="T5" fmla="*/ 32 h 1404"/>
                <a:gd name="T6" fmla="*/ 1411 w 1899"/>
                <a:gd name="T7" fmla="*/ 478 h 1404"/>
                <a:gd name="T8" fmla="*/ 1956 w 1899"/>
                <a:gd name="T9" fmla="*/ 692 h 1404"/>
                <a:gd name="T10" fmla="*/ 2807 w 1899"/>
                <a:gd name="T11" fmla="*/ 806 h 1404"/>
                <a:gd name="T12" fmla="*/ 0 60000 65536"/>
                <a:gd name="T13" fmla="*/ 0 60000 65536"/>
                <a:gd name="T14" fmla="*/ 0 60000 65536"/>
                <a:gd name="T15" fmla="*/ 0 60000 65536"/>
                <a:gd name="T16" fmla="*/ 0 60000 65536"/>
                <a:gd name="T17" fmla="*/ 0 60000 65536"/>
                <a:gd name="T18" fmla="*/ 0 w 1899"/>
                <a:gd name="T19" fmla="*/ 0 h 1404"/>
                <a:gd name="T20" fmla="*/ 1899 w 1899"/>
                <a:gd name="T21" fmla="*/ 1404 h 1404"/>
              </a:gdLst>
              <a:ahLst/>
              <a:cxnLst>
                <a:cxn ang="T12">
                  <a:pos x="T0" y="T1"/>
                </a:cxn>
                <a:cxn ang="T13">
                  <a:pos x="T2" y="T3"/>
                </a:cxn>
                <a:cxn ang="T14">
                  <a:pos x="T4" y="T5"/>
                </a:cxn>
                <a:cxn ang="T15">
                  <a:pos x="T6" y="T7"/>
                </a:cxn>
                <a:cxn ang="T16">
                  <a:pos x="T8" y="T9"/>
                </a:cxn>
                <a:cxn ang="T17">
                  <a:pos x="T10" y="T11"/>
                </a:cxn>
              </a:cxnLst>
              <a:rect l="T18" t="T19" r="T20" b="T21"/>
              <a:pathLst>
                <a:path w="1899" h="1404">
                  <a:moveTo>
                    <a:pt x="0" y="1404"/>
                  </a:moveTo>
                  <a:cubicBezTo>
                    <a:pt x="32" y="1361"/>
                    <a:pt x="120" y="1371"/>
                    <a:pt x="195" y="1146"/>
                  </a:cubicBezTo>
                  <a:cubicBezTo>
                    <a:pt x="270" y="921"/>
                    <a:pt x="325" y="110"/>
                    <a:pt x="452" y="55"/>
                  </a:cubicBezTo>
                  <a:cubicBezTo>
                    <a:pt x="579" y="0"/>
                    <a:pt x="810" y="627"/>
                    <a:pt x="955" y="815"/>
                  </a:cubicBezTo>
                  <a:cubicBezTo>
                    <a:pt x="1100" y="1003"/>
                    <a:pt x="1166" y="1088"/>
                    <a:pt x="1323" y="1182"/>
                  </a:cubicBezTo>
                  <a:cubicBezTo>
                    <a:pt x="1480" y="1276"/>
                    <a:pt x="1779" y="1337"/>
                    <a:pt x="1899" y="1378"/>
                  </a:cubicBezTo>
                </a:path>
              </a:pathLst>
            </a:custGeom>
            <a:noFill/>
            <a:ln w="25400">
              <a:solidFill>
                <a:srgbClr val="008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50189" name="Text Box 46"/>
            <p:cNvSpPr txBox="1">
              <a:spLocks noChangeArrowheads="1"/>
            </p:cNvSpPr>
            <p:nvPr/>
          </p:nvSpPr>
          <p:spPr bwMode="auto">
            <a:xfrm>
              <a:off x="3424" y="2218"/>
              <a:ext cx="592"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楷体_GB2312" pitchFamily="49" charset="-122"/>
                </a:rPr>
                <a:t>M</a:t>
              </a:r>
              <a:r>
                <a:rPr lang="en-US" altLang="zh-CN" sz="1500" b="1" baseline="-25000">
                  <a:ea typeface="楷体_GB2312" pitchFamily="49" charset="-122"/>
                </a:rPr>
                <a:t>mol</a:t>
              </a:r>
              <a:r>
                <a:rPr lang="zh-CN" altLang="en-US" sz="1500" b="1">
                  <a:latin typeface="华文中宋" pitchFamily="2" charset="-122"/>
                  <a:ea typeface="华文中宋" pitchFamily="2" charset="-122"/>
                </a:rPr>
                <a:t>相同</a:t>
              </a:r>
            </a:p>
          </p:txBody>
        </p:sp>
        <p:graphicFrame>
          <p:nvGraphicFramePr>
            <p:cNvPr id="50190" name="Object 100"/>
            <p:cNvGraphicFramePr>
              <a:graphicFrameLocks noChangeAspect="1"/>
            </p:cNvGraphicFramePr>
            <p:nvPr/>
          </p:nvGraphicFramePr>
          <p:xfrm>
            <a:off x="1111" y="2160"/>
            <a:ext cx="363" cy="207"/>
          </p:xfrm>
          <a:graphic>
            <a:graphicData uri="http://schemas.openxmlformats.org/presentationml/2006/ole">
              <p:oleObj spid="_x0000_s50207" name="Equation" r:id="rId5" imgW="355292" imgH="203024" progId="Equation.DSMT4">
                <p:embed/>
              </p:oleObj>
            </a:graphicData>
          </a:graphic>
        </p:graphicFrame>
        <p:graphicFrame>
          <p:nvGraphicFramePr>
            <p:cNvPr id="50191" name="Object 101"/>
            <p:cNvGraphicFramePr>
              <a:graphicFrameLocks noChangeAspect="1"/>
            </p:cNvGraphicFramePr>
            <p:nvPr/>
          </p:nvGraphicFramePr>
          <p:xfrm>
            <a:off x="4830" y="3249"/>
            <a:ext cx="180" cy="180"/>
          </p:xfrm>
          <a:graphic>
            <a:graphicData uri="http://schemas.openxmlformats.org/presentationml/2006/ole">
              <p:oleObj spid="_x0000_s50208" name="Equation" r:id="rId6" imgW="139700" imgH="139700" progId="Equation.DSMT4">
                <p:embed/>
              </p:oleObj>
            </a:graphicData>
          </a:graphic>
        </p:graphicFrame>
      </p:grpSp>
      <p:sp>
        <p:nvSpPr>
          <p:cNvPr id="56424" name="Text Box 104"/>
          <p:cNvSpPr txBox="1">
            <a:spLocks noChangeArrowheads="1"/>
          </p:cNvSpPr>
          <p:nvPr/>
        </p:nvSpPr>
        <p:spPr bwMode="auto">
          <a:xfrm>
            <a:off x="2484438" y="4192588"/>
            <a:ext cx="4167187" cy="323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zh-CN" altLang="en-US" sz="1500" b="1">
                <a:latin typeface="华文中宋" pitchFamily="2" charset="-122"/>
                <a:ea typeface="华文中宋" pitchFamily="2" charset="-122"/>
              </a:rPr>
              <a:t>不同温度下分子速率分布曲线</a:t>
            </a:r>
          </a:p>
        </p:txBody>
      </p:sp>
      <p:sp>
        <p:nvSpPr>
          <p:cNvPr id="21" name="Text Box 2"/>
          <p:cNvSpPr>
            <a:spLocks noChangeArrowheads="1"/>
          </p:cNvSpPr>
          <p:nvPr/>
        </p:nvSpPr>
        <p:spPr bwMode="auto">
          <a:xfrm>
            <a:off x="755650" y="874713"/>
            <a:ext cx="4175125" cy="401637"/>
          </a:xfrm>
          <a:prstGeom prst="homePlate">
            <a:avLst>
              <a:gd name="adj" fmla="val 49714"/>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四、麦克斯韦速率分布曲线的性质</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1"/>
                                        </p:tgtEl>
                                        <p:attrNameLst>
                                          <p:attrName>style.visibility</p:attrName>
                                        </p:attrNameLst>
                                      </p:cBhvr>
                                      <p:to>
                                        <p:strVal val="visible"/>
                                      </p:to>
                                    </p:set>
                                    <p:animEffect transition="in" filter="wipe(left)">
                                      <p:cBhvr>
                                        <p:cTn id="7" dur="500"/>
                                        <p:tgtEl>
                                          <p:spTgt spid="2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4" presetClass="entr" presetSubtype="32" fill="hold" grpId="0" nodeType="clickEffect">
                                  <p:stCondLst>
                                    <p:cond delay="0"/>
                                  </p:stCondLst>
                                  <p:childTnLst>
                                    <p:set>
                                      <p:cBhvr>
                                        <p:cTn id="11" dur="1" fill="hold">
                                          <p:stCondLst>
                                            <p:cond delay="0"/>
                                          </p:stCondLst>
                                        </p:cTn>
                                        <p:tgtEl>
                                          <p:spTgt spid="56331">
                                            <p:txEl>
                                              <p:pRg st="0" end="0"/>
                                            </p:txEl>
                                          </p:spTgt>
                                        </p:tgtEl>
                                        <p:attrNameLst>
                                          <p:attrName>style.visibility</p:attrName>
                                        </p:attrNameLst>
                                      </p:cBhvr>
                                      <p:to>
                                        <p:strVal val="visible"/>
                                      </p:to>
                                    </p:set>
                                    <p:animEffect transition="in" filter="box(out)">
                                      <p:cBhvr>
                                        <p:cTn id="12" dur="500"/>
                                        <p:tgtEl>
                                          <p:spTgt spid="56331">
                                            <p:txEl>
                                              <p:pRg st="0" end="0"/>
                                            </p:txEl>
                                          </p:spTgt>
                                        </p:tgtEl>
                                      </p:cBhvr>
                                    </p:animEffect>
                                  </p:childTnLst>
                                  <p:subTnLst>
                                    <p:audio>
                                      <p:cMediaNode>
                                        <p:cTn display="0" masterRel="sameClick">
                                          <p:stCondLst>
                                            <p:cond evt="begin" delay="0">
                                              <p:tn val="10"/>
                                            </p:cond>
                                          </p:stCondLst>
                                          <p:endCondLst>
                                            <p:cond evt="onStopAudio" delay="0">
                                              <p:tgtEl>
                                                <p:sldTgt/>
                                              </p:tgtEl>
                                            </p:cond>
                                          </p:endCondLst>
                                        </p:cTn>
                                        <p:tgtEl>
                                          <p:sndTgt r:embed="rId3" name="CAMERA.WAV"/>
                                        </p:tgtEl>
                                      </p:cMediaNode>
                                    </p:audio>
                                  </p:subTnLst>
                                </p:cTn>
                              </p:par>
                            </p:childTnLst>
                          </p:cTn>
                        </p:par>
                      </p:childTnLst>
                    </p:cTn>
                  </p:par>
                  <p:par>
                    <p:cTn id="13" fill="hold" nodeType="clickPar">
                      <p:stCondLst>
                        <p:cond delay="indefinite"/>
                      </p:stCondLst>
                      <p:childTnLst>
                        <p:par>
                          <p:cTn id="14" fill="hold" nodeType="withGroup">
                            <p:stCondLst>
                              <p:cond delay="0"/>
                            </p:stCondLst>
                            <p:childTnLst>
                              <p:par>
                                <p:cTn id="15" presetID="9" presetClass="entr" presetSubtype="0" fill="hold" nodeType="clickEffect">
                                  <p:stCondLst>
                                    <p:cond delay="0"/>
                                  </p:stCondLst>
                                  <p:childTnLst>
                                    <p:set>
                                      <p:cBhvr>
                                        <p:cTn id="16" dur="1" fill="hold">
                                          <p:stCondLst>
                                            <p:cond delay="0"/>
                                          </p:stCondLst>
                                        </p:cTn>
                                        <p:tgtEl>
                                          <p:spTgt spid="56349"/>
                                        </p:tgtEl>
                                        <p:attrNameLst>
                                          <p:attrName>style.visibility</p:attrName>
                                        </p:attrNameLst>
                                      </p:cBhvr>
                                      <p:to>
                                        <p:strVal val="visible"/>
                                      </p:to>
                                    </p:set>
                                    <p:animEffect transition="in" filter="dissolve">
                                      <p:cBhvr>
                                        <p:cTn id="17" dur="500"/>
                                        <p:tgtEl>
                                          <p:spTgt spid="5634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3" presetClass="entr" presetSubtype="16" fill="hold" grpId="0" nodeType="clickEffect">
                                  <p:stCondLst>
                                    <p:cond delay="0"/>
                                  </p:stCondLst>
                                  <p:childTnLst>
                                    <p:set>
                                      <p:cBhvr>
                                        <p:cTn id="21" dur="1" fill="hold">
                                          <p:stCondLst>
                                            <p:cond delay="0"/>
                                          </p:stCondLst>
                                        </p:cTn>
                                        <p:tgtEl>
                                          <p:spTgt spid="56367"/>
                                        </p:tgtEl>
                                        <p:attrNameLst>
                                          <p:attrName>style.visibility</p:attrName>
                                        </p:attrNameLst>
                                      </p:cBhvr>
                                      <p:to>
                                        <p:strVal val="visible"/>
                                      </p:to>
                                    </p:set>
                                    <p:anim calcmode="lin" valueType="num">
                                      <p:cBhvr>
                                        <p:cTn id="22" dur="500" fill="hold"/>
                                        <p:tgtEl>
                                          <p:spTgt spid="56367"/>
                                        </p:tgtEl>
                                        <p:attrNameLst>
                                          <p:attrName>ppt_w</p:attrName>
                                        </p:attrNameLst>
                                      </p:cBhvr>
                                      <p:tavLst>
                                        <p:tav tm="0">
                                          <p:val>
                                            <p:fltVal val="0"/>
                                          </p:val>
                                        </p:tav>
                                        <p:tav tm="100000">
                                          <p:val>
                                            <p:strVal val="#ppt_w"/>
                                          </p:val>
                                        </p:tav>
                                      </p:tavLst>
                                    </p:anim>
                                    <p:anim calcmode="lin" valueType="num">
                                      <p:cBhvr>
                                        <p:cTn id="23" dur="500" fill="hold"/>
                                        <p:tgtEl>
                                          <p:spTgt spid="56367"/>
                                        </p:tgtEl>
                                        <p:attrNameLst>
                                          <p:attrName>ppt_h</p:attrName>
                                        </p:attrNameLst>
                                      </p:cBhvr>
                                      <p:tavLst>
                                        <p:tav tm="0">
                                          <p:val>
                                            <p:fltVal val="0"/>
                                          </p:val>
                                        </p:tav>
                                        <p:tav tm="100000">
                                          <p:val>
                                            <p:strVal val="#ppt_h"/>
                                          </p:val>
                                        </p:tav>
                                      </p:tavLst>
                                    </p:anim>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blinds(horizontal)">
                                      <p:cBhvr>
                                        <p:cTn id="28" dur="500"/>
                                        <p:tgtEl>
                                          <p:spTgt spid="3"/>
                                        </p:tgtEl>
                                      </p:cBhvr>
                                    </p:animEffect>
                                  </p:childTnLst>
                                </p:cTn>
                              </p:par>
                            </p:childTnLst>
                          </p:cTn>
                        </p:par>
                        <p:par>
                          <p:cTn id="29" fill="hold" nodeType="afterGroup">
                            <p:stCondLst>
                              <p:cond delay="500"/>
                            </p:stCondLst>
                            <p:childTnLst>
                              <p:par>
                                <p:cTn id="30" presetID="23" presetClass="entr" presetSubtype="16" fill="hold" grpId="0" nodeType="afterEffect">
                                  <p:stCondLst>
                                    <p:cond delay="0"/>
                                  </p:stCondLst>
                                  <p:childTnLst>
                                    <p:set>
                                      <p:cBhvr>
                                        <p:cTn id="31" dur="1" fill="hold">
                                          <p:stCondLst>
                                            <p:cond delay="0"/>
                                          </p:stCondLst>
                                        </p:cTn>
                                        <p:tgtEl>
                                          <p:spTgt spid="56424"/>
                                        </p:tgtEl>
                                        <p:attrNameLst>
                                          <p:attrName>style.visibility</p:attrName>
                                        </p:attrNameLst>
                                      </p:cBhvr>
                                      <p:to>
                                        <p:strVal val="visible"/>
                                      </p:to>
                                    </p:set>
                                    <p:anim calcmode="lin" valueType="num">
                                      <p:cBhvr>
                                        <p:cTn id="32" dur="500" fill="hold"/>
                                        <p:tgtEl>
                                          <p:spTgt spid="56424"/>
                                        </p:tgtEl>
                                        <p:attrNameLst>
                                          <p:attrName>ppt_w</p:attrName>
                                        </p:attrNameLst>
                                      </p:cBhvr>
                                      <p:tavLst>
                                        <p:tav tm="0">
                                          <p:val>
                                            <p:fltVal val="0"/>
                                          </p:val>
                                        </p:tav>
                                        <p:tav tm="100000">
                                          <p:val>
                                            <p:strVal val="#ppt_w"/>
                                          </p:val>
                                        </p:tav>
                                      </p:tavLst>
                                    </p:anim>
                                    <p:anim calcmode="lin" valueType="num">
                                      <p:cBhvr>
                                        <p:cTn id="33" dur="500" fill="hold"/>
                                        <p:tgtEl>
                                          <p:spTgt spid="56424"/>
                                        </p:tgtEl>
                                        <p:attrNameLst>
                                          <p:attrName>ppt_h</p:attrName>
                                        </p:attrNameLst>
                                      </p:cBhvr>
                                      <p:tavLst>
                                        <p:tav tm="0">
                                          <p:val>
                                            <p:fltVal val="0"/>
                                          </p:val>
                                        </p:tav>
                                        <p:tav tm="100000">
                                          <p:val>
                                            <p:strVal val="#ppt_h"/>
                                          </p:val>
                                        </p:tav>
                                      </p:tavLst>
                                    </p:anim>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2"/>
                                        </p:tgtEl>
                                        <p:attrNameLst>
                                          <p:attrName>style.visibility</p:attrName>
                                        </p:attrNameLst>
                                      </p:cBhvr>
                                      <p:to>
                                        <p:strVal val="visible"/>
                                      </p:to>
                                    </p:set>
                                    <p:animEffect transition="in" filter="blinds(horizontal)">
                                      <p:cBhvr>
                                        <p:cTn id="3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6331" grpId="0" build="p" autoUpdateAnimBg="0"/>
      <p:bldP spid="56367" grpId="0" autoUpdateAnimBg="0"/>
      <p:bldP spid="56424" grpId="0" autoUpdateAnimBg="0"/>
      <p:bldP spid="21" grpId="0" animBg="1"/>
    </p:bldLst>
  </p:timing>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46" name="Rectangle 2"/>
          <p:cNvSpPr>
            <a:spLocks noChangeArrowheads="1"/>
          </p:cNvSpPr>
          <p:nvPr/>
        </p:nvSpPr>
        <p:spPr bwMode="auto">
          <a:xfrm>
            <a:off x="381000" y="842963"/>
            <a:ext cx="32480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latin typeface="楷体_GB2312" pitchFamily="49" charset="-122"/>
                <a:ea typeface="华文中宋" pitchFamily="2" charset="-122"/>
              </a:rPr>
              <a:t>（２）质量与分子速率</a:t>
            </a:r>
          </a:p>
        </p:txBody>
      </p:sp>
      <p:graphicFrame>
        <p:nvGraphicFramePr>
          <p:cNvPr id="57364" name="Object 20"/>
          <p:cNvGraphicFramePr>
            <a:graphicFrameLocks noChangeAspect="1"/>
          </p:cNvGraphicFramePr>
          <p:nvPr/>
        </p:nvGraphicFramePr>
        <p:xfrm>
          <a:off x="2517775" y="1436688"/>
          <a:ext cx="3422650" cy="630237"/>
        </p:xfrm>
        <a:graphic>
          <a:graphicData uri="http://schemas.openxmlformats.org/presentationml/2006/ole">
            <p:oleObj spid="_x0000_s51241" name="Equation" r:id="rId4" imgW="1739900" imgH="495300" progId="Equation.DSMT4">
              <p:embed/>
            </p:oleObj>
          </a:graphicData>
        </a:graphic>
      </p:graphicFrame>
      <p:sp>
        <p:nvSpPr>
          <p:cNvPr id="58398" name="Text Box 1054"/>
          <p:cNvSpPr txBox="1">
            <a:spLocks noChangeArrowheads="1"/>
          </p:cNvSpPr>
          <p:nvPr/>
        </p:nvSpPr>
        <p:spPr bwMode="auto">
          <a:xfrm>
            <a:off x="2339975" y="3760788"/>
            <a:ext cx="4779963" cy="3238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r>
              <a:rPr lang="zh-CN" altLang="en-US" sz="1500" b="1">
                <a:ea typeface="华文中宋" pitchFamily="2" charset="-122"/>
              </a:rPr>
              <a:t>不同摩尔质量的分子速率分布曲线</a:t>
            </a:r>
          </a:p>
        </p:txBody>
      </p:sp>
      <p:grpSp>
        <p:nvGrpSpPr>
          <p:cNvPr id="2" name="Group 1059"/>
          <p:cNvGrpSpPr>
            <a:grpSpLocks/>
          </p:cNvGrpSpPr>
          <p:nvPr/>
        </p:nvGrpSpPr>
        <p:grpSpPr bwMode="auto">
          <a:xfrm>
            <a:off x="1547813" y="2211388"/>
            <a:ext cx="6189662" cy="1576387"/>
            <a:chOff x="1020" y="1653"/>
            <a:chExt cx="3899" cy="1323"/>
          </a:xfrm>
        </p:grpSpPr>
        <p:grpSp>
          <p:nvGrpSpPr>
            <p:cNvPr id="51207" name="Group 1044"/>
            <p:cNvGrpSpPr>
              <a:grpSpLocks/>
            </p:cNvGrpSpPr>
            <p:nvPr/>
          </p:nvGrpSpPr>
          <p:grpSpPr bwMode="auto">
            <a:xfrm>
              <a:off x="1020" y="1707"/>
              <a:ext cx="3899" cy="1269"/>
              <a:chOff x="1111" y="2160"/>
              <a:chExt cx="3899" cy="1269"/>
            </a:xfrm>
          </p:grpSpPr>
          <p:grpSp>
            <p:nvGrpSpPr>
              <p:cNvPr id="51211" name="Group 1045"/>
              <p:cNvGrpSpPr>
                <a:grpSpLocks/>
              </p:cNvGrpSpPr>
              <p:nvPr/>
            </p:nvGrpSpPr>
            <p:grpSpPr bwMode="auto">
              <a:xfrm>
                <a:off x="1478" y="2185"/>
                <a:ext cx="3334" cy="1218"/>
                <a:chOff x="1392" y="1200"/>
                <a:chExt cx="3024" cy="1392"/>
              </a:xfrm>
            </p:grpSpPr>
            <p:sp>
              <p:nvSpPr>
                <p:cNvPr id="51218" name="Line 1046"/>
                <p:cNvSpPr>
                  <a:spLocks noChangeShapeType="1"/>
                </p:cNvSpPr>
                <p:nvPr/>
              </p:nvSpPr>
              <p:spPr bwMode="auto">
                <a:xfrm>
                  <a:off x="1392" y="2592"/>
                  <a:ext cx="3024" cy="0"/>
                </a:xfrm>
                <a:prstGeom prst="line">
                  <a:avLst/>
                </a:prstGeom>
                <a:noFill/>
                <a:ln w="28575">
                  <a:solidFill>
                    <a:schemeClr val="tx1"/>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sp>
              <p:nvSpPr>
                <p:cNvPr id="51219" name="Line 1047"/>
                <p:cNvSpPr>
                  <a:spLocks noChangeShapeType="1"/>
                </p:cNvSpPr>
                <p:nvPr/>
              </p:nvSpPr>
              <p:spPr bwMode="auto">
                <a:xfrm flipV="1">
                  <a:off x="1392" y="1200"/>
                  <a:ext cx="0" cy="1392"/>
                </a:xfrm>
                <a:prstGeom prst="line">
                  <a:avLst/>
                </a:prstGeom>
                <a:noFill/>
                <a:ln w="28575">
                  <a:solidFill>
                    <a:schemeClr val="tx1"/>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grpSp>
          <p:sp>
            <p:nvSpPr>
              <p:cNvPr id="51212" name="Freeform 1048"/>
              <p:cNvSpPr>
                <a:spLocks/>
              </p:cNvSpPr>
              <p:nvPr/>
            </p:nvSpPr>
            <p:spPr bwMode="auto">
              <a:xfrm>
                <a:off x="1478" y="2372"/>
                <a:ext cx="2824" cy="1026"/>
              </a:xfrm>
              <a:custGeom>
                <a:avLst/>
                <a:gdLst>
                  <a:gd name="T0" fmla="*/ 0 w 2561"/>
                  <a:gd name="T1" fmla="*/ 681 h 1172"/>
                  <a:gd name="T2" fmla="*/ 399 w 2561"/>
                  <a:gd name="T3" fmla="*/ 580 h 1172"/>
                  <a:gd name="T4" fmla="*/ 1213 w 2561"/>
                  <a:gd name="T5" fmla="*/ 34 h 1172"/>
                  <a:gd name="T6" fmla="*/ 1974 w 2561"/>
                  <a:gd name="T7" fmla="*/ 379 h 1172"/>
                  <a:gd name="T8" fmla="*/ 2807 w 2561"/>
                  <a:gd name="T9" fmla="*/ 601 h 1172"/>
                  <a:gd name="T10" fmla="*/ 3787 w 2561"/>
                  <a:gd name="T11" fmla="*/ 667 h 1172"/>
                  <a:gd name="T12" fmla="*/ 0 60000 65536"/>
                  <a:gd name="T13" fmla="*/ 0 60000 65536"/>
                  <a:gd name="T14" fmla="*/ 0 60000 65536"/>
                  <a:gd name="T15" fmla="*/ 0 60000 65536"/>
                  <a:gd name="T16" fmla="*/ 0 60000 65536"/>
                  <a:gd name="T17" fmla="*/ 0 60000 65536"/>
                  <a:gd name="T18" fmla="*/ 0 w 2561"/>
                  <a:gd name="T19" fmla="*/ 0 h 1172"/>
                  <a:gd name="T20" fmla="*/ 2561 w 2561"/>
                  <a:gd name="T21" fmla="*/ 1172 h 1172"/>
                </a:gdLst>
                <a:ahLst/>
                <a:cxnLst>
                  <a:cxn ang="T12">
                    <a:pos x="T0" y="T1"/>
                  </a:cxn>
                  <a:cxn ang="T13">
                    <a:pos x="T2" y="T3"/>
                  </a:cxn>
                  <a:cxn ang="T14">
                    <a:pos x="T4" y="T5"/>
                  </a:cxn>
                  <a:cxn ang="T15">
                    <a:pos x="T6" y="T7"/>
                  </a:cxn>
                  <a:cxn ang="T16">
                    <a:pos x="T8" y="T9"/>
                  </a:cxn>
                  <a:cxn ang="T17">
                    <a:pos x="T10" y="T11"/>
                  </a:cxn>
                </a:cxnLst>
                <a:rect l="T18" t="T19" r="T20" b="T21"/>
                <a:pathLst>
                  <a:path w="2561" h="1172">
                    <a:moveTo>
                      <a:pt x="0" y="1160"/>
                    </a:moveTo>
                    <a:cubicBezTo>
                      <a:pt x="45" y="1131"/>
                      <a:pt x="132" y="1172"/>
                      <a:pt x="269" y="988"/>
                    </a:cubicBezTo>
                    <a:cubicBezTo>
                      <a:pt x="406" y="804"/>
                      <a:pt x="643" y="114"/>
                      <a:pt x="821" y="57"/>
                    </a:cubicBezTo>
                    <a:cubicBezTo>
                      <a:pt x="999" y="0"/>
                      <a:pt x="1155" y="484"/>
                      <a:pt x="1335" y="645"/>
                    </a:cubicBezTo>
                    <a:cubicBezTo>
                      <a:pt x="1515" y="806"/>
                      <a:pt x="1695" y="943"/>
                      <a:pt x="1899" y="1025"/>
                    </a:cubicBezTo>
                    <a:cubicBezTo>
                      <a:pt x="2103" y="1107"/>
                      <a:pt x="2423" y="1112"/>
                      <a:pt x="2561" y="1135"/>
                    </a:cubicBezTo>
                  </a:path>
                </a:pathLst>
              </a:custGeom>
              <a:noFill/>
              <a:ln w="28575" cmpd="sng">
                <a:solidFill>
                  <a:srgbClr val="FF0066"/>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51213" name="Freeform 1049"/>
              <p:cNvSpPr>
                <a:spLocks/>
              </p:cNvSpPr>
              <p:nvPr/>
            </p:nvSpPr>
            <p:spPr bwMode="auto">
              <a:xfrm>
                <a:off x="1477" y="2631"/>
                <a:ext cx="3188" cy="771"/>
              </a:xfrm>
              <a:custGeom>
                <a:avLst/>
                <a:gdLst>
                  <a:gd name="T0" fmla="*/ 0 w 2892"/>
                  <a:gd name="T1" fmla="*/ 515 h 882"/>
                  <a:gd name="T2" fmla="*/ 851 w 2892"/>
                  <a:gd name="T3" fmla="*/ 400 h 882"/>
                  <a:gd name="T4" fmla="*/ 2064 w 2892"/>
                  <a:gd name="T5" fmla="*/ 7 h 882"/>
                  <a:gd name="T6" fmla="*/ 3385 w 2892"/>
                  <a:gd name="T7" fmla="*/ 358 h 882"/>
                  <a:gd name="T8" fmla="*/ 4271 w 2892"/>
                  <a:gd name="T9" fmla="*/ 486 h 882"/>
                  <a:gd name="T10" fmla="*/ 0 60000 65536"/>
                  <a:gd name="T11" fmla="*/ 0 60000 65536"/>
                  <a:gd name="T12" fmla="*/ 0 60000 65536"/>
                  <a:gd name="T13" fmla="*/ 0 60000 65536"/>
                  <a:gd name="T14" fmla="*/ 0 60000 65536"/>
                  <a:gd name="T15" fmla="*/ 0 w 2892"/>
                  <a:gd name="T16" fmla="*/ 0 h 882"/>
                  <a:gd name="T17" fmla="*/ 2892 w 2892"/>
                  <a:gd name="T18" fmla="*/ 882 h 882"/>
                </a:gdLst>
                <a:ahLst/>
                <a:cxnLst>
                  <a:cxn ang="T10">
                    <a:pos x="T0" y="T1"/>
                  </a:cxn>
                  <a:cxn ang="T11">
                    <a:pos x="T2" y="T3"/>
                  </a:cxn>
                  <a:cxn ang="T12">
                    <a:pos x="T4" y="T5"/>
                  </a:cxn>
                  <a:cxn ang="T13">
                    <a:pos x="T6" y="T7"/>
                  </a:cxn>
                  <a:cxn ang="T14">
                    <a:pos x="T8" y="T9"/>
                  </a:cxn>
                </a:cxnLst>
                <a:rect l="T15" t="T16" r="T17" b="T18"/>
                <a:pathLst>
                  <a:path w="2892" h="882">
                    <a:moveTo>
                      <a:pt x="0" y="882"/>
                    </a:moveTo>
                    <a:cubicBezTo>
                      <a:pt x="96" y="851"/>
                      <a:pt x="343" y="831"/>
                      <a:pt x="576" y="686"/>
                    </a:cubicBezTo>
                    <a:cubicBezTo>
                      <a:pt x="809" y="541"/>
                      <a:pt x="1111" y="24"/>
                      <a:pt x="1397" y="12"/>
                    </a:cubicBezTo>
                    <a:cubicBezTo>
                      <a:pt x="1683" y="0"/>
                      <a:pt x="2043" y="475"/>
                      <a:pt x="2292" y="612"/>
                    </a:cubicBezTo>
                    <a:cubicBezTo>
                      <a:pt x="2541" y="749"/>
                      <a:pt x="2767" y="787"/>
                      <a:pt x="2892" y="833"/>
                    </a:cubicBezTo>
                  </a:path>
                </a:pathLst>
              </a:custGeom>
              <a:noFill/>
              <a:ln w="25400">
                <a:solidFill>
                  <a:schemeClr val="accent2"/>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51214" name="Freeform 1050"/>
              <p:cNvSpPr>
                <a:spLocks/>
              </p:cNvSpPr>
              <p:nvPr/>
            </p:nvSpPr>
            <p:spPr bwMode="auto">
              <a:xfrm>
                <a:off x="1478" y="2175"/>
                <a:ext cx="2094" cy="1228"/>
              </a:xfrm>
              <a:custGeom>
                <a:avLst/>
                <a:gdLst>
                  <a:gd name="T0" fmla="*/ 0 w 1899"/>
                  <a:gd name="T1" fmla="*/ 821 h 1404"/>
                  <a:gd name="T2" fmla="*/ 288 w 1899"/>
                  <a:gd name="T3" fmla="*/ 670 h 1404"/>
                  <a:gd name="T4" fmla="*/ 667 w 1899"/>
                  <a:gd name="T5" fmla="*/ 32 h 1404"/>
                  <a:gd name="T6" fmla="*/ 1411 w 1899"/>
                  <a:gd name="T7" fmla="*/ 478 h 1404"/>
                  <a:gd name="T8" fmla="*/ 1956 w 1899"/>
                  <a:gd name="T9" fmla="*/ 692 h 1404"/>
                  <a:gd name="T10" fmla="*/ 2807 w 1899"/>
                  <a:gd name="T11" fmla="*/ 806 h 1404"/>
                  <a:gd name="T12" fmla="*/ 0 60000 65536"/>
                  <a:gd name="T13" fmla="*/ 0 60000 65536"/>
                  <a:gd name="T14" fmla="*/ 0 60000 65536"/>
                  <a:gd name="T15" fmla="*/ 0 60000 65536"/>
                  <a:gd name="T16" fmla="*/ 0 60000 65536"/>
                  <a:gd name="T17" fmla="*/ 0 60000 65536"/>
                  <a:gd name="T18" fmla="*/ 0 w 1899"/>
                  <a:gd name="T19" fmla="*/ 0 h 1404"/>
                  <a:gd name="T20" fmla="*/ 1899 w 1899"/>
                  <a:gd name="T21" fmla="*/ 1404 h 1404"/>
                </a:gdLst>
                <a:ahLst/>
                <a:cxnLst>
                  <a:cxn ang="T12">
                    <a:pos x="T0" y="T1"/>
                  </a:cxn>
                  <a:cxn ang="T13">
                    <a:pos x="T2" y="T3"/>
                  </a:cxn>
                  <a:cxn ang="T14">
                    <a:pos x="T4" y="T5"/>
                  </a:cxn>
                  <a:cxn ang="T15">
                    <a:pos x="T6" y="T7"/>
                  </a:cxn>
                  <a:cxn ang="T16">
                    <a:pos x="T8" y="T9"/>
                  </a:cxn>
                  <a:cxn ang="T17">
                    <a:pos x="T10" y="T11"/>
                  </a:cxn>
                </a:cxnLst>
                <a:rect l="T18" t="T19" r="T20" b="T21"/>
                <a:pathLst>
                  <a:path w="1899" h="1404">
                    <a:moveTo>
                      <a:pt x="0" y="1404"/>
                    </a:moveTo>
                    <a:cubicBezTo>
                      <a:pt x="32" y="1361"/>
                      <a:pt x="120" y="1371"/>
                      <a:pt x="195" y="1146"/>
                    </a:cubicBezTo>
                    <a:cubicBezTo>
                      <a:pt x="270" y="921"/>
                      <a:pt x="325" y="110"/>
                      <a:pt x="452" y="55"/>
                    </a:cubicBezTo>
                    <a:cubicBezTo>
                      <a:pt x="579" y="0"/>
                      <a:pt x="810" y="627"/>
                      <a:pt x="955" y="815"/>
                    </a:cubicBezTo>
                    <a:cubicBezTo>
                      <a:pt x="1100" y="1003"/>
                      <a:pt x="1166" y="1088"/>
                      <a:pt x="1323" y="1182"/>
                    </a:cubicBezTo>
                    <a:cubicBezTo>
                      <a:pt x="1480" y="1276"/>
                      <a:pt x="1779" y="1337"/>
                      <a:pt x="1899" y="1378"/>
                    </a:cubicBezTo>
                  </a:path>
                </a:pathLst>
              </a:custGeom>
              <a:noFill/>
              <a:ln w="25400">
                <a:solidFill>
                  <a:srgbClr val="008000"/>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51215" name="Text Box 1051"/>
              <p:cNvSpPr txBox="1">
                <a:spLocks noChangeArrowheads="1"/>
              </p:cNvSpPr>
              <p:nvPr/>
            </p:nvSpPr>
            <p:spPr bwMode="auto">
              <a:xfrm>
                <a:off x="3424" y="2218"/>
                <a:ext cx="432"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500" b="1" i="1">
                    <a:ea typeface="楷体_GB2312" pitchFamily="49" charset="-122"/>
                  </a:rPr>
                  <a:t>T</a:t>
                </a:r>
                <a:r>
                  <a:rPr lang="zh-CN" altLang="en-US" sz="1500" b="1">
                    <a:latin typeface="华文中宋" pitchFamily="2" charset="-122"/>
                    <a:ea typeface="华文中宋" pitchFamily="2" charset="-122"/>
                  </a:rPr>
                  <a:t>相同</a:t>
                </a:r>
              </a:p>
            </p:txBody>
          </p:sp>
          <p:graphicFrame>
            <p:nvGraphicFramePr>
              <p:cNvPr id="51216" name="Object 1052"/>
              <p:cNvGraphicFramePr>
                <a:graphicFrameLocks noChangeAspect="1"/>
              </p:cNvGraphicFramePr>
              <p:nvPr/>
            </p:nvGraphicFramePr>
            <p:xfrm>
              <a:off x="1111" y="2160"/>
              <a:ext cx="363" cy="207"/>
            </p:xfrm>
            <a:graphic>
              <a:graphicData uri="http://schemas.openxmlformats.org/presentationml/2006/ole">
                <p:oleObj spid="_x0000_s51242" name="Equation" r:id="rId5" imgW="355292" imgH="203024" progId="Equation.DSMT4">
                  <p:embed/>
                </p:oleObj>
              </a:graphicData>
            </a:graphic>
          </p:graphicFrame>
          <p:graphicFrame>
            <p:nvGraphicFramePr>
              <p:cNvPr id="51217" name="Object 1053"/>
              <p:cNvGraphicFramePr>
                <a:graphicFrameLocks noChangeAspect="1"/>
              </p:cNvGraphicFramePr>
              <p:nvPr/>
            </p:nvGraphicFramePr>
            <p:xfrm>
              <a:off x="4830" y="3249"/>
              <a:ext cx="180" cy="180"/>
            </p:xfrm>
            <a:graphic>
              <a:graphicData uri="http://schemas.openxmlformats.org/presentationml/2006/ole">
                <p:oleObj spid="_x0000_s51243" name="Equation" r:id="rId6" imgW="139700" imgH="139700" progId="Equation.DSMT4">
                  <p:embed/>
                </p:oleObj>
              </a:graphicData>
            </a:graphic>
          </p:graphicFrame>
        </p:grpSp>
        <p:graphicFrame>
          <p:nvGraphicFramePr>
            <p:cNvPr id="51208" name="Object 1055"/>
            <p:cNvGraphicFramePr>
              <a:graphicFrameLocks noChangeAspect="1"/>
            </p:cNvGraphicFramePr>
            <p:nvPr/>
          </p:nvGraphicFramePr>
          <p:xfrm>
            <a:off x="1934" y="1653"/>
            <a:ext cx="265" cy="189"/>
          </p:xfrm>
          <a:graphic>
            <a:graphicData uri="http://schemas.openxmlformats.org/presentationml/2006/ole">
              <p:oleObj spid="_x0000_s51244" name="Equation" r:id="rId7" imgW="381000" imgH="228600" progId="Equation.DSMT4">
                <p:embed/>
              </p:oleObj>
            </a:graphicData>
          </a:graphic>
        </p:graphicFrame>
        <p:graphicFrame>
          <p:nvGraphicFramePr>
            <p:cNvPr id="51209" name="Object 1056"/>
            <p:cNvGraphicFramePr>
              <a:graphicFrameLocks noChangeAspect="1"/>
            </p:cNvGraphicFramePr>
            <p:nvPr/>
          </p:nvGraphicFramePr>
          <p:xfrm>
            <a:off x="2479" y="1900"/>
            <a:ext cx="265" cy="222"/>
          </p:xfrm>
          <a:graphic>
            <a:graphicData uri="http://schemas.openxmlformats.org/presentationml/2006/ole">
              <p:oleObj spid="_x0000_s51245" name="Equation" r:id="rId8" imgW="393529" imgH="228501" progId="Equation.DSMT4">
                <p:embed/>
              </p:oleObj>
            </a:graphicData>
          </a:graphic>
        </p:graphicFrame>
        <p:graphicFrame>
          <p:nvGraphicFramePr>
            <p:cNvPr id="51210" name="Object 1057"/>
            <p:cNvGraphicFramePr>
              <a:graphicFrameLocks noChangeAspect="1"/>
            </p:cNvGraphicFramePr>
            <p:nvPr/>
          </p:nvGraphicFramePr>
          <p:xfrm>
            <a:off x="3523" y="2326"/>
            <a:ext cx="242" cy="206"/>
          </p:xfrm>
          <a:graphic>
            <a:graphicData uri="http://schemas.openxmlformats.org/presentationml/2006/ole">
              <p:oleObj spid="_x0000_s51246" name="Equation" r:id="rId9" imgW="393529" imgH="228501" progId="Equation.DSMT4">
                <p:embed/>
              </p:oleObj>
            </a:graphicData>
          </a:graphic>
        </p:graphicFrame>
      </p:grpSp>
      <p:graphicFrame>
        <p:nvGraphicFramePr>
          <p:cNvPr id="58402" name="Object 1058"/>
          <p:cNvGraphicFramePr>
            <a:graphicFrameLocks noChangeAspect="1"/>
          </p:cNvGraphicFramePr>
          <p:nvPr/>
        </p:nvGraphicFramePr>
        <p:xfrm>
          <a:off x="3516313" y="4171950"/>
          <a:ext cx="1847850" cy="344488"/>
        </p:xfrm>
        <a:graphic>
          <a:graphicData uri="http://schemas.openxmlformats.org/presentationml/2006/ole">
            <p:oleObj spid="_x0000_s51247" name="Equation" r:id="rId10" imgW="1409700" imgH="2286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4" presetClass="entr" presetSubtype="32" fill="hold" grpId="0" nodeType="clickEffect">
                                  <p:stCondLst>
                                    <p:cond delay="0"/>
                                  </p:stCondLst>
                                  <p:childTnLst>
                                    <p:set>
                                      <p:cBhvr>
                                        <p:cTn id="6" dur="1" fill="hold">
                                          <p:stCondLst>
                                            <p:cond delay="0"/>
                                          </p:stCondLst>
                                        </p:cTn>
                                        <p:tgtEl>
                                          <p:spTgt spid="57346">
                                            <p:txEl>
                                              <p:pRg st="0" end="0"/>
                                            </p:txEl>
                                          </p:spTgt>
                                        </p:tgtEl>
                                        <p:attrNameLst>
                                          <p:attrName>style.visibility</p:attrName>
                                        </p:attrNameLst>
                                      </p:cBhvr>
                                      <p:to>
                                        <p:strVal val="visible"/>
                                      </p:to>
                                    </p:set>
                                    <p:animEffect transition="in" filter="box(out)">
                                      <p:cBhvr>
                                        <p:cTn id="7" dur="500"/>
                                        <p:tgtEl>
                                          <p:spTgt spid="57346">
                                            <p:txEl>
                                              <p:pRg st="0" end="0"/>
                                            </p:txEl>
                                          </p:spTgt>
                                        </p:tgtEl>
                                      </p:cBhvr>
                                    </p:animEffect>
                                  </p:childTnLst>
                                  <p:subTnLst>
                                    <p:audio>
                                      <p:cMediaNode>
                                        <p:cTn display="0" masterRel="sameClick">
                                          <p:stCondLst>
                                            <p:cond evt="begin" delay="0">
                                              <p:tn val="5"/>
                                            </p:cond>
                                          </p:stCondLst>
                                          <p:endCondLst>
                                            <p:cond evt="onStopAudio" delay="0">
                                              <p:tgtEl>
                                                <p:sldTgt/>
                                              </p:tgtEl>
                                            </p:cond>
                                          </p:endCondLst>
                                        </p:cTn>
                                        <p:tgtEl>
                                          <p:sndTgt r:embed="rId3" name="CAMERA.WAV"/>
                                        </p:tgtEl>
                                      </p:cMediaNode>
                                    </p:audio>
                                  </p:subTnLst>
                                </p:cTn>
                              </p:par>
                            </p:childTnLst>
                          </p:cTn>
                        </p:par>
                      </p:childTnLst>
                    </p:cTn>
                  </p:par>
                  <p:par>
                    <p:cTn id="8" fill="hold" nodeType="clickPar">
                      <p:stCondLst>
                        <p:cond delay="indefinite"/>
                      </p:stCondLst>
                      <p:childTnLst>
                        <p:par>
                          <p:cTn id="9" fill="hold" nodeType="withGroup">
                            <p:stCondLst>
                              <p:cond delay="0"/>
                            </p:stCondLst>
                            <p:childTnLst>
                              <p:par>
                                <p:cTn id="10" presetID="9" presetClass="entr" presetSubtype="0" fill="hold" nodeType="clickEffect">
                                  <p:stCondLst>
                                    <p:cond delay="0"/>
                                  </p:stCondLst>
                                  <p:childTnLst>
                                    <p:set>
                                      <p:cBhvr>
                                        <p:cTn id="11" dur="1" fill="hold">
                                          <p:stCondLst>
                                            <p:cond delay="0"/>
                                          </p:stCondLst>
                                        </p:cTn>
                                        <p:tgtEl>
                                          <p:spTgt spid="57364"/>
                                        </p:tgtEl>
                                        <p:attrNameLst>
                                          <p:attrName>style.visibility</p:attrName>
                                        </p:attrNameLst>
                                      </p:cBhvr>
                                      <p:to>
                                        <p:strVal val="visible"/>
                                      </p:to>
                                    </p:set>
                                    <p:animEffect transition="in" filter="dissolve">
                                      <p:cBhvr>
                                        <p:cTn id="12" dur="500"/>
                                        <p:tgtEl>
                                          <p:spTgt spid="5736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nodeType="clickEffect">
                                  <p:stCondLst>
                                    <p:cond delay="0"/>
                                  </p:stCondLst>
                                  <p:childTnLst>
                                    <p:set>
                                      <p:cBhvr>
                                        <p:cTn id="16" dur="1" fill="hold">
                                          <p:stCondLst>
                                            <p:cond delay="0"/>
                                          </p:stCondLst>
                                        </p:cTn>
                                        <p:tgtEl>
                                          <p:spTgt spid="2"/>
                                        </p:tgtEl>
                                        <p:attrNameLst>
                                          <p:attrName>style.visibility</p:attrName>
                                        </p:attrNameLst>
                                      </p:cBhvr>
                                      <p:to>
                                        <p:strVal val="visible"/>
                                      </p:to>
                                    </p:set>
                                    <p:animEffect transition="in" filter="blinds(horizontal)">
                                      <p:cBhvr>
                                        <p:cTn id="17" dur="500"/>
                                        <p:tgtEl>
                                          <p:spTgt spid="2"/>
                                        </p:tgtEl>
                                      </p:cBhvr>
                                    </p:animEffect>
                                  </p:childTnLst>
                                </p:cTn>
                              </p:par>
                            </p:childTnLst>
                          </p:cTn>
                        </p:par>
                        <p:par>
                          <p:cTn id="18" fill="hold" nodeType="afterGroup">
                            <p:stCondLst>
                              <p:cond delay="500"/>
                            </p:stCondLst>
                            <p:childTnLst>
                              <p:par>
                                <p:cTn id="19" presetID="23" presetClass="entr" presetSubtype="16" fill="hold" grpId="0" nodeType="afterEffect">
                                  <p:stCondLst>
                                    <p:cond delay="0"/>
                                  </p:stCondLst>
                                  <p:childTnLst>
                                    <p:set>
                                      <p:cBhvr>
                                        <p:cTn id="20" dur="1" fill="hold">
                                          <p:stCondLst>
                                            <p:cond delay="0"/>
                                          </p:stCondLst>
                                        </p:cTn>
                                        <p:tgtEl>
                                          <p:spTgt spid="58398"/>
                                        </p:tgtEl>
                                        <p:attrNameLst>
                                          <p:attrName>style.visibility</p:attrName>
                                        </p:attrNameLst>
                                      </p:cBhvr>
                                      <p:to>
                                        <p:strVal val="visible"/>
                                      </p:to>
                                    </p:set>
                                    <p:anim calcmode="lin" valueType="num">
                                      <p:cBhvr>
                                        <p:cTn id="21" dur="500" fill="hold"/>
                                        <p:tgtEl>
                                          <p:spTgt spid="58398"/>
                                        </p:tgtEl>
                                        <p:attrNameLst>
                                          <p:attrName>ppt_w</p:attrName>
                                        </p:attrNameLst>
                                      </p:cBhvr>
                                      <p:tavLst>
                                        <p:tav tm="0">
                                          <p:val>
                                            <p:fltVal val="0"/>
                                          </p:val>
                                        </p:tav>
                                        <p:tav tm="100000">
                                          <p:val>
                                            <p:strVal val="#ppt_w"/>
                                          </p:val>
                                        </p:tav>
                                      </p:tavLst>
                                    </p:anim>
                                    <p:anim calcmode="lin" valueType="num">
                                      <p:cBhvr>
                                        <p:cTn id="22" dur="500" fill="hold"/>
                                        <p:tgtEl>
                                          <p:spTgt spid="58398"/>
                                        </p:tgtEl>
                                        <p:attrNameLst>
                                          <p:attrName>ppt_h</p:attrName>
                                        </p:attrNameLst>
                                      </p:cBhvr>
                                      <p:tavLst>
                                        <p:tav tm="0">
                                          <p:val>
                                            <p:fltVal val="0"/>
                                          </p:val>
                                        </p:tav>
                                        <p:tav tm="100000">
                                          <p:val>
                                            <p:strVal val="#ppt_h"/>
                                          </p:val>
                                        </p:tav>
                                      </p:tavLst>
                                    </p:anim>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58402"/>
                                        </p:tgtEl>
                                        <p:attrNameLst>
                                          <p:attrName>style.visibility</p:attrName>
                                        </p:attrNameLst>
                                      </p:cBhvr>
                                      <p:to>
                                        <p:strVal val="visible"/>
                                      </p:to>
                                    </p:set>
                                    <p:animEffect transition="in" filter="blinds(horizontal)">
                                      <p:cBhvr>
                                        <p:cTn id="27" dur="500"/>
                                        <p:tgtEl>
                                          <p:spTgt spid="5840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7346" grpId="0" build="p" autoUpdateAnimBg="0"/>
      <p:bldP spid="58398" grpId="0" autoUpdateAnimBg="0"/>
    </p:bldLst>
  </p:timing>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Group 44"/>
          <p:cNvGrpSpPr>
            <a:grpSpLocks/>
          </p:cNvGrpSpPr>
          <p:nvPr/>
        </p:nvGrpSpPr>
        <p:grpSpPr bwMode="auto">
          <a:xfrm>
            <a:off x="827088" y="1436688"/>
            <a:ext cx="7285037" cy="542925"/>
            <a:chOff x="521" y="663"/>
            <a:chExt cx="4589" cy="454"/>
          </a:xfrm>
        </p:grpSpPr>
        <p:sp>
          <p:nvSpPr>
            <p:cNvPr id="52252" name="Text Box 5"/>
            <p:cNvSpPr txBox="1">
              <a:spLocks noChangeArrowheads="1"/>
            </p:cNvSpPr>
            <p:nvPr/>
          </p:nvSpPr>
          <p:spPr bwMode="auto">
            <a:xfrm>
              <a:off x="521" y="738"/>
              <a:ext cx="59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黑体" pitchFamily="49" charset="-122"/>
                </a:rPr>
                <a:t>（</a:t>
              </a:r>
              <a:r>
                <a:rPr lang="en-US" altLang="zh-CN" sz="1800" b="1">
                  <a:latin typeface="黑体" pitchFamily="49" charset="-122"/>
                </a:rPr>
                <a:t>1</a:t>
              </a:r>
              <a:r>
                <a:rPr lang="zh-CN" altLang="en-US" sz="1800" b="1">
                  <a:latin typeface="黑体" pitchFamily="49" charset="-122"/>
                </a:rPr>
                <a:t>）</a:t>
              </a:r>
            </a:p>
          </p:txBody>
        </p:sp>
        <p:graphicFrame>
          <p:nvGraphicFramePr>
            <p:cNvPr id="52253" name="Object 16"/>
            <p:cNvGraphicFramePr>
              <a:graphicFrameLocks noChangeAspect="1"/>
            </p:cNvGraphicFramePr>
            <p:nvPr/>
          </p:nvGraphicFramePr>
          <p:xfrm>
            <a:off x="1058" y="663"/>
            <a:ext cx="968" cy="454"/>
          </p:xfrm>
          <a:graphic>
            <a:graphicData uri="http://schemas.openxmlformats.org/presentationml/2006/ole">
              <p:oleObj spid="_x0000_s52297" name="Equation" r:id="rId3" imgW="837836" imgH="355446" progId="Equation.DSMT4">
                <p:embed/>
              </p:oleObj>
            </a:graphicData>
          </a:graphic>
        </p:graphicFrame>
        <p:graphicFrame>
          <p:nvGraphicFramePr>
            <p:cNvPr id="52254" name="Object 17"/>
            <p:cNvGraphicFramePr>
              <a:graphicFrameLocks noChangeAspect="1"/>
            </p:cNvGraphicFramePr>
            <p:nvPr/>
          </p:nvGraphicFramePr>
          <p:xfrm>
            <a:off x="2646" y="663"/>
            <a:ext cx="877" cy="416"/>
          </p:xfrm>
          <a:graphic>
            <a:graphicData uri="http://schemas.openxmlformats.org/presentationml/2006/ole">
              <p:oleObj spid="_x0000_s52298" name="Equation" r:id="rId4" imgW="748975" imgH="355446" progId="Equation.DSMT4">
                <p:embed/>
              </p:oleObj>
            </a:graphicData>
          </a:graphic>
        </p:graphicFrame>
        <p:graphicFrame>
          <p:nvGraphicFramePr>
            <p:cNvPr id="52255" name="Object 18"/>
            <p:cNvGraphicFramePr>
              <a:graphicFrameLocks noChangeAspect="1"/>
            </p:cNvGraphicFramePr>
            <p:nvPr/>
          </p:nvGraphicFramePr>
          <p:xfrm>
            <a:off x="4235" y="663"/>
            <a:ext cx="875" cy="412"/>
          </p:xfrm>
          <a:graphic>
            <a:graphicData uri="http://schemas.openxmlformats.org/presentationml/2006/ole">
              <p:oleObj spid="_x0000_s52299" name="Equation" r:id="rId5" imgW="761669" imgH="330057" progId="Equation.DSMT4">
                <p:embed/>
              </p:oleObj>
            </a:graphicData>
          </a:graphic>
        </p:graphicFrame>
        <p:sp>
          <p:nvSpPr>
            <p:cNvPr id="52256" name="Text Box 19"/>
            <p:cNvSpPr txBox="1">
              <a:spLocks noChangeArrowheads="1"/>
            </p:cNvSpPr>
            <p:nvPr/>
          </p:nvSpPr>
          <p:spPr bwMode="auto">
            <a:xfrm>
              <a:off x="2154" y="709"/>
              <a:ext cx="59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黑体" pitchFamily="49" charset="-122"/>
                </a:rPr>
                <a:t>（</a:t>
              </a:r>
              <a:r>
                <a:rPr lang="en-US" altLang="zh-CN" sz="1800" b="1">
                  <a:latin typeface="黑体" pitchFamily="49" charset="-122"/>
                </a:rPr>
                <a:t>2</a:t>
              </a:r>
              <a:r>
                <a:rPr lang="zh-CN" altLang="en-US" sz="1800" b="1">
                  <a:latin typeface="黑体" pitchFamily="49" charset="-122"/>
                </a:rPr>
                <a:t>）</a:t>
              </a:r>
            </a:p>
          </p:txBody>
        </p:sp>
        <p:sp>
          <p:nvSpPr>
            <p:cNvPr id="52257" name="Text Box 20"/>
            <p:cNvSpPr txBox="1">
              <a:spLocks noChangeArrowheads="1"/>
            </p:cNvSpPr>
            <p:nvPr/>
          </p:nvSpPr>
          <p:spPr bwMode="auto">
            <a:xfrm>
              <a:off x="3697" y="709"/>
              <a:ext cx="59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黑体" pitchFamily="49" charset="-122"/>
                </a:rPr>
                <a:t>（</a:t>
              </a:r>
              <a:r>
                <a:rPr lang="en-US" altLang="zh-CN" sz="1800" b="1">
                  <a:latin typeface="黑体" pitchFamily="49" charset="-122"/>
                </a:rPr>
                <a:t>3</a:t>
              </a:r>
              <a:r>
                <a:rPr lang="zh-CN" altLang="en-US" sz="1800" b="1">
                  <a:latin typeface="黑体" pitchFamily="49" charset="-122"/>
                </a:rPr>
                <a:t>）</a:t>
              </a:r>
            </a:p>
          </p:txBody>
        </p:sp>
      </p:grpSp>
      <p:grpSp>
        <p:nvGrpSpPr>
          <p:cNvPr id="3" name="Group 26"/>
          <p:cNvGrpSpPr>
            <a:grpSpLocks/>
          </p:cNvGrpSpPr>
          <p:nvPr/>
        </p:nvGrpSpPr>
        <p:grpSpPr bwMode="auto">
          <a:xfrm>
            <a:off x="320675" y="771525"/>
            <a:ext cx="8643938" cy="679450"/>
            <a:chOff x="202" y="104"/>
            <a:chExt cx="5445" cy="570"/>
          </a:xfrm>
        </p:grpSpPr>
        <p:sp>
          <p:nvSpPr>
            <p:cNvPr id="52249" name="Text Box 2"/>
            <p:cNvSpPr txBox="1">
              <a:spLocks noChangeArrowheads="1"/>
            </p:cNvSpPr>
            <p:nvPr/>
          </p:nvSpPr>
          <p:spPr bwMode="auto">
            <a:xfrm>
              <a:off x="202" y="132"/>
              <a:ext cx="5445" cy="54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00FF"/>
                  </a:solidFill>
                  <a:ea typeface="华文中宋" pitchFamily="2" charset="-122"/>
                </a:rPr>
                <a:t>例    已知</a:t>
              </a:r>
              <a:r>
                <a:rPr lang="zh-CN" altLang="en-US" sz="1800" b="1" i="1">
                  <a:solidFill>
                    <a:srgbClr val="0000FF"/>
                  </a:solidFill>
                  <a:ea typeface="华文中宋" pitchFamily="2" charset="-122"/>
                </a:rPr>
                <a:t>        </a:t>
              </a:r>
              <a:r>
                <a:rPr lang="zh-CN" altLang="en-US" sz="1800" b="1">
                  <a:solidFill>
                    <a:srgbClr val="0000FF"/>
                  </a:solidFill>
                  <a:ea typeface="华文中宋" pitchFamily="2" charset="-122"/>
                </a:rPr>
                <a:t>为麦克斯韦速率分布函数，  是分子的最概然速率</a:t>
              </a:r>
              <a:endParaRPr lang="en-US" altLang="zh-CN" sz="1800" b="1">
                <a:solidFill>
                  <a:srgbClr val="0000FF"/>
                </a:solidFill>
                <a:ea typeface="华文中宋" pitchFamily="2" charset="-122"/>
              </a:endParaRPr>
            </a:p>
            <a:p>
              <a:pPr eaLnBrk="1" hangingPunct="1"/>
              <a:r>
                <a:rPr lang="en-US" altLang="zh-CN" sz="1800" b="1">
                  <a:solidFill>
                    <a:srgbClr val="0000FF"/>
                  </a:solidFill>
                  <a:ea typeface="华文中宋" pitchFamily="2" charset="-122"/>
                </a:rPr>
                <a:t>1</a:t>
              </a:r>
              <a:r>
                <a:rPr lang="zh-CN" altLang="en-US" sz="1800" b="1">
                  <a:solidFill>
                    <a:srgbClr val="0000FF"/>
                  </a:solidFill>
                  <a:ea typeface="华文中宋" pitchFamily="2" charset="-122"/>
                </a:rPr>
                <a:t>、试说明下列各式的物理意义。</a:t>
              </a:r>
            </a:p>
          </p:txBody>
        </p:sp>
        <p:graphicFrame>
          <p:nvGraphicFramePr>
            <p:cNvPr id="52250" name="Object 23"/>
            <p:cNvGraphicFramePr>
              <a:graphicFrameLocks noChangeAspect="1"/>
            </p:cNvGraphicFramePr>
            <p:nvPr/>
          </p:nvGraphicFramePr>
          <p:xfrm>
            <a:off x="793" y="164"/>
            <a:ext cx="317" cy="233"/>
          </p:xfrm>
          <a:graphic>
            <a:graphicData uri="http://schemas.openxmlformats.org/presentationml/2006/ole">
              <p:oleObj spid="_x0000_s52300" name="Equation" r:id="rId6" imgW="355292" imgH="203024" progId="Equation.DSMT4">
                <p:embed/>
              </p:oleObj>
            </a:graphicData>
          </a:graphic>
        </p:graphicFrame>
        <p:graphicFrame>
          <p:nvGraphicFramePr>
            <p:cNvPr id="52251" name="Object 24"/>
            <p:cNvGraphicFramePr>
              <a:graphicFrameLocks noChangeAspect="1"/>
            </p:cNvGraphicFramePr>
            <p:nvPr/>
          </p:nvGraphicFramePr>
          <p:xfrm>
            <a:off x="2790" y="104"/>
            <a:ext cx="181" cy="317"/>
          </p:xfrm>
          <a:graphic>
            <a:graphicData uri="http://schemas.openxmlformats.org/presentationml/2006/ole">
              <p:oleObj spid="_x0000_s52301" name="Equation" r:id="rId7" imgW="190417" imgH="241195" progId="Equation.DSMT4">
                <p:embed/>
              </p:oleObj>
            </a:graphicData>
          </a:graphic>
        </p:graphicFrame>
      </p:grpSp>
      <p:sp>
        <p:nvSpPr>
          <p:cNvPr id="59420" name="Text Box 28"/>
          <p:cNvSpPr txBox="1">
            <a:spLocks noChangeArrowheads="1"/>
          </p:cNvSpPr>
          <p:nvPr/>
        </p:nvSpPr>
        <p:spPr bwMode="auto">
          <a:xfrm>
            <a:off x="395288" y="2155825"/>
            <a:ext cx="950912"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黑体" pitchFamily="49" charset="-122"/>
              </a:rPr>
              <a:t>（</a:t>
            </a:r>
            <a:r>
              <a:rPr lang="en-US" altLang="zh-CN" sz="1800" b="1">
                <a:latin typeface="黑体" pitchFamily="49" charset="-122"/>
              </a:rPr>
              <a:t>1</a:t>
            </a:r>
            <a:r>
              <a:rPr lang="zh-CN" altLang="en-US" sz="1800" b="1">
                <a:latin typeface="黑体" pitchFamily="49" charset="-122"/>
              </a:rPr>
              <a:t>）</a:t>
            </a:r>
          </a:p>
        </p:txBody>
      </p:sp>
      <p:graphicFrame>
        <p:nvGraphicFramePr>
          <p:cNvPr id="59421" name="Object 29"/>
          <p:cNvGraphicFramePr>
            <a:graphicFrameLocks noChangeAspect="1"/>
          </p:cNvGraphicFramePr>
          <p:nvPr/>
        </p:nvGraphicFramePr>
        <p:xfrm>
          <a:off x="1247775" y="2066925"/>
          <a:ext cx="1379538" cy="541338"/>
        </p:xfrm>
        <a:graphic>
          <a:graphicData uri="http://schemas.openxmlformats.org/presentationml/2006/ole">
            <p:oleObj spid="_x0000_s52302" name="Equation" r:id="rId8" imgW="837836" imgH="355446" progId="Equation.DSMT4">
              <p:embed/>
            </p:oleObj>
          </a:graphicData>
        </a:graphic>
      </p:graphicFrame>
      <p:grpSp>
        <p:nvGrpSpPr>
          <p:cNvPr id="4" name="Group 31"/>
          <p:cNvGrpSpPr>
            <a:grpSpLocks/>
          </p:cNvGrpSpPr>
          <p:nvPr/>
        </p:nvGrpSpPr>
        <p:grpSpPr bwMode="auto">
          <a:xfrm>
            <a:off x="2700338" y="2122488"/>
            <a:ext cx="6164262" cy="385762"/>
            <a:chOff x="1701" y="1253"/>
            <a:chExt cx="3883" cy="324"/>
          </a:xfrm>
        </p:grpSpPr>
        <p:sp>
          <p:nvSpPr>
            <p:cNvPr id="52247" name="Text Box 11"/>
            <p:cNvSpPr txBox="1">
              <a:spLocks noChangeArrowheads="1"/>
            </p:cNvSpPr>
            <p:nvPr/>
          </p:nvSpPr>
          <p:spPr bwMode="auto">
            <a:xfrm>
              <a:off x="1701" y="1266"/>
              <a:ext cx="3883" cy="31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：表示速率分布在区间            内的分子数。 </a:t>
              </a:r>
            </a:p>
          </p:txBody>
        </p:sp>
        <p:graphicFrame>
          <p:nvGraphicFramePr>
            <p:cNvPr id="52248" name="Object 30"/>
            <p:cNvGraphicFramePr>
              <a:graphicFrameLocks noChangeAspect="1"/>
            </p:cNvGraphicFramePr>
            <p:nvPr/>
          </p:nvGraphicFramePr>
          <p:xfrm>
            <a:off x="3194" y="1253"/>
            <a:ext cx="449" cy="282"/>
          </p:xfrm>
          <a:graphic>
            <a:graphicData uri="http://schemas.openxmlformats.org/presentationml/2006/ole">
              <p:oleObj spid="_x0000_s52303" name="Equation" r:id="rId9" imgW="444307" imgH="228501" progId="Equation.DSMT4">
                <p:embed/>
              </p:oleObj>
            </a:graphicData>
          </a:graphic>
        </p:graphicFrame>
      </p:grpSp>
      <p:graphicFrame>
        <p:nvGraphicFramePr>
          <p:cNvPr id="59425" name="Object 33"/>
          <p:cNvGraphicFramePr>
            <a:graphicFrameLocks noChangeAspect="1"/>
          </p:cNvGraphicFramePr>
          <p:nvPr/>
        </p:nvGraphicFramePr>
        <p:xfrm>
          <a:off x="1331913" y="2660650"/>
          <a:ext cx="1235075" cy="495300"/>
        </p:xfrm>
        <a:graphic>
          <a:graphicData uri="http://schemas.openxmlformats.org/presentationml/2006/ole">
            <p:oleObj spid="_x0000_s52304" name="Equation" r:id="rId10" imgW="748975" imgH="355446" progId="Equation.DSMT4">
              <p:embed/>
            </p:oleObj>
          </a:graphicData>
        </a:graphic>
      </p:graphicFrame>
      <p:sp>
        <p:nvSpPr>
          <p:cNvPr id="59426" name="Text Box 34"/>
          <p:cNvSpPr txBox="1">
            <a:spLocks noChangeArrowheads="1"/>
          </p:cNvSpPr>
          <p:nvPr/>
        </p:nvSpPr>
        <p:spPr bwMode="auto">
          <a:xfrm>
            <a:off x="395288" y="2716213"/>
            <a:ext cx="95091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黑体" pitchFamily="49" charset="-122"/>
              </a:rPr>
              <a:t>（</a:t>
            </a:r>
            <a:r>
              <a:rPr lang="en-US" altLang="zh-CN" sz="1800" b="1">
                <a:latin typeface="黑体" pitchFamily="49" charset="-122"/>
              </a:rPr>
              <a:t>2</a:t>
            </a:r>
            <a:r>
              <a:rPr lang="zh-CN" altLang="en-US" sz="1800" b="1">
                <a:latin typeface="黑体" pitchFamily="49" charset="-122"/>
              </a:rPr>
              <a:t>）</a:t>
            </a:r>
          </a:p>
        </p:txBody>
      </p:sp>
      <p:grpSp>
        <p:nvGrpSpPr>
          <p:cNvPr id="5" name="Group 41"/>
          <p:cNvGrpSpPr>
            <a:grpSpLocks/>
          </p:cNvGrpSpPr>
          <p:nvPr/>
        </p:nvGrpSpPr>
        <p:grpSpPr bwMode="auto">
          <a:xfrm>
            <a:off x="2700338" y="2716213"/>
            <a:ext cx="6192837" cy="369887"/>
            <a:chOff x="1701" y="1752"/>
            <a:chExt cx="3901" cy="310"/>
          </a:xfrm>
        </p:grpSpPr>
        <p:sp>
          <p:nvSpPr>
            <p:cNvPr id="52245" name="Text Box 17"/>
            <p:cNvSpPr txBox="1">
              <a:spLocks noChangeArrowheads="1"/>
            </p:cNvSpPr>
            <p:nvPr/>
          </p:nvSpPr>
          <p:spPr bwMode="auto">
            <a:xfrm>
              <a:off x="1701" y="1752"/>
              <a:ext cx="3901"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：表示速率分布在            区间内的分子数占总分子的百分比。 </a:t>
              </a:r>
            </a:p>
          </p:txBody>
        </p:sp>
        <p:graphicFrame>
          <p:nvGraphicFramePr>
            <p:cNvPr id="52246" name="Object 35"/>
            <p:cNvGraphicFramePr>
              <a:graphicFrameLocks noChangeAspect="1"/>
            </p:cNvGraphicFramePr>
            <p:nvPr/>
          </p:nvGraphicFramePr>
          <p:xfrm>
            <a:off x="2925" y="1752"/>
            <a:ext cx="454" cy="304"/>
          </p:xfrm>
          <a:graphic>
            <a:graphicData uri="http://schemas.openxmlformats.org/presentationml/2006/ole">
              <p:oleObj spid="_x0000_s52305" name="Equation" r:id="rId11" imgW="444307" imgH="228501" progId="Equation.DSMT4">
                <p:embed/>
              </p:oleObj>
            </a:graphicData>
          </a:graphic>
        </p:graphicFrame>
      </p:grpSp>
      <p:graphicFrame>
        <p:nvGraphicFramePr>
          <p:cNvPr id="59428" name="Object 36"/>
          <p:cNvGraphicFramePr>
            <a:graphicFrameLocks noChangeAspect="1"/>
          </p:cNvGraphicFramePr>
          <p:nvPr/>
        </p:nvGraphicFramePr>
        <p:xfrm>
          <a:off x="1393825" y="3251200"/>
          <a:ext cx="1162050" cy="492125"/>
        </p:xfrm>
        <a:graphic>
          <a:graphicData uri="http://schemas.openxmlformats.org/presentationml/2006/ole">
            <p:oleObj spid="_x0000_s52306" name="Equation" r:id="rId12" imgW="761669" imgH="330057" progId="Equation.DSMT4">
              <p:embed/>
            </p:oleObj>
          </a:graphicData>
        </a:graphic>
      </p:graphicFrame>
      <p:sp>
        <p:nvSpPr>
          <p:cNvPr id="59429" name="Text Box 37"/>
          <p:cNvSpPr txBox="1">
            <a:spLocks noChangeArrowheads="1"/>
          </p:cNvSpPr>
          <p:nvPr/>
        </p:nvSpPr>
        <p:spPr bwMode="auto">
          <a:xfrm>
            <a:off x="395288" y="3306763"/>
            <a:ext cx="95091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黑体" pitchFamily="49" charset="-122"/>
              </a:rPr>
              <a:t>（</a:t>
            </a:r>
            <a:r>
              <a:rPr lang="en-US" altLang="zh-CN" sz="1800" b="1">
                <a:latin typeface="黑体" pitchFamily="49" charset="-122"/>
              </a:rPr>
              <a:t>3</a:t>
            </a:r>
            <a:r>
              <a:rPr lang="zh-CN" altLang="en-US" sz="1800" b="1">
                <a:latin typeface="黑体" pitchFamily="49" charset="-122"/>
              </a:rPr>
              <a:t>）</a:t>
            </a:r>
          </a:p>
        </p:txBody>
      </p:sp>
      <p:grpSp>
        <p:nvGrpSpPr>
          <p:cNvPr id="6" name="Group 40"/>
          <p:cNvGrpSpPr>
            <a:grpSpLocks/>
          </p:cNvGrpSpPr>
          <p:nvPr/>
        </p:nvGrpSpPr>
        <p:grpSpPr bwMode="auto">
          <a:xfrm>
            <a:off x="2700338" y="3309938"/>
            <a:ext cx="6192837" cy="373062"/>
            <a:chOff x="1701" y="2251"/>
            <a:chExt cx="3901" cy="313"/>
          </a:xfrm>
        </p:grpSpPr>
        <p:sp>
          <p:nvSpPr>
            <p:cNvPr id="52243" name="Text Box 38"/>
            <p:cNvSpPr txBox="1">
              <a:spLocks noChangeArrowheads="1"/>
            </p:cNvSpPr>
            <p:nvPr/>
          </p:nvSpPr>
          <p:spPr bwMode="auto">
            <a:xfrm>
              <a:off x="1701" y="2251"/>
              <a:ext cx="3901"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：表示速率分布在           区间内的分子数占总分子的百分比。 </a:t>
              </a:r>
            </a:p>
          </p:txBody>
        </p:sp>
        <p:graphicFrame>
          <p:nvGraphicFramePr>
            <p:cNvPr id="52244" name="Object 39"/>
            <p:cNvGraphicFramePr>
              <a:graphicFrameLocks noChangeAspect="1"/>
            </p:cNvGraphicFramePr>
            <p:nvPr/>
          </p:nvGraphicFramePr>
          <p:xfrm>
            <a:off x="2925" y="2278"/>
            <a:ext cx="409" cy="286"/>
          </p:xfrm>
          <a:graphic>
            <a:graphicData uri="http://schemas.openxmlformats.org/presentationml/2006/ole">
              <p:oleObj spid="_x0000_s52307" name="Equation" r:id="rId13" imgW="393529" imgH="241195" progId="Equation.DSMT4">
                <p:embed/>
              </p:oleObj>
            </a:graphicData>
          </a:graphic>
        </p:graphicFrame>
      </p:grpSp>
      <p:grpSp>
        <p:nvGrpSpPr>
          <p:cNvPr id="8" name="组合 7"/>
          <p:cNvGrpSpPr>
            <a:grpSpLocks/>
          </p:cNvGrpSpPr>
          <p:nvPr/>
        </p:nvGrpSpPr>
        <p:grpSpPr bwMode="auto">
          <a:xfrm>
            <a:off x="395288" y="3786188"/>
            <a:ext cx="6486525" cy="369887"/>
            <a:chOff x="395288" y="3786594"/>
            <a:chExt cx="6486525" cy="369332"/>
          </a:xfrm>
        </p:grpSpPr>
        <p:sp>
          <p:nvSpPr>
            <p:cNvPr id="52241" name="Rectangle 15"/>
            <p:cNvSpPr>
              <a:spLocks noChangeArrowheads="1"/>
            </p:cNvSpPr>
            <p:nvPr/>
          </p:nvSpPr>
          <p:spPr bwMode="auto">
            <a:xfrm>
              <a:off x="395288" y="3786594"/>
              <a:ext cx="6486525" cy="36933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en-US" altLang="zh-CN" sz="1800" b="1">
                  <a:solidFill>
                    <a:srgbClr val="0000FF"/>
                  </a:solidFill>
                  <a:latin typeface="华文中宋" pitchFamily="2" charset="-122"/>
                  <a:ea typeface="华文中宋" pitchFamily="2" charset="-122"/>
                </a:rPr>
                <a:t>2</a:t>
              </a:r>
              <a:r>
                <a:rPr lang="zh-CN" altLang="en-US" sz="1800" b="1">
                  <a:solidFill>
                    <a:srgbClr val="0000FF"/>
                  </a:solidFill>
                  <a:latin typeface="华文中宋" pitchFamily="2" charset="-122"/>
                  <a:ea typeface="华文中宋" pitchFamily="2" charset="-122"/>
                </a:rPr>
                <a:t>、速率在       之间的分子的平均速率表达式。</a:t>
              </a:r>
            </a:p>
          </p:txBody>
        </p:sp>
        <p:graphicFrame>
          <p:nvGraphicFramePr>
            <p:cNvPr id="52242" name="Object 42"/>
            <p:cNvGraphicFramePr>
              <a:graphicFrameLocks noChangeAspect="1"/>
            </p:cNvGraphicFramePr>
            <p:nvPr/>
          </p:nvGraphicFramePr>
          <p:xfrm>
            <a:off x="1548086" y="3790801"/>
            <a:ext cx="503634" cy="365125"/>
          </p:xfrm>
          <a:graphic>
            <a:graphicData uri="http://schemas.openxmlformats.org/presentationml/2006/ole">
              <p:oleObj spid="_x0000_s52308" name="Equation" r:id="rId14" imgW="393529" imgH="241195" progId="Equation.DSMT4">
                <p:embed/>
              </p:oleObj>
            </a:graphicData>
          </a:graphic>
        </p:graphicFrame>
      </p:grpSp>
      <p:graphicFrame>
        <p:nvGraphicFramePr>
          <p:cNvPr id="59435" name="Object 43"/>
          <p:cNvGraphicFramePr>
            <a:graphicFrameLocks noChangeAspect="1"/>
          </p:cNvGraphicFramePr>
          <p:nvPr/>
        </p:nvGraphicFramePr>
        <p:xfrm>
          <a:off x="2597150" y="4129088"/>
          <a:ext cx="3198813" cy="530225"/>
        </p:xfrm>
        <a:graphic>
          <a:graphicData uri="http://schemas.openxmlformats.org/presentationml/2006/ole">
            <p:oleObj spid="_x0000_s52309" name="Equation" r:id="rId15" imgW="1917700" imgH="330200" progId="Equation.DSMT4">
              <p:embed/>
            </p:oleObj>
          </a:graphicData>
        </a:graphic>
      </p:graphicFrame>
      <p:sp>
        <p:nvSpPr>
          <p:cNvPr id="7" name="TextBox 6"/>
          <p:cNvSpPr txBox="1">
            <a:spLocks noChangeArrowheads="1"/>
          </p:cNvSpPr>
          <p:nvPr/>
        </p:nvSpPr>
        <p:spPr bwMode="auto">
          <a:xfrm>
            <a:off x="320675" y="1862138"/>
            <a:ext cx="646113"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a:solidFill>
                  <a:srgbClr val="FF0000"/>
                </a:solidFill>
              </a:rPr>
              <a:t>解：</a:t>
            </a:r>
          </a:p>
        </p:txBody>
      </p:sp>
      <p:sp>
        <p:nvSpPr>
          <p:cNvPr id="32" name="TextBox 31"/>
          <p:cNvSpPr txBox="1">
            <a:spLocks noChangeArrowheads="1"/>
          </p:cNvSpPr>
          <p:nvPr/>
        </p:nvSpPr>
        <p:spPr bwMode="auto">
          <a:xfrm>
            <a:off x="395288" y="4156075"/>
            <a:ext cx="646112"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a:solidFill>
                  <a:srgbClr val="FF0000"/>
                </a:solidFill>
              </a:rPr>
              <a:t>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blinds(horizontal)">
                                      <p:cBhvr>
                                        <p:cTn id="7" dur="500"/>
                                        <p:tgtEl>
                                          <p:spTgt spid="3"/>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9421"/>
                                        </p:tgtEl>
                                        <p:attrNameLst>
                                          <p:attrName>style.visibility</p:attrName>
                                        </p:attrNameLst>
                                      </p:cBhvr>
                                      <p:to>
                                        <p:strVal val="visible"/>
                                      </p:to>
                                    </p:set>
                                    <p:animEffect transition="in" filter="blinds(horizontal)">
                                      <p:cBhvr>
                                        <p:cTn id="22" dur="500"/>
                                        <p:tgtEl>
                                          <p:spTgt spid="59421"/>
                                        </p:tgtEl>
                                      </p:cBhvr>
                                    </p:animEffect>
                                  </p:childTnLst>
                                </p:cTn>
                              </p:par>
                              <p:par>
                                <p:cTn id="23" presetID="3" presetClass="entr" presetSubtype="10" fill="hold" grpId="0" nodeType="withEffect">
                                  <p:stCondLst>
                                    <p:cond delay="0"/>
                                  </p:stCondLst>
                                  <p:childTnLst>
                                    <p:set>
                                      <p:cBhvr>
                                        <p:cTn id="24" dur="1" fill="hold">
                                          <p:stCondLst>
                                            <p:cond delay="0"/>
                                          </p:stCondLst>
                                        </p:cTn>
                                        <p:tgtEl>
                                          <p:spTgt spid="59420"/>
                                        </p:tgtEl>
                                        <p:attrNameLst>
                                          <p:attrName>style.visibility</p:attrName>
                                        </p:attrNameLst>
                                      </p:cBhvr>
                                      <p:to>
                                        <p:strVal val="visible"/>
                                      </p:to>
                                    </p:set>
                                    <p:animEffect transition="in" filter="blinds(horizontal)">
                                      <p:cBhvr>
                                        <p:cTn id="25" dur="500"/>
                                        <p:tgtEl>
                                          <p:spTgt spid="59420"/>
                                        </p:tgtEl>
                                      </p:cBhvr>
                                    </p:animEffect>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4"/>
                                        </p:tgtEl>
                                        <p:attrNameLst>
                                          <p:attrName>style.visibility</p:attrName>
                                        </p:attrNameLst>
                                      </p:cBhvr>
                                      <p:to>
                                        <p:strVal val="visible"/>
                                      </p:to>
                                    </p:set>
                                    <p:animEffect transition="in" filter="blinds(horizontal)">
                                      <p:cBhvr>
                                        <p:cTn id="30" dur="500"/>
                                        <p:tgtEl>
                                          <p:spTgt spid="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59425"/>
                                        </p:tgtEl>
                                        <p:attrNameLst>
                                          <p:attrName>style.visibility</p:attrName>
                                        </p:attrNameLst>
                                      </p:cBhvr>
                                      <p:to>
                                        <p:strVal val="visible"/>
                                      </p:to>
                                    </p:set>
                                    <p:animEffect transition="in" filter="blinds(horizontal)">
                                      <p:cBhvr>
                                        <p:cTn id="35" dur="500"/>
                                        <p:tgtEl>
                                          <p:spTgt spid="59425"/>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59426"/>
                                        </p:tgtEl>
                                        <p:attrNameLst>
                                          <p:attrName>style.visibility</p:attrName>
                                        </p:attrNameLst>
                                      </p:cBhvr>
                                      <p:to>
                                        <p:strVal val="visible"/>
                                      </p:to>
                                    </p:set>
                                    <p:animEffect transition="in" filter="blinds(horizontal)">
                                      <p:cBhvr>
                                        <p:cTn id="38" dur="500"/>
                                        <p:tgtEl>
                                          <p:spTgt spid="5942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5"/>
                                        </p:tgtEl>
                                        <p:attrNameLst>
                                          <p:attrName>style.visibility</p:attrName>
                                        </p:attrNameLst>
                                      </p:cBhvr>
                                      <p:to>
                                        <p:strVal val="visible"/>
                                      </p:to>
                                    </p:set>
                                    <p:animEffect transition="in" filter="blinds(horizontal)">
                                      <p:cBhvr>
                                        <p:cTn id="43" dur="500"/>
                                        <p:tgtEl>
                                          <p:spTgt spid="5"/>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59428"/>
                                        </p:tgtEl>
                                        <p:attrNameLst>
                                          <p:attrName>style.visibility</p:attrName>
                                        </p:attrNameLst>
                                      </p:cBhvr>
                                      <p:to>
                                        <p:strVal val="visible"/>
                                      </p:to>
                                    </p:set>
                                    <p:animEffect transition="in" filter="blinds(horizontal)">
                                      <p:cBhvr>
                                        <p:cTn id="48" dur="500"/>
                                        <p:tgtEl>
                                          <p:spTgt spid="59428"/>
                                        </p:tgtEl>
                                      </p:cBhvr>
                                    </p:animEffect>
                                  </p:childTnLst>
                                </p:cTn>
                              </p:par>
                              <p:par>
                                <p:cTn id="49" presetID="3" presetClass="entr" presetSubtype="10" fill="hold" grpId="0" nodeType="withEffect">
                                  <p:stCondLst>
                                    <p:cond delay="0"/>
                                  </p:stCondLst>
                                  <p:childTnLst>
                                    <p:set>
                                      <p:cBhvr>
                                        <p:cTn id="50" dur="1" fill="hold">
                                          <p:stCondLst>
                                            <p:cond delay="0"/>
                                          </p:stCondLst>
                                        </p:cTn>
                                        <p:tgtEl>
                                          <p:spTgt spid="59429"/>
                                        </p:tgtEl>
                                        <p:attrNameLst>
                                          <p:attrName>style.visibility</p:attrName>
                                        </p:attrNameLst>
                                      </p:cBhvr>
                                      <p:to>
                                        <p:strVal val="visible"/>
                                      </p:to>
                                    </p:set>
                                    <p:animEffect transition="in" filter="blinds(horizontal)">
                                      <p:cBhvr>
                                        <p:cTn id="51" dur="500"/>
                                        <p:tgtEl>
                                          <p:spTgt spid="59429"/>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3" presetClass="entr" presetSubtype="10" fill="hold" nodeType="clickEffect">
                                  <p:stCondLst>
                                    <p:cond delay="0"/>
                                  </p:stCondLst>
                                  <p:childTnLst>
                                    <p:set>
                                      <p:cBhvr>
                                        <p:cTn id="55" dur="1" fill="hold">
                                          <p:stCondLst>
                                            <p:cond delay="0"/>
                                          </p:stCondLst>
                                        </p:cTn>
                                        <p:tgtEl>
                                          <p:spTgt spid="6"/>
                                        </p:tgtEl>
                                        <p:attrNameLst>
                                          <p:attrName>style.visibility</p:attrName>
                                        </p:attrNameLst>
                                      </p:cBhvr>
                                      <p:to>
                                        <p:strVal val="visible"/>
                                      </p:to>
                                    </p:set>
                                    <p:animEffect transition="in" filter="blinds(horizontal)">
                                      <p:cBhvr>
                                        <p:cTn id="56" dur="500"/>
                                        <p:tgtEl>
                                          <p:spTgt spid="6"/>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22" presetClass="entr" presetSubtype="8" fill="hold" nodeType="clickEffect">
                                  <p:stCondLst>
                                    <p:cond delay="0"/>
                                  </p:stCondLst>
                                  <p:childTnLst>
                                    <p:set>
                                      <p:cBhvr>
                                        <p:cTn id="60" dur="1" fill="hold">
                                          <p:stCondLst>
                                            <p:cond delay="0"/>
                                          </p:stCondLst>
                                        </p:cTn>
                                        <p:tgtEl>
                                          <p:spTgt spid="8"/>
                                        </p:tgtEl>
                                        <p:attrNameLst>
                                          <p:attrName>style.visibility</p:attrName>
                                        </p:attrNameLst>
                                      </p:cBhvr>
                                      <p:to>
                                        <p:strVal val="visible"/>
                                      </p:to>
                                    </p:set>
                                    <p:animEffect transition="in" filter="wipe(left)">
                                      <p:cBhvr>
                                        <p:cTn id="61" dur="500"/>
                                        <p:tgtEl>
                                          <p:spTgt spid="8"/>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22" presetClass="entr" presetSubtype="8" fill="hold" grpId="0" nodeType="clickEffect">
                                  <p:stCondLst>
                                    <p:cond delay="0"/>
                                  </p:stCondLst>
                                  <p:childTnLst>
                                    <p:set>
                                      <p:cBhvr>
                                        <p:cTn id="65" dur="1" fill="hold">
                                          <p:stCondLst>
                                            <p:cond delay="0"/>
                                          </p:stCondLst>
                                        </p:cTn>
                                        <p:tgtEl>
                                          <p:spTgt spid="32"/>
                                        </p:tgtEl>
                                        <p:attrNameLst>
                                          <p:attrName>style.visibility</p:attrName>
                                        </p:attrNameLst>
                                      </p:cBhvr>
                                      <p:to>
                                        <p:strVal val="visible"/>
                                      </p:to>
                                    </p:set>
                                    <p:animEffect transition="in" filter="wipe(left)">
                                      <p:cBhvr>
                                        <p:cTn id="66" dur="500"/>
                                        <p:tgtEl>
                                          <p:spTgt spid="32"/>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3" presetClass="entr" presetSubtype="10" fill="hold" nodeType="clickEffect">
                                  <p:stCondLst>
                                    <p:cond delay="0"/>
                                  </p:stCondLst>
                                  <p:childTnLst>
                                    <p:set>
                                      <p:cBhvr>
                                        <p:cTn id="70" dur="1" fill="hold">
                                          <p:stCondLst>
                                            <p:cond delay="0"/>
                                          </p:stCondLst>
                                        </p:cTn>
                                        <p:tgtEl>
                                          <p:spTgt spid="59435"/>
                                        </p:tgtEl>
                                        <p:attrNameLst>
                                          <p:attrName>style.visibility</p:attrName>
                                        </p:attrNameLst>
                                      </p:cBhvr>
                                      <p:to>
                                        <p:strVal val="visible"/>
                                      </p:to>
                                    </p:set>
                                    <p:animEffect transition="in" filter="blinds(horizontal)">
                                      <p:cBhvr>
                                        <p:cTn id="71" dur="500"/>
                                        <p:tgtEl>
                                          <p:spTgt spid="5943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420" grpId="0"/>
      <p:bldP spid="59426" grpId="0"/>
      <p:bldP spid="59429" grpId="0"/>
      <p:bldP spid="7" grpId="0"/>
      <p:bldP spid="32" grpId="0"/>
    </p:bldLst>
  </p:timing>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970" name="Text Box 2"/>
          <p:cNvSpPr txBox="1">
            <a:spLocks noChangeArrowheads="1"/>
          </p:cNvSpPr>
          <p:nvPr/>
        </p:nvSpPr>
        <p:spPr bwMode="auto">
          <a:xfrm>
            <a:off x="395288" y="784225"/>
            <a:ext cx="8382000" cy="9239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00FF"/>
                </a:solidFill>
                <a:ea typeface="华文中宋" pitchFamily="2" charset="-122"/>
              </a:rPr>
              <a:t>例      容器内储有</a:t>
            </a:r>
            <a:r>
              <a:rPr lang="en-US" altLang="zh-CN" sz="1800" b="1">
                <a:solidFill>
                  <a:srgbClr val="0000FF"/>
                </a:solidFill>
                <a:ea typeface="华文中宋" pitchFamily="2" charset="-122"/>
              </a:rPr>
              <a:t>1mol</a:t>
            </a:r>
            <a:r>
              <a:rPr lang="zh-CN" altLang="en-US" sz="1800" b="1">
                <a:solidFill>
                  <a:srgbClr val="0000FF"/>
                </a:solidFill>
                <a:ea typeface="华文中宋" pitchFamily="2" charset="-122"/>
              </a:rPr>
              <a:t>双原子理想气体，气体的摩尔质量为</a:t>
            </a:r>
            <a:r>
              <a:rPr lang="en-US" altLang="zh-CN" sz="1800" b="1" i="1">
                <a:solidFill>
                  <a:srgbClr val="0000FF"/>
                </a:solidFill>
                <a:ea typeface="华文中宋" pitchFamily="2" charset="-122"/>
              </a:rPr>
              <a:t>M</a:t>
            </a:r>
            <a:r>
              <a:rPr lang="en-US" altLang="zh-CN" sz="1800" b="1" baseline="-25000">
                <a:solidFill>
                  <a:srgbClr val="0000FF"/>
                </a:solidFill>
                <a:ea typeface="华文中宋" pitchFamily="2" charset="-122"/>
              </a:rPr>
              <a:t>mol</a:t>
            </a:r>
            <a:r>
              <a:rPr lang="zh-CN" altLang="en-US" sz="1800" b="1">
                <a:solidFill>
                  <a:srgbClr val="0000FF"/>
                </a:solidFill>
                <a:ea typeface="华文中宋" pitchFamily="2" charset="-122"/>
              </a:rPr>
              <a:t>，内能为</a:t>
            </a:r>
            <a:r>
              <a:rPr lang="en-US" altLang="zh-CN" sz="1800" b="1" i="1">
                <a:solidFill>
                  <a:srgbClr val="0000FF"/>
                </a:solidFill>
                <a:ea typeface="华文中宋" pitchFamily="2" charset="-122"/>
              </a:rPr>
              <a:t>E</a:t>
            </a:r>
            <a:r>
              <a:rPr lang="zh-CN" altLang="en-US" sz="1800" b="1">
                <a:solidFill>
                  <a:srgbClr val="0000FF"/>
                </a:solidFill>
                <a:ea typeface="华文中宋" pitchFamily="2" charset="-122"/>
              </a:rPr>
              <a:t>，则气体的温度为</a:t>
            </a:r>
            <a:r>
              <a:rPr lang="en-US" altLang="zh-CN" sz="1800" b="1" baseline="-25000">
                <a:solidFill>
                  <a:srgbClr val="0000FF"/>
                </a:solidFill>
                <a:ea typeface="华文中宋" pitchFamily="2" charset="-122"/>
              </a:rPr>
              <a:t>———————</a:t>
            </a:r>
            <a:r>
              <a:rPr lang="zh-CN" altLang="en-US" sz="1800" b="1">
                <a:solidFill>
                  <a:srgbClr val="0000FF"/>
                </a:solidFill>
                <a:ea typeface="华文中宋" pitchFamily="2" charset="-122"/>
              </a:rPr>
              <a:t>，气体分子的最概然速率为</a:t>
            </a:r>
            <a:r>
              <a:rPr lang="en-US" altLang="zh-CN" sz="1800" b="1" baseline="-25000">
                <a:solidFill>
                  <a:srgbClr val="0000FF"/>
                </a:solidFill>
                <a:ea typeface="华文中宋" pitchFamily="2" charset="-122"/>
              </a:rPr>
              <a:t>————————</a:t>
            </a:r>
            <a:r>
              <a:rPr lang="zh-CN" altLang="en-US" sz="1800" b="1">
                <a:solidFill>
                  <a:srgbClr val="0000FF"/>
                </a:solidFill>
                <a:ea typeface="华文中宋" pitchFamily="2" charset="-122"/>
              </a:rPr>
              <a:t>，气体分子的平均速率为</a:t>
            </a:r>
            <a:r>
              <a:rPr lang="en-US" altLang="zh-CN" sz="1800" b="1" baseline="-25000">
                <a:solidFill>
                  <a:srgbClr val="0000FF"/>
                </a:solidFill>
                <a:ea typeface="华文中宋" pitchFamily="2" charset="-122"/>
              </a:rPr>
              <a:t>——————</a:t>
            </a:r>
            <a:r>
              <a:rPr lang="zh-CN" altLang="en-US" sz="1800" b="1">
                <a:solidFill>
                  <a:srgbClr val="0000FF"/>
                </a:solidFill>
                <a:ea typeface="华文中宋" pitchFamily="2" charset="-122"/>
              </a:rPr>
              <a:t>。</a:t>
            </a:r>
          </a:p>
        </p:txBody>
      </p:sp>
      <p:sp>
        <p:nvSpPr>
          <p:cNvPr id="83972" name="Text Box 4"/>
          <p:cNvSpPr txBox="1">
            <a:spLocks noChangeArrowheads="1"/>
          </p:cNvSpPr>
          <p:nvPr/>
        </p:nvSpPr>
        <p:spPr bwMode="auto">
          <a:xfrm>
            <a:off x="900113" y="1798638"/>
            <a:ext cx="641508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FF0000"/>
                </a:solidFill>
                <a:ea typeface="华文中宋" pitchFamily="2" charset="-122"/>
              </a:rPr>
              <a:t>解：</a:t>
            </a:r>
            <a:r>
              <a:rPr lang="zh-CN" altLang="en-US" sz="1800" b="1">
                <a:ea typeface="华文中宋" pitchFamily="2" charset="-122"/>
              </a:rPr>
              <a:t>双原子分子</a:t>
            </a:r>
            <a:r>
              <a:rPr lang="en-US" altLang="zh-CN" sz="1800" b="1" i="1">
                <a:ea typeface="华文中宋" pitchFamily="2" charset="-122"/>
              </a:rPr>
              <a:t>i</a:t>
            </a:r>
            <a:r>
              <a:rPr lang="en-US" altLang="zh-CN" sz="1800" b="1">
                <a:ea typeface="华文中宋" pitchFamily="2" charset="-122"/>
              </a:rPr>
              <a:t>=5</a:t>
            </a:r>
            <a:r>
              <a:rPr lang="zh-CN" altLang="en-US" sz="1800" b="1">
                <a:ea typeface="华文中宋" pitchFamily="2" charset="-122"/>
              </a:rPr>
              <a:t>，依据理想气体内能公式：</a:t>
            </a:r>
          </a:p>
        </p:txBody>
      </p:sp>
      <p:graphicFrame>
        <p:nvGraphicFramePr>
          <p:cNvPr id="83973" name="Object 5"/>
          <p:cNvGraphicFramePr>
            <a:graphicFrameLocks noChangeAspect="1"/>
          </p:cNvGraphicFramePr>
          <p:nvPr/>
        </p:nvGraphicFramePr>
        <p:xfrm>
          <a:off x="2843213" y="2254250"/>
          <a:ext cx="3024187" cy="604838"/>
        </p:xfrm>
        <a:graphic>
          <a:graphicData uri="http://schemas.openxmlformats.org/presentationml/2006/ole">
            <p:oleObj spid="_x0000_s53264" name="公式" r:id="rId3" imgW="1295400" imgH="292100" progId="Equation.3">
              <p:embed/>
            </p:oleObj>
          </a:graphicData>
        </a:graphic>
      </p:graphicFrame>
      <p:graphicFrame>
        <p:nvGraphicFramePr>
          <p:cNvPr id="83974" name="Object 6"/>
          <p:cNvGraphicFramePr>
            <a:graphicFrameLocks noChangeAspect="1"/>
          </p:cNvGraphicFramePr>
          <p:nvPr/>
        </p:nvGraphicFramePr>
        <p:xfrm>
          <a:off x="2797175" y="2909888"/>
          <a:ext cx="3935413" cy="782637"/>
        </p:xfrm>
        <a:graphic>
          <a:graphicData uri="http://schemas.openxmlformats.org/presentationml/2006/ole">
            <p:oleObj spid="_x0000_s53265" name="Equation" r:id="rId4" imgW="2184400" imgH="482600" progId="Equation.DSMT4">
              <p:embed/>
            </p:oleObj>
          </a:graphicData>
        </a:graphic>
      </p:graphicFrame>
      <p:graphicFrame>
        <p:nvGraphicFramePr>
          <p:cNvPr id="83975" name="Object 7"/>
          <p:cNvGraphicFramePr>
            <a:graphicFrameLocks noChangeAspect="1"/>
          </p:cNvGraphicFramePr>
          <p:nvPr/>
        </p:nvGraphicFramePr>
        <p:xfrm>
          <a:off x="2916238" y="3829050"/>
          <a:ext cx="3816350" cy="687388"/>
        </p:xfrm>
        <a:graphic>
          <a:graphicData uri="http://schemas.openxmlformats.org/presentationml/2006/ole">
            <p:oleObj spid="_x0000_s53266" name="Equation" r:id="rId5" imgW="2362200" imgH="4826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83970"/>
                                        </p:tgtEl>
                                        <p:attrNameLst>
                                          <p:attrName>style.visibility</p:attrName>
                                        </p:attrNameLst>
                                      </p:cBhvr>
                                      <p:to>
                                        <p:strVal val="visible"/>
                                      </p:to>
                                    </p:set>
                                    <p:anim calcmode="lin" valueType="num">
                                      <p:cBhvr>
                                        <p:cTn id="7" dur="500" fill="hold"/>
                                        <p:tgtEl>
                                          <p:spTgt spid="83970"/>
                                        </p:tgtEl>
                                        <p:attrNameLst>
                                          <p:attrName>ppt_w</p:attrName>
                                        </p:attrNameLst>
                                      </p:cBhvr>
                                      <p:tavLst>
                                        <p:tav tm="0">
                                          <p:val>
                                            <p:fltVal val="0"/>
                                          </p:val>
                                        </p:tav>
                                        <p:tav tm="100000">
                                          <p:val>
                                            <p:strVal val="#ppt_w"/>
                                          </p:val>
                                        </p:tav>
                                      </p:tavLst>
                                    </p:anim>
                                    <p:anim calcmode="lin" valueType="num">
                                      <p:cBhvr>
                                        <p:cTn id="8" dur="500" fill="hold"/>
                                        <p:tgtEl>
                                          <p:spTgt spid="8397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83972"/>
                                        </p:tgtEl>
                                        <p:attrNameLst>
                                          <p:attrName>style.visibility</p:attrName>
                                        </p:attrNameLst>
                                      </p:cBhvr>
                                      <p:to>
                                        <p:strVal val="visible"/>
                                      </p:to>
                                    </p:set>
                                    <p:animEffect transition="in" filter="blinds(horizontal)">
                                      <p:cBhvr>
                                        <p:cTn id="13" dur="500"/>
                                        <p:tgtEl>
                                          <p:spTgt spid="83972"/>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83973"/>
                                        </p:tgtEl>
                                        <p:attrNameLst>
                                          <p:attrName>style.visibility</p:attrName>
                                        </p:attrNameLst>
                                      </p:cBhvr>
                                      <p:to>
                                        <p:strVal val="visible"/>
                                      </p:to>
                                    </p:set>
                                    <p:animEffect transition="in" filter="blinds(horizontal)">
                                      <p:cBhvr>
                                        <p:cTn id="18" dur="500"/>
                                        <p:tgtEl>
                                          <p:spTgt spid="83973"/>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17" presetClass="entr" presetSubtype="10" fill="hold" nodeType="clickEffect">
                                  <p:stCondLst>
                                    <p:cond delay="0"/>
                                  </p:stCondLst>
                                  <p:childTnLst>
                                    <p:set>
                                      <p:cBhvr>
                                        <p:cTn id="22" dur="1" fill="hold">
                                          <p:stCondLst>
                                            <p:cond delay="0"/>
                                          </p:stCondLst>
                                        </p:cTn>
                                        <p:tgtEl>
                                          <p:spTgt spid="83974"/>
                                        </p:tgtEl>
                                        <p:attrNameLst>
                                          <p:attrName>style.visibility</p:attrName>
                                        </p:attrNameLst>
                                      </p:cBhvr>
                                      <p:to>
                                        <p:strVal val="visible"/>
                                      </p:to>
                                    </p:set>
                                    <p:anim calcmode="lin" valueType="num">
                                      <p:cBhvr>
                                        <p:cTn id="23" dur="500" fill="hold"/>
                                        <p:tgtEl>
                                          <p:spTgt spid="83974"/>
                                        </p:tgtEl>
                                        <p:attrNameLst>
                                          <p:attrName>ppt_w</p:attrName>
                                        </p:attrNameLst>
                                      </p:cBhvr>
                                      <p:tavLst>
                                        <p:tav tm="0">
                                          <p:val>
                                            <p:fltVal val="0"/>
                                          </p:val>
                                        </p:tav>
                                        <p:tav tm="100000">
                                          <p:val>
                                            <p:strVal val="#ppt_w"/>
                                          </p:val>
                                        </p:tav>
                                      </p:tavLst>
                                    </p:anim>
                                    <p:anim calcmode="lin" valueType="num">
                                      <p:cBhvr>
                                        <p:cTn id="24" dur="500" fill="hold"/>
                                        <p:tgtEl>
                                          <p:spTgt spid="83974"/>
                                        </p:tgtEl>
                                        <p:attrNameLst>
                                          <p:attrName>ppt_h</p:attrName>
                                        </p:attrNameLst>
                                      </p:cBhvr>
                                      <p:tavLst>
                                        <p:tav tm="0">
                                          <p:val>
                                            <p:strVal val="#ppt_h"/>
                                          </p:val>
                                        </p:tav>
                                        <p:tav tm="100000">
                                          <p:val>
                                            <p:strVal val="#ppt_h"/>
                                          </p:val>
                                        </p:tav>
                                      </p:tavLst>
                                    </p:anim>
                                  </p:childTnLst>
                                </p:cTn>
                              </p:par>
                            </p:childTnLst>
                          </p:cTn>
                        </p:par>
                      </p:childTnLst>
                    </p:cTn>
                  </p:par>
                  <p:par>
                    <p:cTn id="25" fill="hold" nodeType="clickPar">
                      <p:stCondLst>
                        <p:cond delay="indefinite"/>
                      </p:stCondLst>
                      <p:childTnLst>
                        <p:par>
                          <p:cTn id="26" fill="hold" nodeType="withGroup">
                            <p:stCondLst>
                              <p:cond delay="0"/>
                            </p:stCondLst>
                            <p:childTnLst>
                              <p:par>
                                <p:cTn id="27" presetID="17" presetClass="entr" presetSubtype="10" fill="hold" nodeType="clickEffect">
                                  <p:stCondLst>
                                    <p:cond delay="0"/>
                                  </p:stCondLst>
                                  <p:childTnLst>
                                    <p:set>
                                      <p:cBhvr>
                                        <p:cTn id="28" dur="1" fill="hold">
                                          <p:stCondLst>
                                            <p:cond delay="0"/>
                                          </p:stCondLst>
                                        </p:cTn>
                                        <p:tgtEl>
                                          <p:spTgt spid="83975"/>
                                        </p:tgtEl>
                                        <p:attrNameLst>
                                          <p:attrName>style.visibility</p:attrName>
                                        </p:attrNameLst>
                                      </p:cBhvr>
                                      <p:to>
                                        <p:strVal val="visible"/>
                                      </p:to>
                                    </p:set>
                                    <p:anim calcmode="lin" valueType="num">
                                      <p:cBhvr>
                                        <p:cTn id="29" dur="500" fill="hold"/>
                                        <p:tgtEl>
                                          <p:spTgt spid="83975"/>
                                        </p:tgtEl>
                                        <p:attrNameLst>
                                          <p:attrName>ppt_w</p:attrName>
                                        </p:attrNameLst>
                                      </p:cBhvr>
                                      <p:tavLst>
                                        <p:tav tm="0">
                                          <p:val>
                                            <p:fltVal val="0"/>
                                          </p:val>
                                        </p:tav>
                                        <p:tav tm="100000">
                                          <p:val>
                                            <p:strVal val="#ppt_w"/>
                                          </p:val>
                                        </p:tav>
                                      </p:tavLst>
                                    </p:anim>
                                    <p:anim calcmode="lin" valueType="num">
                                      <p:cBhvr>
                                        <p:cTn id="30" dur="500" fill="hold"/>
                                        <p:tgtEl>
                                          <p:spTgt spid="8397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3970" grpId="0" autoUpdateAnimBg="0"/>
      <p:bldP spid="83972"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88080" name="Object 1040"/>
          <p:cNvGraphicFramePr>
            <a:graphicFrameLocks noChangeAspect="1"/>
          </p:cNvGraphicFramePr>
          <p:nvPr/>
        </p:nvGraphicFramePr>
        <p:xfrm>
          <a:off x="2343150" y="1563688"/>
          <a:ext cx="4389438" cy="762000"/>
        </p:xfrm>
        <a:graphic>
          <a:graphicData uri="http://schemas.openxmlformats.org/presentationml/2006/ole">
            <p:oleObj spid="_x0000_s54324" name="Equation" r:id="rId3" imgW="1854200" imgH="444500" progId="Equation.DSMT4">
              <p:embed/>
            </p:oleObj>
          </a:graphicData>
        </a:graphic>
      </p:graphicFrame>
      <p:sp>
        <p:nvSpPr>
          <p:cNvPr id="88081" name="Text Box 1041"/>
          <p:cNvSpPr txBox="1">
            <a:spLocks noChangeArrowheads="1"/>
          </p:cNvSpPr>
          <p:nvPr/>
        </p:nvSpPr>
        <p:spPr bwMode="auto">
          <a:xfrm>
            <a:off x="1331913" y="1266825"/>
            <a:ext cx="3554412"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ea typeface="华文中宋" pitchFamily="2" charset="-122"/>
              </a:rPr>
              <a:t>麦克斯韦速率分布函数：</a:t>
            </a:r>
          </a:p>
        </p:txBody>
      </p:sp>
      <p:grpSp>
        <p:nvGrpSpPr>
          <p:cNvPr id="2" name="Group 1062"/>
          <p:cNvGrpSpPr>
            <a:grpSpLocks/>
          </p:cNvGrpSpPr>
          <p:nvPr/>
        </p:nvGrpSpPr>
        <p:grpSpPr bwMode="auto">
          <a:xfrm>
            <a:off x="1476375" y="2932113"/>
            <a:ext cx="2303463" cy="1566862"/>
            <a:chOff x="930" y="2432"/>
            <a:chExt cx="1311" cy="1115"/>
          </a:xfrm>
        </p:grpSpPr>
        <p:grpSp>
          <p:nvGrpSpPr>
            <p:cNvPr id="54284" name="Group 1045"/>
            <p:cNvGrpSpPr>
              <a:grpSpLocks/>
            </p:cNvGrpSpPr>
            <p:nvPr/>
          </p:nvGrpSpPr>
          <p:grpSpPr bwMode="auto">
            <a:xfrm>
              <a:off x="1111" y="2634"/>
              <a:ext cx="911" cy="816"/>
              <a:chOff x="960" y="1296"/>
              <a:chExt cx="1248" cy="1056"/>
            </a:xfrm>
          </p:grpSpPr>
          <p:sp>
            <p:nvSpPr>
              <p:cNvPr id="54294" name="Line 1046"/>
              <p:cNvSpPr>
                <a:spLocks noChangeShapeType="1"/>
              </p:cNvSpPr>
              <p:nvPr/>
            </p:nvSpPr>
            <p:spPr bwMode="auto">
              <a:xfrm>
                <a:off x="1440" y="2016"/>
                <a:ext cx="768" cy="0"/>
              </a:xfrm>
              <a:prstGeom prst="line">
                <a:avLst/>
              </a:prstGeom>
              <a:noFill/>
              <a:ln w="19050">
                <a:solidFill>
                  <a:srgbClr val="00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54295" name="Line 1047"/>
              <p:cNvSpPr>
                <a:spLocks noChangeShapeType="1"/>
              </p:cNvSpPr>
              <p:nvPr/>
            </p:nvSpPr>
            <p:spPr bwMode="auto">
              <a:xfrm flipV="1">
                <a:off x="1440" y="1296"/>
                <a:ext cx="0" cy="720"/>
              </a:xfrm>
              <a:prstGeom prst="line">
                <a:avLst/>
              </a:prstGeom>
              <a:noFill/>
              <a:ln w="19050">
                <a:solidFill>
                  <a:srgbClr val="00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54296" name="Line 1048"/>
              <p:cNvSpPr>
                <a:spLocks noChangeShapeType="1"/>
              </p:cNvSpPr>
              <p:nvPr/>
            </p:nvSpPr>
            <p:spPr bwMode="auto">
              <a:xfrm flipH="1">
                <a:off x="960" y="2016"/>
                <a:ext cx="480" cy="336"/>
              </a:xfrm>
              <a:prstGeom prst="line">
                <a:avLst/>
              </a:prstGeom>
              <a:noFill/>
              <a:ln w="19050">
                <a:solidFill>
                  <a:srgbClr val="00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pSp>
        <p:grpSp>
          <p:nvGrpSpPr>
            <p:cNvPr id="54285" name="Group 1053"/>
            <p:cNvGrpSpPr>
              <a:grpSpLocks/>
            </p:cNvGrpSpPr>
            <p:nvPr/>
          </p:nvGrpSpPr>
          <p:grpSpPr bwMode="auto">
            <a:xfrm>
              <a:off x="1111" y="2750"/>
              <a:ext cx="766" cy="736"/>
              <a:chOff x="3656" y="1600"/>
              <a:chExt cx="496" cy="480"/>
            </a:xfrm>
          </p:grpSpPr>
          <p:sp>
            <p:nvSpPr>
              <p:cNvPr id="54292" name="Oval 1054"/>
              <p:cNvSpPr>
                <a:spLocks noChangeArrowheads="1"/>
              </p:cNvSpPr>
              <p:nvPr/>
            </p:nvSpPr>
            <p:spPr bwMode="auto">
              <a:xfrm>
                <a:off x="3656" y="1600"/>
                <a:ext cx="496" cy="480"/>
              </a:xfrm>
              <a:prstGeom prst="ellipse">
                <a:avLst/>
              </a:prstGeom>
              <a:noFill/>
              <a:ln w="25400">
                <a:solidFill>
                  <a:srgbClr val="FF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4293" name="Oval 1055"/>
              <p:cNvSpPr>
                <a:spLocks noChangeArrowheads="1"/>
              </p:cNvSpPr>
              <p:nvPr/>
            </p:nvSpPr>
            <p:spPr bwMode="auto">
              <a:xfrm>
                <a:off x="3696" y="1648"/>
                <a:ext cx="424" cy="392"/>
              </a:xfrm>
              <a:prstGeom prst="ellipse">
                <a:avLst/>
              </a:prstGeom>
              <a:noFill/>
              <a:ln w="25400">
                <a:solidFill>
                  <a:srgbClr val="FF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sp>
          <p:nvSpPr>
            <p:cNvPr id="54286" name="Line 1056"/>
            <p:cNvSpPr>
              <a:spLocks noChangeShapeType="1"/>
            </p:cNvSpPr>
            <p:nvPr/>
          </p:nvSpPr>
          <p:spPr bwMode="auto">
            <a:xfrm flipV="1">
              <a:off x="1474" y="2887"/>
              <a:ext cx="222" cy="295"/>
            </a:xfrm>
            <a:prstGeom prst="line">
              <a:avLst/>
            </a:prstGeom>
            <a:noFill/>
            <a:ln w="28575">
              <a:solidFill>
                <a:srgbClr val="FF0000"/>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54287" name="Object 1057"/>
            <p:cNvGraphicFramePr>
              <a:graphicFrameLocks noChangeAspect="1"/>
            </p:cNvGraphicFramePr>
            <p:nvPr/>
          </p:nvGraphicFramePr>
          <p:xfrm>
            <a:off x="1655" y="2976"/>
            <a:ext cx="135" cy="135"/>
          </p:xfrm>
          <a:graphic>
            <a:graphicData uri="http://schemas.openxmlformats.org/presentationml/2006/ole">
              <p:oleObj spid="_x0000_s54325" name="Equation" r:id="rId4" imgW="139700" imgH="139700" progId="Equation.DSMT4">
                <p:embed/>
              </p:oleObj>
            </a:graphicData>
          </a:graphic>
        </p:graphicFrame>
        <p:graphicFrame>
          <p:nvGraphicFramePr>
            <p:cNvPr id="54288" name="Object 1058"/>
            <p:cNvGraphicFramePr>
              <a:graphicFrameLocks noChangeAspect="1"/>
            </p:cNvGraphicFramePr>
            <p:nvPr/>
          </p:nvGraphicFramePr>
          <p:xfrm>
            <a:off x="930" y="3294"/>
            <a:ext cx="211" cy="253"/>
          </p:xfrm>
          <a:graphic>
            <a:graphicData uri="http://schemas.openxmlformats.org/presentationml/2006/ole">
              <p:oleObj spid="_x0000_s54326" name="Equation" r:id="rId5" imgW="190500" imgH="228600" progId="Equation.DSMT4">
                <p:embed/>
              </p:oleObj>
            </a:graphicData>
          </a:graphic>
        </p:graphicFrame>
        <p:graphicFrame>
          <p:nvGraphicFramePr>
            <p:cNvPr id="54289" name="Object 1059"/>
            <p:cNvGraphicFramePr>
              <a:graphicFrameLocks noChangeAspect="1"/>
            </p:cNvGraphicFramePr>
            <p:nvPr/>
          </p:nvGraphicFramePr>
          <p:xfrm>
            <a:off x="2018" y="3067"/>
            <a:ext cx="223" cy="303"/>
          </p:xfrm>
          <a:graphic>
            <a:graphicData uri="http://schemas.openxmlformats.org/presentationml/2006/ole">
              <p:oleObj spid="_x0000_s54327" name="Equation" r:id="rId6" imgW="177646" imgH="241091" progId="Equation.DSMT4">
                <p:embed/>
              </p:oleObj>
            </a:graphicData>
          </a:graphic>
        </p:graphicFrame>
        <p:graphicFrame>
          <p:nvGraphicFramePr>
            <p:cNvPr id="54290" name="Object 1060"/>
            <p:cNvGraphicFramePr>
              <a:graphicFrameLocks noChangeAspect="1"/>
            </p:cNvGraphicFramePr>
            <p:nvPr/>
          </p:nvGraphicFramePr>
          <p:xfrm>
            <a:off x="1414" y="2432"/>
            <a:ext cx="196" cy="272"/>
          </p:xfrm>
          <a:graphic>
            <a:graphicData uri="http://schemas.openxmlformats.org/presentationml/2006/ole">
              <p:oleObj spid="_x0000_s54328" name="Equation" r:id="rId7" imgW="165028" imgH="228501" progId="Equation.DSMT4">
                <p:embed/>
              </p:oleObj>
            </a:graphicData>
          </a:graphic>
        </p:graphicFrame>
        <p:graphicFrame>
          <p:nvGraphicFramePr>
            <p:cNvPr id="54291" name="Object 1061"/>
            <p:cNvGraphicFramePr>
              <a:graphicFrameLocks noChangeAspect="1"/>
            </p:cNvGraphicFramePr>
            <p:nvPr/>
          </p:nvGraphicFramePr>
          <p:xfrm>
            <a:off x="1292" y="3067"/>
            <a:ext cx="169" cy="182"/>
          </p:xfrm>
          <a:graphic>
            <a:graphicData uri="http://schemas.openxmlformats.org/presentationml/2006/ole">
              <p:oleObj spid="_x0000_s54329" name="Equation" r:id="rId8" imgW="164814" imgH="177492" progId="Equation.DSMT4">
                <p:embed/>
              </p:oleObj>
            </a:graphicData>
          </a:graphic>
        </p:graphicFrame>
      </p:grpSp>
      <p:sp>
        <p:nvSpPr>
          <p:cNvPr id="88119" name="Text Box 1079"/>
          <p:cNvSpPr txBox="1">
            <a:spLocks noChangeArrowheads="1"/>
          </p:cNvSpPr>
          <p:nvPr/>
        </p:nvSpPr>
        <p:spPr bwMode="auto">
          <a:xfrm>
            <a:off x="4356100" y="3436938"/>
            <a:ext cx="388778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单位厚度的球壳体积为：</a:t>
            </a:r>
          </a:p>
        </p:txBody>
      </p:sp>
      <p:graphicFrame>
        <p:nvGraphicFramePr>
          <p:cNvPr id="88120" name="Object 1080"/>
          <p:cNvGraphicFramePr>
            <a:graphicFrameLocks noChangeAspect="1"/>
          </p:cNvGraphicFramePr>
          <p:nvPr/>
        </p:nvGraphicFramePr>
        <p:xfrm>
          <a:off x="4397375" y="3922713"/>
          <a:ext cx="3159125" cy="366712"/>
        </p:xfrm>
        <a:graphic>
          <a:graphicData uri="http://schemas.openxmlformats.org/presentationml/2006/ole">
            <p:oleObj spid="_x0000_s54330" name="Equation" r:id="rId9" imgW="1307532" imgH="203112" progId="Equation.DSMT4">
              <p:embed/>
            </p:oleObj>
          </a:graphicData>
        </a:graphic>
      </p:graphicFrame>
      <p:grpSp>
        <p:nvGrpSpPr>
          <p:cNvPr id="5" name="Group 1083"/>
          <p:cNvGrpSpPr>
            <a:grpSpLocks/>
          </p:cNvGrpSpPr>
          <p:nvPr/>
        </p:nvGrpSpPr>
        <p:grpSpPr bwMode="auto">
          <a:xfrm>
            <a:off x="611188" y="2301875"/>
            <a:ext cx="8064500" cy="646113"/>
            <a:chOff x="431" y="2024"/>
            <a:chExt cx="5080" cy="543"/>
          </a:xfrm>
        </p:grpSpPr>
        <p:sp>
          <p:nvSpPr>
            <p:cNvPr id="54281" name="Text Box 1042"/>
            <p:cNvSpPr txBox="1">
              <a:spLocks noChangeArrowheads="1"/>
            </p:cNvSpPr>
            <p:nvPr/>
          </p:nvSpPr>
          <p:spPr bwMode="auto">
            <a:xfrm>
              <a:off x="431" y="2024"/>
              <a:ext cx="5080" cy="5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ea typeface="华文中宋" pitchFamily="2" charset="-122"/>
                </a:rPr>
                <a:t>        </a:t>
              </a:r>
              <a:r>
                <a:rPr lang="zh-CN" altLang="en-US" sz="1800" b="1">
                  <a:ea typeface="华文中宋" pitchFamily="2" charset="-122"/>
                </a:rPr>
                <a:t>在速度空间（</a:t>
              </a:r>
              <a:r>
                <a:rPr lang="zh-CN" altLang="en-US" sz="1800" b="1">
                  <a:solidFill>
                    <a:srgbClr val="0000FF"/>
                  </a:solidFill>
                  <a:ea typeface="华文中宋" pitchFamily="2" charset="-122"/>
                </a:rPr>
                <a:t>以</a:t>
              </a:r>
              <a:r>
                <a:rPr lang="zh-CN" altLang="en-US" sz="1800" b="1" i="1">
                  <a:solidFill>
                    <a:srgbClr val="0000FF"/>
                  </a:solidFill>
                  <a:ea typeface="华文中宋" pitchFamily="2" charset="-122"/>
                </a:rPr>
                <a:t>              </a:t>
              </a:r>
              <a:r>
                <a:rPr lang="zh-CN" altLang="en-US" sz="1800" b="1">
                  <a:solidFill>
                    <a:srgbClr val="0000FF"/>
                  </a:solidFill>
                  <a:ea typeface="华文中宋" pitchFamily="2" charset="-122"/>
                </a:rPr>
                <a:t>为轴的直角坐标系所确定的空间</a:t>
              </a:r>
              <a:r>
                <a:rPr lang="zh-CN" altLang="en-US" sz="1800" b="1">
                  <a:ea typeface="华文中宋" pitchFamily="2" charset="-122"/>
                </a:rPr>
                <a:t>），表示在速率  为半径的单位厚度的球壳里分子数占总分子数的百分比。</a:t>
              </a:r>
            </a:p>
          </p:txBody>
        </p:sp>
        <p:graphicFrame>
          <p:nvGraphicFramePr>
            <p:cNvPr id="54282" name="Object 1081"/>
            <p:cNvGraphicFramePr>
              <a:graphicFrameLocks noChangeAspect="1"/>
            </p:cNvGraphicFramePr>
            <p:nvPr/>
          </p:nvGraphicFramePr>
          <p:xfrm>
            <a:off x="1837" y="2069"/>
            <a:ext cx="438" cy="263"/>
          </p:xfrm>
          <a:graphic>
            <a:graphicData uri="http://schemas.openxmlformats.org/presentationml/2006/ole">
              <p:oleObj spid="_x0000_s54331" name="Equation" r:id="rId10" imgW="583947" imgH="241195" progId="Equation.DSMT4">
                <p:embed/>
              </p:oleObj>
            </a:graphicData>
          </a:graphic>
        </p:graphicFrame>
        <p:graphicFrame>
          <p:nvGraphicFramePr>
            <p:cNvPr id="54283" name="Object 1082"/>
            <p:cNvGraphicFramePr>
              <a:graphicFrameLocks noChangeAspect="1"/>
            </p:cNvGraphicFramePr>
            <p:nvPr/>
          </p:nvGraphicFramePr>
          <p:xfrm>
            <a:off x="2063" y="2341"/>
            <a:ext cx="182" cy="182"/>
          </p:xfrm>
          <a:graphic>
            <a:graphicData uri="http://schemas.openxmlformats.org/presentationml/2006/ole">
              <p:oleObj spid="_x0000_s54332" name="Equation" r:id="rId11" imgW="139700" imgH="139700" progId="Equation.DSMT4">
                <p:embed/>
              </p:oleObj>
            </a:graphicData>
          </a:graphic>
        </p:graphicFrame>
      </p:grpSp>
      <p:sp>
        <p:nvSpPr>
          <p:cNvPr id="26" name="Text Box 2"/>
          <p:cNvSpPr>
            <a:spLocks noChangeArrowheads="1"/>
          </p:cNvSpPr>
          <p:nvPr/>
        </p:nvSpPr>
        <p:spPr bwMode="auto">
          <a:xfrm>
            <a:off x="755650" y="874713"/>
            <a:ext cx="3168650" cy="401637"/>
          </a:xfrm>
          <a:prstGeom prst="homePlate">
            <a:avLst>
              <a:gd name="adj" fmla="val 49710"/>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一、麦克斯韦速度分布律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6"/>
                                        </p:tgtEl>
                                        <p:attrNameLst>
                                          <p:attrName>style.visibility</p:attrName>
                                        </p:attrNameLst>
                                      </p:cBhvr>
                                      <p:to>
                                        <p:strVal val="visible"/>
                                      </p:to>
                                    </p:set>
                                    <p:animEffect transition="in" filter="wipe(left)">
                                      <p:cBhvr>
                                        <p:cTn id="7" dur="500"/>
                                        <p:tgtEl>
                                          <p:spTgt spid="26"/>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2" presetClass="entr" presetSubtype="4" fill="hold" grpId="0" nodeType="clickEffect">
                                  <p:stCondLst>
                                    <p:cond delay="0"/>
                                  </p:stCondLst>
                                  <p:childTnLst>
                                    <p:set>
                                      <p:cBhvr>
                                        <p:cTn id="11" dur="1" fill="hold">
                                          <p:stCondLst>
                                            <p:cond delay="0"/>
                                          </p:stCondLst>
                                        </p:cTn>
                                        <p:tgtEl>
                                          <p:spTgt spid="88081"/>
                                        </p:tgtEl>
                                        <p:attrNameLst>
                                          <p:attrName>style.visibility</p:attrName>
                                        </p:attrNameLst>
                                      </p:cBhvr>
                                      <p:to>
                                        <p:strVal val="visible"/>
                                      </p:to>
                                    </p:set>
                                    <p:animEffect transition="in" filter="slide(fromBottom)">
                                      <p:cBhvr>
                                        <p:cTn id="12" dur="500"/>
                                        <p:tgtEl>
                                          <p:spTgt spid="88081"/>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3" presetClass="entr" presetSubtype="16" fill="hold" nodeType="clickEffect">
                                  <p:stCondLst>
                                    <p:cond delay="0"/>
                                  </p:stCondLst>
                                  <p:childTnLst>
                                    <p:set>
                                      <p:cBhvr>
                                        <p:cTn id="16" dur="1" fill="hold">
                                          <p:stCondLst>
                                            <p:cond delay="0"/>
                                          </p:stCondLst>
                                        </p:cTn>
                                        <p:tgtEl>
                                          <p:spTgt spid="88080"/>
                                        </p:tgtEl>
                                        <p:attrNameLst>
                                          <p:attrName>style.visibility</p:attrName>
                                        </p:attrNameLst>
                                      </p:cBhvr>
                                      <p:to>
                                        <p:strVal val="visible"/>
                                      </p:to>
                                    </p:set>
                                    <p:anim calcmode="lin" valueType="num">
                                      <p:cBhvr>
                                        <p:cTn id="17" dur="500" fill="hold"/>
                                        <p:tgtEl>
                                          <p:spTgt spid="88080"/>
                                        </p:tgtEl>
                                        <p:attrNameLst>
                                          <p:attrName>ppt_w</p:attrName>
                                        </p:attrNameLst>
                                      </p:cBhvr>
                                      <p:tavLst>
                                        <p:tav tm="0">
                                          <p:val>
                                            <p:fltVal val="0"/>
                                          </p:val>
                                        </p:tav>
                                        <p:tav tm="100000">
                                          <p:val>
                                            <p:strVal val="#ppt_w"/>
                                          </p:val>
                                        </p:tav>
                                      </p:tavLst>
                                    </p:anim>
                                    <p:anim calcmode="lin" valueType="num">
                                      <p:cBhvr>
                                        <p:cTn id="18" dur="500" fill="hold"/>
                                        <p:tgtEl>
                                          <p:spTgt spid="88080"/>
                                        </p:tgtEl>
                                        <p:attrNameLst>
                                          <p:attrName>ppt_h</p:attrName>
                                        </p:attrNameLst>
                                      </p:cBhvr>
                                      <p:tavLst>
                                        <p:tav tm="0">
                                          <p:val>
                                            <p:fltVal val="0"/>
                                          </p:val>
                                        </p:tav>
                                        <p:tav tm="100000">
                                          <p:val>
                                            <p:strVal val="#ppt_h"/>
                                          </p:val>
                                        </p:tav>
                                      </p:tavLst>
                                    </p:anim>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5"/>
                                        </p:tgtEl>
                                        <p:attrNameLst>
                                          <p:attrName>style.visibility</p:attrName>
                                        </p:attrNameLst>
                                      </p:cBhvr>
                                      <p:to>
                                        <p:strVal val="visible"/>
                                      </p:to>
                                    </p:set>
                                    <p:animEffect transition="in" filter="blinds(horizontal)">
                                      <p:cBhvr>
                                        <p:cTn id="23" dur="500"/>
                                        <p:tgtEl>
                                          <p:spTgt spid="5"/>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nodeType="clickEffect">
                                  <p:stCondLst>
                                    <p:cond delay="0"/>
                                  </p:stCondLst>
                                  <p:childTnLst>
                                    <p:set>
                                      <p:cBhvr>
                                        <p:cTn id="27" dur="1" fill="hold">
                                          <p:stCondLst>
                                            <p:cond delay="0"/>
                                          </p:stCondLst>
                                        </p:cTn>
                                        <p:tgtEl>
                                          <p:spTgt spid="2"/>
                                        </p:tgtEl>
                                        <p:attrNameLst>
                                          <p:attrName>style.visibility</p:attrName>
                                        </p:attrNameLst>
                                      </p:cBhvr>
                                      <p:to>
                                        <p:strVal val="visible"/>
                                      </p:to>
                                    </p:set>
                                    <p:animEffect transition="in" filter="blinds(horizontal)">
                                      <p:cBhvr>
                                        <p:cTn id="28" dur="500"/>
                                        <p:tgtEl>
                                          <p:spTgt spid="2"/>
                                        </p:tgtEl>
                                      </p:cBhvr>
                                    </p:animEffect>
                                  </p:childTnLst>
                                </p:cTn>
                              </p:par>
                            </p:childTnLst>
                          </p:cTn>
                        </p:par>
                      </p:childTnLst>
                    </p:cTn>
                  </p:par>
                  <p:par>
                    <p:cTn id="29" fill="hold" nodeType="clickPar">
                      <p:stCondLst>
                        <p:cond delay="indefinite"/>
                      </p:stCondLst>
                      <p:childTnLst>
                        <p:par>
                          <p:cTn id="30" fill="hold" nodeType="withGroup">
                            <p:stCondLst>
                              <p:cond delay="0"/>
                            </p:stCondLst>
                            <p:childTnLst>
                              <p:par>
                                <p:cTn id="31" presetID="12" presetClass="entr" presetSubtype="4" fill="hold" grpId="0" nodeType="clickEffect">
                                  <p:stCondLst>
                                    <p:cond delay="0"/>
                                  </p:stCondLst>
                                  <p:childTnLst>
                                    <p:set>
                                      <p:cBhvr>
                                        <p:cTn id="32" dur="1" fill="hold">
                                          <p:stCondLst>
                                            <p:cond delay="0"/>
                                          </p:stCondLst>
                                        </p:cTn>
                                        <p:tgtEl>
                                          <p:spTgt spid="88119"/>
                                        </p:tgtEl>
                                        <p:attrNameLst>
                                          <p:attrName>style.visibility</p:attrName>
                                        </p:attrNameLst>
                                      </p:cBhvr>
                                      <p:to>
                                        <p:strVal val="visible"/>
                                      </p:to>
                                    </p:set>
                                    <p:animEffect transition="in" filter="slide(fromBottom)">
                                      <p:cBhvr>
                                        <p:cTn id="33" dur="500"/>
                                        <p:tgtEl>
                                          <p:spTgt spid="88119"/>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3" presetClass="entr" presetSubtype="10" fill="hold" nodeType="clickEffect">
                                  <p:stCondLst>
                                    <p:cond delay="0"/>
                                  </p:stCondLst>
                                  <p:childTnLst>
                                    <p:set>
                                      <p:cBhvr>
                                        <p:cTn id="37" dur="1" fill="hold">
                                          <p:stCondLst>
                                            <p:cond delay="0"/>
                                          </p:stCondLst>
                                        </p:cTn>
                                        <p:tgtEl>
                                          <p:spTgt spid="88120"/>
                                        </p:tgtEl>
                                        <p:attrNameLst>
                                          <p:attrName>style.visibility</p:attrName>
                                        </p:attrNameLst>
                                      </p:cBhvr>
                                      <p:to>
                                        <p:strVal val="visible"/>
                                      </p:to>
                                    </p:set>
                                    <p:animEffect transition="in" filter="blinds(horizontal)">
                                      <p:cBhvr>
                                        <p:cTn id="38" dur="500"/>
                                        <p:tgtEl>
                                          <p:spTgt spid="8812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8081" grpId="0" autoUpdateAnimBg="0"/>
      <p:bldP spid="88119" grpId="0" autoUpdateAnimBg="0"/>
      <p:bldP spid="26" grpId="0" animBg="1"/>
    </p:bldLst>
  </p:timing>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7042" name="Rectangle 1026"/>
          <p:cNvSpPr>
            <a:spLocks noChangeArrowheads="1"/>
          </p:cNvSpPr>
          <p:nvPr/>
        </p:nvSpPr>
        <p:spPr bwMode="auto">
          <a:xfrm>
            <a:off x="395288" y="4246563"/>
            <a:ext cx="820896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800" b="1">
                <a:latin typeface="华文中宋" pitchFamily="2" charset="-122"/>
                <a:ea typeface="华文中宋" pitchFamily="2" charset="-122"/>
              </a:rPr>
              <a:t>　   麦克斯韦速率分布律只不过是较普遍的麦克斯韦速度分布律中的特殊情况。</a:t>
            </a:r>
          </a:p>
        </p:txBody>
      </p:sp>
      <p:grpSp>
        <p:nvGrpSpPr>
          <p:cNvPr id="2" name="Group 12"/>
          <p:cNvGrpSpPr>
            <a:grpSpLocks/>
          </p:cNvGrpSpPr>
          <p:nvPr/>
        </p:nvGrpSpPr>
        <p:grpSpPr bwMode="auto">
          <a:xfrm>
            <a:off x="2339975" y="1189038"/>
            <a:ext cx="2016125" cy="1238250"/>
            <a:chOff x="930" y="2432"/>
            <a:chExt cx="1311" cy="1115"/>
          </a:xfrm>
        </p:grpSpPr>
        <p:grpSp>
          <p:nvGrpSpPr>
            <p:cNvPr id="55316" name="Group 13"/>
            <p:cNvGrpSpPr>
              <a:grpSpLocks/>
            </p:cNvGrpSpPr>
            <p:nvPr/>
          </p:nvGrpSpPr>
          <p:grpSpPr bwMode="auto">
            <a:xfrm>
              <a:off x="1111" y="2634"/>
              <a:ext cx="911" cy="816"/>
              <a:chOff x="960" y="1296"/>
              <a:chExt cx="1248" cy="1056"/>
            </a:xfrm>
          </p:grpSpPr>
          <p:sp>
            <p:nvSpPr>
              <p:cNvPr id="55326" name="Line 14"/>
              <p:cNvSpPr>
                <a:spLocks noChangeShapeType="1"/>
              </p:cNvSpPr>
              <p:nvPr/>
            </p:nvSpPr>
            <p:spPr bwMode="auto">
              <a:xfrm>
                <a:off x="1440" y="2016"/>
                <a:ext cx="768" cy="0"/>
              </a:xfrm>
              <a:prstGeom prst="line">
                <a:avLst/>
              </a:prstGeom>
              <a:noFill/>
              <a:ln w="19050">
                <a:solidFill>
                  <a:srgbClr val="00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55327" name="Line 15"/>
              <p:cNvSpPr>
                <a:spLocks noChangeShapeType="1"/>
              </p:cNvSpPr>
              <p:nvPr/>
            </p:nvSpPr>
            <p:spPr bwMode="auto">
              <a:xfrm flipV="1">
                <a:off x="1440" y="1296"/>
                <a:ext cx="0" cy="720"/>
              </a:xfrm>
              <a:prstGeom prst="line">
                <a:avLst/>
              </a:prstGeom>
              <a:noFill/>
              <a:ln w="19050">
                <a:solidFill>
                  <a:srgbClr val="00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55328" name="Line 16"/>
              <p:cNvSpPr>
                <a:spLocks noChangeShapeType="1"/>
              </p:cNvSpPr>
              <p:nvPr/>
            </p:nvSpPr>
            <p:spPr bwMode="auto">
              <a:xfrm flipH="1">
                <a:off x="960" y="2016"/>
                <a:ext cx="480" cy="336"/>
              </a:xfrm>
              <a:prstGeom prst="line">
                <a:avLst/>
              </a:prstGeom>
              <a:noFill/>
              <a:ln w="19050">
                <a:solidFill>
                  <a:srgbClr val="00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pSp>
        <p:grpSp>
          <p:nvGrpSpPr>
            <p:cNvPr id="55317" name="Group 17"/>
            <p:cNvGrpSpPr>
              <a:grpSpLocks/>
            </p:cNvGrpSpPr>
            <p:nvPr/>
          </p:nvGrpSpPr>
          <p:grpSpPr bwMode="auto">
            <a:xfrm>
              <a:off x="1111" y="2750"/>
              <a:ext cx="766" cy="736"/>
              <a:chOff x="3656" y="1600"/>
              <a:chExt cx="496" cy="480"/>
            </a:xfrm>
          </p:grpSpPr>
          <p:sp>
            <p:nvSpPr>
              <p:cNvPr id="55324" name="Oval 18"/>
              <p:cNvSpPr>
                <a:spLocks noChangeArrowheads="1"/>
              </p:cNvSpPr>
              <p:nvPr/>
            </p:nvSpPr>
            <p:spPr bwMode="auto">
              <a:xfrm>
                <a:off x="3656" y="1600"/>
                <a:ext cx="496" cy="480"/>
              </a:xfrm>
              <a:prstGeom prst="ellipse">
                <a:avLst/>
              </a:prstGeom>
              <a:noFill/>
              <a:ln w="25400">
                <a:solidFill>
                  <a:srgbClr val="FF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sp>
            <p:nvSpPr>
              <p:cNvPr id="55325" name="Oval 19"/>
              <p:cNvSpPr>
                <a:spLocks noChangeArrowheads="1"/>
              </p:cNvSpPr>
              <p:nvPr/>
            </p:nvSpPr>
            <p:spPr bwMode="auto">
              <a:xfrm>
                <a:off x="3696" y="1648"/>
                <a:ext cx="424" cy="392"/>
              </a:xfrm>
              <a:prstGeom prst="ellipse">
                <a:avLst/>
              </a:prstGeom>
              <a:noFill/>
              <a:ln w="25400">
                <a:solidFill>
                  <a:srgbClr val="FF00FF"/>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sp>
          <p:nvSpPr>
            <p:cNvPr id="55318" name="Line 20"/>
            <p:cNvSpPr>
              <a:spLocks noChangeShapeType="1"/>
            </p:cNvSpPr>
            <p:nvPr/>
          </p:nvSpPr>
          <p:spPr bwMode="auto">
            <a:xfrm flipV="1">
              <a:off x="1474" y="2887"/>
              <a:ext cx="222" cy="295"/>
            </a:xfrm>
            <a:prstGeom prst="line">
              <a:avLst/>
            </a:prstGeom>
            <a:noFill/>
            <a:ln w="28575">
              <a:solidFill>
                <a:srgbClr val="FF0000"/>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55319" name="Object 21"/>
            <p:cNvGraphicFramePr>
              <a:graphicFrameLocks noChangeAspect="1"/>
            </p:cNvGraphicFramePr>
            <p:nvPr/>
          </p:nvGraphicFramePr>
          <p:xfrm>
            <a:off x="1655" y="2976"/>
            <a:ext cx="135" cy="135"/>
          </p:xfrm>
          <a:graphic>
            <a:graphicData uri="http://schemas.openxmlformats.org/presentationml/2006/ole">
              <p:oleObj spid="_x0000_s55365" name="Equation" r:id="rId3" imgW="139700" imgH="139700" progId="Equation.DSMT4">
                <p:embed/>
              </p:oleObj>
            </a:graphicData>
          </a:graphic>
        </p:graphicFrame>
        <p:graphicFrame>
          <p:nvGraphicFramePr>
            <p:cNvPr id="55320" name="Object 22"/>
            <p:cNvGraphicFramePr>
              <a:graphicFrameLocks noChangeAspect="1"/>
            </p:cNvGraphicFramePr>
            <p:nvPr/>
          </p:nvGraphicFramePr>
          <p:xfrm>
            <a:off x="930" y="3294"/>
            <a:ext cx="211" cy="253"/>
          </p:xfrm>
          <a:graphic>
            <a:graphicData uri="http://schemas.openxmlformats.org/presentationml/2006/ole">
              <p:oleObj spid="_x0000_s55366" name="Equation" r:id="rId4" imgW="190500" imgH="228600" progId="Equation.DSMT4">
                <p:embed/>
              </p:oleObj>
            </a:graphicData>
          </a:graphic>
        </p:graphicFrame>
        <p:graphicFrame>
          <p:nvGraphicFramePr>
            <p:cNvPr id="55321" name="Object 23"/>
            <p:cNvGraphicFramePr>
              <a:graphicFrameLocks noChangeAspect="1"/>
            </p:cNvGraphicFramePr>
            <p:nvPr/>
          </p:nvGraphicFramePr>
          <p:xfrm>
            <a:off x="2018" y="3067"/>
            <a:ext cx="223" cy="303"/>
          </p:xfrm>
          <a:graphic>
            <a:graphicData uri="http://schemas.openxmlformats.org/presentationml/2006/ole">
              <p:oleObj spid="_x0000_s55367" name="Equation" r:id="rId5" imgW="177646" imgH="241091" progId="Equation.DSMT4">
                <p:embed/>
              </p:oleObj>
            </a:graphicData>
          </a:graphic>
        </p:graphicFrame>
        <p:graphicFrame>
          <p:nvGraphicFramePr>
            <p:cNvPr id="55322" name="Object 24"/>
            <p:cNvGraphicFramePr>
              <a:graphicFrameLocks noChangeAspect="1"/>
            </p:cNvGraphicFramePr>
            <p:nvPr/>
          </p:nvGraphicFramePr>
          <p:xfrm>
            <a:off x="1414" y="2432"/>
            <a:ext cx="196" cy="272"/>
          </p:xfrm>
          <a:graphic>
            <a:graphicData uri="http://schemas.openxmlformats.org/presentationml/2006/ole">
              <p:oleObj spid="_x0000_s55368" name="Equation" r:id="rId6" imgW="165028" imgH="228501" progId="Equation.DSMT4">
                <p:embed/>
              </p:oleObj>
            </a:graphicData>
          </a:graphic>
        </p:graphicFrame>
        <p:graphicFrame>
          <p:nvGraphicFramePr>
            <p:cNvPr id="55323" name="Object 25"/>
            <p:cNvGraphicFramePr>
              <a:graphicFrameLocks noChangeAspect="1"/>
            </p:cNvGraphicFramePr>
            <p:nvPr/>
          </p:nvGraphicFramePr>
          <p:xfrm>
            <a:off x="1292" y="3067"/>
            <a:ext cx="169" cy="182"/>
          </p:xfrm>
          <a:graphic>
            <a:graphicData uri="http://schemas.openxmlformats.org/presentationml/2006/ole">
              <p:oleObj spid="_x0000_s55369" name="Equation" r:id="rId7" imgW="164814" imgH="177492" progId="Equation.DSMT4">
                <p:embed/>
              </p:oleObj>
            </a:graphicData>
          </a:graphic>
        </p:graphicFrame>
      </p:grpSp>
      <p:grpSp>
        <p:nvGrpSpPr>
          <p:cNvPr id="5" name="Group 26"/>
          <p:cNvGrpSpPr>
            <a:grpSpLocks/>
          </p:cNvGrpSpPr>
          <p:nvPr/>
        </p:nvGrpSpPr>
        <p:grpSpPr bwMode="auto">
          <a:xfrm>
            <a:off x="5867400" y="1095375"/>
            <a:ext cx="2017713" cy="1238250"/>
            <a:chOff x="3379" y="2478"/>
            <a:chExt cx="1311" cy="1115"/>
          </a:xfrm>
        </p:grpSpPr>
        <p:grpSp>
          <p:nvGrpSpPr>
            <p:cNvPr id="55305" name="Group 27"/>
            <p:cNvGrpSpPr>
              <a:grpSpLocks/>
            </p:cNvGrpSpPr>
            <p:nvPr/>
          </p:nvGrpSpPr>
          <p:grpSpPr bwMode="auto">
            <a:xfrm>
              <a:off x="3560" y="2680"/>
              <a:ext cx="911" cy="816"/>
              <a:chOff x="960" y="1296"/>
              <a:chExt cx="1248" cy="1056"/>
            </a:xfrm>
          </p:grpSpPr>
          <p:sp>
            <p:nvSpPr>
              <p:cNvPr id="55313" name="Line 28"/>
              <p:cNvSpPr>
                <a:spLocks noChangeShapeType="1"/>
              </p:cNvSpPr>
              <p:nvPr/>
            </p:nvSpPr>
            <p:spPr bwMode="auto">
              <a:xfrm>
                <a:off x="1440" y="2016"/>
                <a:ext cx="768" cy="0"/>
              </a:xfrm>
              <a:prstGeom prst="line">
                <a:avLst/>
              </a:prstGeom>
              <a:noFill/>
              <a:ln w="19050">
                <a:solidFill>
                  <a:srgbClr val="00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55314" name="Line 29"/>
              <p:cNvSpPr>
                <a:spLocks noChangeShapeType="1"/>
              </p:cNvSpPr>
              <p:nvPr/>
            </p:nvSpPr>
            <p:spPr bwMode="auto">
              <a:xfrm flipV="1">
                <a:off x="1440" y="1296"/>
                <a:ext cx="0" cy="720"/>
              </a:xfrm>
              <a:prstGeom prst="line">
                <a:avLst/>
              </a:prstGeom>
              <a:noFill/>
              <a:ln w="19050">
                <a:solidFill>
                  <a:srgbClr val="00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sp>
            <p:nvSpPr>
              <p:cNvPr id="55315" name="Line 30"/>
              <p:cNvSpPr>
                <a:spLocks noChangeShapeType="1"/>
              </p:cNvSpPr>
              <p:nvPr/>
            </p:nvSpPr>
            <p:spPr bwMode="auto">
              <a:xfrm flipH="1">
                <a:off x="960" y="2016"/>
                <a:ext cx="480" cy="336"/>
              </a:xfrm>
              <a:prstGeom prst="line">
                <a:avLst/>
              </a:prstGeom>
              <a:noFill/>
              <a:ln w="19050">
                <a:solidFill>
                  <a:srgbClr val="0000FF"/>
                </a:solidFill>
                <a:round/>
                <a:headEnd/>
                <a:tailEnd type="triangle" w="med" len="med"/>
              </a:ln>
              <a:extLst>
                <a:ext uri="{909E8E84-426E-40DD-AFC4-6F175D3DCCD1}">
                  <a14:hiddenFill xmlns:a14="http://schemas.microsoft.com/office/drawing/2010/main" xmlns="">
                    <a:noFill/>
                  </a14:hiddenFill>
                </a:ext>
              </a:extLst>
            </p:spPr>
            <p:txBody>
              <a:bodyPr/>
              <a:lstStyle/>
              <a:p>
                <a:endParaRPr lang="zh-CN" altLang="en-US"/>
              </a:p>
            </p:txBody>
          </p:sp>
        </p:grpSp>
        <p:sp>
          <p:nvSpPr>
            <p:cNvPr id="55306" name="Line 31"/>
            <p:cNvSpPr>
              <a:spLocks noChangeShapeType="1"/>
            </p:cNvSpPr>
            <p:nvPr/>
          </p:nvSpPr>
          <p:spPr bwMode="auto">
            <a:xfrm flipV="1">
              <a:off x="3923" y="2933"/>
              <a:ext cx="222" cy="295"/>
            </a:xfrm>
            <a:prstGeom prst="line">
              <a:avLst/>
            </a:prstGeom>
            <a:noFill/>
            <a:ln w="28575">
              <a:solidFill>
                <a:srgbClr val="FF0000"/>
              </a:solidFill>
              <a:round/>
              <a:headEnd/>
              <a:tailEnd type="triangle" w="sm" len="med"/>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55307" name="Object 32"/>
            <p:cNvGraphicFramePr>
              <a:graphicFrameLocks noChangeAspect="1"/>
            </p:cNvGraphicFramePr>
            <p:nvPr/>
          </p:nvGraphicFramePr>
          <p:xfrm>
            <a:off x="4104" y="3022"/>
            <a:ext cx="135" cy="135"/>
          </p:xfrm>
          <a:graphic>
            <a:graphicData uri="http://schemas.openxmlformats.org/presentationml/2006/ole">
              <p:oleObj spid="_x0000_s55370" name="Equation" r:id="rId8" imgW="139700" imgH="139700" progId="Equation.DSMT4">
                <p:embed/>
              </p:oleObj>
            </a:graphicData>
          </a:graphic>
        </p:graphicFrame>
        <p:graphicFrame>
          <p:nvGraphicFramePr>
            <p:cNvPr id="55308" name="Object 33"/>
            <p:cNvGraphicFramePr>
              <a:graphicFrameLocks noChangeAspect="1"/>
            </p:cNvGraphicFramePr>
            <p:nvPr/>
          </p:nvGraphicFramePr>
          <p:xfrm>
            <a:off x="3379" y="3340"/>
            <a:ext cx="211" cy="253"/>
          </p:xfrm>
          <a:graphic>
            <a:graphicData uri="http://schemas.openxmlformats.org/presentationml/2006/ole">
              <p:oleObj spid="_x0000_s55371" name="Equation" r:id="rId9" imgW="190500" imgH="228600" progId="Equation.DSMT4">
                <p:embed/>
              </p:oleObj>
            </a:graphicData>
          </a:graphic>
        </p:graphicFrame>
        <p:graphicFrame>
          <p:nvGraphicFramePr>
            <p:cNvPr id="55309" name="Object 34"/>
            <p:cNvGraphicFramePr>
              <a:graphicFrameLocks noChangeAspect="1"/>
            </p:cNvGraphicFramePr>
            <p:nvPr/>
          </p:nvGraphicFramePr>
          <p:xfrm>
            <a:off x="4467" y="3113"/>
            <a:ext cx="223" cy="303"/>
          </p:xfrm>
          <a:graphic>
            <a:graphicData uri="http://schemas.openxmlformats.org/presentationml/2006/ole">
              <p:oleObj spid="_x0000_s55372" name="Equation" r:id="rId10" imgW="177646" imgH="241091" progId="Equation.DSMT4">
                <p:embed/>
              </p:oleObj>
            </a:graphicData>
          </a:graphic>
        </p:graphicFrame>
        <p:graphicFrame>
          <p:nvGraphicFramePr>
            <p:cNvPr id="55310" name="Object 35"/>
            <p:cNvGraphicFramePr>
              <a:graphicFrameLocks noChangeAspect="1"/>
            </p:cNvGraphicFramePr>
            <p:nvPr/>
          </p:nvGraphicFramePr>
          <p:xfrm>
            <a:off x="3863" y="2478"/>
            <a:ext cx="196" cy="272"/>
          </p:xfrm>
          <a:graphic>
            <a:graphicData uri="http://schemas.openxmlformats.org/presentationml/2006/ole">
              <p:oleObj spid="_x0000_s55373" name="Equation" r:id="rId11" imgW="165028" imgH="228501" progId="Equation.DSMT4">
                <p:embed/>
              </p:oleObj>
            </a:graphicData>
          </a:graphic>
        </p:graphicFrame>
        <p:graphicFrame>
          <p:nvGraphicFramePr>
            <p:cNvPr id="55311" name="Object 36"/>
            <p:cNvGraphicFramePr>
              <a:graphicFrameLocks noChangeAspect="1"/>
            </p:cNvGraphicFramePr>
            <p:nvPr/>
          </p:nvGraphicFramePr>
          <p:xfrm>
            <a:off x="3741" y="3113"/>
            <a:ext cx="169" cy="182"/>
          </p:xfrm>
          <a:graphic>
            <a:graphicData uri="http://schemas.openxmlformats.org/presentationml/2006/ole">
              <p:oleObj spid="_x0000_s55374" name="Equation" r:id="rId12" imgW="164814" imgH="177492" progId="Equation.DSMT4">
                <p:embed/>
              </p:oleObj>
            </a:graphicData>
          </a:graphic>
        </p:graphicFrame>
        <p:sp>
          <p:nvSpPr>
            <p:cNvPr id="55312" name="AutoShape 37"/>
            <p:cNvSpPr>
              <a:spLocks noChangeArrowheads="1"/>
            </p:cNvSpPr>
            <p:nvPr/>
          </p:nvSpPr>
          <p:spPr bwMode="auto">
            <a:xfrm>
              <a:off x="4150" y="2795"/>
              <a:ext cx="181" cy="136"/>
            </a:xfrm>
            <a:prstGeom prst="cube">
              <a:avLst>
                <a:gd name="adj" fmla="val 25000"/>
              </a:avLst>
            </a:prstGeom>
            <a:solidFill>
              <a:schemeClr val="accent1"/>
            </a:solidFill>
            <a:ln w="9525">
              <a:solidFill>
                <a:schemeClr val="tx1"/>
              </a:solidFill>
              <a:miter lim="800000"/>
              <a:headEnd/>
              <a:tailEnd/>
            </a:ln>
          </p:spPr>
          <p:txBody>
            <a:bodyPr wrap="none" anchor="ctr"/>
            <a:lstStyle/>
            <a:p>
              <a:endParaRPr lang="zh-CN" altLang="en-US"/>
            </a:p>
          </p:txBody>
        </p:sp>
      </p:grpSp>
      <p:sp>
        <p:nvSpPr>
          <p:cNvPr id="61478" name="Text Box 38"/>
          <p:cNvSpPr txBox="1">
            <a:spLocks noChangeArrowheads="1"/>
          </p:cNvSpPr>
          <p:nvPr/>
        </p:nvSpPr>
        <p:spPr bwMode="auto">
          <a:xfrm>
            <a:off x="252413" y="773113"/>
            <a:ext cx="8207375"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那么在速度空间单位体积元内的分子数占总分子数的百分比，称之为气体分子的</a:t>
            </a:r>
            <a:r>
              <a:rPr lang="zh-CN" altLang="en-US" sz="1800" b="1">
                <a:solidFill>
                  <a:srgbClr val="0000FF"/>
                </a:solidFill>
                <a:latin typeface="华文中宋" pitchFamily="2" charset="-122"/>
                <a:ea typeface="华文中宋" pitchFamily="2" charset="-122"/>
              </a:rPr>
              <a:t>速度分布函数</a:t>
            </a:r>
            <a:r>
              <a:rPr lang="zh-CN" altLang="en-US" sz="1800" b="1">
                <a:latin typeface="华文中宋" pitchFamily="2" charset="-122"/>
                <a:ea typeface="华文中宋" pitchFamily="2" charset="-122"/>
              </a:rPr>
              <a:t>，其为：</a:t>
            </a:r>
          </a:p>
        </p:txBody>
      </p:sp>
      <p:sp>
        <p:nvSpPr>
          <p:cNvPr id="61479" name="Line 39"/>
          <p:cNvSpPr>
            <a:spLocks noChangeShapeType="1"/>
          </p:cNvSpPr>
          <p:nvPr/>
        </p:nvSpPr>
        <p:spPr bwMode="auto">
          <a:xfrm>
            <a:off x="4427538" y="1924050"/>
            <a:ext cx="1327150" cy="0"/>
          </a:xfrm>
          <a:prstGeom prst="line">
            <a:avLst/>
          </a:prstGeom>
          <a:noFill/>
          <a:ln w="38100">
            <a:solidFill>
              <a:schemeClr val="tx1"/>
            </a:solidFill>
            <a:round/>
            <a:headEnd/>
            <a:tailEnd type="stealth" w="lg" len="lg"/>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61480" name="Object 40"/>
          <p:cNvGraphicFramePr>
            <a:graphicFrameLocks noChangeAspect="1"/>
          </p:cNvGraphicFramePr>
          <p:nvPr/>
        </p:nvGraphicFramePr>
        <p:xfrm>
          <a:off x="2268538" y="2409825"/>
          <a:ext cx="4679950" cy="885825"/>
        </p:xfrm>
        <a:graphic>
          <a:graphicData uri="http://schemas.openxmlformats.org/presentationml/2006/ole">
            <p:oleObj spid="_x0000_s55375" name="Equation" r:id="rId13" imgW="2463800" imgH="622300" progId="Equation.DSMT4">
              <p:embed/>
            </p:oleObj>
          </a:graphicData>
        </a:graphic>
      </p:graphicFrame>
      <p:graphicFrame>
        <p:nvGraphicFramePr>
          <p:cNvPr id="61481" name="Object 41"/>
          <p:cNvGraphicFramePr>
            <a:graphicFrameLocks noChangeAspect="1"/>
          </p:cNvGraphicFramePr>
          <p:nvPr/>
        </p:nvGraphicFramePr>
        <p:xfrm>
          <a:off x="3040063" y="3436938"/>
          <a:ext cx="3116262" cy="676275"/>
        </p:xfrm>
        <a:graphic>
          <a:graphicData uri="http://schemas.openxmlformats.org/presentationml/2006/ole">
            <p:oleObj spid="_x0000_s55376" name="Equation" r:id="rId14" imgW="1536033" imgH="444307"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2" presetClass="entr" presetSubtype="4" fill="hold" grpId="0" nodeType="clickEffect">
                                  <p:stCondLst>
                                    <p:cond delay="0"/>
                                  </p:stCondLst>
                                  <p:childTnLst>
                                    <p:set>
                                      <p:cBhvr>
                                        <p:cTn id="6" dur="1" fill="hold">
                                          <p:stCondLst>
                                            <p:cond delay="0"/>
                                          </p:stCondLst>
                                        </p:cTn>
                                        <p:tgtEl>
                                          <p:spTgt spid="61478"/>
                                        </p:tgtEl>
                                        <p:attrNameLst>
                                          <p:attrName>style.visibility</p:attrName>
                                        </p:attrNameLst>
                                      </p:cBhvr>
                                      <p:to>
                                        <p:strVal val="visible"/>
                                      </p:to>
                                    </p:set>
                                    <p:animEffect transition="in" filter="slide(fromBottom)">
                                      <p:cBhvr>
                                        <p:cTn id="7" dur="500"/>
                                        <p:tgtEl>
                                          <p:spTgt spid="6147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3" presetClass="entr" presetSubtype="10"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Effect transition="in" filter="blinds(horizontal)">
                                      <p:cBhvr>
                                        <p:cTn id="12" dur="500"/>
                                        <p:tgtEl>
                                          <p:spTgt spid="2"/>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61479"/>
                                        </p:tgtEl>
                                        <p:attrNameLst>
                                          <p:attrName>style.visibility</p:attrName>
                                        </p:attrNameLst>
                                      </p:cBhvr>
                                      <p:to>
                                        <p:strVal val="visible"/>
                                      </p:to>
                                    </p:set>
                                    <p:animEffect transition="in" filter="blinds(horizontal)">
                                      <p:cBhvr>
                                        <p:cTn id="17" dur="500"/>
                                        <p:tgtEl>
                                          <p:spTgt spid="61479"/>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3" presetClass="entr" presetSubtype="10" fill="hold"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blinds(horizontal)">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61480"/>
                                        </p:tgtEl>
                                        <p:attrNameLst>
                                          <p:attrName>style.visibility</p:attrName>
                                        </p:attrNameLst>
                                      </p:cBhvr>
                                      <p:to>
                                        <p:strVal val="visible"/>
                                      </p:to>
                                    </p:set>
                                    <p:animEffect transition="in" filter="blinds(horizontal)">
                                      <p:cBhvr>
                                        <p:cTn id="27" dur="500"/>
                                        <p:tgtEl>
                                          <p:spTgt spid="61480"/>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61481"/>
                                        </p:tgtEl>
                                        <p:attrNameLst>
                                          <p:attrName>style.visibility</p:attrName>
                                        </p:attrNameLst>
                                      </p:cBhvr>
                                      <p:to>
                                        <p:strVal val="visible"/>
                                      </p:to>
                                    </p:set>
                                    <p:animEffect transition="in" filter="blinds(horizontal)">
                                      <p:cBhvr>
                                        <p:cTn id="32" dur="500"/>
                                        <p:tgtEl>
                                          <p:spTgt spid="61481"/>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4" presetClass="entr" presetSubtype="16" fill="hold" grpId="0" nodeType="clickEffect">
                                  <p:stCondLst>
                                    <p:cond delay="0"/>
                                  </p:stCondLst>
                                  <p:childTnLst>
                                    <p:set>
                                      <p:cBhvr>
                                        <p:cTn id="36" dur="1" fill="hold">
                                          <p:stCondLst>
                                            <p:cond delay="0"/>
                                          </p:stCondLst>
                                        </p:cTn>
                                        <p:tgtEl>
                                          <p:spTgt spid="87042"/>
                                        </p:tgtEl>
                                        <p:attrNameLst>
                                          <p:attrName>style.visibility</p:attrName>
                                        </p:attrNameLst>
                                      </p:cBhvr>
                                      <p:to>
                                        <p:strVal val="visible"/>
                                      </p:to>
                                    </p:set>
                                    <p:animEffect transition="in" filter="box(in)">
                                      <p:cBhvr>
                                        <p:cTn id="37" dur="500"/>
                                        <p:tgtEl>
                                          <p:spTgt spid="8704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7042" grpId="0" autoUpdateAnimBg="0"/>
      <p:bldP spid="61478" grpId="0" autoUpdateAnimBg="0"/>
      <p:bldP spid="61479" grpId="0" animBg="1"/>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42" name="Text Box 2"/>
          <p:cNvSpPr txBox="1">
            <a:spLocks noChangeArrowheads="1"/>
          </p:cNvSpPr>
          <p:nvPr/>
        </p:nvSpPr>
        <p:spPr bwMode="auto">
          <a:xfrm>
            <a:off x="250825" y="1277938"/>
            <a:ext cx="8382000" cy="64611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麦氏速度分布律是在没有考虑外力场作用时的分布律，这时分子在空间的分布是均匀的，即气体分子的密度是均匀分布的</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既稳恒又均匀）。</a:t>
            </a:r>
          </a:p>
        </p:txBody>
      </p:sp>
      <p:sp>
        <p:nvSpPr>
          <p:cNvPr id="61445" name="Rectangle 5"/>
          <p:cNvSpPr>
            <a:spLocks noChangeArrowheads="1"/>
          </p:cNvSpPr>
          <p:nvPr/>
        </p:nvSpPr>
        <p:spPr bwMode="auto">
          <a:xfrm>
            <a:off x="684213" y="2425700"/>
            <a:ext cx="294163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solidFill>
                  <a:srgbClr val="0033CC"/>
                </a:solidFill>
                <a:latin typeface="华文中宋" pitchFamily="2" charset="-122"/>
                <a:ea typeface="华文中宋" pitchFamily="2" charset="-122"/>
              </a:rPr>
              <a:t>由麦氏速度分布函数</a:t>
            </a:r>
          </a:p>
        </p:txBody>
      </p:sp>
      <p:sp>
        <p:nvSpPr>
          <p:cNvPr id="61448" name="Text Box 8"/>
          <p:cNvSpPr txBox="1">
            <a:spLocks noChangeArrowheads="1"/>
          </p:cNvSpPr>
          <p:nvPr/>
        </p:nvSpPr>
        <p:spPr bwMode="auto">
          <a:xfrm>
            <a:off x="250825" y="2066925"/>
            <a:ext cx="849788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考虑外力场的作用，则在平衡态时，只是稳恒的而不再是均匀的。</a:t>
            </a:r>
            <a:endParaRPr lang="zh-CN" altLang="en-US" sz="1800" b="1">
              <a:solidFill>
                <a:srgbClr val="0000FF"/>
              </a:solidFill>
              <a:latin typeface="华文中宋" pitchFamily="2" charset="-122"/>
              <a:ea typeface="华文中宋" pitchFamily="2" charset="-122"/>
            </a:endParaRPr>
          </a:p>
        </p:txBody>
      </p:sp>
      <p:graphicFrame>
        <p:nvGraphicFramePr>
          <p:cNvPr id="63504" name="Object 16"/>
          <p:cNvGraphicFramePr>
            <a:graphicFrameLocks noChangeAspect="1"/>
          </p:cNvGraphicFramePr>
          <p:nvPr/>
        </p:nvGraphicFramePr>
        <p:xfrm>
          <a:off x="709613" y="2895600"/>
          <a:ext cx="3116262" cy="676275"/>
        </p:xfrm>
        <a:graphic>
          <a:graphicData uri="http://schemas.openxmlformats.org/presentationml/2006/ole">
            <p:oleObj spid="_x0000_s56344" name="Equation" r:id="rId3" imgW="1536033" imgH="444307" progId="Equation.DSMT4">
              <p:embed/>
            </p:oleObj>
          </a:graphicData>
        </a:graphic>
      </p:graphicFrame>
      <p:sp>
        <p:nvSpPr>
          <p:cNvPr id="63505" name="Line 17"/>
          <p:cNvSpPr>
            <a:spLocks noChangeShapeType="1"/>
          </p:cNvSpPr>
          <p:nvPr/>
        </p:nvSpPr>
        <p:spPr bwMode="auto">
          <a:xfrm>
            <a:off x="3995738" y="3275013"/>
            <a:ext cx="1081087" cy="0"/>
          </a:xfrm>
          <a:prstGeom prst="line">
            <a:avLst/>
          </a:prstGeom>
          <a:noFill/>
          <a:ln w="38100">
            <a:solidFill>
              <a:schemeClr val="tx1"/>
            </a:solidFill>
            <a:round/>
            <a:headEnd/>
            <a:tailEnd type="stealth" w="lg" len="lg"/>
          </a:ln>
          <a:extLst>
            <a:ext uri="{909E8E84-426E-40DD-AFC4-6F175D3DCCD1}">
              <a14:hiddenFill xmlns:a14="http://schemas.microsoft.com/office/drawing/2010/main" xmlns="">
                <a:noFill/>
              </a14:hiddenFill>
            </a:ext>
          </a:extLst>
        </p:spPr>
        <p:txBody>
          <a:bodyPr>
            <a:spAutoFit/>
          </a:bodyPr>
          <a:lstStyle/>
          <a:p>
            <a:endParaRPr lang="zh-CN" altLang="en-US"/>
          </a:p>
        </p:txBody>
      </p:sp>
      <p:graphicFrame>
        <p:nvGraphicFramePr>
          <p:cNvPr id="63506" name="Object 18"/>
          <p:cNvGraphicFramePr>
            <a:graphicFrameLocks noChangeAspect="1"/>
          </p:cNvGraphicFramePr>
          <p:nvPr/>
        </p:nvGraphicFramePr>
        <p:xfrm>
          <a:off x="5205413" y="2905125"/>
          <a:ext cx="3013075" cy="655638"/>
        </p:xfrm>
        <a:graphic>
          <a:graphicData uri="http://schemas.openxmlformats.org/presentationml/2006/ole">
            <p:oleObj spid="_x0000_s56345" name="Equation" r:id="rId4" imgW="1485900" imgH="431800" progId="Equation.DSMT4">
              <p:embed/>
            </p:oleObj>
          </a:graphicData>
        </a:graphic>
      </p:graphicFrame>
      <p:graphicFrame>
        <p:nvGraphicFramePr>
          <p:cNvPr id="63507" name="Object 19"/>
          <p:cNvGraphicFramePr>
            <a:graphicFrameLocks noChangeAspect="1"/>
          </p:cNvGraphicFramePr>
          <p:nvPr/>
        </p:nvGraphicFramePr>
        <p:xfrm>
          <a:off x="4067175" y="2841625"/>
          <a:ext cx="957263" cy="384175"/>
        </p:xfrm>
        <a:graphic>
          <a:graphicData uri="http://schemas.openxmlformats.org/presentationml/2006/ole">
            <p:oleObj spid="_x0000_s56346" name="Equation" r:id="rId5" imgW="761669" imgH="406224" progId="Equation.DSMT4">
              <p:embed/>
            </p:oleObj>
          </a:graphicData>
        </a:graphic>
      </p:graphicFrame>
      <p:sp>
        <p:nvSpPr>
          <p:cNvPr id="63508" name="Text Box 20"/>
          <p:cNvSpPr txBox="1">
            <a:spLocks noChangeArrowheads="1"/>
          </p:cNvSpPr>
          <p:nvPr/>
        </p:nvSpPr>
        <p:spPr bwMode="auto">
          <a:xfrm>
            <a:off x="758825" y="3760788"/>
            <a:ext cx="7700963"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如果分子处于保守力场中，则应考虑在能量中还要包含有势能，即	</a:t>
            </a:r>
          </a:p>
        </p:txBody>
      </p:sp>
      <p:graphicFrame>
        <p:nvGraphicFramePr>
          <p:cNvPr id="63509" name="Object 21"/>
          <p:cNvGraphicFramePr>
            <a:graphicFrameLocks noChangeAspect="1"/>
          </p:cNvGraphicFramePr>
          <p:nvPr/>
        </p:nvGraphicFramePr>
        <p:xfrm>
          <a:off x="3322638" y="4156075"/>
          <a:ext cx="1681162" cy="392113"/>
        </p:xfrm>
        <a:graphic>
          <a:graphicData uri="http://schemas.openxmlformats.org/presentationml/2006/ole">
            <p:oleObj spid="_x0000_s56347" name="公式" r:id="rId6" imgW="609336" imgH="190417" progId="Equation.3">
              <p:embed/>
            </p:oleObj>
          </a:graphicData>
        </a:graphic>
      </p:graphicFrame>
      <p:sp>
        <p:nvSpPr>
          <p:cNvPr id="12" name="Text Box 2"/>
          <p:cNvSpPr>
            <a:spLocks noChangeArrowheads="1"/>
          </p:cNvSpPr>
          <p:nvPr/>
        </p:nvSpPr>
        <p:spPr bwMode="auto">
          <a:xfrm>
            <a:off x="755650" y="874713"/>
            <a:ext cx="3168650" cy="401637"/>
          </a:xfrm>
          <a:prstGeom prst="homePlate">
            <a:avLst>
              <a:gd name="adj" fmla="val 49710"/>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二、玻尔兹曼速度分布律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wipe(left)">
                                      <p:cBhvr>
                                        <p:cTn id="7" dur="500"/>
                                        <p:tgtEl>
                                          <p:spTgt spid="1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17" presetClass="entr" presetSubtype="10" fill="hold" grpId="0" nodeType="clickEffect">
                                  <p:stCondLst>
                                    <p:cond delay="0"/>
                                  </p:stCondLst>
                                  <p:childTnLst>
                                    <p:set>
                                      <p:cBhvr>
                                        <p:cTn id="11" dur="1" fill="hold">
                                          <p:stCondLst>
                                            <p:cond delay="0"/>
                                          </p:stCondLst>
                                        </p:cTn>
                                        <p:tgtEl>
                                          <p:spTgt spid="61442"/>
                                        </p:tgtEl>
                                        <p:attrNameLst>
                                          <p:attrName>style.visibility</p:attrName>
                                        </p:attrNameLst>
                                      </p:cBhvr>
                                      <p:to>
                                        <p:strVal val="visible"/>
                                      </p:to>
                                    </p:set>
                                    <p:anim calcmode="lin" valueType="num">
                                      <p:cBhvr>
                                        <p:cTn id="12" dur="500" fill="hold"/>
                                        <p:tgtEl>
                                          <p:spTgt spid="61442"/>
                                        </p:tgtEl>
                                        <p:attrNameLst>
                                          <p:attrName>ppt_w</p:attrName>
                                        </p:attrNameLst>
                                      </p:cBhvr>
                                      <p:tavLst>
                                        <p:tav tm="0">
                                          <p:val>
                                            <p:fltVal val="0"/>
                                          </p:val>
                                        </p:tav>
                                        <p:tav tm="100000">
                                          <p:val>
                                            <p:strVal val="#ppt_w"/>
                                          </p:val>
                                        </p:tav>
                                      </p:tavLst>
                                    </p:anim>
                                    <p:anim calcmode="lin" valueType="num">
                                      <p:cBhvr>
                                        <p:cTn id="13" dur="500" fill="hold"/>
                                        <p:tgtEl>
                                          <p:spTgt spid="61442"/>
                                        </p:tgtEl>
                                        <p:attrNameLst>
                                          <p:attrName>ppt_h</p:attrName>
                                        </p:attrNameLst>
                                      </p:cBhvr>
                                      <p:tavLst>
                                        <p:tav tm="0">
                                          <p:val>
                                            <p:strVal val="#ppt_h"/>
                                          </p:val>
                                        </p:tav>
                                        <p:tav tm="100000">
                                          <p:val>
                                            <p:strVal val="#ppt_h"/>
                                          </p:val>
                                        </p:tav>
                                      </p:tavLst>
                                    </p:anim>
                                  </p:childTnLst>
                                </p:cTn>
                              </p:par>
                            </p:childTnLst>
                          </p:cTn>
                        </p:par>
                      </p:childTnLst>
                    </p:cTn>
                  </p:par>
                  <p:par>
                    <p:cTn id="14" fill="hold" nodeType="clickPar">
                      <p:stCondLst>
                        <p:cond delay="indefinite"/>
                      </p:stCondLst>
                      <p:childTnLst>
                        <p:par>
                          <p:cTn id="15" fill="hold" nodeType="withGroup">
                            <p:stCondLst>
                              <p:cond delay="0"/>
                            </p:stCondLst>
                            <p:childTnLst>
                              <p:par>
                                <p:cTn id="16" presetID="17" presetClass="entr" presetSubtype="10" fill="hold" grpId="0" nodeType="clickEffect">
                                  <p:stCondLst>
                                    <p:cond delay="0"/>
                                  </p:stCondLst>
                                  <p:childTnLst>
                                    <p:set>
                                      <p:cBhvr>
                                        <p:cTn id="17" dur="1" fill="hold">
                                          <p:stCondLst>
                                            <p:cond delay="0"/>
                                          </p:stCondLst>
                                        </p:cTn>
                                        <p:tgtEl>
                                          <p:spTgt spid="61448"/>
                                        </p:tgtEl>
                                        <p:attrNameLst>
                                          <p:attrName>style.visibility</p:attrName>
                                        </p:attrNameLst>
                                      </p:cBhvr>
                                      <p:to>
                                        <p:strVal val="visible"/>
                                      </p:to>
                                    </p:set>
                                    <p:anim calcmode="lin" valueType="num">
                                      <p:cBhvr>
                                        <p:cTn id="18" dur="500" fill="hold"/>
                                        <p:tgtEl>
                                          <p:spTgt spid="61448"/>
                                        </p:tgtEl>
                                        <p:attrNameLst>
                                          <p:attrName>ppt_w</p:attrName>
                                        </p:attrNameLst>
                                      </p:cBhvr>
                                      <p:tavLst>
                                        <p:tav tm="0">
                                          <p:val>
                                            <p:fltVal val="0"/>
                                          </p:val>
                                        </p:tav>
                                        <p:tav tm="100000">
                                          <p:val>
                                            <p:strVal val="#ppt_w"/>
                                          </p:val>
                                        </p:tav>
                                      </p:tavLst>
                                    </p:anim>
                                    <p:anim calcmode="lin" valueType="num">
                                      <p:cBhvr>
                                        <p:cTn id="19" dur="500" fill="hold"/>
                                        <p:tgtEl>
                                          <p:spTgt spid="61448"/>
                                        </p:tgtEl>
                                        <p:attrNameLst>
                                          <p:attrName>ppt_h</p:attrName>
                                        </p:attrNameLst>
                                      </p:cBhvr>
                                      <p:tavLst>
                                        <p:tav tm="0">
                                          <p:val>
                                            <p:strVal val="#ppt_h"/>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17" presetClass="entr" presetSubtype="10" fill="hold" grpId="0" nodeType="clickEffect">
                                  <p:stCondLst>
                                    <p:cond delay="0"/>
                                  </p:stCondLst>
                                  <p:childTnLst>
                                    <p:set>
                                      <p:cBhvr>
                                        <p:cTn id="23" dur="1" fill="hold">
                                          <p:stCondLst>
                                            <p:cond delay="0"/>
                                          </p:stCondLst>
                                        </p:cTn>
                                        <p:tgtEl>
                                          <p:spTgt spid="61445"/>
                                        </p:tgtEl>
                                        <p:attrNameLst>
                                          <p:attrName>style.visibility</p:attrName>
                                        </p:attrNameLst>
                                      </p:cBhvr>
                                      <p:to>
                                        <p:strVal val="visible"/>
                                      </p:to>
                                    </p:set>
                                    <p:anim calcmode="lin" valueType="num">
                                      <p:cBhvr>
                                        <p:cTn id="24" dur="500" fill="hold"/>
                                        <p:tgtEl>
                                          <p:spTgt spid="61445"/>
                                        </p:tgtEl>
                                        <p:attrNameLst>
                                          <p:attrName>ppt_w</p:attrName>
                                        </p:attrNameLst>
                                      </p:cBhvr>
                                      <p:tavLst>
                                        <p:tav tm="0">
                                          <p:val>
                                            <p:fltVal val="0"/>
                                          </p:val>
                                        </p:tav>
                                        <p:tav tm="100000">
                                          <p:val>
                                            <p:strVal val="#ppt_w"/>
                                          </p:val>
                                        </p:tav>
                                      </p:tavLst>
                                    </p:anim>
                                    <p:anim calcmode="lin" valueType="num">
                                      <p:cBhvr>
                                        <p:cTn id="25" dur="500" fill="hold"/>
                                        <p:tgtEl>
                                          <p:spTgt spid="61445"/>
                                        </p:tgtEl>
                                        <p:attrNameLst>
                                          <p:attrName>ppt_h</p:attrName>
                                        </p:attrNameLst>
                                      </p:cBhvr>
                                      <p:tavLst>
                                        <p:tav tm="0">
                                          <p:val>
                                            <p:strVal val="#ppt_h"/>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63504"/>
                                        </p:tgtEl>
                                        <p:attrNameLst>
                                          <p:attrName>style.visibility</p:attrName>
                                        </p:attrNameLst>
                                      </p:cBhvr>
                                      <p:to>
                                        <p:strVal val="visible"/>
                                      </p:to>
                                    </p:set>
                                    <p:animEffect transition="in" filter="blinds(horizontal)">
                                      <p:cBhvr>
                                        <p:cTn id="30" dur="500"/>
                                        <p:tgtEl>
                                          <p:spTgt spid="63504"/>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3" presetClass="entr" presetSubtype="10" fill="hold" nodeType="clickEffect">
                                  <p:stCondLst>
                                    <p:cond delay="0"/>
                                  </p:stCondLst>
                                  <p:childTnLst>
                                    <p:set>
                                      <p:cBhvr>
                                        <p:cTn id="34" dur="1" fill="hold">
                                          <p:stCondLst>
                                            <p:cond delay="0"/>
                                          </p:stCondLst>
                                        </p:cTn>
                                        <p:tgtEl>
                                          <p:spTgt spid="63507"/>
                                        </p:tgtEl>
                                        <p:attrNameLst>
                                          <p:attrName>style.visibility</p:attrName>
                                        </p:attrNameLst>
                                      </p:cBhvr>
                                      <p:to>
                                        <p:strVal val="visible"/>
                                      </p:to>
                                    </p:set>
                                    <p:animEffect transition="in" filter="blinds(horizontal)">
                                      <p:cBhvr>
                                        <p:cTn id="35" dur="500"/>
                                        <p:tgtEl>
                                          <p:spTgt spid="63507"/>
                                        </p:tgtEl>
                                      </p:cBhvr>
                                    </p:animEffect>
                                  </p:childTnLst>
                                </p:cTn>
                              </p:par>
                              <p:par>
                                <p:cTn id="36" presetID="3" presetClass="entr" presetSubtype="10" fill="hold" grpId="0" nodeType="withEffect">
                                  <p:stCondLst>
                                    <p:cond delay="0"/>
                                  </p:stCondLst>
                                  <p:childTnLst>
                                    <p:set>
                                      <p:cBhvr>
                                        <p:cTn id="37" dur="1" fill="hold">
                                          <p:stCondLst>
                                            <p:cond delay="0"/>
                                          </p:stCondLst>
                                        </p:cTn>
                                        <p:tgtEl>
                                          <p:spTgt spid="63505"/>
                                        </p:tgtEl>
                                        <p:attrNameLst>
                                          <p:attrName>style.visibility</p:attrName>
                                        </p:attrNameLst>
                                      </p:cBhvr>
                                      <p:to>
                                        <p:strVal val="visible"/>
                                      </p:to>
                                    </p:set>
                                    <p:animEffect transition="in" filter="blinds(horizontal)">
                                      <p:cBhvr>
                                        <p:cTn id="38" dur="500"/>
                                        <p:tgtEl>
                                          <p:spTgt spid="63505"/>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3" presetClass="entr" presetSubtype="10" fill="hold" nodeType="clickEffect">
                                  <p:stCondLst>
                                    <p:cond delay="0"/>
                                  </p:stCondLst>
                                  <p:childTnLst>
                                    <p:set>
                                      <p:cBhvr>
                                        <p:cTn id="42" dur="1" fill="hold">
                                          <p:stCondLst>
                                            <p:cond delay="0"/>
                                          </p:stCondLst>
                                        </p:cTn>
                                        <p:tgtEl>
                                          <p:spTgt spid="63506"/>
                                        </p:tgtEl>
                                        <p:attrNameLst>
                                          <p:attrName>style.visibility</p:attrName>
                                        </p:attrNameLst>
                                      </p:cBhvr>
                                      <p:to>
                                        <p:strVal val="visible"/>
                                      </p:to>
                                    </p:set>
                                    <p:animEffect transition="in" filter="blinds(horizontal)">
                                      <p:cBhvr>
                                        <p:cTn id="43" dur="500"/>
                                        <p:tgtEl>
                                          <p:spTgt spid="63506"/>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16" presetClass="entr" presetSubtype="37" fill="hold" grpId="0" nodeType="clickEffect">
                                  <p:stCondLst>
                                    <p:cond delay="0"/>
                                  </p:stCondLst>
                                  <p:childTnLst>
                                    <p:set>
                                      <p:cBhvr>
                                        <p:cTn id="47" dur="1" fill="hold">
                                          <p:stCondLst>
                                            <p:cond delay="0"/>
                                          </p:stCondLst>
                                        </p:cTn>
                                        <p:tgtEl>
                                          <p:spTgt spid="63508"/>
                                        </p:tgtEl>
                                        <p:attrNameLst>
                                          <p:attrName>style.visibility</p:attrName>
                                        </p:attrNameLst>
                                      </p:cBhvr>
                                      <p:to>
                                        <p:strVal val="visible"/>
                                      </p:to>
                                    </p:set>
                                    <p:animEffect transition="in" filter="barn(outVertical)">
                                      <p:cBhvr>
                                        <p:cTn id="48" dur="500"/>
                                        <p:tgtEl>
                                          <p:spTgt spid="63508"/>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6" presetClass="entr" presetSubtype="37" fill="hold" nodeType="clickEffect">
                                  <p:stCondLst>
                                    <p:cond delay="0"/>
                                  </p:stCondLst>
                                  <p:childTnLst>
                                    <p:set>
                                      <p:cBhvr>
                                        <p:cTn id="52" dur="1" fill="hold">
                                          <p:stCondLst>
                                            <p:cond delay="0"/>
                                          </p:stCondLst>
                                        </p:cTn>
                                        <p:tgtEl>
                                          <p:spTgt spid="63509"/>
                                        </p:tgtEl>
                                        <p:attrNameLst>
                                          <p:attrName>style.visibility</p:attrName>
                                        </p:attrNameLst>
                                      </p:cBhvr>
                                      <p:to>
                                        <p:strVal val="visible"/>
                                      </p:to>
                                    </p:set>
                                    <p:animEffect transition="in" filter="barn(outVertical)">
                                      <p:cBhvr>
                                        <p:cTn id="53" dur="500"/>
                                        <p:tgtEl>
                                          <p:spTgt spid="63509"/>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1442" grpId="0" autoUpdateAnimBg="0"/>
      <p:bldP spid="61445" grpId="0" autoUpdateAnimBg="0"/>
      <p:bldP spid="61448" grpId="0" autoUpdateAnimBg="0"/>
      <p:bldP spid="63505" grpId="0" animBg="1"/>
      <p:bldP spid="63508" grpId="0" autoUpdateAnimBg="0"/>
      <p:bldP spid="12" grpId="0" animBg="1"/>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2100" name="Text Box 4"/>
          <p:cNvSpPr txBox="1">
            <a:spLocks noChangeArrowheads="1"/>
          </p:cNvSpPr>
          <p:nvPr/>
        </p:nvSpPr>
        <p:spPr bwMode="auto">
          <a:xfrm>
            <a:off x="539750" y="762000"/>
            <a:ext cx="355758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solidFill>
                  <a:srgbClr val="0033CC"/>
                </a:solidFill>
                <a:latin typeface="华文中宋" pitchFamily="2" charset="-122"/>
                <a:ea typeface="华文中宋" pitchFamily="2" charset="-122"/>
              </a:rPr>
              <a:t>玻尔兹曼把麦氏速度分布推广</a:t>
            </a:r>
          </a:p>
        </p:txBody>
      </p:sp>
      <p:graphicFrame>
        <p:nvGraphicFramePr>
          <p:cNvPr id="132101" name="Object 5"/>
          <p:cNvGraphicFramePr>
            <a:graphicFrameLocks noChangeAspect="1"/>
          </p:cNvGraphicFramePr>
          <p:nvPr/>
        </p:nvGraphicFramePr>
        <p:xfrm>
          <a:off x="492125" y="1139825"/>
          <a:ext cx="2738438" cy="614363"/>
        </p:xfrm>
        <a:graphic>
          <a:graphicData uri="http://schemas.openxmlformats.org/presentationml/2006/ole">
            <p:oleObj spid="_x0000_s57383" name="Equation" r:id="rId4" imgW="1485900" imgH="431800" progId="Equation.DSMT4">
              <p:embed/>
            </p:oleObj>
          </a:graphicData>
        </a:graphic>
      </p:graphicFrame>
      <p:graphicFrame>
        <p:nvGraphicFramePr>
          <p:cNvPr id="132104" name="Object 8"/>
          <p:cNvGraphicFramePr>
            <a:graphicFrameLocks noChangeAspect="1"/>
          </p:cNvGraphicFramePr>
          <p:nvPr/>
        </p:nvGraphicFramePr>
        <p:xfrm>
          <a:off x="4500563" y="1131888"/>
          <a:ext cx="4049712" cy="631825"/>
        </p:xfrm>
        <a:graphic>
          <a:graphicData uri="http://schemas.openxmlformats.org/presentationml/2006/ole">
            <p:oleObj spid="_x0000_s57384" name="Equation" r:id="rId5" imgW="2197100" imgH="444500" progId="Equation.DSMT4">
              <p:embed/>
            </p:oleObj>
          </a:graphicData>
        </a:graphic>
      </p:graphicFrame>
      <p:graphicFrame>
        <p:nvGraphicFramePr>
          <p:cNvPr id="132105" name="Object 9"/>
          <p:cNvGraphicFramePr>
            <a:graphicFrameLocks noChangeAspect="1"/>
          </p:cNvGraphicFramePr>
          <p:nvPr/>
        </p:nvGraphicFramePr>
        <p:xfrm>
          <a:off x="1825625" y="2643188"/>
          <a:ext cx="2098675" cy="587375"/>
        </p:xfrm>
        <a:graphic>
          <a:graphicData uri="http://schemas.openxmlformats.org/presentationml/2006/ole">
            <p:oleObj spid="_x0000_s57385" name="Equation" r:id="rId6" imgW="875920" imgH="317362" progId="Equation.DSMT4">
              <p:embed/>
            </p:oleObj>
          </a:graphicData>
        </a:graphic>
      </p:graphicFrame>
      <p:sp>
        <p:nvSpPr>
          <p:cNvPr id="132106" name="Text Box 10"/>
          <p:cNvSpPr txBox="1">
            <a:spLocks noChangeArrowheads="1"/>
          </p:cNvSpPr>
          <p:nvPr/>
        </p:nvSpPr>
        <p:spPr bwMode="auto">
          <a:xfrm>
            <a:off x="4097338" y="2851150"/>
            <a:ext cx="26352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称</a:t>
            </a:r>
            <a:r>
              <a:rPr kumimoji="0" lang="zh-CN" altLang="en-US" sz="1800" b="1">
                <a:solidFill>
                  <a:srgbClr val="FF0000"/>
                </a:solidFill>
                <a:latin typeface="华文中宋" pitchFamily="2" charset="-122"/>
                <a:ea typeface="华文中宋" pitchFamily="2" charset="-122"/>
              </a:rPr>
              <a:t>玻尔兹曼因子。</a:t>
            </a:r>
          </a:p>
        </p:txBody>
      </p:sp>
      <p:graphicFrame>
        <p:nvGraphicFramePr>
          <p:cNvPr id="132107" name="Object 11"/>
          <p:cNvGraphicFramePr>
            <a:graphicFrameLocks noChangeAspect="1"/>
          </p:cNvGraphicFramePr>
          <p:nvPr/>
        </p:nvGraphicFramePr>
        <p:xfrm>
          <a:off x="3990975" y="2006600"/>
          <a:ext cx="3578225" cy="636588"/>
        </p:xfrm>
        <a:graphic>
          <a:graphicData uri="http://schemas.openxmlformats.org/presentationml/2006/ole">
            <p:oleObj spid="_x0000_s57386" name="Equation" r:id="rId7" imgW="1765300" imgH="419100" progId="Equation.DSMT4">
              <p:embed/>
            </p:oleObj>
          </a:graphicData>
        </a:graphic>
      </p:graphicFrame>
      <p:sp>
        <p:nvSpPr>
          <p:cNvPr id="132108" name="Rectangle 12"/>
          <p:cNvSpPr>
            <a:spLocks noChangeArrowheads="1"/>
          </p:cNvSpPr>
          <p:nvPr/>
        </p:nvSpPr>
        <p:spPr bwMode="auto">
          <a:xfrm>
            <a:off x="1044575" y="2171700"/>
            <a:ext cx="2735263"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en-US" sz="1800" b="1">
                <a:solidFill>
                  <a:srgbClr val="0033CC"/>
                </a:solidFill>
                <a:latin typeface="华文中宋" pitchFamily="2" charset="-122"/>
                <a:ea typeface="华文中宋" pitchFamily="2" charset="-122"/>
              </a:rPr>
              <a:t>玻尔兹曼速度分布函数：</a:t>
            </a:r>
          </a:p>
        </p:txBody>
      </p:sp>
      <p:grpSp>
        <p:nvGrpSpPr>
          <p:cNvPr id="2" name="Group 20"/>
          <p:cNvGrpSpPr>
            <a:grpSpLocks/>
          </p:cNvGrpSpPr>
          <p:nvPr/>
        </p:nvGrpSpPr>
        <p:grpSpPr bwMode="auto">
          <a:xfrm>
            <a:off x="3348038" y="1131888"/>
            <a:ext cx="1008062" cy="658812"/>
            <a:chOff x="2109" y="790"/>
            <a:chExt cx="795" cy="505"/>
          </a:xfrm>
        </p:grpSpPr>
        <p:sp>
          <p:nvSpPr>
            <p:cNvPr id="57359" name="Line 6"/>
            <p:cNvSpPr>
              <a:spLocks noChangeShapeType="1"/>
            </p:cNvSpPr>
            <p:nvPr/>
          </p:nvSpPr>
          <p:spPr bwMode="auto">
            <a:xfrm>
              <a:off x="2109" y="1026"/>
              <a:ext cx="795" cy="0"/>
            </a:xfrm>
            <a:prstGeom prst="line">
              <a:avLst/>
            </a:prstGeom>
            <a:noFill/>
            <a:ln w="38100">
              <a:solidFill>
                <a:schemeClr val="tx1"/>
              </a:solidFill>
              <a:round/>
              <a:headEnd/>
              <a:tailEnd type="stealth" w="lg" len="lg"/>
            </a:ln>
            <a:extLst>
              <a:ext uri="{909E8E84-426E-40DD-AFC4-6F175D3DCCD1}">
                <a14:hiddenFill xmlns:a14="http://schemas.microsoft.com/office/drawing/2010/main" xmlns="">
                  <a:noFill/>
                </a14:hiddenFill>
              </a:ext>
            </a:extLst>
          </p:spPr>
          <p:txBody>
            <a:bodyPr>
              <a:spAutoFit/>
            </a:bodyPr>
            <a:lstStyle/>
            <a:p>
              <a:endParaRPr lang="zh-CN" altLang="en-US"/>
            </a:p>
          </p:txBody>
        </p:sp>
        <p:graphicFrame>
          <p:nvGraphicFramePr>
            <p:cNvPr id="57360" name="Object 7"/>
            <p:cNvGraphicFramePr>
              <a:graphicFrameLocks noChangeAspect="1"/>
            </p:cNvGraphicFramePr>
            <p:nvPr/>
          </p:nvGraphicFramePr>
          <p:xfrm>
            <a:off x="2129" y="790"/>
            <a:ext cx="653" cy="191"/>
          </p:xfrm>
          <a:graphic>
            <a:graphicData uri="http://schemas.openxmlformats.org/presentationml/2006/ole">
              <p:oleObj spid="_x0000_s57387" name="Equation" r:id="rId8" imgW="825500" imgH="241300" progId="Equation.DSMT4">
                <p:embed/>
              </p:oleObj>
            </a:graphicData>
          </a:graphic>
        </p:graphicFrame>
        <p:sp>
          <p:nvSpPr>
            <p:cNvPr id="57361" name="Text Box 15"/>
            <p:cNvSpPr txBox="1">
              <a:spLocks noChangeArrowheads="1"/>
            </p:cNvSpPr>
            <p:nvPr/>
          </p:nvSpPr>
          <p:spPr bwMode="auto">
            <a:xfrm>
              <a:off x="2154" y="1071"/>
              <a:ext cx="551" cy="224"/>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300" b="1">
                  <a:latin typeface="楷体_GB2312" pitchFamily="49" charset="-122"/>
                  <a:ea typeface="楷体_GB2312" pitchFamily="49" charset="-122"/>
                </a:rPr>
                <a:t>归一化</a:t>
              </a:r>
              <a:endParaRPr kumimoji="0" lang="zh-CN" altLang="en-US" sz="1300" b="1">
                <a:solidFill>
                  <a:srgbClr val="FF0000"/>
                </a:solidFill>
                <a:latin typeface="楷体_GB2312" pitchFamily="49" charset="-122"/>
                <a:ea typeface="楷体_GB2312" pitchFamily="49" charset="-122"/>
              </a:endParaRPr>
            </a:p>
          </p:txBody>
        </p:sp>
      </p:grpSp>
      <p:grpSp>
        <p:nvGrpSpPr>
          <p:cNvPr id="3" name="Group 18"/>
          <p:cNvGrpSpPr>
            <a:grpSpLocks/>
          </p:cNvGrpSpPr>
          <p:nvPr/>
        </p:nvGrpSpPr>
        <p:grpSpPr bwMode="auto">
          <a:xfrm>
            <a:off x="323850" y="3275013"/>
            <a:ext cx="8610600" cy="646112"/>
            <a:chOff x="204" y="2750"/>
            <a:chExt cx="5424" cy="543"/>
          </a:xfrm>
        </p:grpSpPr>
        <p:sp>
          <p:nvSpPr>
            <p:cNvPr id="57356" name="Text Box 13"/>
            <p:cNvSpPr txBox="1">
              <a:spLocks noChangeArrowheads="1"/>
            </p:cNvSpPr>
            <p:nvPr/>
          </p:nvSpPr>
          <p:spPr bwMode="auto">
            <a:xfrm>
              <a:off x="204" y="2750"/>
              <a:ext cx="5424" cy="54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物理意义：速度为   附近单位速度区间内，位置   处单位空间体积内的分子数占总分子数的百分比。既是速度的函数又是空间坐标的函数。</a:t>
              </a:r>
            </a:p>
          </p:txBody>
        </p:sp>
        <p:graphicFrame>
          <p:nvGraphicFramePr>
            <p:cNvPr id="57357" name="Object 16"/>
            <p:cNvGraphicFramePr>
              <a:graphicFrameLocks noChangeAspect="1"/>
            </p:cNvGraphicFramePr>
            <p:nvPr/>
          </p:nvGraphicFramePr>
          <p:xfrm>
            <a:off x="1424" y="2795"/>
            <a:ext cx="186" cy="237"/>
          </p:xfrm>
          <a:graphic>
            <a:graphicData uri="http://schemas.openxmlformats.org/presentationml/2006/ole">
              <p:oleObj spid="_x0000_s57388" name="Equation" r:id="rId9" imgW="139579" imgH="177646" progId="Equation.DSMT4">
                <p:embed/>
              </p:oleObj>
            </a:graphicData>
          </a:graphic>
        </p:graphicFrame>
        <p:graphicFrame>
          <p:nvGraphicFramePr>
            <p:cNvPr id="57358" name="Object 17"/>
            <p:cNvGraphicFramePr>
              <a:graphicFrameLocks noChangeAspect="1"/>
            </p:cNvGraphicFramePr>
            <p:nvPr/>
          </p:nvGraphicFramePr>
          <p:xfrm>
            <a:off x="3290" y="2764"/>
            <a:ext cx="180" cy="233"/>
          </p:xfrm>
          <a:graphic>
            <a:graphicData uri="http://schemas.openxmlformats.org/presentationml/2006/ole">
              <p:oleObj spid="_x0000_s57389" name="Equation" r:id="rId10" imgW="126780" imgH="164814" progId="Equation.DSMT4">
                <p:embed/>
              </p:oleObj>
            </a:graphicData>
          </a:graphic>
        </p:graphicFrame>
      </p:grpSp>
      <p:sp>
        <p:nvSpPr>
          <p:cNvPr id="132115" name="Text Box 19"/>
          <p:cNvSpPr txBox="1">
            <a:spLocks noChangeArrowheads="1"/>
          </p:cNvSpPr>
          <p:nvPr/>
        </p:nvSpPr>
        <p:spPr bwMode="auto">
          <a:xfrm>
            <a:off x="827088" y="3940175"/>
            <a:ext cx="7632700" cy="646113"/>
          </a:xfrm>
          <a:prstGeom prst="rect">
            <a:avLst/>
          </a:prstGeom>
          <a:noFill/>
          <a:ln w="19050" cap="rnd">
            <a:solidFill>
              <a:srgbClr val="FF0000"/>
            </a:solidFill>
            <a:prstDash val="sysDash"/>
            <a:round/>
            <a:headEnd/>
            <a:tailEnd/>
          </a:ln>
          <a:extLst>
            <a:ext uri="{909E8E84-426E-40DD-AFC4-6F175D3DCCD1}">
              <a14:hiddenFill xmlns:a14="http://schemas.microsoft.com/office/drawing/2010/main" xmlns="">
                <a:solidFill>
                  <a:srgbClr val="FFFFFF"/>
                </a:solidFill>
              </a14:hiddenFill>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r>
              <a:rPr kumimoji="0" lang="zh-CN" altLang="en-US" sz="1800" b="1">
                <a:solidFill>
                  <a:srgbClr val="0033CC"/>
                </a:solidFill>
                <a:latin typeface="华文中宋" pitchFamily="2" charset="-122"/>
                <a:ea typeface="华文中宋" pitchFamily="2" charset="-122"/>
              </a:rPr>
              <a:t>麦氏速度分布：气体分子在没有力场时的统计分布律；</a:t>
            </a:r>
          </a:p>
          <a:p>
            <a:pPr algn="ctr"/>
            <a:r>
              <a:rPr kumimoji="0" lang="zh-CN" altLang="en-US" sz="1800" b="1">
                <a:solidFill>
                  <a:srgbClr val="0033CC"/>
                </a:solidFill>
                <a:latin typeface="华文中宋" pitchFamily="2" charset="-122"/>
                <a:ea typeface="华文中宋" pitchFamily="2" charset="-122"/>
              </a:rPr>
              <a:t>玻氏速度分布：气体分子在有力场时的统计分布律。</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32100"/>
                                        </p:tgtEl>
                                        <p:attrNameLst>
                                          <p:attrName>style.visibility</p:attrName>
                                        </p:attrNameLst>
                                      </p:cBhvr>
                                      <p:to>
                                        <p:strVal val="visible"/>
                                      </p:to>
                                    </p:set>
                                    <p:anim calcmode="lin" valueType="num">
                                      <p:cBhvr>
                                        <p:cTn id="7" dur="500" fill="hold"/>
                                        <p:tgtEl>
                                          <p:spTgt spid="132100"/>
                                        </p:tgtEl>
                                        <p:attrNameLst>
                                          <p:attrName>ppt_w</p:attrName>
                                        </p:attrNameLst>
                                      </p:cBhvr>
                                      <p:tavLst>
                                        <p:tav tm="0">
                                          <p:val>
                                            <p:fltVal val="0"/>
                                          </p:val>
                                        </p:tav>
                                        <p:tav tm="100000">
                                          <p:val>
                                            <p:strVal val="#ppt_w"/>
                                          </p:val>
                                        </p:tav>
                                      </p:tavLst>
                                    </p:anim>
                                    <p:anim calcmode="lin" valueType="num">
                                      <p:cBhvr>
                                        <p:cTn id="8" dur="500" fill="hold"/>
                                        <p:tgtEl>
                                          <p:spTgt spid="132100"/>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132101"/>
                                        </p:tgtEl>
                                        <p:attrNameLst>
                                          <p:attrName>style.visibility</p:attrName>
                                        </p:attrNameLst>
                                      </p:cBhvr>
                                      <p:to>
                                        <p:strVal val="visible"/>
                                      </p:to>
                                    </p:set>
                                    <p:animEffect transition="in" filter="blinds(horizontal)">
                                      <p:cBhvr>
                                        <p:cTn id="13" dur="500"/>
                                        <p:tgtEl>
                                          <p:spTgt spid="132101"/>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3" presetClass="entr" presetSubtype="10" fill="hold" nodeType="clickEffect">
                                  <p:stCondLst>
                                    <p:cond delay="0"/>
                                  </p:stCondLst>
                                  <p:childTnLst>
                                    <p:set>
                                      <p:cBhvr>
                                        <p:cTn id="17" dur="1" fill="hold">
                                          <p:stCondLst>
                                            <p:cond delay="0"/>
                                          </p:stCondLst>
                                        </p:cTn>
                                        <p:tgtEl>
                                          <p:spTgt spid="2"/>
                                        </p:tgtEl>
                                        <p:attrNameLst>
                                          <p:attrName>style.visibility</p:attrName>
                                        </p:attrNameLst>
                                      </p:cBhvr>
                                      <p:to>
                                        <p:strVal val="visible"/>
                                      </p:to>
                                    </p:set>
                                    <p:animEffect transition="in" filter="blinds(horizontal)">
                                      <p:cBhvr>
                                        <p:cTn id="18" dur="500"/>
                                        <p:tgtEl>
                                          <p:spTgt spid="2"/>
                                        </p:tgtEl>
                                      </p:cBhvr>
                                    </p:animEffect>
                                  </p:childTnLst>
                                </p:cTn>
                              </p:par>
                            </p:childTnLst>
                          </p:cTn>
                        </p:par>
                      </p:childTnLst>
                    </p:cTn>
                  </p:par>
                  <p:par>
                    <p:cTn id="19" fill="hold" nodeType="clickPar">
                      <p:stCondLst>
                        <p:cond delay="indefinite"/>
                      </p:stCondLst>
                      <p:childTnLst>
                        <p:par>
                          <p:cTn id="20" fill="hold" nodeType="withGroup">
                            <p:stCondLst>
                              <p:cond delay="0"/>
                            </p:stCondLst>
                            <p:childTnLst>
                              <p:par>
                                <p:cTn id="21" presetID="3" presetClass="entr" presetSubtype="10" fill="hold" nodeType="clickEffect">
                                  <p:stCondLst>
                                    <p:cond delay="0"/>
                                  </p:stCondLst>
                                  <p:childTnLst>
                                    <p:set>
                                      <p:cBhvr>
                                        <p:cTn id="22" dur="1" fill="hold">
                                          <p:stCondLst>
                                            <p:cond delay="0"/>
                                          </p:stCondLst>
                                        </p:cTn>
                                        <p:tgtEl>
                                          <p:spTgt spid="132104"/>
                                        </p:tgtEl>
                                        <p:attrNameLst>
                                          <p:attrName>style.visibility</p:attrName>
                                        </p:attrNameLst>
                                      </p:cBhvr>
                                      <p:to>
                                        <p:strVal val="visible"/>
                                      </p:to>
                                    </p:set>
                                    <p:animEffect transition="in" filter="blinds(horizontal)">
                                      <p:cBhvr>
                                        <p:cTn id="23" dur="500"/>
                                        <p:tgtEl>
                                          <p:spTgt spid="132104"/>
                                        </p:tgtEl>
                                      </p:cBhvr>
                                    </p:animEffect>
                                  </p:childTnLst>
                                </p:cTn>
                              </p:par>
                            </p:childTnLst>
                          </p:cTn>
                        </p:par>
                      </p:childTnLst>
                    </p:cTn>
                  </p:par>
                  <p:par>
                    <p:cTn id="24" fill="hold" nodeType="clickPar">
                      <p:stCondLst>
                        <p:cond delay="indefinite"/>
                      </p:stCondLst>
                      <p:childTnLst>
                        <p:par>
                          <p:cTn id="25" fill="hold" nodeType="withGroup">
                            <p:stCondLst>
                              <p:cond delay="0"/>
                            </p:stCondLst>
                            <p:childTnLst>
                              <p:par>
                                <p:cTn id="26" presetID="3" presetClass="entr" presetSubtype="10" fill="hold" grpId="0" nodeType="clickEffect">
                                  <p:stCondLst>
                                    <p:cond delay="0"/>
                                  </p:stCondLst>
                                  <p:childTnLst>
                                    <p:set>
                                      <p:cBhvr>
                                        <p:cTn id="27" dur="1" fill="hold">
                                          <p:stCondLst>
                                            <p:cond delay="0"/>
                                          </p:stCondLst>
                                        </p:cTn>
                                        <p:tgtEl>
                                          <p:spTgt spid="132108"/>
                                        </p:tgtEl>
                                        <p:attrNameLst>
                                          <p:attrName>style.visibility</p:attrName>
                                        </p:attrNameLst>
                                      </p:cBhvr>
                                      <p:to>
                                        <p:strVal val="visible"/>
                                      </p:to>
                                    </p:set>
                                    <p:animEffect transition="in" filter="blinds(horizontal)">
                                      <p:cBhvr>
                                        <p:cTn id="28" dur="500"/>
                                        <p:tgtEl>
                                          <p:spTgt spid="132108"/>
                                        </p:tgtEl>
                                      </p:cBhvr>
                                    </p:animEffect>
                                  </p:childTnLst>
                                </p:cTn>
                              </p:par>
                              <p:par>
                                <p:cTn id="29" presetID="3" presetClass="entr" presetSubtype="10" fill="hold" nodeType="withEffect">
                                  <p:stCondLst>
                                    <p:cond delay="0"/>
                                  </p:stCondLst>
                                  <p:childTnLst>
                                    <p:set>
                                      <p:cBhvr>
                                        <p:cTn id="30" dur="1" fill="hold">
                                          <p:stCondLst>
                                            <p:cond delay="0"/>
                                          </p:stCondLst>
                                        </p:cTn>
                                        <p:tgtEl>
                                          <p:spTgt spid="132107"/>
                                        </p:tgtEl>
                                        <p:attrNameLst>
                                          <p:attrName>style.visibility</p:attrName>
                                        </p:attrNameLst>
                                      </p:cBhvr>
                                      <p:to>
                                        <p:strVal val="visible"/>
                                      </p:to>
                                    </p:set>
                                    <p:animEffect transition="in" filter="blinds(horizontal)">
                                      <p:cBhvr>
                                        <p:cTn id="31" dur="500"/>
                                        <p:tgtEl>
                                          <p:spTgt spid="132107"/>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17" presetClass="entr" presetSubtype="10" fill="hold" nodeType="clickEffect">
                                  <p:stCondLst>
                                    <p:cond delay="0"/>
                                  </p:stCondLst>
                                  <p:childTnLst>
                                    <p:set>
                                      <p:cBhvr>
                                        <p:cTn id="35" dur="1" fill="hold">
                                          <p:stCondLst>
                                            <p:cond delay="0"/>
                                          </p:stCondLst>
                                        </p:cTn>
                                        <p:tgtEl>
                                          <p:spTgt spid="132105"/>
                                        </p:tgtEl>
                                        <p:attrNameLst>
                                          <p:attrName>style.visibility</p:attrName>
                                        </p:attrNameLst>
                                      </p:cBhvr>
                                      <p:to>
                                        <p:strVal val="visible"/>
                                      </p:to>
                                    </p:set>
                                    <p:anim calcmode="lin" valueType="num">
                                      <p:cBhvr>
                                        <p:cTn id="36" dur="500" fill="hold"/>
                                        <p:tgtEl>
                                          <p:spTgt spid="132105"/>
                                        </p:tgtEl>
                                        <p:attrNameLst>
                                          <p:attrName>ppt_w</p:attrName>
                                        </p:attrNameLst>
                                      </p:cBhvr>
                                      <p:tavLst>
                                        <p:tav tm="0">
                                          <p:val>
                                            <p:fltVal val="0"/>
                                          </p:val>
                                        </p:tav>
                                        <p:tav tm="100000">
                                          <p:val>
                                            <p:strVal val="#ppt_w"/>
                                          </p:val>
                                        </p:tav>
                                      </p:tavLst>
                                    </p:anim>
                                    <p:anim calcmode="lin" valueType="num">
                                      <p:cBhvr>
                                        <p:cTn id="37" dur="500" fill="hold"/>
                                        <p:tgtEl>
                                          <p:spTgt spid="132105"/>
                                        </p:tgtEl>
                                        <p:attrNameLst>
                                          <p:attrName>ppt_h</p:attrName>
                                        </p:attrNameLst>
                                      </p:cBhvr>
                                      <p:tavLst>
                                        <p:tav tm="0">
                                          <p:val>
                                            <p:strVal val="#ppt_h"/>
                                          </p:val>
                                        </p:tav>
                                        <p:tav tm="100000">
                                          <p:val>
                                            <p:strVal val="#ppt_h"/>
                                          </p:val>
                                        </p:tav>
                                      </p:tavLst>
                                    </p:anim>
                                  </p:childTnLst>
                                  <p:subTnLst>
                                    <p:audio>
                                      <p:cMediaNode>
                                        <p:cTn display="0" masterRel="sameClick">
                                          <p:stCondLst>
                                            <p:cond evt="begin" delay="0">
                                              <p:tn val="34"/>
                                            </p:cond>
                                          </p:stCondLst>
                                          <p:endCondLst>
                                            <p:cond evt="onStopAudio" delay="0">
                                              <p:tgtEl>
                                                <p:sldTgt/>
                                              </p:tgtEl>
                                            </p:cond>
                                          </p:endCondLst>
                                        </p:cTn>
                                        <p:tgtEl>
                                          <p:sndTgt r:embed="rId3" name="WHOOSH.WAV"/>
                                        </p:tgtEl>
                                      </p:cMediaNode>
                                    </p:audio>
                                  </p:subTnLst>
                                </p:cTn>
                              </p:par>
                            </p:childTnLst>
                          </p:cTn>
                        </p:par>
                      </p:childTnLst>
                    </p:cTn>
                  </p:par>
                  <p:par>
                    <p:cTn id="38" fill="hold" nodeType="clickPar">
                      <p:stCondLst>
                        <p:cond delay="indefinite"/>
                      </p:stCondLst>
                      <p:childTnLst>
                        <p:par>
                          <p:cTn id="39" fill="hold" nodeType="withGroup">
                            <p:stCondLst>
                              <p:cond delay="0"/>
                            </p:stCondLst>
                            <p:childTnLst>
                              <p:par>
                                <p:cTn id="40" presetID="17" presetClass="entr" presetSubtype="10" fill="hold" grpId="0" nodeType="clickEffect">
                                  <p:stCondLst>
                                    <p:cond delay="0"/>
                                  </p:stCondLst>
                                  <p:childTnLst>
                                    <p:set>
                                      <p:cBhvr>
                                        <p:cTn id="41" dur="1" fill="hold">
                                          <p:stCondLst>
                                            <p:cond delay="0"/>
                                          </p:stCondLst>
                                        </p:cTn>
                                        <p:tgtEl>
                                          <p:spTgt spid="132106"/>
                                        </p:tgtEl>
                                        <p:attrNameLst>
                                          <p:attrName>style.visibility</p:attrName>
                                        </p:attrNameLst>
                                      </p:cBhvr>
                                      <p:to>
                                        <p:strVal val="visible"/>
                                      </p:to>
                                    </p:set>
                                    <p:anim calcmode="lin" valueType="num">
                                      <p:cBhvr>
                                        <p:cTn id="42" dur="500" fill="hold"/>
                                        <p:tgtEl>
                                          <p:spTgt spid="132106"/>
                                        </p:tgtEl>
                                        <p:attrNameLst>
                                          <p:attrName>ppt_w</p:attrName>
                                        </p:attrNameLst>
                                      </p:cBhvr>
                                      <p:tavLst>
                                        <p:tav tm="0">
                                          <p:val>
                                            <p:fltVal val="0"/>
                                          </p:val>
                                        </p:tav>
                                        <p:tav tm="100000">
                                          <p:val>
                                            <p:strVal val="#ppt_w"/>
                                          </p:val>
                                        </p:tav>
                                      </p:tavLst>
                                    </p:anim>
                                    <p:anim calcmode="lin" valueType="num">
                                      <p:cBhvr>
                                        <p:cTn id="43" dur="500" fill="hold"/>
                                        <p:tgtEl>
                                          <p:spTgt spid="132106"/>
                                        </p:tgtEl>
                                        <p:attrNameLst>
                                          <p:attrName>ppt_h</p:attrName>
                                        </p:attrNameLst>
                                      </p:cBhvr>
                                      <p:tavLst>
                                        <p:tav tm="0">
                                          <p:val>
                                            <p:strVal val="#ppt_h"/>
                                          </p:val>
                                        </p:tav>
                                        <p:tav tm="100000">
                                          <p:val>
                                            <p:strVal val="#ppt_h"/>
                                          </p:val>
                                        </p:tav>
                                      </p:tavLst>
                                    </p:anim>
                                  </p:childTnLst>
                                </p:cTn>
                              </p:par>
                            </p:childTnLst>
                          </p:cTn>
                        </p:par>
                      </p:childTnLst>
                    </p:cTn>
                  </p:par>
                  <p:par>
                    <p:cTn id="44" fill="hold" nodeType="clickPar">
                      <p:stCondLst>
                        <p:cond delay="indefinite"/>
                      </p:stCondLst>
                      <p:childTnLst>
                        <p:par>
                          <p:cTn id="45" fill="hold" nodeType="withGroup">
                            <p:stCondLst>
                              <p:cond delay="0"/>
                            </p:stCondLst>
                            <p:childTnLst>
                              <p:par>
                                <p:cTn id="46" presetID="3" presetClass="entr" presetSubtype="10" fill="hold" nodeType="clickEffect">
                                  <p:stCondLst>
                                    <p:cond delay="0"/>
                                  </p:stCondLst>
                                  <p:childTnLst>
                                    <p:set>
                                      <p:cBhvr>
                                        <p:cTn id="47" dur="1" fill="hold">
                                          <p:stCondLst>
                                            <p:cond delay="0"/>
                                          </p:stCondLst>
                                        </p:cTn>
                                        <p:tgtEl>
                                          <p:spTgt spid="3"/>
                                        </p:tgtEl>
                                        <p:attrNameLst>
                                          <p:attrName>style.visibility</p:attrName>
                                        </p:attrNameLst>
                                      </p:cBhvr>
                                      <p:to>
                                        <p:strVal val="visible"/>
                                      </p:to>
                                    </p:set>
                                    <p:animEffect transition="in" filter="blinds(horizontal)">
                                      <p:cBhvr>
                                        <p:cTn id="48" dur="500"/>
                                        <p:tgtEl>
                                          <p:spTgt spid="3"/>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17" presetClass="entr" presetSubtype="10" fill="hold" grpId="0" nodeType="clickEffect">
                                  <p:stCondLst>
                                    <p:cond delay="0"/>
                                  </p:stCondLst>
                                  <p:childTnLst>
                                    <p:set>
                                      <p:cBhvr>
                                        <p:cTn id="52" dur="1" fill="hold">
                                          <p:stCondLst>
                                            <p:cond delay="0"/>
                                          </p:stCondLst>
                                        </p:cTn>
                                        <p:tgtEl>
                                          <p:spTgt spid="132115"/>
                                        </p:tgtEl>
                                        <p:attrNameLst>
                                          <p:attrName>style.visibility</p:attrName>
                                        </p:attrNameLst>
                                      </p:cBhvr>
                                      <p:to>
                                        <p:strVal val="visible"/>
                                      </p:to>
                                    </p:set>
                                    <p:anim calcmode="lin" valueType="num">
                                      <p:cBhvr>
                                        <p:cTn id="53" dur="500" fill="hold"/>
                                        <p:tgtEl>
                                          <p:spTgt spid="132115"/>
                                        </p:tgtEl>
                                        <p:attrNameLst>
                                          <p:attrName>ppt_w</p:attrName>
                                        </p:attrNameLst>
                                      </p:cBhvr>
                                      <p:tavLst>
                                        <p:tav tm="0">
                                          <p:val>
                                            <p:fltVal val="0"/>
                                          </p:val>
                                        </p:tav>
                                        <p:tav tm="100000">
                                          <p:val>
                                            <p:strVal val="#ppt_w"/>
                                          </p:val>
                                        </p:tav>
                                      </p:tavLst>
                                    </p:anim>
                                    <p:anim calcmode="lin" valueType="num">
                                      <p:cBhvr>
                                        <p:cTn id="54" dur="500" fill="hold"/>
                                        <p:tgtEl>
                                          <p:spTgt spid="132115"/>
                                        </p:tgtEl>
                                        <p:attrNameLst>
                                          <p:attrName>ppt_h</p:attrName>
                                        </p:attrNameLst>
                                      </p:cBhvr>
                                      <p:tavLst>
                                        <p:tav tm="0">
                                          <p:val>
                                            <p:strVal val="#ppt_h"/>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2100" grpId="0" autoUpdateAnimBg="0"/>
      <p:bldP spid="132106" grpId="0" autoUpdateAnimBg="0"/>
      <p:bldP spid="132108" grpId="0"/>
      <p:bldP spid="132115" grpId="0" animBg="1" autoUpdateAnimBg="0"/>
    </p:bldLst>
  </p:timing>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24" name="Rectangle 4"/>
          <p:cNvSpPr>
            <a:spLocks noChangeArrowheads="1"/>
          </p:cNvSpPr>
          <p:nvPr/>
        </p:nvSpPr>
        <p:spPr bwMode="auto">
          <a:xfrm>
            <a:off x="574675" y="987425"/>
            <a:ext cx="370998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en-US" altLang="zh-CN" sz="1800" b="1">
                <a:solidFill>
                  <a:schemeClr val="accent2"/>
                </a:solidFill>
                <a:latin typeface="华文中宋" pitchFamily="2" charset="-122"/>
                <a:ea typeface="华文中宋" pitchFamily="2" charset="-122"/>
              </a:rPr>
              <a:t>1</a:t>
            </a:r>
            <a:r>
              <a:rPr kumimoji="0" lang="zh-CN" altLang="en-US" sz="1800" b="1">
                <a:solidFill>
                  <a:schemeClr val="accent2"/>
                </a:solidFill>
                <a:latin typeface="华文中宋" pitchFamily="2" charset="-122"/>
                <a:ea typeface="华文中宋" pitchFamily="2" charset="-122"/>
              </a:rPr>
              <a:t>、分子数密度按势能分布的规律</a:t>
            </a:r>
          </a:p>
        </p:txBody>
      </p:sp>
      <p:graphicFrame>
        <p:nvGraphicFramePr>
          <p:cNvPr id="133125" name="Object 5"/>
          <p:cNvGraphicFramePr>
            <a:graphicFrameLocks noChangeAspect="1"/>
          </p:cNvGraphicFramePr>
          <p:nvPr/>
        </p:nvGraphicFramePr>
        <p:xfrm>
          <a:off x="4964113" y="869950"/>
          <a:ext cx="3576637" cy="636588"/>
        </p:xfrm>
        <a:graphic>
          <a:graphicData uri="http://schemas.openxmlformats.org/presentationml/2006/ole">
            <p:oleObj spid="_x0000_s58399" name="Equation" r:id="rId3" imgW="1765300" imgH="419100" progId="Equation.DSMT4">
              <p:embed/>
            </p:oleObj>
          </a:graphicData>
        </a:graphic>
      </p:graphicFrame>
      <p:sp>
        <p:nvSpPr>
          <p:cNvPr id="133126" name="Text Box 6"/>
          <p:cNvSpPr txBox="1">
            <a:spLocks noChangeArrowheads="1"/>
          </p:cNvSpPr>
          <p:nvPr/>
        </p:nvSpPr>
        <p:spPr bwMode="auto">
          <a:xfrm>
            <a:off x="971550" y="1506538"/>
            <a:ext cx="3744913"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对整个速度空间积分，我们可得：</a:t>
            </a:r>
          </a:p>
        </p:txBody>
      </p:sp>
      <p:graphicFrame>
        <p:nvGraphicFramePr>
          <p:cNvPr id="133127" name="Object 7"/>
          <p:cNvGraphicFramePr>
            <a:graphicFrameLocks noChangeAspect="1"/>
          </p:cNvGraphicFramePr>
          <p:nvPr/>
        </p:nvGraphicFramePr>
        <p:xfrm>
          <a:off x="1141413" y="1924050"/>
          <a:ext cx="6383337" cy="676275"/>
        </p:xfrm>
        <a:graphic>
          <a:graphicData uri="http://schemas.openxmlformats.org/presentationml/2006/ole">
            <p:oleObj spid="_x0000_s58400" name="Equation" r:id="rId4" imgW="3149600" imgH="444500" progId="Equation.DSMT4">
              <p:embed/>
            </p:oleObj>
          </a:graphicData>
        </a:graphic>
      </p:graphicFrame>
      <p:graphicFrame>
        <p:nvGraphicFramePr>
          <p:cNvPr id="133128" name="Object 8"/>
          <p:cNvGraphicFramePr>
            <a:graphicFrameLocks noChangeAspect="1"/>
          </p:cNvGraphicFramePr>
          <p:nvPr/>
        </p:nvGraphicFramePr>
        <p:xfrm>
          <a:off x="3038475" y="2733675"/>
          <a:ext cx="4892675" cy="676275"/>
        </p:xfrm>
        <a:graphic>
          <a:graphicData uri="http://schemas.openxmlformats.org/presentationml/2006/ole">
            <p:oleObj spid="_x0000_s58401" name="Equation" r:id="rId5" imgW="2413000" imgH="444500" progId="Equation.DSMT4">
              <p:embed/>
            </p:oleObj>
          </a:graphicData>
        </a:graphic>
      </p:graphicFrame>
      <p:graphicFrame>
        <p:nvGraphicFramePr>
          <p:cNvPr id="133130" name="Object 10"/>
          <p:cNvGraphicFramePr>
            <a:graphicFrameLocks noChangeAspect="1"/>
          </p:cNvGraphicFramePr>
          <p:nvPr/>
        </p:nvGraphicFramePr>
        <p:xfrm>
          <a:off x="2987675" y="4027488"/>
          <a:ext cx="1830388" cy="560387"/>
        </p:xfrm>
        <a:graphic>
          <a:graphicData uri="http://schemas.openxmlformats.org/presentationml/2006/ole">
            <p:oleObj spid="_x0000_s58402" name="Equation" r:id="rId6" imgW="901309" imgH="368140" progId="Equation.DSMT4">
              <p:embed/>
            </p:oleObj>
          </a:graphicData>
        </a:graphic>
      </p:graphicFrame>
      <p:graphicFrame>
        <p:nvGraphicFramePr>
          <p:cNvPr id="133131" name="Object 11"/>
          <p:cNvGraphicFramePr>
            <a:graphicFrameLocks noChangeAspect="1"/>
          </p:cNvGraphicFramePr>
          <p:nvPr/>
        </p:nvGraphicFramePr>
        <p:xfrm>
          <a:off x="3059113" y="3435350"/>
          <a:ext cx="4119562" cy="676275"/>
        </p:xfrm>
        <a:graphic>
          <a:graphicData uri="http://schemas.openxmlformats.org/presentationml/2006/ole">
            <p:oleObj spid="_x0000_s58403" name="Equation" r:id="rId7" imgW="2032000" imgH="444500" progId="Equation.DSMT4">
              <p:embed/>
            </p:oleObj>
          </a:graphicData>
        </a:graphic>
      </p:graphicFrame>
      <p:sp>
        <p:nvSpPr>
          <p:cNvPr id="133132" name="Text Box 12"/>
          <p:cNvSpPr txBox="1">
            <a:spLocks noChangeArrowheads="1"/>
          </p:cNvSpPr>
          <p:nvPr/>
        </p:nvSpPr>
        <p:spPr bwMode="auto">
          <a:xfrm>
            <a:off x="930275" y="3706813"/>
            <a:ext cx="237648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由归一化条件：</a:t>
            </a:r>
          </a:p>
        </p:txBody>
      </p:sp>
      <p:grpSp>
        <p:nvGrpSpPr>
          <p:cNvPr id="2" name="Group 15"/>
          <p:cNvGrpSpPr>
            <a:grpSpLocks/>
          </p:cNvGrpSpPr>
          <p:nvPr/>
        </p:nvGrpSpPr>
        <p:grpSpPr bwMode="auto">
          <a:xfrm>
            <a:off x="4859338" y="3940175"/>
            <a:ext cx="3529012" cy="595313"/>
            <a:chOff x="3424" y="3566"/>
            <a:chExt cx="1905" cy="776"/>
          </a:xfrm>
        </p:grpSpPr>
        <p:sp>
          <p:nvSpPr>
            <p:cNvPr id="58379" name="Text Box 13"/>
            <p:cNvSpPr txBox="1">
              <a:spLocks noChangeArrowheads="1"/>
            </p:cNvSpPr>
            <p:nvPr/>
          </p:nvSpPr>
          <p:spPr bwMode="auto">
            <a:xfrm>
              <a:off x="3424" y="3566"/>
              <a:ext cx="1905" cy="776"/>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表示位置   附近单位体积内的分子数占总分子数的百分比。</a:t>
              </a:r>
            </a:p>
          </p:txBody>
        </p:sp>
        <p:graphicFrame>
          <p:nvGraphicFramePr>
            <p:cNvPr id="58380" name="Object 14"/>
            <p:cNvGraphicFramePr>
              <a:graphicFrameLocks noChangeAspect="1"/>
            </p:cNvGraphicFramePr>
            <p:nvPr/>
          </p:nvGraphicFramePr>
          <p:xfrm>
            <a:off x="3968" y="3578"/>
            <a:ext cx="215" cy="388"/>
          </p:xfrm>
          <a:graphic>
            <a:graphicData uri="http://schemas.openxmlformats.org/presentationml/2006/ole">
              <p:oleObj spid="_x0000_s58404" name="Equation" r:id="rId8" imgW="126780" imgH="164814" progId="Equation.DSMT4">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33124"/>
                                        </p:tgtEl>
                                        <p:attrNameLst>
                                          <p:attrName>style.visibility</p:attrName>
                                        </p:attrNameLst>
                                      </p:cBhvr>
                                      <p:to>
                                        <p:strVal val="visible"/>
                                      </p:to>
                                    </p:set>
                                    <p:anim calcmode="lin" valueType="num">
                                      <p:cBhvr>
                                        <p:cTn id="7" dur="500" fill="hold"/>
                                        <p:tgtEl>
                                          <p:spTgt spid="133124"/>
                                        </p:tgtEl>
                                        <p:attrNameLst>
                                          <p:attrName>ppt_w</p:attrName>
                                        </p:attrNameLst>
                                      </p:cBhvr>
                                      <p:tavLst>
                                        <p:tav tm="0">
                                          <p:val>
                                            <p:fltVal val="0"/>
                                          </p:val>
                                        </p:tav>
                                        <p:tav tm="100000">
                                          <p:val>
                                            <p:strVal val="#ppt_w"/>
                                          </p:val>
                                        </p:tav>
                                      </p:tavLst>
                                    </p:anim>
                                    <p:anim calcmode="lin" valueType="num">
                                      <p:cBhvr>
                                        <p:cTn id="8" dur="500" fill="hold"/>
                                        <p:tgtEl>
                                          <p:spTgt spid="13312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133125"/>
                                        </p:tgtEl>
                                        <p:attrNameLst>
                                          <p:attrName>style.visibility</p:attrName>
                                        </p:attrNameLst>
                                      </p:cBhvr>
                                      <p:to>
                                        <p:strVal val="visible"/>
                                      </p:to>
                                    </p:set>
                                    <p:animEffect transition="in" filter="blinds(horizontal)">
                                      <p:cBhvr>
                                        <p:cTn id="13" dur="500"/>
                                        <p:tgtEl>
                                          <p:spTgt spid="133125"/>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grpId="0" nodeType="clickEffect">
                                  <p:stCondLst>
                                    <p:cond delay="0"/>
                                  </p:stCondLst>
                                  <p:childTnLst>
                                    <p:set>
                                      <p:cBhvr>
                                        <p:cTn id="17" dur="1" fill="hold">
                                          <p:stCondLst>
                                            <p:cond delay="0"/>
                                          </p:stCondLst>
                                        </p:cTn>
                                        <p:tgtEl>
                                          <p:spTgt spid="133126"/>
                                        </p:tgtEl>
                                        <p:attrNameLst>
                                          <p:attrName>style.visibility</p:attrName>
                                        </p:attrNameLst>
                                      </p:cBhvr>
                                      <p:to>
                                        <p:strVal val="visible"/>
                                      </p:to>
                                    </p:set>
                                    <p:anim calcmode="lin" valueType="num">
                                      <p:cBhvr>
                                        <p:cTn id="18" dur="500" fill="hold"/>
                                        <p:tgtEl>
                                          <p:spTgt spid="133126"/>
                                        </p:tgtEl>
                                        <p:attrNameLst>
                                          <p:attrName>ppt_w</p:attrName>
                                        </p:attrNameLst>
                                      </p:cBhvr>
                                      <p:tavLst>
                                        <p:tav tm="0">
                                          <p:val>
                                            <p:fltVal val="0"/>
                                          </p:val>
                                        </p:tav>
                                        <p:tav tm="100000">
                                          <p:val>
                                            <p:strVal val="#ppt_w"/>
                                          </p:val>
                                        </p:tav>
                                      </p:tavLst>
                                    </p:anim>
                                    <p:anim calcmode="lin" valueType="num">
                                      <p:cBhvr>
                                        <p:cTn id="19" dur="500" fill="hold"/>
                                        <p:tgtEl>
                                          <p:spTgt spid="133126"/>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33127"/>
                                        </p:tgtEl>
                                        <p:attrNameLst>
                                          <p:attrName>style.visibility</p:attrName>
                                        </p:attrNameLst>
                                      </p:cBhvr>
                                      <p:to>
                                        <p:strVal val="visible"/>
                                      </p:to>
                                    </p:set>
                                    <p:animEffect transition="in" filter="blinds(horizontal)">
                                      <p:cBhvr>
                                        <p:cTn id="24" dur="500"/>
                                        <p:tgtEl>
                                          <p:spTgt spid="133127"/>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133128"/>
                                        </p:tgtEl>
                                        <p:attrNameLst>
                                          <p:attrName>style.visibility</p:attrName>
                                        </p:attrNameLst>
                                      </p:cBhvr>
                                      <p:to>
                                        <p:strVal val="visible"/>
                                      </p:to>
                                    </p:set>
                                    <p:animEffect transition="in" filter="blinds(horizontal)">
                                      <p:cBhvr>
                                        <p:cTn id="29" dur="500"/>
                                        <p:tgtEl>
                                          <p:spTgt spid="133128"/>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133132"/>
                                        </p:tgtEl>
                                        <p:attrNameLst>
                                          <p:attrName>style.visibility</p:attrName>
                                        </p:attrNameLst>
                                      </p:cBhvr>
                                      <p:to>
                                        <p:strVal val="visible"/>
                                      </p:to>
                                    </p:set>
                                    <p:anim calcmode="lin" valueType="num">
                                      <p:cBhvr>
                                        <p:cTn id="34" dur="500" fill="hold"/>
                                        <p:tgtEl>
                                          <p:spTgt spid="133132"/>
                                        </p:tgtEl>
                                        <p:attrNameLst>
                                          <p:attrName>ppt_w</p:attrName>
                                        </p:attrNameLst>
                                      </p:cBhvr>
                                      <p:tavLst>
                                        <p:tav tm="0">
                                          <p:val>
                                            <p:fltVal val="0"/>
                                          </p:val>
                                        </p:tav>
                                        <p:tav tm="100000">
                                          <p:val>
                                            <p:strVal val="#ppt_w"/>
                                          </p:val>
                                        </p:tav>
                                      </p:tavLst>
                                    </p:anim>
                                    <p:anim calcmode="lin" valueType="num">
                                      <p:cBhvr>
                                        <p:cTn id="35" dur="500" fill="hold"/>
                                        <p:tgtEl>
                                          <p:spTgt spid="133132"/>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3" presetClass="entr" presetSubtype="10" fill="hold" nodeType="clickEffect">
                                  <p:stCondLst>
                                    <p:cond delay="0"/>
                                  </p:stCondLst>
                                  <p:childTnLst>
                                    <p:set>
                                      <p:cBhvr>
                                        <p:cTn id="39" dur="1" fill="hold">
                                          <p:stCondLst>
                                            <p:cond delay="0"/>
                                          </p:stCondLst>
                                        </p:cTn>
                                        <p:tgtEl>
                                          <p:spTgt spid="133131"/>
                                        </p:tgtEl>
                                        <p:attrNameLst>
                                          <p:attrName>style.visibility</p:attrName>
                                        </p:attrNameLst>
                                      </p:cBhvr>
                                      <p:to>
                                        <p:strVal val="visible"/>
                                      </p:to>
                                    </p:set>
                                    <p:animEffect transition="in" filter="blinds(horizontal)">
                                      <p:cBhvr>
                                        <p:cTn id="40" dur="500"/>
                                        <p:tgtEl>
                                          <p:spTgt spid="133131"/>
                                        </p:tgtEl>
                                      </p:cBhvr>
                                    </p:animEffect>
                                  </p:childTnLst>
                                </p:cTn>
                              </p:par>
                            </p:childTnLst>
                          </p:cTn>
                        </p:par>
                      </p:childTnLst>
                    </p:cTn>
                  </p:par>
                  <p:par>
                    <p:cTn id="41" fill="hold" nodeType="clickPar">
                      <p:stCondLst>
                        <p:cond delay="indefinite"/>
                      </p:stCondLst>
                      <p:childTnLst>
                        <p:par>
                          <p:cTn id="42" fill="hold" nodeType="withGroup">
                            <p:stCondLst>
                              <p:cond delay="0"/>
                            </p:stCondLst>
                            <p:childTnLst>
                              <p:par>
                                <p:cTn id="43" presetID="3" presetClass="entr" presetSubtype="10" fill="hold" nodeType="clickEffect">
                                  <p:stCondLst>
                                    <p:cond delay="0"/>
                                  </p:stCondLst>
                                  <p:childTnLst>
                                    <p:set>
                                      <p:cBhvr>
                                        <p:cTn id="44" dur="1" fill="hold">
                                          <p:stCondLst>
                                            <p:cond delay="0"/>
                                          </p:stCondLst>
                                        </p:cTn>
                                        <p:tgtEl>
                                          <p:spTgt spid="133130"/>
                                        </p:tgtEl>
                                        <p:attrNameLst>
                                          <p:attrName>style.visibility</p:attrName>
                                        </p:attrNameLst>
                                      </p:cBhvr>
                                      <p:to>
                                        <p:strVal val="visible"/>
                                      </p:to>
                                    </p:set>
                                    <p:animEffect transition="in" filter="blinds(horizontal)">
                                      <p:cBhvr>
                                        <p:cTn id="45" dur="500"/>
                                        <p:tgtEl>
                                          <p:spTgt spid="133130"/>
                                        </p:tgtEl>
                                      </p:cBhvr>
                                    </p:animEffect>
                                  </p:childTnLst>
                                </p:cTn>
                              </p:par>
                              <p:par>
                                <p:cTn id="46" presetID="3" presetClass="entr" presetSubtype="10" fill="hold" nodeType="with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blinds(horizontal)">
                                      <p:cBhvr>
                                        <p:cTn id="48"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3124" grpId="0" autoUpdateAnimBg="0"/>
      <p:bldP spid="133126" grpId="0" autoUpdateAnimBg="0"/>
      <p:bldP spid="133132" grpId="0" autoUpdateAnimBg="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34148" name="Object 4"/>
          <p:cNvGraphicFramePr>
            <a:graphicFrameLocks noChangeAspect="1"/>
          </p:cNvGraphicFramePr>
          <p:nvPr/>
        </p:nvGraphicFramePr>
        <p:xfrm>
          <a:off x="1547813" y="1365250"/>
          <a:ext cx="1830387" cy="558800"/>
        </p:xfrm>
        <a:graphic>
          <a:graphicData uri="http://schemas.openxmlformats.org/presentationml/2006/ole">
            <p:oleObj spid="_x0000_s59433" name="Equation" r:id="rId3" imgW="901309" imgH="368140" progId="Equation.DSMT4">
              <p:embed/>
            </p:oleObj>
          </a:graphicData>
        </a:graphic>
      </p:graphicFrame>
      <p:sp>
        <p:nvSpPr>
          <p:cNvPr id="134149" name="Line 5"/>
          <p:cNvSpPr>
            <a:spLocks noChangeShapeType="1"/>
          </p:cNvSpPr>
          <p:nvPr/>
        </p:nvSpPr>
        <p:spPr bwMode="auto">
          <a:xfrm>
            <a:off x="3563938" y="1743075"/>
            <a:ext cx="1511300" cy="0"/>
          </a:xfrm>
          <a:prstGeom prst="line">
            <a:avLst/>
          </a:prstGeom>
          <a:noFill/>
          <a:ln w="25400">
            <a:solidFill>
              <a:schemeClr val="tx1"/>
            </a:solidFill>
            <a:round/>
            <a:headEnd/>
            <a:tailEnd type="stealth" w="lg" len="lg"/>
          </a:ln>
          <a:extLst>
            <a:ext uri="{909E8E84-426E-40DD-AFC4-6F175D3DCCD1}">
              <a14:hiddenFill xmlns:a14="http://schemas.microsoft.com/office/drawing/2010/main" xmlns="">
                <a:noFill/>
              </a14:hiddenFill>
            </a:ext>
          </a:extLst>
        </p:spPr>
        <p:txBody>
          <a:bodyPr>
            <a:spAutoFit/>
          </a:bodyPr>
          <a:lstStyle/>
          <a:p>
            <a:endParaRPr lang="zh-CN" altLang="en-US"/>
          </a:p>
        </p:txBody>
      </p:sp>
      <p:graphicFrame>
        <p:nvGraphicFramePr>
          <p:cNvPr id="134150" name="Object 6"/>
          <p:cNvGraphicFramePr>
            <a:graphicFrameLocks noChangeAspect="1"/>
          </p:cNvGraphicFramePr>
          <p:nvPr/>
        </p:nvGraphicFramePr>
        <p:xfrm>
          <a:off x="5305425" y="1365250"/>
          <a:ext cx="2243138" cy="558800"/>
        </p:xfrm>
        <a:graphic>
          <a:graphicData uri="http://schemas.openxmlformats.org/presentationml/2006/ole">
            <p:oleObj spid="_x0000_s59434" name="Equation" r:id="rId4" imgW="1104900" imgH="368300" progId="Equation.DSMT4">
              <p:embed/>
            </p:oleObj>
          </a:graphicData>
        </a:graphic>
      </p:graphicFrame>
      <p:sp>
        <p:nvSpPr>
          <p:cNvPr id="134152" name="Text Box 8"/>
          <p:cNvSpPr txBox="1">
            <a:spLocks noChangeArrowheads="1"/>
          </p:cNvSpPr>
          <p:nvPr/>
        </p:nvSpPr>
        <p:spPr bwMode="auto">
          <a:xfrm>
            <a:off x="395288" y="950913"/>
            <a:ext cx="5688012"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设理想气体的总分子数为</a:t>
            </a:r>
            <a:r>
              <a:rPr lang="en-US" altLang="zh-CN" sz="1800" b="1" i="1">
                <a:latin typeface="华文中宋" pitchFamily="2" charset="-122"/>
                <a:ea typeface="华文中宋" pitchFamily="2" charset="-122"/>
              </a:rPr>
              <a:t>N</a:t>
            </a:r>
            <a:r>
              <a:rPr lang="zh-CN" altLang="en-US" sz="1800" b="1">
                <a:latin typeface="华文中宋" pitchFamily="2" charset="-122"/>
                <a:ea typeface="华文中宋" pitchFamily="2" charset="-122"/>
              </a:rPr>
              <a:t>，那么</a:t>
            </a:r>
          </a:p>
        </p:txBody>
      </p:sp>
      <p:graphicFrame>
        <p:nvGraphicFramePr>
          <p:cNvPr id="134155" name="Object 11"/>
          <p:cNvGraphicFramePr>
            <a:graphicFrameLocks noChangeAspect="1"/>
          </p:cNvGraphicFramePr>
          <p:nvPr/>
        </p:nvGraphicFramePr>
        <p:xfrm>
          <a:off x="2755900" y="2478088"/>
          <a:ext cx="3328988" cy="598487"/>
        </p:xfrm>
        <a:graphic>
          <a:graphicData uri="http://schemas.openxmlformats.org/presentationml/2006/ole">
            <p:oleObj spid="_x0000_s59435" name="Equation" r:id="rId5" imgW="1536700" imgH="368300" progId="Equation.DSMT4">
              <p:embed/>
            </p:oleObj>
          </a:graphicData>
        </a:graphic>
      </p:graphicFrame>
      <p:sp>
        <p:nvSpPr>
          <p:cNvPr id="134156" name="Text Box 12"/>
          <p:cNvSpPr txBox="1">
            <a:spLocks noChangeArrowheads="1"/>
          </p:cNvSpPr>
          <p:nvPr/>
        </p:nvSpPr>
        <p:spPr bwMode="auto">
          <a:xfrm>
            <a:off x="1476375" y="4156075"/>
            <a:ext cx="6408738"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a:r>
              <a:rPr kumimoji="0" lang="zh-CN" altLang="en-US" sz="1800" b="1">
                <a:ea typeface="华文中宋" pitchFamily="2" charset="-122"/>
              </a:rPr>
              <a:t>分子数密度随势能</a:t>
            </a:r>
            <a:r>
              <a:rPr kumimoji="0" lang="en-US" altLang="zh-CN" sz="1800" b="1" i="1">
                <a:ea typeface="华文中宋" pitchFamily="2" charset="-122"/>
              </a:rPr>
              <a:t>E</a:t>
            </a:r>
            <a:r>
              <a:rPr kumimoji="0" lang="en-US" altLang="zh-CN" sz="1800" b="1" baseline="-25000">
                <a:ea typeface="华文中宋" pitchFamily="2" charset="-122"/>
              </a:rPr>
              <a:t>p</a:t>
            </a:r>
            <a:r>
              <a:rPr kumimoji="0" lang="zh-CN" altLang="en-US" sz="1800" b="1">
                <a:ea typeface="华文中宋" pitchFamily="2" charset="-122"/>
              </a:rPr>
              <a:t>的增加而呈指数衰减。 </a:t>
            </a:r>
          </a:p>
        </p:txBody>
      </p:sp>
      <p:graphicFrame>
        <p:nvGraphicFramePr>
          <p:cNvPr id="134158" name="Object 14"/>
          <p:cNvGraphicFramePr>
            <a:graphicFrameLocks noChangeAspect="1"/>
          </p:cNvGraphicFramePr>
          <p:nvPr/>
        </p:nvGraphicFramePr>
        <p:xfrm>
          <a:off x="3690938" y="3557588"/>
          <a:ext cx="1457325" cy="598487"/>
        </p:xfrm>
        <a:graphic>
          <a:graphicData uri="http://schemas.openxmlformats.org/presentationml/2006/ole">
            <p:oleObj spid="_x0000_s59436" name="Equation" r:id="rId6" imgW="672808" imgH="368140" progId="Equation.DSMT4">
              <p:embed/>
            </p:oleObj>
          </a:graphicData>
        </a:graphic>
      </p:graphicFrame>
      <p:grpSp>
        <p:nvGrpSpPr>
          <p:cNvPr id="2" name="Group 17"/>
          <p:cNvGrpSpPr>
            <a:grpSpLocks/>
          </p:cNvGrpSpPr>
          <p:nvPr/>
        </p:nvGrpSpPr>
        <p:grpSpPr bwMode="auto">
          <a:xfrm>
            <a:off x="611188" y="2058988"/>
            <a:ext cx="8208962" cy="368300"/>
            <a:chOff x="385" y="935"/>
            <a:chExt cx="5171" cy="310"/>
          </a:xfrm>
        </p:grpSpPr>
        <p:sp>
          <p:nvSpPr>
            <p:cNvPr id="59405" name="Text Box 7"/>
            <p:cNvSpPr txBox="1">
              <a:spLocks noChangeArrowheads="1"/>
            </p:cNvSpPr>
            <p:nvPr/>
          </p:nvSpPr>
          <p:spPr bwMode="auto">
            <a:xfrm>
              <a:off x="407" y="935"/>
              <a:ext cx="514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表示位置   附近单位体积内的分子数，即空间   位置处的分子数密度：</a:t>
              </a:r>
            </a:p>
          </p:txBody>
        </p:sp>
        <p:graphicFrame>
          <p:nvGraphicFramePr>
            <p:cNvPr id="59406" name="Object 9"/>
            <p:cNvGraphicFramePr>
              <a:graphicFrameLocks noChangeAspect="1"/>
            </p:cNvGraphicFramePr>
            <p:nvPr/>
          </p:nvGraphicFramePr>
          <p:xfrm>
            <a:off x="385" y="981"/>
            <a:ext cx="568" cy="259"/>
          </p:xfrm>
          <a:graphic>
            <a:graphicData uri="http://schemas.openxmlformats.org/presentationml/2006/ole">
              <p:oleObj spid="_x0000_s59437" name="Equation" r:id="rId7" imgW="444307" imgH="203112" progId="Equation.DSMT4">
                <p:embed/>
              </p:oleObj>
            </a:graphicData>
          </a:graphic>
        </p:graphicFrame>
        <p:graphicFrame>
          <p:nvGraphicFramePr>
            <p:cNvPr id="59407" name="Object 15"/>
            <p:cNvGraphicFramePr>
              <a:graphicFrameLocks noChangeAspect="1"/>
            </p:cNvGraphicFramePr>
            <p:nvPr/>
          </p:nvGraphicFramePr>
          <p:xfrm>
            <a:off x="1519" y="981"/>
            <a:ext cx="174" cy="227"/>
          </p:xfrm>
          <a:graphic>
            <a:graphicData uri="http://schemas.openxmlformats.org/presentationml/2006/ole">
              <p:oleObj spid="_x0000_s59438" name="Equation" r:id="rId8" imgW="126780" imgH="164814" progId="Equation.DSMT4">
                <p:embed/>
              </p:oleObj>
            </a:graphicData>
          </a:graphic>
        </p:graphicFrame>
        <p:graphicFrame>
          <p:nvGraphicFramePr>
            <p:cNvPr id="59408" name="Object 16"/>
            <p:cNvGraphicFramePr>
              <a:graphicFrameLocks noChangeAspect="1"/>
            </p:cNvGraphicFramePr>
            <p:nvPr/>
          </p:nvGraphicFramePr>
          <p:xfrm>
            <a:off x="3795" y="981"/>
            <a:ext cx="174" cy="226"/>
          </p:xfrm>
          <a:graphic>
            <a:graphicData uri="http://schemas.openxmlformats.org/presentationml/2006/ole">
              <p:oleObj spid="_x0000_s59439" name="Equation" r:id="rId9" imgW="126780" imgH="164814" progId="Equation.DSMT4">
                <p:embed/>
              </p:oleObj>
            </a:graphicData>
          </a:graphic>
        </p:graphicFrame>
      </p:grpSp>
      <p:grpSp>
        <p:nvGrpSpPr>
          <p:cNvPr id="3" name="Group 19"/>
          <p:cNvGrpSpPr>
            <a:grpSpLocks/>
          </p:cNvGrpSpPr>
          <p:nvPr/>
        </p:nvGrpSpPr>
        <p:grpSpPr bwMode="auto">
          <a:xfrm>
            <a:off x="684213" y="3138488"/>
            <a:ext cx="7634287" cy="369887"/>
            <a:chOff x="158" y="2353"/>
            <a:chExt cx="4809" cy="310"/>
          </a:xfrm>
        </p:grpSpPr>
        <p:sp>
          <p:nvSpPr>
            <p:cNvPr id="59403" name="Text Box 10"/>
            <p:cNvSpPr txBox="1">
              <a:spLocks noChangeArrowheads="1"/>
            </p:cNvSpPr>
            <p:nvPr/>
          </p:nvSpPr>
          <p:spPr bwMode="auto">
            <a:xfrm>
              <a:off x="158" y="2353"/>
              <a:ext cx="4809"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如令   </a:t>
              </a:r>
              <a:r>
                <a:rPr lang="zh-CN" altLang="en-US" sz="1800" b="1" baseline="-25000">
                  <a:ea typeface="华文中宋" pitchFamily="2" charset="-122"/>
                </a:rPr>
                <a:t>                 </a:t>
              </a:r>
              <a:r>
                <a:rPr lang="zh-CN" altLang="en-US" sz="1800" b="1">
                  <a:ea typeface="华文中宋" pitchFamily="2" charset="-122"/>
                </a:rPr>
                <a:t>表示势能</a:t>
              </a:r>
              <a:r>
                <a:rPr lang="en-US" altLang="zh-CN" sz="1800" b="1" i="1">
                  <a:ea typeface="华文中宋" pitchFamily="2" charset="-122"/>
                </a:rPr>
                <a:t>E</a:t>
              </a:r>
              <a:r>
                <a:rPr lang="en-US" altLang="zh-CN" sz="1800" b="1" baseline="-25000">
                  <a:ea typeface="华文中宋" pitchFamily="2" charset="-122"/>
                </a:rPr>
                <a:t>p</a:t>
              </a:r>
              <a:r>
                <a:rPr lang="en-US" altLang="zh-CN" sz="1800" b="1">
                  <a:ea typeface="华文中宋" pitchFamily="2" charset="-122"/>
                </a:rPr>
                <a:t>=0</a:t>
              </a:r>
              <a:r>
                <a:rPr lang="zh-CN" altLang="en-US" sz="1800" b="1">
                  <a:ea typeface="华文中宋" pitchFamily="2" charset="-122"/>
                </a:rPr>
                <a:t>处单位体积内分子数密度</a:t>
              </a:r>
              <a:r>
                <a:rPr kumimoji="0" lang="zh-CN" altLang="en-US" sz="1800" b="1">
                  <a:ea typeface="华文中宋" pitchFamily="2" charset="-122"/>
                </a:rPr>
                <a:t>。</a:t>
              </a:r>
              <a:endParaRPr lang="zh-CN" altLang="en-US" sz="1800" b="1">
                <a:ea typeface="华文中宋" pitchFamily="2" charset="-122"/>
              </a:endParaRPr>
            </a:p>
          </p:txBody>
        </p:sp>
        <p:graphicFrame>
          <p:nvGraphicFramePr>
            <p:cNvPr id="59404" name="Object 18"/>
            <p:cNvGraphicFramePr>
              <a:graphicFrameLocks noChangeAspect="1"/>
            </p:cNvGraphicFramePr>
            <p:nvPr/>
          </p:nvGraphicFramePr>
          <p:xfrm>
            <a:off x="475" y="2387"/>
            <a:ext cx="544" cy="263"/>
          </p:xfrm>
          <a:graphic>
            <a:graphicData uri="http://schemas.openxmlformats.org/presentationml/2006/ole">
              <p:oleObj spid="_x0000_s59440" name="Equation" r:id="rId10" imgW="596900" imgH="228600" progId="Equation.DSMT4">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134152"/>
                                        </p:tgtEl>
                                        <p:attrNameLst>
                                          <p:attrName>style.visibility</p:attrName>
                                        </p:attrNameLst>
                                      </p:cBhvr>
                                      <p:to>
                                        <p:strVal val="visible"/>
                                      </p:to>
                                    </p:set>
                                    <p:anim calcmode="lin" valueType="num">
                                      <p:cBhvr>
                                        <p:cTn id="7" dur="500" fill="hold"/>
                                        <p:tgtEl>
                                          <p:spTgt spid="134152"/>
                                        </p:tgtEl>
                                        <p:attrNameLst>
                                          <p:attrName>ppt_w</p:attrName>
                                        </p:attrNameLst>
                                      </p:cBhvr>
                                      <p:tavLst>
                                        <p:tav tm="0">
                                          <p:val>
                                            <p:fltVal val="0"/>
                                          </p:val>
                                        </p:tav>
                                        <p:tav tm="100000">
                                          <p:val>
                                            <p:strVal val="#ppt_w"/>
                                          </p:val>
                                        </p:tav>
                                      </p:tavLst>
                                    </p:anim>
                                    <p:anim calcmode="lin" valueType="num">
                                      <p:cBhvr>
                                        <p:cTn id="8" dur="500" fill="hold"/>
                                        <p:tgtEl>
                                          <p:spTgt spid="13415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grpId="0" nodeType="clickEffect">
                                  <p:stCondLst>
                                    <p:cond delay="0"/>
                                  </p:stCondLst>
                                  <p:childTnLst>
                                    <p:set>
                                      <p:cBhvr>
                                        <p:cTn id="12" dur="1" fill="hold">
                                          <p:stCondLst>
                                            <p:cond delay="0"/>
                                          </p:stCondLst>
                                        </p:cTn>
                                        <p:tgtEl>
                                          <p:spTgt spid="134149"/>
                                        </p:tgtEl>
                                        <p:attrNameLst>
                                          <p:attrName>style.visibility</p:attrName>
                                        </p:attrNameLst>
                                      </p:cBhvr>
                                      <p:to>
                                        <p:strVal val="visible"/>
                                      </p:to>
                                    </p:set>
                                    <p:animEffect transition="in" filter="blinds(horizontal)">
                                      <p:cBhvr>
                                        <p:cTn id="13" dur="500"/>
                                        <p:tgtEl>
                                          <p:spTgt spid="134149"/>
                                        </p:tgtEl>
                                      </p:cBhvr>
                                    </p:animEffect>
                                  </p:childTnLst>
                                </p:cTn>
                              </p:par>
                              <p:par>
                                <p:cTn id="14" presetID="3" presetClass="entr" presetSubtype="10" fill="hold" nodeType="withEffect">
                                  <p:stCondLst>
                                    <p:cond delay="0"/>
                                  </p:stCondLst>
                                  <p:childTnLst>
                                    <p:set>
                                      <p:cBhvr>
                                        <p:cTn id="15" dur="1" fill="hold">
                                          <p:stCondLst>
                                            <p:cond delay="0"/>
                                          </p:stCondLst>
                                        </p:cTn>
                                        <p:tgtEl>
                                          <p:spTgt spid="134148"/>
                                        </p:tgtEl>
                                        <p:attrNameLst>
                                          <p:attrName>style.visibility</p:attrName>
                                        </p:attrNameLst>
                                      </p:cBhvr>
                                      <p:to>
                                        <p:strVal val="visible"/>
                                      </p:to>
                                    </p:set>
                                    <p:animEffect transition="in" filter="blinds(horizontal)">
                                      <p:cBhvr>
                                        <p:cTn id="16" dur="500"/>
                                        <p:tgtEl>
                                          <p:spTgt spid="134148"/>
                                        </p:tgtEl>
                                      </p:cBhvr>
                                    </p:animEffect>
                                  </p:childTnLst>
                                </p:cTn>
                              </p:par>
                              <p:par>
                                <p:cTn id="17" presetID="3" presetClass="entr" presetSubtype="10" fill="hold" nodeType="withEffect">
                                  <p:stCondLst>
                                    <p:cond delay="0"/>
                                  </p:stCondLst>
                                  <p:childTnLst>
                                    <p:set>
                                      <p:cBhvr>
                                        <p:cTn id="18" dur="1" fill="hold">
                                          <p:stCondLst>
                                            <p:cond delay="0"/>
                                          </p:stCondLst>
                                        </p:cTn>
                                        <p:tgtEl>
                                          <p:spTgt spid="134150"/>
                                        </p:tgtEl>
                                        <p:attrNameLst>
                                          <p:attrName>style.visibility</p:attrName>
                                        </p:attrNameLst>
                                      </p:cBhvr>
                                      <p:to>
                                        <p:strVal val="visible"/>
                                      </p:to>
                                    </p:set>
                                    <p:animEffect transition="in" filter="blinds(horizontal)">
                                      <p:cBhvr>
                                        <p:cTn id="19" dur="500"/>
                                        <p:tgtEl>
                                          <p:spTgt spid="134150"/>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2"/>
                                        </p:tgtEl>
                                        <p:attrNameLst>
                                          <p:attrName>style.visibility</p:attrName>
                                        </p:attrNameLst>
                                      </p:cBhvr>
                                      <p:to>
                                        <p:strVal val="visible"/>
                                      </p:to>
                                    </p:set>
                                    <p:animEffect transition="in" filter="blinds(horizontal)">
                                      <p:cBhvr>
                                        <p:cTn id="24" dur="500"/>
                                        <p:tgtEl>
                                          <p:spTgt spid="2"/>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134155"/>
                                        </p:tgtEl>
                                        <p:attrNameLst>
                                          <p:attrName>style.visibility</p:attrName>
                                        </p:attrNameLst>
                                      </p:cBhvr>
                                      <p:to>
                                        <p:strVal val="visible"/>
                                      </p:to>
                                    </p:set>
                                    <p:animEffect transition="in" filter="blinds(horizontal)">
                                      <p:cBhvr>
                                        <p:cTn id="29" dur="500"/>
                                        <p:tgtEl>
                                          <p:spTgt spid="134155"/>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3" presetClass="entr" presetSubtype="10" fill="hold" nodeType="clickEffect">
                                  <p:stCondLst>
                                    <p:cond delay="0"/>
                                  </p:stCondLst>
                                  <p:childTnLst>
                                    <p:set>
                                      <p:cBhvr>
                                        <p:cTn id="33" dur="1" fill="hold">
                                          <p:stCondLst>
                                            <p:cond delay="0"/>
                                          </p:stCondLst>
                                        </p:cTn>
                                        <p:tgtEl>
                                          <p:spTgt spid="3"/>
                                        </p:tgtEl>
                                        <p:attrNameLst>
                                          <p:attrName>style.visibility</p:attrName>
                                        </p:attrNameLst>
                                      </p:cBhvr>
                                      <p:to>
                                        <p:strVal val="visible"/>
                                      </p:to>
                                    </p:set>
                                    <p:animEffect transition="in" filter="blinds(horizontal)">
                                      <p:cBhvr>
                                        <p:cTn id="34" dur="500"/>
                                        <p:tgtEl>
                                          <p:spTgt spid="3"/>
                                        </p:tgtEl>
                                      </p:cBhvr>
                                    </p:animEffect>
                                  </p:childTnLst>
                                </p:cTn>
                              </p:par>
                            </p:childTnLst>
                          </p:cTn>
                        </p:par>
                      </p:childTnLst>
                    </p:cTn>
                  </p:par>
                  <p:par>
                    <p:cTn id="35" fill="hold" nodeType="clickPar">
                      <p:stCondLst>
                        <p:cond delay="indefinite"/>
                      </p:stCondLst>
                      <p:childTnLst>
                        <p:par>
                          <p:cTn id="36" fill="hold" nodeType="withGroup">
                            <p:stCondLst>
                              <p:cond delay="0"/>
                            </p:stCondLst>
                            <p:childTnLst>
                              <p:par>
                                <p:cTn id="37" presetID="3" presetClass="entr" presetSubtype="10" fill="hold" nodeType="clickEffect">
                                  <p:stCondLst>
                                    <p:cond delay="0"/>
                                  </p:stCondLst>
                                  <p:childTnLst>
                                    <p:set>
                                      <p:cBhvr>
                                        <p:cTn id="38" dur="1" fill="hold">
                                          <p:stCondLst>
                                            <p:cond delay="0"/>
                                          </p:stCondLst>
                                        </p:cTn>
                                        <p:tgtEl>
                                          <p:spTgt spid="134158"/>
                                        </p:tgtEl>
                                        <p:attrNameLst>
                                          <p:attrName>style.visibility</p:attrName>
                                        </p:attrNameLst>
                                      </p:cBhvr>
                                      <p:to>
                                        <p:strVal val="visible"/>
                                      </p:to>
                                    </p:set>
                                    <p:animEffect transition="in" filter="blinds(horizontal)">
                                      <p:cBhvr>
                                        <p:cTn id="39" dur="500"/>
                                        <p:tgtEl>
                                          <p:spTgt spid="134158"/>
                                        </p:tgtEl>
                                      </p:cBhvr>
                                    </p:animEffect>
                                  </p:childTnLst>
                                </p:cTn>
                              </p:par>
                            </p:childTnLst>
                          </p:cTn>
                        </p:par>
                      </p:childTnLst>
                    </p:cTn>
                  </p:par>
                  <p:par>
                    <p:cTn id="40" fill="hold" nodeType="clickPar">
                      <p:stCondLst>
                        <p:cond delay="indefinite"/>
                      </p:stCondLst>
                      <p:childTnLst>
                        <p:par>
                          <p:cTn id="41" fill="hold" nodeType="withGroup">
                            <p:stCondLst>
                              <p:cond delay="0"/>
                            </p:stCondLst>
                            <p:childTnLst>
                              <p:par>
                                <p:cTn id="42" presetID="23" presetClass="entr" presetSubtype="16" fill="hold" grpId="0" nodeType="clickEffect">
                                  <p:stCondLst>
                                    <p:cond delay="0"/>
                                  </p:stCondLst>
                                  <p:childTnLst>
                                    <p:set>
                                      <p:cBhvr>
                                        <p:cTn id="43" dur="1" fill="hold">
                                          <p:stCondLst>
                                            <p:cond delay="0"/>
                                          </p:stCondLst>
                                        </p:cTn>
                                        <p:tgtEl>
                                          <p:spTgt spid="134156"/>
                                        </p:tgtEl>
                                        <p:attrNameLst>
                                          <p:attrName>style.visibility</p:attrName>
                                        </p:attrNameLst>
                                      </p:cBhvr>
                                      <p:to>
                                        <p:strVal val="visible"/>
                                      </p:to>
                                    </p:set>
                                    <p:anim calcmode="lin" valueType="num">
                                      <p:cBhvr>
                                        <p:cTn id="44" dur="500" fill="hold"/>
                                        <p:tgtEl>
                                          <p:spTgt spid="134156"/>
                                        </p:tgtEl>
                                        <p:attrNameLst>
                                          <p:attrName>ppt_w</p:attrName>
                                        </p:attrNameLst>
                                      </p:cBhvr>
                                      <p:tavLst>
                                        <p:tav tm="0">
                                          <p:val>
                                            <p:fltVal val="0"/>
                                          </p:val>
                                        </p:tav>
                                        <p:tav tm="100000">
                                          <p:val>
                                            <p:strVal val="#ppt_w"/>
                                          </p:val>
                                        </p:tav>
                                      </p:tavLst>
                                    </p:anim>
                                    <p:anim calcmode="lin" valueType="num">
                                      <p:cBhvr>
                                        <p:cTn id="45" dur="500" fill="hold"/>
                                        <p:tgtEl>
                                          <p:spTgt spid="13415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4149" grpId="0" animBg="1"/>
      <p:bldP spid="134152" grpId="0" autoUpdateAnimBg="0"/>
      <p:bldP spid="134156" grpId="0" autoUpdateAnimBg="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2" name="Text Box 2"/>
          <p:cNvSpPr txBox="1">
            <a:spLocks noChangeArrowheads="1"/>
          </p:cNvSpPr>
          <p:nvPr/>
        </p:nvSpPr>
        <p:spPr bwMode="auto">
          <a:xfrm>
            <a:off x="611188" y="835025"/>
            <a:ext cx="14351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800" b="1">
                <a:ea typeface="华文中宋" pitchFamily="2" charset="-122"/>
              </a:rPr>
              <a:t>2</a:t>
            </a:r>
            <a:r>
              <a:rPr kumimoji="0" lang="zh-CN" altLang="en-US" sz="1800" b="1">
                <a:ea typeface="华文中宋" pitchFamily="2" charset="-122"/>
              </a:rPr>
              <a:t>、应用</a:t>
            </a:r>
          </a:p>
        </p:txBody>
      </p:sp>
      <p:sp>
        <p:nvSpPr>
          <p:cNvPr id="66563" name="Rectangle 3"/>
          <p:cNvSpPr>
            <a:spLocks noChangeArrowheads="1"/>
          </p:cNvSpPr>
          <p:nvPr/>
        </p:nvSpPr>
        <p:spPr bwMode="auto">
          <a:xfrm>
            <a:off x="830263" y="1131888"/>
            <a:ext cx="230187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en-US" altLang="zh-CN" sz="1800" b="1">
                <a:solidFill>
                  <a:srgbClr val="0000FF"/>
                </a:solidFill>
                <a:ea typeface="华文中宋" pitchFamily="2" charset="-122"/>
              </a:rPr>
              <a:t>1</a:t>
            </a:r>
            <a:r>
              <a:rPr kumimoji="0" lang="zh-CN" altLang="en-US" sz="1800" b="1">
                <a:solidFill>
                  <a:srgbClr val="0000FF"/>
                </a:solidFill>
                <a:ea typeface="华文中宋" pitchFamily="2" charset="-122"/>
              </a:rPr>
              <a:t>、高空缺氧</a:t>
            </a:r>
          </a:p>
        </p:txBody>
      </p:sp>
      <p:sp>
        <p:nvSpPr>
          <p:cNvPr id="66564" name="Text Box 4"/>
          <p:cNvSpPr txBox="1">
            <a:spLocks noChangeArrowheads="1"/>
          </p:cNvSpPr>
          <p:nvPr/>
        </p:nvSpPr>
        <p:spPr bwMode="auto">
          <a:xfrm>
            <a:off x="611188" y="1493838"/>
            <a:ext cx="5400675"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ea typeface="华文中宋" pitchFamily="2" charset="-122"/>
              </a:rPr>
              <a:t>重力场中，离零势能面为</a:t>
            </a:r>
            <a:r>
              <a:rPr kumimoji="0" lang="en-US" altLang="zh-CN" sz="1800" b="1" i="1">
                <a:ea typeface="华文中宋" pitchFamily="2" charset="-122"/>
              </a:rPr>
              <a:t>h</a:t>
            </a:r>
            <a:r>
              <a:rPr kumimoji="0" lang="zh-CN" altLang="en-US" sz="1800" b="1">
                <a:ea typeface="华文中宋" pitchFamily="2" charset="-122"/>
              </a:rPr>
              <a:t>的地方，其重力势能</a:t>
            </a:r>
            <a:r>
              <a:rPr kumimoji="0" lang="en-US" altLang="zh-CN" sz="1800" b="1" i="1">
                <a:ea typeface="华文中宋" pitchFamily="2" charset="-122"/>
              </a:rPr>
              <a:t>m</a:t>
            </a:r>
            <a:r>
              <a:rPr kumimoji="0" lang="en-US" altLang="zh-CN" sz="1800" b="1">
                <a:ea typeface="华文中宋" pitchFamily="2" charset="-122"/>
              </a:rPr>
              <a:t>g</a:t>
            </a:r>
            <a:r>
              <a:rPr kumimoji="0" lang="en-US" altLang="zh-CN" sz="1800" b="1" i="1">
                <a:ea typeface="华文中宋" pitchFamily="2" charset="-122"/>
              </a:rPr>
              <a:t>h</a:t>
            </a:r>
          </a:p>
        </p:txBody>
      </p:sp>
      <p:sp>
        <p:nvSpPr>
          <p:cNvPr id="66567" name="Text Box 7"/>
          <p:cNvSpPr txBox="1">
            <a:spLocks noChangeArrowheads="1"/>
          </p:cNvSpPr>
          <p:nvPr/>
        </p:nvSpPr>
        <p:spPr bwMode="auto">
          <a:xfrm>
            <a:off x="684213" y="4146550"/>
            <a:ext cx="792003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800" b="1">
                <a:ea typeface="华文中宋" pitchFamily="2" charset="-122"/>
              </a:rPr>
              <a:t>        </a:t>
            </a:r>
            <a:r>
              <a:rPr kumimoji="0" lang="zh-CN" altLang="en-US" sz="1800" b="1">
                <a:ea typeface="华文中宋" pitchFamily="2" charset="-122"/>
              </a:rPr>
              <a:t>氧气分子数密度比氢气分子数密度衰减更快，可解释高空缺氧原因。</a:t>
            </a:r>
          </a:p>
        </p:txBody>
      </p:sp>
      <p:sp>
        <p:nvSpPr>
          <p:cNvPr id="66570" name="Text Box 10"/>
          <p:cNvSpPr txBox="1">
            <a:spLocks noChangeArrowheads="1"/>
          </p:cNvSpPr>
          <p:nvPr/>
        </p:nvSpPr>
        <p:spPr bwMode="auto">
          <a:xfrm>
            <a:off x="647700" y="3013075"/>
            <a:ext cx="795655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ea typeface="华文中宋" pitchFamily="2" charset="-122"/>
              </a:rPr>
              <a:t>在重力场中，分子数密度随着高度的增加而呈指数衰减。 </a:t>
            </a:r>
            <a:endParaRPr lang="zh-CN" altLang="en-US" sz="1800" b="1">
              <a:ea typeface="华文中宋" pitchFamily="2" charset="-122"/>
            </a:endParaRPr>
          </a:p>
        </p:txBody>
      </p:sp>
      <p:pic>
        <p:nvPicPr>
          <p:cNvPr id="67602" name="Picture 1042"/>
          <p:cNvPicPr preferRelativeResize="0">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6107113" y="947738"/>
            <a:ext cx="2857500" cy="1336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pic>
      <p:graphicFrame>
        <p:nvGraphicFramePr>
          <p:cNvPr id="67603" name="Object 1043"/>
          <p:cNvGraphicFramePr>
            <a:graphicFrameLocks noChangeAspect="1"/>
          </p:cNvGraphicFramePr>
          <p:nvPr/>
        </p:nvGraphicFramePr>
        <p:xfrm>
          <a:off x="1289050" y="2238375"/>
          <a:ext cx="3397250" cy="620713"/>
        </p:xfrm>
        <a:graphic>
          <a:graphicData uri="http://schemas.openxmlformats.org/presentationml/2006/ole">
            <p:oleObj spid="_x0000_s60435" name="Equation" r:id="rId4" imgW="1459866" imgH="355446" progId="Equation.DSMT4">
              <p:embed/>
            </p:oleObj>
          </a:graphicData>
        </a:graphic>
      </p:graphicFrame>
      <p:grpSp>
        <p:nvGrpSpPr>
          <p:cNvPr id="2" name="Group 1047"/>
          <p:cNvGrpSpPr>
            <a:grpSpLocks/>
          </p:cNvGrpSpPr>
          <p:nvPr/>
        </p:nvGrpSpPr>
        <p:grpSpPr bwMode="auto">
          <a:xfrm>
            <a:off x="3468688" y="3552825"/>
            <a:ext cx="1824037" cy="433388"/>
            <a:chOff x="1709" y="2636"/>
            <a:chExt cx="1539" cy="364"/>
          </a:xfrm>
        </p:grpSpPr>
        <p:graphicFrame>
          <p:nvGraphicFramePr>
            <p:cNvPr id="60426" name="Object 1044"/>
            <p:cNvGraphicFramePr>
              <a:graphicFrameLocks noChangeAspect="1"/>
            </p:cNvGraphicFramePr>
            <p:nvPr/>
          </p:nvGraphicFramePr>
          <p:xfrm>
            <a:off x="1709" y="2636"/>
            <a:ext cx="1342" cy="340"/>
          </p:xfrm>
          <a:graphic>
            <a:graphicData uri="http://schemas.openxmlformats.org/presentationml/2006/ole">
              <p:oleObj spid="_x0000_s60436" name="Equation" r:id="rId5" imgW="901309" imgH="228501" progId="Equation.DSMT4">
                <p:embed/>
              </p:oleObj>
            </a:graphicData>
          </a:graphic>
        </p:graphicFrame>
        <p:sp>
          <p:nvSpPr>
            <p:cNvPr id="60427" name="Rectangle 1045"/>
            <p:cNvSpPr>
              <a:spLocks noChangeArrowheads="1"/>
            </p:cNvSpPr>
            <p:nvPr/>
          </p:nvSpPr>
          <p:spPr bwMode="auto">
            <a:xfrm>
              <a:off x="2120" y="2729"/>
              <a:ext cx="277"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en-US" sz="1500" b="1">
                  <a:ea typeface="楷体_GB2312" pitchFamily="49" charset="-122"/>
                </a:rPr>
                <a:t>氧</a:t>
              </a:r>
            </a:p>
          </p:txBody>
        </p:sp>
        <p:sp>
          <p:nvSpPr>
            <p:cNvPr id="60428" name="Rectangle 1046"/>
            <p:cNvSpPr>
              <a:spLocks noChangeArrowheads="1"/>
            </p:cNvSpPr>
            <p:nvPr/>
          </p:nvSpPr>
          <p:spPr bwMode="auto">
            <a:xfrm>
              <a:off x="2971" y="2726"/>
              <a:ext cx="277"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kumimoji="0" lang="zh-CN" altLang="en-US" sz="1500" b="1">
                  <a:ea typeface="楷体_GB2312" pitchFamily="49" charset="-122"/>
                </a:rPr>
                <a:t>氢</a:t>
              </a:r>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6562"/>
                                        </p:tgtEl>
                                        <p:attrNameLst>
                                          <p:attrName>style.visibility</p:attrName>
                                        </p:attrNameLst>
                                      </p:cBhvr>
                                      <p:to>
                                        <p:strVal val="visible"/>
                                      </p:to>
                                    </p:set>
                                    <p:anim calcmode="lin" valueType="num">
                                      <p:cBhvr>
                                        <p:cTn id="7" dur="500" fill="hold"/>
                                        <p:tgtEl>
                                          <p:spTgt spid="66562"/>
                                        </p:tgtEl>
                                        <p:attrNameLst>
                                          <p:attrName>ppt_w</p:attrName>
                                        </p:attrNameLst>
                                      </p:cBhvr>
                                      <p:tavLst>
                                        <p:tav tm="0">
                                          <p:val>
                                            <p:fltVal val="0"/>
                                          </p:val>
                                        </p:tav>
                                        <p:tav tm="100000">
                                          <p:val>
                                            <p:strVal val="#ppt_w"/>
                                          </p:val>
                                        </p:tav>
                                      </p:tavLst>
                                    </p:anim>
                                    <p:anim calcmode="lin" valueType="num">
                                      <p:cBhvr>
                                        <p:cTn id="8" dur="500" fill="hold"/>
                                        <p:tgtEl>
                                          <p:spTgt spid="6656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grpId="0" nodeType="clickEffect">
                                  <p:stCondLst>
                                    <p:cond delay="0"/>
                                  </p:stCondLst>
                                  <p:childTnLst>
                                    <p:set>
                                      <p:cBhvr>
                                        <p:cTn id="12" dur="1" fill="hold">
                                          <p:stCondLst>
                                            <p:cond delay="0"/>
                                          </p:stCondLst>
                                        </p:cTn>
                                        <p:tgtEl>
                                          <p:spTgt spid="66563"/>
                                        </p:tgtEl>
                                        <p:attrNameLst>
                                          <p:attrName>style.visibility</p:attrName>
                                        </p:attrNameLst>
                                      </p:cBhvr>
                                      <p:to>
                                        <p:strVal val="visible"/>
                                      </p:to>
                                    </p:set>
                                    <p:anim calcmode="lin" valueType="num">
                                      <p:cBhvr>
                                        <p:cTn id="13" dur="500" fill="hold"/>
                                        <p:tgtEl>
                                          <p:spTgt spid="66563"/>
                                        </p:tgtEl>
                                        <p:attrNameLst>
                                          <p:attrName>ppt_w</p:attrName>
                                        </p:attrNameLst>
                                      </p:cBhvr>
                                      <p:tavLst>
                                        <p:tav tm="0">
                                          <p:val>
                                            <p:fltVal val="0"/>
                                          </p:val>
                                        </p:tav>
                                        <p:tav tm="100000">
                                          <p:val>
                                            <p:strVal val="#ppt_w"/>
                                          </p:val>
                                        </p:tav>
                                      </p:tavLst>
                                    </p:anim>
                                    <p:anim calcmode="lin" valueType="num">
                                      <p:cBhvr>
                                        <p:cTn id="14" dur="500" fill="hold"/>
                                        <p:tgtEl>
                                          <p:spTgt spid="66563"/>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67602"/>
                                        </p:tgtEl>
                                        <p:attrNameLst>
                                          <p:attrName>style.visibility</p:attrName>
                                        </p:attrNameLst>
                                      </p:cBhvr>
                                      <p:to>
                                        <p:strVal val="visible"/>
                                      </p:to>
                                    </p:set>
                                    <p:animEffect transition="in" filter="blinds(horizontal)">
                                      <p:cBhvr>
                                        <p:cTn id="19" dur="500"/>
                                        <p:tgtEl>
                                          <p:spTgt spid="67602"/>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3" presetClass="entr" presetSubtype="16" fill="hold" grpId="0" nodeType="clickEffect">
                                  <p:stCondLst>
                                    <p:cond delay="0"/>
                                  </p:stCondLst>
                                  <p:childTnLst>
                                    <p:set>
                                      <p:cBhvr>
                                        <p:cTn id="23" dur="1" fill="hold">
                                          <p:stCondLst>
                                            <p:cond delay="0"/>
                                          </p:stCondLst>
                                        </p:cTn>
                                        <p:tgtEl>
                                          <p:spTgt spid="66564"/>
                                        </p:tgtEl>
                                        <p:attrNameLst>
                                          <p:attrName>style.visibility</p:attrName>
                                        </p:attrNameLst>
                                      </p:cBhvr>
                                      <p:to>
                                        <p:strVal val="visible"/>
                                      </p:to>
                                    </p:set>
                                    <p:anim calcmode="lin" valueType="num">
                                      <p:cBhvr>
                                        <p:cTn id="24" dur="500" fill="hold"/>
                                        <p:tgtEl>
                                          <p:spTgt spid="66564"/>
                                        </p:tgtEl>
                                        <p:attrNameLst>
                                          <p:attrName>ppt_w</p:attrName>
                                        </p:attrNameLst>
                                      </p:cBhvr>
                                      <p:tavLst>
                                        <p:tav tm="0">
                                          <p:val>
                                            <p:fltVal val="0"/>
                                          </p:val>
                                        </p:tav>
                                        <p:tav tm="100000">
                                          <p:val>
                                            <p:strVal val="#ppt_w"/>
                                          </p:val>
                                        </p:tav>
                                      </p:tavLst>
                                    </p:anim>
                                    <p:anim calcmode="lin" valueType="num">
                                      <p:cBhvr>
                                        <p:cTn id="25" dur="500" fill="hold"/>
                                        <p:tgtEl>
                                          <p:spTgt spid="66564"/>
                                        </p:tgtEl>
                                        <p:attrNameLst>
                                          <p:attrName>ppt_h</p:attrName>
                                        </p:attrNameLst>
                                      </p:cBhvr>
                                      <p:tavLst>
                                        <p:tav tm="0">
                                          <p:val>
                                            <p:fltVal val="0"/>
                                          </p:val>
                                        </p:tav>
                                        <p:tav tm="100000">
                                          <p:val>
                                            <p:strVal val="#ppt_h"/>
                                          </p:val>
                                        </p:tav>
                                      </p:tavLst>
                                    </p:anim>
                                  </p:childTnLst>
                                </p:cTn>
                              </p:par>
                            </p:childTnLst>
                          </p:cTn>
                        </p:par>
                      </p:childTnLst>
                    </p:cTn>
                  </p:par>
                  <p:par>
                    <p:cTn id="26" fill="hold" nodeType="clickPar">
                      <p:stCondLst>
                        <p:cond delay="indefinite"/>
                      </p:stCondLst>
                      <p:childTnLst>
                        <p:par>
                          <p:cTn id="27" fill="hold" nodeType="withGroup">
                            <p:stCondLst>
                              <p:cond delay="0"/>
                            </p:stCondLst>
                            <p:childTnLst>
                              <p:par>
                                <p:cTn id="28" presetID="3" presetClass="entr" presetSubtype="10" fill="hold" nodeType="clickEffect">
                                  <p:stCondLst>
                                    <p:cond delay="0"/>
                                  </p:stCondLst>
                                  <p:childTnLst>
                                    <p:set>
                                      <p:cBhvr>
                                        <p:cTn id="29" dur="1" fill="hold">
                                          <p:stCondLst>
                                            <p:cond delay="0"/>
                                          </p:stCondLst>
                                        </p:cTn>
                                        <p:tgtEl>
                                          <p:spTgt spid="67603"/>
                                        </p:tgtEl>
                                        <p:attrNameLst>
                                          <p:attrName>style.visibility</p:attrName>
                                        </p:attrNameLst>
                                      </p:cBhvr>
                                      <p:to>
                                        <p:strVal val="visible"/>
                                      </p:to>
                                    </p:set>
                                    <p:animEffect transition="in" filter="blinds(horizontal)">
                                      <p:cBhvr>
                                        <p:cTn id="30" dur="500"/>
                                        <p:tgtEl>
                                          <p:spTgt spid="67603"/>
                                        </p:tgtEl>
                                      </p:cBhvr>
                                    </p:animEffect>
                                  </p:childTnLst>
                                </p:cTn>
                              </p:par>
                            </p:childTnLst>
                          </p:cTn>
                        </p:par>
                      </p:childTnLst>
                    </p:cTn>
                  </p:par>
                  <p:par>
                    <p:cTn id="31" fill="hold" nodeType="clickPar">
                      <p:stCondLst>
                        <p:cond delay="indefinite"/>
                      </p:stCondLst>
                      <p:childTnLst>
                        <p:par>
                          <p:cTn id="32" fill="hold" nodeType="withGroup">
                            <p:stCondLst>
                              <p:cond delay="0"/>
                            </p:stCondLst>
                            <p:childTnLst>
                              <p:par>
                                <p:cTn id="33" presetID="23" presetClass="entr" presetSubtype="16" fill="hold" grpId="0" nodeType="clickEffect">
                                  <p:stCondLst>
                                    <p:cond delay="0"/>
                                  </p:stCondLst>
                                  <p:childTnLst>
                                    <p:set>
                                      <p:cBhvr>
                                        <p:cTn id="34" dur="1" fill="hold">
                                          <p:stCondLst>
                                            <p:cond delay="0"/>
                                          </p:stCondLst>
                                        </p:cTn>
                                        <p:tgtEl>
                                          <p:spTgt spid="66570"/>
                                        </p:tgtEl>
                                        <p:attrNameLst>
                                          <p:attrName>style.visibility</p:attrName>
                                        </p:attrNameLst>
                                      </p:cBhvr>
                                      <p:to>
                                        <p:strVal val="visible"/>
                                      </p:to>
                                    </p:set>
                                    <p:anim calcmode="lin" valueType="num">
                                      <p:cBhvr>
                                        <p:cTn id="35" dur="500" fill="hold"/>
                                        <p:tgtEl>
                                          <p:spTgt spid="66570"/>
                                        </p:tgtEl>
                                        <p:attrNameLst>
                                          <p:attrName>ppt_w</p:attrName>
                                        </p:attrNameLst>
                                      </p:cBhvr>
                                      <p:tavLst>
                                        <p:tav tm="0">
                                          <p:val>
                                            <p:fltVal val="0"/>
                                          </p:val>
                                        </p:tav>
                                        <p:tav tm="100000">
                                          <p:val>
                                            <p:strVal val="#ppt_w"/>
                                          </p:val>
                                        </p:tav>
                                      </p:tavLst>
                                    </p:anim>
                                    <p:anim calcmode="lin" valueType="num">
                                      <p:cBhvr>
                                        <p:cTn id="36" dur="500" fill="hold"/>
                                        <p:tgtEl>
                                          <p:spTgt spid="66570"/>
                                        </p:tgtEl>
                                        <p:attrNameLst>
                                          <p:attrName>ppt_h</p:attrName>
                                        </p:attrNameLst>
                                      </p:cBhvr>
                                      <p:tavLst>
                                        <p:tav tm="0">
                                          <p:val>
                                            <p:fltVal val="0"/>
                                          </p:val>
                                        </p:tav>
                                        <p:tav tm="100000">
                                          <p:val>
                                            <p:strVal val="#ppt_h"/>
                                          </p:val>
                                        </p:tav>
                                      </p:tavLst>
                                    </p:anim>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2"/>
                                        </p:tgtEl>
                                        <p:attrNameLst>
                                          <p:attrName>style.visibility</p:attrName>
                                        </p:attrNameLst>
                                      </p:cBhvr>
                                      <p:to>
                                        <p:strVal val="visible"/>
                                      </p:to>
                                    </p:set>
                                    <p:animEffect transition="in" filter="blinds(horizontal)">
                                      <p:cBhvr>
                                        <p:cTn id="41" dur="500"/>
                                        <p:tgtEl>
                                          <p:spTgt spid="2"/>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grpId="0" nodeType="clickEffect">
                                  <p:stCondLst>
                                    <p:cond delay="0"/>
                                  </p:stCondLst>
                                  <p:childTnLst>
                                    <p:set>
                                      <p:cBhvr>
                                        <p:cTn id="45" dur="1" fill="hold">
                                          <p:stCondLst>
                                            <p:cond delay="0"/>
                                          </p:stCondLst>
                                        </p:cTn>
                                        <p:tgtEl>
                                          <p:spTgt spid="66567"/>
                                        </p:tgtEl>
                                        <p:attrNameLst>
                                          <p:attrName>style.visibility</p:attrName>
                                        </p:attrNameLst>
                                      </p:cBhvr>
                                      <p:to>
                                        <p:strVal val="visible"/>
                                      </p:to>
                                    </p:set>
                                    <p:animEffect transition="in" filter="blinds(horizontal)">
                                      <p:cBhvr>
                                        <p:cTn id="46" dur="500"/>
                                        <p:tgtEl>
                                          <p:spTgt spid="6656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6562" grpId="0" autoUpdateAnimBg="0"/>
      <p:bldP spid="66563" grpId="0" autoUpdateAnimBg="0"/>
      <p:bldP spid="66564" grpId="0" autoUpdateAnimBg="0"/>
      <p:bldP spid="66567" grpId="0"/>
      <p:bldP spid="66570" grpId="0" autoUpdateAnimBg="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111623" name="Object 7"/>
          <p:cNvGraphicFramePr>
            <a:graphicFrameLocks noChangeAspect="1"/>
          </p:cNvGraphicFramePr>
          <p:nvPr/>
        </p:nvGraphicFramePr>
        <p:xfrm>
          <a:off x="2771775" y="1177925"/>
          <a:ext cx="1360488" cy="379413"/>
        </p:xfrm>
        <a:graphic>
          <a:graphicData uri="http://schemas.openxmlformats.org/presentationml/2006/ole">
            <p:oleObj spid="_x0000_s61472" name="公式" r:id="rId4" imgW="406048" imgH="152268" progId="Equation.3">
              <p:embed/>
            </p:oleObj>
          </a:graphicData>
        </a:graphic>
      </p:graphicFrame>
      <p:grpSp>
        <p:nvGrpSpPr>
          <p:cNvPr id="2" name="Group 4"/>
          <p:cNvGrpSpPr>
            <a:grpSpLocks/>
          </p:cNvGrpSpPr>
          <p:nvPr/>
        </p:nvGrpSpPr>
        <p:grpSpPr bwMode="auto">
          <a:xfrm>
            <a:off x="1258888" y="2419350"/>
            <a:ext cx="6677025" cy="368300"/>
            <a:chOff x="776" y="1765"/>
            <a:chExt cx="4206" cy="310"/>
          </a:xfrm>
        </p:grpSpPr>
        <p:graphicFrame>
          <p:nvGraphicFramePr>
            <p:cNvPr id="61452" name="Object 8"/>
            <p:cNvGraphicFramePr>
              <a:graphicFrameLocks noChangeAspect="1"/>
            </p:cNvGraphicFramePr>
            <p:nvPr/>
          </p:nvGraphicFramePr>
          <p:xfrm>
            <a:off x="776" y="1783"/>
            <a:ext cx="834" cy="266"/>
          </p:xfrm>
          <a:graphic>
            <a:graphicData uri="http://schemas.openxmlformats.org/presentationml/2006/ole">
              <p:oleObj spid="_x0000_s61473" name="公式" r:id="rId5" imgW="494870" imgH="177646" progId="Equation.3">
                <p:embed/>
              </p:oleObj>
            </a:graphicData>
          </a:graphic>
        </p:graphicFrame>
        <p:sp>
          <p:nvSpPr>
            <p:cNvPr id="61453" name="Rectangle 8"/>
            <p:cNvSpPr>
              <a:spLocks noChangeArrowheads="1"/>
            </p:cNvSpPr>
            <p:nvPr/>
          </p:nvSpPr>
          <p:spPr bwMode="auto">
            <a:xfrm>
              <a:off x="1474" y="1765"/>
              <a:ext cx="3508" cy="31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800" b="1">
                  <a:ea typeface="华文中宋" pitchFamily="2" charset="-122"/>
                </a:rPr>
                <a:t>表示</a:t>
              </a:r>
              <a:r>
                <a:rPr kumimoji="0" lang="en-US" altLang="zh-CN" sz="1800" b="1" i="1">
                  <a:ea typeface="华文中宋" pitchFamily="2" charset="-122"/>
                </a:rPr>
                <a:t>h</a:t>
              </a:r>
              <a:r>
                <a:rPr kumimoji="0" lang="en-US" altLang="zh-CN" sz="1800" b="1">
                  <a:ea typeface="华文中宋" pitchFamily="2" charset="-122"/>
                </a:rPr>
                <a:t>=0</a:t>
              </a:r>
              <a:r>
                <a:rPr kumimoji="0" lang="zh-CN" altLang="en-US" sz="1800" b="1">
                  <a:ea typeface="华文中宋" pitchFamily="2" charset="-122"/>
                </a:rPr>
                <a:t>处压强；</a:t>
              </a:r>
              <a:r>
                <a:rPr kumimoji="0" lang="en-US" altLang="zh-CN" sz="1800" b="1" i="1">
                  <a:ea typeface="华文中宋" pitchFamily="2" charset="-122"/>
                  <a:sym typeface="Symbol" pitchFamily="18" charset="2"/>
                </a:rPr>
                <a:t>M</a:t>
              </a:r>
              <a:r>
                <a:rPr kumimoji="0" lang="en-US" altLang="zh-CN" sz="1800" b="1" baseline="-25000">
                  <a:ea typeface="华文中宋" pitchFamily="2" charset="-122"/>
                  <a:sym typeface="Symbol" pitchFamily="18" charset="2"/>
                </a:rPr>
                <a:t>mol</a:t>
              </a:r>
              <a:r>
                <a:rPr kumimoji="0" lang="zh-CN" altLang="en-US" sz="1800" b="1">
                  <a:ea typeface="华文中宋" pitchFamily="2" charset="-122"/>
                </a:rPr>
                <a:t>为气体摩尔质量。</a:t>
              </a:r>
            </a:p>
          </p:txBody>
        </p:sp>
      </p:grpSp>
      <p:sp>
        <p:nvSpPr>
          <p:cNvPr id="67593" name="Text Box 9"/>
          <p:cNvSpPr txBox="1">
            <a:spLocks noChangeArrowheads="1"/>
          </p:cNvSpPr>
          <p:nvPr/>
        </p:nvSpPr>
        <p:spPr bwMode="auto">
          <a:xfrm>
            <a:off x="971550" y="2851150"/>
            <a:ext cx="403225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solidFill>
                  <a:srgbClr val="0066FF"/>
                </a:solidFill>
                <a:latin typeface="华文中宋" pitchFamily="2" charset="-122"/>
                <a:ea typeface="华文中宋" pitchFamily="2" charset="-122"/>
              </a:rPr>
              <a:t>大气压随高按指数规律衰减</a:t>
            </a:r>
            <a:endParaRPr kumimoji="0" lang="zh-CN" altLang="en-US" sz="1800">
              <a:latin typeface="华文中宋" pitchFamily="2" charset="-122"/>
              <a:ea typeface="华文中宋" pitchFamily="2" charset="-122"/>
            </a:endParaRPr>
          </a:p>
        </p:txBody>
      </p:sp>
      <p:sp>
        <p:nvSpPr>
          <p:cNvPr id="67594" name="Text Box 10"/>
          <p:cNvSpPr txBox="1">
            <a:spLocks noChangeArrowheads="1"/>
          </p:cNvSpPr>
          <p:nvPr/>
        </p:nvSpPr>
        <p:spPr bwMode="auto">
          <a:xfrm>
            <a:off x="533400" y="835025"/>
            <a:ext cx="4470400"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en-US" altLang="zh-CN" sz="1800" b="1">
                <a:solidFill>
                  <a:srgbClr val="0000FF"/>
                </a:solidFill>
                <a:latin typeface="华文中宋" pitchFamily="2" charset="-122"/>
                <a:ea typeface="华文中宋" pitchFamily="2" charset="-122"/>
              </a:rPr>
              <a:t>2</a:t>
            </a:r>
            <a:r>
              <a:rPr kumimoji="0" lang="zh-CN" altLang="en-US" sz="1800" b="1">
                <a:solidFill>
                  <a:srgbClr val="0000FF"/>
                </a:solidFill>
                <a:latin typeface="华文中宋" pitchFamily="2" charset="-122"/>
                <a:ea typeface="华文中宋" pitchFamily="2" charset="-122"/>
              </a:rPr>
              <a:t>、用测定大气压的方法测高度</a:t>
            </a:r>
          </a:p>
        </p:txBody>
      </p:sp>
      <p:sp>
        <p:nvSpPr>
          <p:cNvPr id="67596" name="Text Box 12"/>
          <p:cNvSpPr txBox="1">
            <a:spLocks noChangeArrowheads="1"/>
          </p:cNvSpPr>
          <p:nvPr/>
        </p:nvSpPr>
        <p:spPr bwMode="auto">
          <a:xfrm>
            <a:off x="1187450" y="3722688"/>
            <a:ext cx="4014788"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latin typeface="华文中宋" pitchFamily="2" charset="-122"/>
                <a:ea typeface="华文中宋" pitchFamily="2" charset="-122"/>
              </a:rPr>
              <a:t>对气压公式两边取对数，得</a:t>
            </a:r>
          </a:p>
        </p:txBody>
      </p:sp>
      <p:sp>
        <p:nvSpPr>
          <p:cNvPr id="67598" name="Text Box 14"/>
          <p:cNvSpPr txBox="1">
            <a:spLocks noChangeArrowheads="1"/>
          </p:cNvSpPr>
          <p:nvPr/>
        </p:nvSpPr>
        <p:spPr bwMode="auto">
          <a:xfrm>
            <a:off x="3054350" y="3363913"/>
            <a:ext cx="796925"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latin typeface="华文中宋" pitchFamily="2" charset="-122"/>
                <a:ea typeface="华文中宋" pitchFamily="2" charset="-122"/>
              </a:rPr>
              <a:t>因为</a:t>
            </a:r>
          </a:p>
        </p:txBody>
      </p:sp>
      <p:graphicFrame>
        <p:nvGraphicFramePr>
          <p:cNvPr id="111618" name="Object 2"/>
          <p:cNvGraphicFramePr>
            <a:graphicFrameLocks noChangeAspect="1"/>
          </p:cNvGraphicFramePr>
          <p:nvPr/>
        </p:nvGraphicFramePr>
        <p:xfrm>
          <a:off x="4657725" y="1014413"/>
          <a:ext cx="1555750" cy="554037"/>
        </p:xfrm>
        <a:graphic>
          <a:graphicData uri="http://schemas.openxmlformats.org/presentationml/2006/ole">
            <p:oleObj spid="_x0000_s61474" name="Equation" r:id="rId6" imgW="723586" imgH="342751" progId="Equation.DSMT4">
              <p:embed/>
            </p:oleObj>
          </a:graphicData>
        </a:graphic>
      </p:graphicFrame>
      <p:graphicFrame>
        <p:nvGraphicFramePr>
          <p:cNvPr id="111619" name="Object 3"/>
          <p:cNvGraphicFramePr>
            <a:graphicFrameLocks noChangeAspect="1"/>
          </p:cNvGraphicFramePr>
          <p:nvPr/>
        </p:nvGraphicFramePr>
        <p:xfrm>
          <a:off x="1865313" y="1716088"/>
          <a:ext cx="5195887" cy="609600"/>
        </p:xfrm>
        <a:graphic>
          <a:graphicData uri="http://schemas.openxmlformats.org/presentationml/2006/ole">
            <p:oleObj spid="_x0000_s61475" name="Equation" r:id="rId7" imgW="2273300" imgH="355600" progId="Equation.DSMT4">
              <p:embed/>
            </p:oleObj>
          </a:graphicData>
        </a:graphic>
      </p:graphicFrame>
      <p:graphicFrame>
        <p:nvGraphicFramePr>
          <p:cNvPr id="111621" name="Object 5"/>
          <p:cNvGraphicFramePr>
            <a:graphicFrameLocks noChangeAspect="1"/>
          </p:cNvGraphicFramePr>
          <p:nvPr/>
        </p:nvGraphicFramePr>
        <p:xfrm>
          <a:off x="4119563" y="3219450"/>
          <a:ext cx="1676400" cy="715963"/>
        </p:xfrm>
        <a:graphic>
          <a:graphicData uri="http://schemas.openxmlformats.org/presentationml/2006/ole">
            <p:oleObj spid="_x0000_s61476" name="Equation" r:id="rId8" imgW="825500" imgH="469900" progId="Equation.DSMT4">
              <p:embed/>
            </p:oleObj>
          </a:graphicData>
        </a:graphic>
      </p:graphicFrame>
      <p:graphicFrame>
        <p:nvGraphicFramePr>
          <p:cNvPr id="111622" name="Object 6"/>
          <p:cNvGraphicFramePr>
            <a:graphicFrameLocks noChangeAspect="1"/>
          </p:cNvGraphicFramePr>
          <p:nvPr/>
        </p:nvGraphicFramePr>
        <p:xfrm>
          <a:off x="4116388" y="4011613"/>
          <a:ext cx="1895475" cy="615950"/>
        </p:xfrm>
        <a:graphic>
          <a:graphicData uri="http://schemas.openxmlformats.org/presentationml/2006/ole">
            <p:oleObj spid="_x0000_s61477" name="Equation" r:id="rId9" imgW="1028254" imgH="444307"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7594"/>
                                        </p:tgtEl>
                                        <p:attrNameLst>
                                          <p:attrName>style.visibility</p:attrName>
                                        </p:attrNameLst>
                                      </p:cBhvr>
                                      <p:to>
                                        <p:strVal val="visible"/>
                                      </p:to>
                                    </p:set>
                                    <p:anim calcmode="lin" valueType="num">
                                      <p:cBhvr>
                                        <p:cTn id="7" dur="500" fill="hold"/>
                                        <p:tgtEl>
                                          <p:spTgt spid="67594"/>
                                        </p:tgtEl>
                                        <p:attrNameLst>
                                          <p:attrName>ppt_w</p:attrName>
                                        </p:attrNameLst>
                                      </p:cBhvr>
                                      <p:tavLst>
                                        <p:tav tm="0">
                                          <p:val>
                                            <p:fltVal val="0"/>
                                          </p:val>
                                        </p:tav>
                                        <p:tav tm="100000">
                                          <p:val>
                                            <p:strVal val="#ppt_w"/>
                                          </p:val>
                                        </p:tav>
                                      </p:tavLst>
                                    </p:anim>
                                    <p:anim calcmode="lin" valueType="num">
                                      <p:cBhvr>
                                        <p:cTn id="8" dur="500" fill="hold"/>
                                        <p:tgtEl>
                                          <p:spTgt spid="67594"/>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23" presetClass="entr" presetSubtype="16" fill="hold" nodeType="clickEffect">
                                  <p:stCondLst>
                                    <p:cond delay="0"/>
                                  </p:stCondLst>
                                  <p:childTnLst>
                                    <p:set>
                                      <p:cBhvr>
                                        <p:cTn id="12" dur="1" fill="hold">
                                          <p:stCondLst>
                                            <p:cond delay="0"/>
                                          </p:stCondLst>
                                        </p:cTn>
                                        <p:tgtEl>
                                          <p:spTgt spid="111623"/>
                                        </p:tgtEl>
                                        <p:attrNameLst>
                                          <p:attrName>style.visibility</p:attrName>
                                        </p:attrNameLst>
                                      </p:cBhvr>
                                      <p:to>
                                        <p:strVal val="visible"/>
                                      </p:to>
                                    </p:set>
                                    <p:anim calcmode="lin" valueType="num">
                                      <p:cBhvr>
                                        <p:cTn id="13" dur="500" fill="hold"/>
                                        <p:tgtEl>
                                          <p:spTgt spid="111623"/>
                                        </p:tgtEl>
                                        <p:attrNameLst>
                                          <p:attrName>ppt_w</p:attrName>
                                        </p:attrNameLst>
                                      </p:cBhvr>
                                      <p:tavLst>
                                        <p:tav tm="0">
                                          <p:val>
                                            <p:fltVal val="0"/>
                                          </p:val>
                                        </p:tav>
                                        <p:tav tm="100000">
                                          <p:val>
                                            <p:strVal val="#ppt_w"/>
                                          </p:val>
                                        </p:tav>
                                      </p:tavLst>
                                    </p:anim>
                                    <p:anim calcmode="lin" valueType="num">
                                      <p:cBhvr>
                                        <p:cTn id="14" dur="500" fill="hold"/>
                                        <p:tgtEl>
                                          <p:spTgt spid="111623"/>
                                        </p:tgtEl>
                                        <p:attrNameLst>
                                          <p:attrName>ppt_h</p:attrName>
                                        </p:attrNameLst>
                                      </p:cBhvr>
                                      <p:tavLst>
                                        <p:tav tm="0">
                                          <p:val>
                                            <p:fltVal val="0"/>
                                          </p:val>
                                        </p:tav>
                                        <p:tav tm="100000">
                                          <p:val>
                                            <p:strVal val="#ppt_h"/>
                                          </p:val>
                                        </p:tav>
                                      </p:tavLst>
                                    </p:anim>
                                  </p:childTnLst>
                                </p:cTn>
                              </p:par>
                            </p:childTnLst>
                          </p:cTn>
                        </p:par>
                      </p:childTnLst>
                    </p:cTn>
                  </p:par>
                  <p:par>
                    <p:cTn id="15" fill="hold" nodeType="clickPar">
                      <p:stCondLst>
                        <p:cond delay="indefinite"/>
                      </p:stCondLst>
                      <p:childTnLst>
                        <p:par>
                          <p:cTn id="16" fill="hold" nodeType="withGroup">
                            <p:stCondLst>
                              <p:cond delay="0"/>
                            </p:stCondLst>
                            <p:childTnLst>
                              <p:par>
                                <p:cTn id="17" presetID="3" presetClass="entr" presetSubtype="10" fill="hold" nodeType="clickEffect">
                                  <p:stCondLst>
                                    <p:cond delay="0"/>
                                  </p:stCondLst>
                                  <p:childTnLst>
                                    <p:set>
                                      <p:cBhvr>
                                        <p:cTn id="18" dur="1" fill="hold">
                                          <p:stCondLst>
                                            <p:cond delay="0"/>
                                          </p:stCondLst>
                                        </p:cTn>
                                        <p:tgtEl>
                                          <p:spTgt spid="111618"/>
                                        </p:tgtEl>
                                        <p:attrNameLst>
                                          <p:attrName>style.visibility</p:attrName>
                                        </p:attrNameLst>
                                      </p:cBhvr>
                                      <p:to>
                                        <p:strVal val="visible"/>
                                      </p:to>
                                    </p:set>
                                    <p:animEffect transition="in" filter="blinds(horizontal)">
                                      <p:cBhvr>
                                        <p:cTn id="19" dur="500"/>
                                        <p:tgtEl>
                                          <p:spTgt spid="111618"/>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11619"/>
                                        </p:tgtEl>
                                        <p:attrNameLst>
                                          <p:attrName>style.visibility</p:attrName>
                                        </p:attrNameLst>
                                      </p:cBhvr>
                                      <p:to>
                                        <p:strVal val="visible"/>
                                      </p:to>
                                    </p:set>
                                    <p:animEffect transition="in" filter="blinds(horizontal)">
                                      <p:cBhvr>
                                        <p:cTn id="24" dur="500"/>
                                        <p:tgtEl>
                                          <p:spTgt spid="111619"/>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3" presetClass="entr" presetSubtype="10" fill="hold" nodeType="clickEffect">
                                  <p:stCondLst>
                                    <p:cond delay="0"/>
                                  </p:stCondLst>
                                  <p:childTnLst>
                                    <p:set>
                                      <p:cBhvr>
                                        <p:cTn id="28" dur="1" fill="hold">
                                          <p:stCondLst>
                                            <p:cond delay="0"/>
                                          </p:stCondLst>
                                        </p:cTn>
                                        <p:tgtEl>
                                          <p:spTgt spid="2"/>
                                        </p:tgtEl>
                                        <p:attrNameLst>
                                          <p:attrName>style.visibility</p:attrName>
                                        </p:attrNameLst>
                                      </p:cBhvr>
                                      <p:to>
                                        <p:strVal val="visible"/>
                                      </p:to>
                                    </p:set>
                                    <p:animEffect transition="in" filter="blinds(horizontal)">
                                      <p:cBhvr>
                                        <p:cTn id="29" dur="500"/>
                                        <p:tgtEl>
                                          <p:spTgt spid="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16" fill="hold" grpId="0" nodeType="clickEffect">
                                  <p:stCondLst>
                                    <p:cond delay="0"/>
                                  </p:stCondLst>
                                  <p:childTnLst>
                                    <p:set>
                                      <p:cBhvr>
                                        <p:cTn id="33" dur="1" fill="hold">
                                          <p:stCondLst>
                                            <p:cond delay="0"/>
                                          </p:stCondLst>
                                        </p:cTn>
                                        <p:tgtEl>
                                          <p:spTgt spid="67593"/>
                                        </p:tgtEl>
                                        <p:attrNameLst>
                                          <p:attrName>style.visibility</p:attrName>
                                        </p:attrNameLst>
                                      </p:cBhvr>
                                      <p:to>
                                        <p:strVal val="visible"/>
                                      </p:to>
                                    </p:set>
                                    <p:anim calcmode="lin" valueType="num">
                                      <p:cBhvr>
                                        <p:cTn id="34" dur="500" fill="hold"/>
                                        <p:tgtEl>
                                          <p:spTgt spid="67593"/>
                                        </p:tgtEl>
                                        <p:attrNameLst>
                                          <p:attrName>ppt_w</p:attrName>
                                        </p:attrNameLst>
                                      </p:cBhvr>
                                      <p:tavLst>
                                        <p:tav tm="0">
                                          <p:val>
                                            <p:fltVal val="0"/>
                                          </p:val>
                                        </p:tav>
                                        <p:tav tm="100000">
                                          <p:val>
                                            <p:strVal val="#ppt_w"/>
                                          </p:val>
                                        </p:tav>
                                      </p:tavLst>
                                    </p:anim>
                                    <p:anim calcmode="lin" valueType="num">
                                      <p:cBhvr>
                                        <p:cTn id="35" dur="500" fill="hold"/>
                                        <p:tgtEl>
                                          <p:spTgt spid="67593"/>
                                        </p:tgtEl>
                                        <p:attrNameLst>
                                          <p:attrName>ppt_h</p:attrName>
                                        </p:attrNameLst>
                                      </p:cBhvr>
                                      <p:tavLst>
                                        <p:tav tm="0">
                                          <p:val>
                                            <p:fltVal val="0"/>
                                          </p:val>
                                        </p:tav>
                                        <p:tav tm="100000">
                                          <p:val>
                                            <p:strVal val="#ppt_h"/>
                                          </p:val>
                                        </p:tav>
                                      </p:tavLst>
                                    </p:anim>
                                  </p:childTnLst>
                                  <p:subTnLst>
                                    <p:audio>
                                      <p:cMediaNode>
                                        <p:cTn display="0" masterRel="sameClick">
                                          <p:stCondLst>
                                            <p:cond evt="begin" delay="0">
                                              <p:tn val="32"/>
                                            </p:cond>
                                          </p:stCondLst>
                                          <p:endCondLst>
                                            <p:cond evt="onStopAudio" delay="0">
                                              <p:tgtEl>
                                                <p:sldTgt/>
                                              </p:tgtEl>
                                            </p:cond>
                                          </p:endCondLst>
                                        </p:cTn>
                                        <p:tgtEl>
                                          <p:sndTgt r:embed="rId3" name="CAMERA.WAV"/>
                                        </p:tgtEl>
                                      </p:cMediaNode>
                                    </p:audio>
                                  </p:sub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16" fill="hold" grpId="0" nodeType="clickEffect">
                                  <p:stCondLst>
                                    <p:cond delay="0"/>
                                  </p:stCondLst>
                                  <p:childTnLst>
                                    <p:set>
                                      <p:cBhvr>
                                        <p:cTn id="39" dur="1" fill="hold">
                                          <p:stCondLst>
                                            <p:cond delay="0"/>
                                          </p:stCondLst>
                                        </p:cTn>
                                        <p:tgtEl>
                                          <p:spTgt spid="67598"/>
                                        </p:tgtEl>
                                        <p:attrNameLst>
                                          <p:attrName>style.visibility</p:attrName>
                                        </p:attrNameLst>
                                      </p:cBhvr>
                                      <p:to>
                                        <p:strVal val="visible"/>
                                      </p:to>
                                    </p:set>
                                    <p:anim calcmode="lin" valueType="num">
                                      <p:cBhvr>
                                        <p:cTn id="40" dur="500" fill="hold"/>
                                        <p:tgtEl>
                                          <p:spTgt spid="67598"/>
                                        </p:tgtEl>
                                        <p:attrNameLst>
                                          <p:attrName>ppt_w</p:attrName>
                                        </p:attrNameLst>
                                      </p:cBhvr>
                                      <p:tavLst>
                                        <p:tav tm="0">
                                          <p:val>
                                            <p:fltVal val="0"/>
                                          </p:val>
                                        </p:tav>
                                        <p:tav tm="100000">
                                          <p:val>
                                            <p:strVal val="#ppt_w"/>
                                          </p:val>
                                        </p:tav>
                                      </p:tavLst>
                                    </p:anim>
                                    <p:anim calcmode="lin" valueType="num">
                                      <p:cBhvr>
                                        <p:cTn id="41" dur="500" fill="hold"/>
                                        <p:tgtEl>
                                          <p:spTgt spid="67598"/>
                                        </p:tgtEl>
                                        <p:attrNameLst>
                                          <p:attrName>ppt_h</p:attrName>
                                        </p:attrNameLst>
                                      </p:cBhvr>
                                      <p:tavLst>
                                        <p:tav tm="0">
                                          <p:val>
                                            <p:fltVal val="0"/>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3" presetClass="entr" presetSubtype="10" fill="hold" nodeType="clickEffect">
                                  <p:stCondLst>
                                    <p:cond delay="0"/>
                                  </p:stCondLst>
                                  <p:childTnLst>
                                    <p:set>
                                      <p:cBhvr>
                                        <p:cTn id="45" dur="1" fill="hold">
                                          <p:stCondLst>
                                            <p:cond delay="0"/>
                                          </p:stCondLst>
                                        </p:cTn>
                                        <p:tgtEl>
                                          <p:spTgt spid="111621"/>
                                        </p:tgtEl>
                                        <p:attrNameLst>
                                          <p:attrName>style.visibility</p:attrName>
                                        </p:attrNameLst>
                                      </p:cBhvr>
                                      <p:to>
                                        <p:strVal val="visible"/>
                                      </p:to>
                                    </p:set>
                                    <p:animEffect transition="in" filter="blinds(horizontal)">
                                      <p:cBhvr>
                                        <p:cTn id="46" dur="500"/>
                                        <p:tgtEl>
                                          <p:spTgt spid="11162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3" presetClass="entr" presetSubtype="16" fill="hold" grpId="0" nodeType="clickEffect">
                                  <p:stCondLst>
                                    <p:cond delay="0"/>
                                  </p:stCondLst>
                                  <p:childTnLst>
                                    <p:set>
                                      <p:cBhvr>
                                        <p:cTn id="50" dur="1" fill="hold">
                                          <p:stCondLst>
                                            <p:cond delay="0"/>
                                          </p:stCondLst>
                                        </p:cTn>
                                        <p:tgtEl>
                                          <p:spTgt spid="67596"/>
                                        </p:tgtEl>
                                        <p:attrNameLst>
                                          <p:attrName>style.visibility</p:attrName>
                                        </p:attrNameLst>
                                      </p:cBhvr>
                                      <p:to>
                                        <p:strVal val="visible"/>
                                      </p:to>
                                    </p:set>
                                    <p:anim calcmode="lin" valueType="num">
                                      <p:cBhvr>
                                        <p:cTn id="51" dur="500" fill="hold"/>
                                        <p:tgtEl>
                                          <p:spTgt spid="67596"/>
                                        </p:tgtEl>
                                        <p:attrNameLst>
                                          <p:attrName>ppt_w</p:attrName>
                                        </p:attrNameLst>
                                      </p:cBhvr>
                                      <p:tavLst>
                                        <p:tav tm="0">
                                          <p:val>
                                            <p:fltVal val="0"/>
                                          </p:val>
                                        </p:tav>
                                        <p:tav tm="100000">
                                          <p:val>
                                            <p:strVal val="#ppt_w"/>
                                          </p:val>
                                        </p:tav>
                                      </p:tavLst>
                                    </p:anim>
                                    <p:anim calcmode="lin" valueType="num">
                                      <p:cBhvr>
                                        <p:cTn id="52" dur="500" fill="hold"/>
                                        <p:tgtEl>
                                          <p:spTgt spid="67596"/>
                                        </p:tgtEl>
                                        <p:attrNameLst>
                                          <p:attrName>ppt_h</p:attrName>
                                        </p:attrNameLst>
                                      </p:cBhvr>
                                      <p:tavLst>
                                        <p:tav tm="0">
                                          <p:val>
                                            <p:fltVal val="0"/>
                                          </p:val>
                                        </p:tav>
                                        <p:tav tm="100000">
                                          <p:val>
                                            <p:strVal val="#ppt_h"/>
                                          </p:val>
                                        </p:tav>
                                      </p:tavLst>
                                    </p:anim>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111622"/>
                                        </p:tgtEl>
                                        <p:attrNameLst>
                                          <p:attrName>style.visibility</p:attrName>
                                        </p:attrNameLst>
                                      </p:cBhvr>
                                      <p:to>
                                        <p:strVal val="visible"/>
                                      </p:to>
                                    </p:set>
                                    <p:animEffect transition="in" filter="blinds(horizontal)">
                                      <p:cBhvr>
                                        <p:cTn id="57" dur="500"/>
                                        <p:tgtEl>
                                          <p:spTgt spid="1116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7593" grpId="0" autoUpdateAnimBg="0"/>
      <p:bldP spid="67594" grpId="0" autoUpdateAnimBg="0"/>
      <p:bldP spid="67596" grpId="0" autoUpdateAnimBg="0"/>
      <p:bldP spid="67598" grpId="0" autoUpdateAnimBg="0"/>
    </p:bldLst>
  </p:timing>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8611" name="Text Box 3"/>
          <p:cNvSpPr txBox="1">
            <a:spLocks noChangeArrowheads="1"/>
          </p:cNvSpPr>
          <p:nvPr/>
        </p:nvSpPr>
        <p:spPr bwMode="auto">
          <a:xfrm>
            <a:off x="611188" y="3425825"/>
            <a:ext cx="80645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ea typeface="华文中宋" pitchFamily="2" charset="-122"/>
              </a:rPr>
              <a:t>       </a:t>
            </a:r>
            <a:r>
              <a:rPr lang="zh-CN" altLang="en-US" sz="1800" b="1">
                <a:ea typeface="华文中宋" pitchFamily="2" charset="-122"/>
              </a:rPr>
              <a:t>计算表明，在高度不太大时，例如</a:t>
            </a:r>
            <a:r>
              <a:rPr lang="en-US" altLang="zh-CN" sz="1800" b="1" i="1">
                <a:ea typeface="华文中宋" pitchFamily="2" charset="-122"/>
              </a:rPr>
              <a:t>h</a:t>
            </a:r>
            <a:r>
              <a:rPr lang="en-US" altLang="zh-CN" sz="1800" b="1">
                <a:ea typeface="华文中宋" pitchFamily="2" charset="-122"/>
              </a:rPr>
              <a:t>&lt;10m</a:t>
            </a:r>
            <a:r>
              <a:rPr lang="zh-CN" altLang="en-US" sz="1800" b="1">
                <a:ea typeface="华文中宋" pitchFamily="2" charset="-122"/>
              </a:rPr>
              <a:t>时，压强随高度变化不太显著。</a:t>
            </a:r>
          </a:p>
        </p:txBody>
      </p:sp>
      <p:sp>
        <p:nvSpPr>
          <p:cNvPr id="68612" name="Text Box 4"/>
          <p:cNvSpPr txBox="1">
            <a:spLocks noChangeArrowheads="1"/>
          </p:cNvSpPr>
          <p:nvPr/>
        </p:nvSpPr>
        <p:spPr bwMode="auto">
          <a:xfrm>
            <a:off x="323850" y="995363"/>
            <a:ext cx="845820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00FF"/>
                </a:solidFill>
                <a:ea typeface="华文中宋" pitchFamily="2" charset="-122"/>
              </a:rPr>
              <a:t>例  装有氮气的</a:t>
            </a:r>
            <a:r>
              <a:rPr lang="en-US" altLang="zh-CN" sz="1800" b="1">
                <a:solidFill>
                  <a:srgbClr val="0000FF"/>
                </a:solidFill>
                <a:ea typeface="华文中宋" pitchFamily="2" charset="-122"/>
              </a:rPr>
              <a:t>10</a:t>
            </a:r>
            <a:r>
              <a:rPr lang="zh-CN" altLang="en-US" sz="1800" b="1">
                <a:solidFill>
                  <a:srgbClr val="0000FF"/>
                </a:solidFill>
                <a:ea typeface="华文中宋" pitchFamily="2" charset="-122"/>
              </a:rPr>
              <a:t>米塔，求在室温下顶部与底部的压强比。</a:t>
            </a:r>
          </a:p>
        </p:txBody>
      </p:sp>
      <p:graphicFrame>
        <p:nvGraphicFramePr>
          <p:cNvPr id="68615" name="Object 7"/>
          <p:cNvGraphicFramePr>
            <a:graphicFrameLocks noChangeAspect="1"/>
          </p:cNvGraphicFramePr>
          <p:nvPr/>
        </p:nvGraphicFramePr>
        <p:xfrm>
          <a:off x="2276475" y="1698625"/>
          <a:ext cx="4300538" cy="519113"/>
        </p:xfrm>
        <a:graphic>
          <a:graphicData uri="http://schemas.openxmlformats.org/presentationml/2006/ole">
            <p:oleObj spid="_x0000_s62477" name="Equation" r:id="rId3" imgW="2603500" imgH="419100" progId="Equation.DSMT4">
              <p:embed/>
            </p:oleObj>
          </a:graphicData>
        </a:graphic>
      </p:graphicFrame>
      <p:sp>
        <p:nvSpPr>
          <p:cNvPr id="68616" name="Rectangle 8"/>
          <p:cNvSpPr>
            <a:spLocks noChangeArrowheads="1"/>
          </p:cNvSpPr>
          <p:nvPr/>
        </p:nvSpPr>
        <p:spPr bwMode="auto">
          <a:xfrm>
            <a:off x="1042988" y="1766888"/>
            <a:ext cx="796925" cy="4619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b="1">
                <a:solidFill>
                  <a:srgbClr val="FF0000"/>
                </a:solidFill>
                <a:ea typeface="华文中宋" pitchFamily="2" charset="-122"/>
              </a:rPr>
              <a:t>解：</a:t>
            </a:r>
          </a:p>
        </p:txBody>
      </p:sp>
      <p:graphicFrame>
        <p:nvGraphicFramePr>
          <p:cNvPr id="68617" name="Object 9"/>
          <p:cNvGraphicFramePr>
            <a:graphicFrameLocks noChangeAspect="1"/>
          </p:cNvGraphicFramePr>
          <p:nvPr/>
        </p:nvGraphicFramePr>
        <p:xfrm>
          <a:off x="2220913" y="2560638"/>
          <a:ext cx="3935412" cy="704850"/>
        </p:xfrm>
        <a:graphic>
          <a:graphicData uri="http://schemas.openxmlformats.org/presentationml/2006/ole">
            <p:oleObj spid="_x0000_s62478" name="Equation" r:id="rId4" imgW="2133600" imgH="469900"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3" presetClass="entr" presetSubtype="16" fill="hold" grpId="0" nodeType="clickEffect">
                                  <p:stCondLst>
                                    <p:cond delay="0"/>
                                  </p:stCondLst>
                                  <p:childTnLst>
                                    <p:set>
                                      <p:cBhvr>
                                        <p:cTn id="6" dur="1" fill="hold">
                                          <p:stCondLst>
                                            <p:cond delay="0"/>
                                          </p:stCondLst>
                                        </p:cTn>
                                        <p:tgtEl>
                                          <p:spTgt spid="68612"/>
                                        </p:tgtEl>
                                        <p:attrNameLst>
                                          <p:attrName>style.visibility</p:attrName>
                                        </p:attrNameLst>
                                      </p:cBhvr>
                                      <p:to>
                                        <p:strVal val="visible"/>
                                      </p:to>
                                    </p:set>
                                    <p:anim calcmode="lin" valueType="num">
                                      <p:cBhvr>
                                        <p:cTn id="7" dur="500" fill="hold"/>
                                        <p:tgtEl>
                                          <p:spTgt spid="68612"/>
                                        </p:tgtEl>
                                        <p:attrNameLst>
                                          <p:attrName>ppt_w</p:attrName>
                                        </p:attrNameLst>
                                      </p:cBhvr>
                                      <p:tavLst>
                                        <p:tav tm="0">
                                          <p:val>
                                            <p:fltVal val="0"/>
                                          </p:val>
                                        </p:tav>
                                        <p:tav tm="100000">
                                          <p:val>
                                            <p:strVal val="#ppt_w"/>
                                          </p:val>
                                        </p:tav>
                                      </p:tavLst>
                                    </p:anim>
                                    <p:anim calcmode="lin" valueType="num">
                                      <p:cBhvr>
                                        <p:cTn id="8" dur="500" fill="hold"/>
                                        <p:tgtEl>
                                          <p:spTgt spid="68612"/>
                                        </p:tgtEl>
                                        <p:attrNameLst>
                                          <p:attrName>ppt_h</p:attrName>
                                        </p:attrNameLst>
                                      </p:cBhvr>
                                      <p:tavLst>
                                        <p:tav tm="0">
                                          <p:val>
                                            <p:fltVal val="0"/>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68615"/>
                                        </p:tgtEl>
                                        <p:attrNameLst>
                                          <p:attrName>style.visibility</p:attrName>
                                        </p:attrNameLst>
                                      </p:cBhvr>
                                      <p:to>
                                        <p:strVal val="visible"/>
                                      </p:to>
                                    </p:set>
                                    <p:animEffect transition="in" filter="blinds(horizontal)">
                                      <p:cBhvr>
                                        <p:cTn id="13" dur="500"/>
                                        <p:tgtEl>
                                          <p:spTgt spid="68615"/>
                                        </p:tgtEl>
                                      </p:cBhvr>
                                    </p:animEffect>
                                  </p:childTnLst>
                                </p:cTn>
                              </p:par>
                              <p:par>
                                <p:cTn id="14" presetID="3" presetClass="entr" presetSubtype="10" fill="hold" grpId="0" nodeType="withEffect">
                                  <p:stCondLst>
                                    <p:cond delay="0"/>
                                  </p:stCondLst>
                                  <p:childTnLst>
                                    <p:set>
                                      <p:cBhvr>
                                        <p:cTn id="15" dur="1" fill="hold">
                                          <p:stCondLst>
                                            <p:cond delay="0"/>
                                          </p:stCondLst>
                                        </p:cTn>
                                        <p:tgtEl>
                                          <p:spTgt spid="68616"/>
                                        </p:tgtEl>
                                        <p:attrNameLst>
                                          <p:attrName>style.visibility</p:attrName>
                                        </p:attrNameLst>
                                      </p:cBhvr>
                                      <p:to>
                                        <p:strVal val="visible"/>
                                      </p:to>
                                    </p:set>
                                    <p:animEffect transition="in" filter="blinds(horizontal)">
                                      <p:cBhvr>
                                        <p:cTn id="16" dur="500"/>
                                        <p:tgtEl>
                                          <p:spTgt spid="68616"/>
                                        </p:tgtEl>
                                      </p:cBhvr>
                                    </p:animEffect>
                                  </p:childTnLst>
                                </p:cTn>
                              </p:par>
                            </p:childTnLst>
                          </p:cTn>
                        </p:par>
                      </p:childTnLst>
                    </p:cTn>
                  </p:par>
                  <p:par>
                    <p:cTn id="17" fill="hold" nodeType="clickPar">
                      <p:stCondLst>
                        <p:cond delay="indefinite"/>
                      </p:stCondLst>
                      <p:childTnLst>
                        <p:par>
                          <p:cTn id="18" fill="hold" nodeType="withGroup">
                            <p:stCondLst>
                              <p:cond delay="0"/>
                            </p:stCondLst>
                            <p:childTnLst>
                              <p:par>
                                <p:cTn id="19" presetID="3" presetClass="entr" presetSubtype="10" fill="hold" nodeType="clickEffect">
                                  <p:stCondLst>
                                    <p:cond delay="0"/>
                                  </p:stCondLst>
                                  <p:childTnLst>
                                    <p:set>
                                      <p:cBhvr>
                                        <p:cTn id="20" dur="1" fill="hold">
                                          <p:stCondLst>
                                            <p:cond delay="0"/>
                                          </p:stCondLst>
                                        </p:cTn>
                                        <p:tgtEl>
                                          <p:spTgt spid="68617"/>
                                        </p:tgtEl>
                                        <p:attrNameLst>
                                          <p:attrName>style.visibility</p:attrName>
                                        </p:attrNameLst>
                                      </p:cBhvr>
                                      <p:to>
                                        <p:strVal val="visible"/>
                                      </p:to>
                                    </p:set>
                                    <p:animEffect transition="in" filter="blinds(horizontal)">
                                      <p:cBhvr>
                                        <p:cTn id="21" dur="500"/>
                                        <p:tgtEl>
                                          <p:spTgt spid="68617"/>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23" presetClass="entr" presetSubtype="16" fill="hold" grpId="0" nodeType="clickEffect">
                                  <p:stCondLst>
                                    <p:cond delay="0"/>
                                  </p:stCondLst>
                                  <p:childTnLst>
                                    <p:set>
                                      <p:cBhvr>
                                        <p:cTn id="25" dur="1" fill="hold">
                                          <p:stCondLst>
                                            <p:cond delay="0"/>
                                          </p:stCondLst>
                                        </p:cTn>
                                        <p:tgtEl>
                                          <p:spTgt spid="68611"/>
                                        </p:tgtEl>
                                        <p:attrNameLst>
                                          <p:attrName>style.visibility</p:attrName>
                                        </p:attrNameLst>
                                      </p:cBhvr>
                                      <p:to>
                                        <p:strVal val="visible"/>
                                      </p:to>
                                    </p:set>
                                    <p:anim calcmode="lin" valueType="num">
                                      <p:cBhvr>
                                        <p:cTn id="26" dur="500" fill="hold"/>
                                        <p:tgtEl>
                                          <p:spTgt spid="68611"/>
                                        </p:tgtEl>
                                        <p:attrNameLst>
                                          <p:attrName>ppt_w</p:attrName>
                                        </p:attrNameLst>
                                      </p:cBhvr>
                                      <p:tavLst>
                                        <p:tav tm="0">
                                          <p:val>
                                            <p:fltVal val="0"/>
                                          </p:val>
                                        </p:tav>
                                        <p:tav tm="100000">
                                          <p:val>
                                            <p:strVal val="#ppt_w"/>
                                          </p:val>
                                        </p:tav>
                                      </p:tavLst>
                                    </p:anim>
                                    <p:anim calcmode="lin" valueType="num">
                                      <p:cBhvr>
                                        <p:cTn id="27" dur="500" fill="hold"/>
                                        <p:tgtEl>
                                          <p:spTgt spid="68611"/>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8611" grpId="0" autoUpdateAnimBg="0"/>
      <p:bldP spid="68612" grpId="0" autoUpdateAnimBg="0"/>
      <p:bldP spid="68616" grpId="0"/>
    </p:bldLst>
  </p:timing>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2707" name="Text Box 3"/>
          <p:cNvSpPr txBox="1">
            <a:spLocks noChangeArrowheads="1"/>
          </p:cNvSpPr>
          <p:nvPr/>
        </p:nvSpPr>
        <p:spPr bwMode="auto">
          <a:xfrm>
            <a:off x="395288" y="906463"/>
            <a:ext cx="2114550"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FF0000"/>
                </a:solidFill>
                <a:latin typeface="华文中宋" pitchFamily="2" charset="-122"/>
                <a:ea typeface="华文中宋" pitchFamily="2" charset="-122"/>
              </a:rPr>
              <a:t>问题的提出</a:t>
            </a:r>
          </a:p>
        </p:txBody>
      </p:sp>
      <p:sp>
        <p:nvSpPr>
          <p:cNvPr id="72708" name="Text Box 4"/>
          <p:cNvSpPr txBox="1">
            <a:spLocks noChangeArrowheads="1"/>
          </p:cNvSpPr>
          <p:nvPr/>
        </p:nvSpPr>
        <p:spPr bwMode="auto">
          <a:xfrm>
            <a:off x="468313" y="1924050"/>
            <a:ext cx="820737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为什么食堂炸油饼时，我们在这里上课并不能马上闻到油香味呢？</a:t>
            </a:r>
          </a:p>
        </p:txBody>
      </p:sp>
      <p:sp>
        <p:nvSpPr>
          <p:cNvPr id="72709" name="Text Box 5"/>
          <p:cNvSpPr txBox="1">
            <a:spLocks noChangeArrowheads="1"/>
          </p:cNvSpPr>
          <p:nvPr/>
        </p:nvSpPr>
        <p:spPr bwMode="auto">
          <a:xfrm>
            <a:off x="684213" y="2625725"/>
            <a:ext cx="4679950" cy="646113"/>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原来分子速率虽高，但分子在运动中还要和大量的分子碰撞。</a:t>
            </a:r>
          </a:p>
        </p:txBody>
      </p:sp>
      <p:graphicFrame>
        <p:nvGraphicFramePr>
          <p:cNvPr id="72751" name="Object 47"/>
          <p:cNvGraphicFramePr>
            <a:graphicFrameLocks noChangeAspect="1"/>
          </p:cNvGraphicFramePr>
          <p:nvPr/>
        </p:nvGraphicFramePr>
        <p:xfrm>
          <a:off x="2124075" y="1165225"/>
          <a:ext cx="1749425" cy="758825"/>
        </p:xfrm>
        <a:graphic>
          <a:graphicData uri="http://schemas.openxmlformats.org/presentationml/2006/ole">
            <p:oleObj spid="_x0000_s63506" name="Equation" r:id="rId3" imgW="990170" imgH="482391" progId="Equation.DSMT4">
              <p:embed/>
            </p:oleObj>
          </a:graphicData>
        </a:graphic>
      </p:graphicFrame>
      <p:sp>
        <p:nvSpPr>
          <p:cNvPr id="72752" name="Line 48"/>
          <p:cNvSpPr>
            <a:spLocks noChangeShapeType="1"/>
          </p:cNvSpPr>
          <p:nvPr/>
        </p:nvSpPr>
        <p:spPr bwMode="auto">
          <a:xfrm>
            <a:off x="3995738" y="1544638"/>
            <a:ext cx="865187" cy="0"/>
          </a:xfrm>
          <a:prstGeom prst="line">
            <a:avLst/>
          </a:prstGeom>
          <a:noFill/>
          <a:ln w="25400">
            <a:solidFill>
              <a:schemeClr val="tx1"/>
            </a:solidFill>
            <a:round/>
            <a:headEnd/>
            <a:tailEnd type="stealth" w="lg" len="lg"/>
          </a:ln>
          <a:extLst>
            <a:ext uri="{909E8E84-426E-40DD-AFC4-6F175D3DCCD1}">
              <a14:hiddenFill xmlns:a14="http://schemas.microsoft.com/office/drawing/2010/main" xmlns="">
                <a:noFill/>
              </a14:hiddenFill>
            </a:ext>
          </a:extLst>
        </p:spPr>
        <p:txBody>
          <a:bodyPr>
            <a:spAutoFit/>
          </a:bodyPr>
          <a:lstStyle/>
          <a:p>
            <a:endParaRPr lang="zh-CN" altLang="en-US"/>
          </a:p>
        </p:txBody>
      </p:sp>
      <p:sp>
        <p:nvSpPr>
          <p:cNvPr id="72753" name="Rectangle 49"/>
          <p:cNvSpPr>
            <a:spLocks noChangeArrowheads="1"/>
          </p:cNvSpPr>
          <p:nvPr/>
        </p:nvSpPr>
        <p:spPr bwMode="auto">
          <a:xfrm>
            <a:off x="4932363" y="1368425"/>
            <a:ext cx="3095625"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latin typeface="华文中宋" pitchFamily="2" charset="-122"/>
                <a:ea typeface="华文中宋" pitchFamily="2" charset="-122"/>
              </a:rPr>
              <a:t>数量级：几百米</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秒</a:t>
            </a:r>
          </a:p>
        </p:txBody>
      </p:sp>
      <p:pic>
        <p:nvPicPr>
          <p:cNvPr id="72754" name="Picture 5" descr="http://upload.wikimedia.org/wikipedia/commons/6/6d/Translational_motion.gif">
            <a:hlinkClick r:id="rId4"/>
          </p:cNvPr>
          <p:cNvPicPr>
            <a:picLocks noChangeAspect="1" noChangeArrowheads="1" noCrop="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5818188" y="2571750"/>
            <a:ext cx="2857500" cy="1878013"/>
          </a:xfrm>
          <a:prstGeom prst="rect">
            <a:avLst/>
          </a:prstGeom>
          <a:noFill/>
          <a:ln w="9525">
            <a:solidFill>
              <a:srgbClr val="FF00FF"/>
            </a:solidFill>
            <a:miter lim="800000"/>
            <a:headEnd/>
            <a:tailEnd/>
          </a:ln>
          <a:extLst>
            <a:ext uri="{909E8E84-426E-40DD-AFC4-6F175D3DCCD1}">
              <a14:hiddenFill xmlns:a14="http://schemas.microsoft.com/office/drawing/2010/main" xmlns="">
                <a:solidFill>
                  <a:srgbClr val="FFFFFF"/>
                </a:solidFill>
              </a14:hiddenFill>
            </a:ext>
          </a:extLst>
        </p:spPr>
      </p:pic>
      <p:sp>
        <p:nvSpPr>
          <p:cNvPr id="16" name="Text Box 3"/>
          <p:cNvSpPr txBox="1">
            <a:spLocks noChangeArrowheads="1"/>
          </p:cNvSpPr>
          <p:nvPr/>
        </p:nvSpPr>
        <p:spPr bwMode="auto">
          <a:xfrm>
            <a:off x="684213" y="3543300"/>
            <a:ext cx="367188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latin typeface="华文中宋" pitchFamily="2" charset="-122"/>
                <a:ea typeface="华文中宋" pitchFamily="2" charset="-122"/>
              </a:rPr>
              <a:t>碰撞在气体动理论中具有重要意义</a:t>
            </a:r>
          </a:p>
        </p:txBody>
      </p:sp>
      <p:sp>
        <p:nvSpPr>
          <p:cNvPr id="17" name="Text Box 4"/>
          <p:cNvSpPr txBox="1">
            <a:spLocks noChangeArrowheads="1"/>
          </p:cNvSpPr>
          <p:nvPr/>
        </p:nvSpPr>
        <p:spPr bwMode="auto">
          <a:xfrm>
            <a:off x="1993900" y="4124325"/>
            <a:ext cx="1344613" cy="376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latin typeface="华文中宋" pitchFamily="2" charset="-122"/>
                <a:ea typeface="华文中宋" pitchFamily="2" charset="-122"/>
              </a:rPr>
              <a:t>非平衡</a:t>
            </a:r>
          </a:p>
        </p:txBody>
      </p:sp>
      <p:grpSp>
        <p:nvGrpSpPr>
          <p:cNvPr id="2" name="Group 5"/>
          <p:cNvGrpSpPr>
            <a:grpSpLocks/>
          </p:cNvGrpSpPr>
          <p:nvPr/>
        </p:nvGrpSpPr>
        <p:grpSpPr bwMode="auto">
          <a:xfrm>
            <a:off x="2833688" y="3976688"/>
            <a:ext cx="1127125" cy="354012"/>
            <a:chOff x="2352" y="1082"/>
            <a:chExt cx="528" cy="298"/>
          </a:xfrm>
        </p:grpSpPr>
        <p:sp>
          <p:nvSpPr>
            <p:cNvPr id="63501" name="Line 6"/>
            <p:cNvSpPr>
              <a:spLocks noChangeShapeType="1"/>
            </p:cNvSpPr>
            <p:nvPr/>
          </p:nvSpPr>
          <p:spPr bwMode="auto">
            <a:xfrm>
              <a:off x="2352" y="1380"/>
              <a:ext cx="528" cy="0"/>
            </a:xfrm>
            <a:prstGeom prst="line">
              <a:avLst/>
            </a:prstGeom>
            <a:noFill/>
            <a:ln w="57150">
              <a:solidFill>
                <a:srgbClr val="FF3300"/>
              </a:solidFill>
              <a:round/>
              <a:headEnd/>
              <a:tailEnd type="stealth" w="med" len="lg"/>
            </a:ln>
            <a:extLst>
              <a:ext uri="{909E8E84-426E-40DD-AFC4-6F175D3DCCD1}">
                <a14:hiddenFill xmlns:a14="http://schemas.microsoft.com/office/drawing/2010/main" xmlns="">
                  <a:noFill/>
                </a14:hiddenFill>
              </a:ext>
            </a:extLst>
          </p:spPr>
          <p:txBody>
            <a:bodyPr anchor="ctr">
              <a:spAutoFit/>
            </a:bodyPr>
            <a:lstStyle/>
            <a:p>
              <a:endParaRPr lang="zh-CN" altLang="en-US"/>
            </a:p>
          </p:txBody>
        </p:sp>
        <p:sp>
          <p:nvSpPr>
            <p:cNvPr id="63502" name="Rectangle 7"/>
            <p:cNvSpPr>
              <a:spLocks noChangeArrowheads="1"/>
            </p:cNvSpPr>
            <p:nvPr/>
          </p:nvSpPr>
          <p:spPr bwMode="auto">
            <a:xfrm>
              <a:off x="2356" y="1082"/>
              <a:ext cx="502" cy="27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zh-CN" altLang="en-US" sz="1500" b="1">
                  <a:solidFill>
                    <a:srgbClr val="0000FF"/>
                  </a:solidFill>
                  <a:latin typeface="华文中宋" pitchFamily="2" charset="-122"/>
                  <a:ea typeface="华文中宋" pitchFamily="2" charset="-122"/>
                </a:rPr>
                <a:t>碰撞</a:t>
              </a:r>
            </a:p>
          </p:txBody>
        </p:sp>
      </p:grpSp>
      <p:sp>
        <p:nvSpPr>
          <p:cNvPr id="21" name="Rectangle 8"/>
          <p:cNvSpPr>
            <a:spLocks noChangeArrowheads="1"/>
          </p:cNvSpPr>
          <p:nvPr/>
        </p:nvSpPr>
        <p:spPr bwMode="auto">
          <a:xfrm>
            <a:off x="3770313" y="4140200"/>
            <a:ext cx="946150" cy="376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lnSpc>
                <a:spcPct val="110000"/>
              </a:lnSpc>
            </a:pPr>
            <a:r>
              <a:rPr lang="zh-CN" altLang="en-US" sz="1800" b="1">
                <a:latin typeface="华文中宋" pitchFamily="2" charset="-122"/>
                <a:ea typeface="华文中宋" pitchFamily="2" charset="-122"/>
              </a:rPr>
              <a:t>平衡</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 presetClass="entr" presetSubtype="0" fill="hold" grpId="0" nodeType="clickEffect">
                                  <p:stCondLst>
                                    <p:cond delay="0"/>
                                  </p:stCondLst>
                                  <p:childTnLst>
                                    <p:set>
                                      <p:cBhvr>
                                        <p:cTn id="6" dur="1" fill="hold">
                                          <p:stCondLst>
                                            <p:cond delay="499"/>
                                          </p:stCondLst>
                                        </p:cTn>
                                        <p:tgtEl>
                                          <p:spTgt spid="72707"/>
                                        </p:tgtEl>
                                        <p:attrNameLst>
                                          <p:attrName>style.visibility</p:attrName>
                                        </p:attrNameLst>
                                      </p:cBhvr>
                                      <p:to>
                                        <p:strVal val="visible"/>
                                      </p:to>
                                    </p:set>
                                  </p:childTnLst>
                                </p:cTn>
                              </p:par>
                            </p:childTnLst>
                          </p:cTn>
                        </p:par>
                      </p:childTnLst>
                    </p:cTn>
                  </p:par>
                  <p:par>
                    <p:cTn id="7" fill="hold" nodeType="clickPar">
                      <p:stCondLst>
                        <p:cond delay="indefinite"/>
                      </p:stCondLst>
                      <p:childTnLst>
                        <p:par>
                          <p:cTn id="8" fill="hold" nodeType="withGroup">
                            <p:stCondLst>
                              <p:cond delay="0"/>
                            </p:stCondLst>
                            <p:childTnLst>
                              <p:par>
                                <p:cTn id="9" presetID="23" presetClass="entr" presetSubtype="16" fill="hold" nodeType="clickEffect">
                                  <p:stCondLst>
                                    <p:cond delay="0"/>
                                  </p:stCondLst>
                                  <p:childTnLst>
                                    <p:set>
                                      <p:cBhvr>
                                        <p:cTn id="10" dur="1" fill="hold">
                                          <p:stCondLst>
                                            <p:cond delay="0"/>
                                          </p:stCondLst>
                                        </p:cTn>
                                        <p:tgtEl>
                                          <p:spTgt spid="72751"/>
                                        </p:tgtEl>
                                        <p:attrNameLst>
                                          <p:attrName>style.visibility</p:attrName>
                                        </p:attrNameLst>
                                      </p:cBhvr>
                                      <p:to>
                                        <p:strVal val="visible"/>
                                      </p:to>
                                    </p:set>
                                    <p:anim calcmode="lin" valueType="num">
                                      <p:cBhvr>
                                        <p:cTn id="11" dur="500" fill="hold"/>
                                        <p:tgtEl>
                                          <p:spTgt spid="72751"/>
                                        </p:tgtEl>
                                        <p:attrNameLst>
                                          <p:attrName>ppt_w</p:attrName>
                                        </p:attrNameLst>
                                      </p:cBhvr>
                                      <p:tavLst>
                                        <p:tav tm="0">
                                          <p:val>
                                            <p:fltVal val="0"/>
                                          </p:val>
                                        </p:tav>
                                        <p:tav tm="100000">
                                          <p:val>
                                            <p:strVal val="#ppt_w"/>
                                          </p:val>
                                        </p:tav>
                                      </p:tavLst>
                                    </p:anim>
                                    <p:anim calcmode="lin" valueType="num">
                                      <p:cBhvr>
                                        <p:cTn id="12" dur="500" fill="hold"/>
                                        <p:tgtEl>
                                          <p:spTgt spid="72751"/>
                                        </p:tgtEl>
                                        <p:attrNameLst>
                                          <p:attrName>ppt_h</p:attrName>
                                        </p:attrNameLst>
                                      </p:cBhvr>
                                      <p:tavLst>
                                        <p:tav tm="0">
                                          <p:val>
                                            <p:fltVal val="0"/>
                                          </p:val>
                                        </p:tav>
                                        <p:tav tm="100000">
                                          <p:val>
                                            <p:strVal val="#ppt_h"/>
                                          </p:val>
                                        </p:tav>
                                      </p:tavLst>
                                    </p:anim>
                                  </p:childTnLst>
                                </p:cTn>
                              </p:par>
                            </p:childTnLst>
                          </p:cTn>
                        </p:par>
                      </p:childTnLst>
                    </p:cTn>
                  </p:par>
                  <p:par>
                    <p:cTn id="13" fill="hold" nodeType="clickPar">
                      <p:stCondLst>
                        <p:cond delay="indefinite"/>
                      </p:stCondLst>
                      <p:childTnLst>
                        <p:par>
                          <p:cTn id="14" fill="hold" nodeType="withGroup">
                            <p:stCondLst>
                              <p:cond delay="0"/>
                            </p:stCondLst>
                            <p:childTnLst>
                              <p:par>
                                <p:cTn id="15" presetID="3" presetClass="entr" presetSubtype="10" fill="hold" grpId="0" nodeType="clickEffect">
                                  <p:stCondLst>
                                    <p:cond delay="0"/>
                                  </p:stCondLst>
                                  <p:childTnLst>
                                    <p:set>
                                      <p:cBhvr>
                                        <p:cTn id="16" dur="1" fill="hold">
                                          <p:stCondLst>
                                            <p:cond delay="0"/>
                                          </p:stCondLst>
                                        </p:cTn>
                                        <p:tgtEl>
                                          <p:spTgt spid="72753"/>
                                        </p:tgtEl>
                                        <p:attrNameLst>
                                          <p:attrName>style.visibility</p:attrName>
                                        </p:attrNameLst>
                                      </p:cBhvr>
                                      <p:to>
                                        <p:strVal val="visible"/>
                                      </p:to>
                                    </p:set>
                                    <p:animEffect transition="in" filter="blinds(horizontal)">
                                      <p:cBhvr>
                                        <p:cTn id="17" dur="500"/>
                                        <p:tgtEl>
                                          <p:spTgt spid="72753"/>
                                        </p:tgtEl>
                                      </p:cBhvr>
                                    </p:animEffect>
                                  </p:childTnLst>
                                </p:cTn>
                              </p:par>
                              <p:par>
                                <p:cTn id="18" presetID="3" presetClass="entr" presetSubtype="10" fill="hold" grpId="0" nodeType="withEffect">
                                  <p:stCondLst>
                                    <p:cond delay="0"/>
                                  </p:stCondLst>
                                  <p:childTnLst>
                                    <p:set>
                                      <p:cBhvr>
                                        <p:cTn id="19" dur="1" fill="hold">
                                          <p:stCondLst>
                                            <p:cond delay="0"/>
                                          </p:stCondLst>
                                        </p:cTn>
                                        <p:tgtEl>
                                          <p:spTgt spid="72752"/>
                                        </p:tgtEl>
                                        <p:attrNameLst>
                                          <p:attrName>style.visibility</p:attrName>
                                        </p:attrNameLst>
                                      </p:cBhvr>
                                      <p:to>
                                        <p:strVal val="visible"/>
                                      </p:to>
                                    </p:set>
                                    <p:animEffect transition="in" filter="blinds(horizontal)">
                                      <p:cBhvr>
                                        <p:cTn id="20" dur="500"/>
                                        <p:tgtEl>
                                          <p:spTgt spid="72752"/>
                                        </p:tgtEl>
                                      </p:cBhvr>
                                    </p:animEffect>
                                  </p:childTnLst>
                                </p:cTn>
                              </p:par>
                            </p:childTnLst>
                          </p:cTn>
                        </p:par>
                      </p:childTnLst>
                    </p:cTn>
                  </p:par>
                  <p:par>
                    <p:cTn id="21" fill="hold" nodeType="clickPar">
                      <p:stCondLst>
                        <p:cond delay="indefinite"/>
                      </p:stCondLst>
                      <p:childTnLst>
                        <p:par>
                          <p:cTn id="22" fill="hold" nodeType="withGroup">
                            <p:stCondLst>
                              <p:cond delay="0"/>
                            </p:stCondLst>
                            <p:childTnLst>
                              <p:par>
                                <p:cTn id="23" presetID="1" presetClass="entr" presetSubtype="0" fill="hold" grpId="0" nodeType="clickEffect">
                                  <p:stCondLst>
                                    <p:cond delay="0"/>
                                  </p:stCondLst>
                                  <p:childTnLst>
                                    <p:set>
                                      <p:cBhvr>
                                        <p:cTn id="24" dur="1" fill="hold">
                                          <p:stCondLst>
                                            <p:cond delay="499"/>
                                          </p:stCondLst>
                                        </p:cTn>
                                        <p:tgtEl>
                                          <p:spTgt spid="72708"/>
                                        </p:tgtEl>
                                        <p:attrNameLst>
                                          <p:attrName>style.visibility</p:attrName>
                                        </p:attrNameLst>
                                      </p:cBhvr>
                                      <p:to>
                                        <p:strVal val="visible"/>
                                      </p:to>
                                    </p:set>
                                  </p:childTnLst>
                                </p:cTn>
                              </p:par>
                            </p:childTnLst>
                          </p:cTn>
                        </p:par>
                      </p:childTnLst>
                    </p:cTn>
                  </p:par>
                  <p:par>
                    <p:cTn id="25" fill="hold" nodeType="clickPar">
                      <p:stCondLst>
                        <p:cond delay="indefinite"/>
                      </p:stCondLst>
                      <p:childTnLst>
                        <p:par>
                          <p:cTn id="26" fill="hold" nodeType="withGroup">
                            <p:stCondLst>
                              <p:cond delay="0"/>
                            </p:stCondLst>
                            <p:childTnLst>
                              <p:par>
                                <p:cTn id="27" presetID="1" presetClass="entr" presetSubtype="0" fill="hold" grpId="0" nodeType="clickEffect">
                                  <p:stCondLst>
                                    <p:cond delay="0"/>
                                  </p:stCondLst>
                                  <p:childTnLst>
                                    <p:set>
                                      <p:cBhvr>
                                        <p:cTn id="28" dur="1" fill="hold">
                                          <p:stCondLst>
                                            <p:cond delay="499"/>
                                          </p:stCondLst>
                                        </p:cTn>
                                        <p:tgtEl>
                                          <p:spTgt spid="72709"/>
                                        </p:tgtEl>
                                        <p:attrNameLst>
                                          <p:attrName>style.visibility</p:attrName>
                                        </p:attrNameLst>
                                      </p:cBhvr>
                                      <p:to>
                                        <p:strVal val="visible"/>
                                      </p:to>
                                    </p:set>
                                  </p:childTnLst>
                                </p:cTn>
                              </p:par>
                            </p:childTnLst>
                          </p:cTn>
                        </p:par>
                      </p:childTnLst>
                    </p:cTn>
                  </p:par>
                  <p:par>
                    <p:cTn id="29" fill="hold" nodeType="clickPar">
                      <p:stCondLst>
                        <p:cond delay="indefinite"/>
                      </p:stCondLst>
                      <p:childTnLst>
                        <p:par>
                          <p:cTn id="30" fill="hold" nodeType="withGroup">
                            <p:stCondLst>
                              <p:cond delay="0"/>
                            </p:stCondLst>
                            <p:childTnLst>
                              <p:par>
                                <p:cTn id="31" presetID="3" presetClass="entr" presetSubtype="10" fill="hold" nodeType="clickEffect">
                                  <p:stCondLst>
                                    <p:cond delay="0"/>
                                  </p:stCondLst>
                                  <p:childTnLst>
                                    <p:set>
                                      <p:cBhvr>
                                        <p:cTn id="32" dur="1" fill="hold">
                                          <p:stCondLst>
                                            <p:cond delay="0"/>
                                          </p:stCondLst>
                                        </p:cTn>
                                        <p:tgtEl>
                                          <p:spTgt spid="72754"/>
                                        </p:tgtEl>
                                        <p:attrNameLst>
                                          <p:attrName>style.visibility</p:attrName>
                                        </p:attrNameLst>
                                      </p:cBhvr>
                                      <p:to>
                                        <p:strVal val="visible"/>
                                      </p:to>
                                    </p:set>
                                    <p:animEffect transition="in" filter="blinds(horizontal)">
                                      <p:cBhvr>
                                        <p:cTn id="33" dur="500"/>
                                        <p:tgtEl>
                                          <p:spTgt spid="72754"/>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6"/>
                                        </p:tgtEl>
                                        <p:attrNameLst>
                                          <p:attrName>style.visibility</p:attrName>
                                        </p:attrNameLst>
                                      </p:cBhvr>
                                      <p:to>
                                        <p:strVal val="visible"/>
                                      </p:to>
                                    </p:set>
                                    <p:animEffect transition="in" filter="wipe(left)">
                                      <p:cBhvr>
                                        <p:cTn id="38" dur="500"/>
                                        <p:tgtEl>
                                          <p:spTgt spid="16"/>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7"/>
                                        </p:tgtEl>
                                        <p:attrNameLst>
                                          <p:attrName>style.visibility</p:attrName>
                                        </p:attrNameLst>
                                      </p:cBhvr>
                                      <p:to>
                                        <p:strVal val="visible"/>
                                      </p:to>
                                    </p:set>
                                    <p:animEffect transition="in" filter="wipe(left)">
                                      <p:cBhvr>
                                        <p:cTn id="43" dur="500"/>
                                        <p:tgtEl>
                                          <p:spTgt spid="17"/>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2"/>
                                        </p:tgtEl>
                                        <p:attrNameLst>
                                          <p:attrName>style.visibility</p:attrName>
                                        </p:attrNameLst>
                                      </p:cBhvr>
                                      <p:to>
                                        <p:strVal val="visible"/>
                                      </p:to>
                                    </p:set>
                                    <p:animEffect transition="in" filter="wipe(left)">
                                      <p:cBhvr>
                                        <p:cTn id="48" dur="500"/>
                                        <p:tgtEl>
                                          <p:spTgt spid="2"/>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22" presetClass="entr" presetSubtype="8" fill="hold" grpId="0" nodeType="clickEffect">
                                  <p:stCondLst>
                                    <p:cond delay="0"/>
                                  </p:stCondLst>
                                  <p:childTnLst>
                                    <p:set>
                                      <p:cBhvr>
                                        <p:cTn id="52" dur="1" fill="hold">
                                          <p:stCondLst>
                                            <p:cond delay="0"/>
                                          </p:stCondLst>
                                        </p:cTn>
                                        <p:tgtEl>
                                          <p:spTgt spid="21"/>
                                        </p:tgtEl>
                                        <p:attrNameLst>
                                          <p:attrName>style.visibility</p:attrName>
                                        </p:attrNameLst>
                                      </p:cBhvr>
                                      <p:to>
                                        <p:strVal val="visible"/>
                                      </p:to>
                                    </p:set>
                                    <p:animEffect transition="in" filter="wipe(left)">
                                      <p:cBhvr>
                                        <p:cTn id="53" dur="500"/>
                                        <p:tgtEl>
                                          <p:spTgt spid="2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2707" grpId="0" autoUpdateAnimBg="0"/>
      <p:bldP spid="72708" grpId="0" autoUpdateAnimBg="0"/>
      <p:bldP spid="72709" grpId="0" autoUpdateAnimBg="0"/>
      <p:bldP spid="72752" grpId="0" animBg="1"/>
      <p:bldP spid="72753" grpId="0"/>
      <p:bldP spid="16" grpId="0"/>
      <p:bldP spid="17" grpId="0"/>
      <p:bldP spid="21" grpId="0"/>
    </p:bldLst>
  </p:timing>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Text Box 13"/>
          <p:cNvSpPr txBox="1">
            <a:spLocks noChangeArrowheads="1"/>
          </p:cNvSpPr>
          <p:nvPr/>
        </p:nvSpPr>
        <p:spPr bwMode="auto">
          <a:xfrm>
            <a:off x="406400" y="1331913"/>
            <a:ext cx="7981950" cy="376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en-US" altLang="zh-CN" sz="1800" b="1">
                <a:solidFill>
                  <a:srgbClr val="FF0000"/>
                </a:solidFill>
                <a:ea typeface="华文中宋" pitchFamily="2" charset="-122"/>
              </a:rPr>
              <a:t>    </a:t>
            </a:r>
            <a:r>
              <a:rPr kumimoji="0" lang="zh-CN" altLang="en-US" sz="1800" b="1">
                <a:solidFill>
                  <a:srgbClr val="FF0000"/>
                </a:solidFill>
                <a:ea typeface="华文中宋" pitchFamily="2" charset="-122"/>
              </a:rPr>
              <a:t>一个分子在单位时间内与其它分子碰撞的平均次数。</a:t>
            </a:r>
          </a:p>
        </p:txBody>
      </p:sp>
      <p:sp>
        <p:nvSpPr>
          <p:cNvPr id="3" name="Text Box 9"/>
          <p:cNvSpPr txBox="1">
            <a:spLocks noChangeArrowheads="1"/>
          </p:cNvSpPr>
          <p:nvPr/>
        </p:nvSpPr>
        <p:spPr bwMode="auto">
          <a:xfrm>
            <a:off x="328613" y="1635125"/>
            <a:ext cx="2874962" cy="376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kumimoji="0" lang="en-US" altLang="zh-CN" sz="1800" b="1">
                <a:solidFill>
                  <a:srgbClr val="0000FF"/>
                </a:solidFill>
                <a:ea typeface="华文中宋" pitchFamily="2" charset="-122"/>
              </a:rPr>
              <a:t>1</a:t>
            </a:r>
            <a:r>
              <a:rPr kumimoji="0" lang="zh-CN" altLang="en-US" sz="1800" b="1">
                <a:solidFill>
                  <a:srgbClr val="0000FF"/>
                </a:solidFill>
                <a:ea typeface="华文中宋" pitchFamily="2" charset="-122"/>
              </a:rPr>
              <a:t>、分子</a:t>
            </a:r>
            <a:r>
              <a:rPr lang="zh-CN" altLang="en-US" sz="1800" b="1">
                <a:solidFill>
                  <a:srgbClr val="0000FF"/>
                </a:solidFill>
                <a:ea typeface="华文中宋" pitchFamily="2" charset="-122"/>
              </a:rPr>
              <a:t>碰撞模型</a:t>
            </a:r>
            <a:endParaRPr lang="zh-CN" altLang="en-US" sz="1800" b="1">
              <a:ea typeface="华文中宋" pitchFamily="2" charset="-122"/>
            </a:endParaRPr>
          </a:p>
        </p:txBody>
      </p:sp>
      <p:sp>
        <p:nvSpPr>
          <p:cNvPr id="4" name="Text Box 9"/>
          <p:cNvSpPr txBox="1">
            <a:spLocks noChangeArrowheads="1"/>
          </p:cNvSpPr>
          <p:nvPr/>
        </p:nvSpPr>
        <p:spPr bwMode="auto">
          <a:xfrm>
            <a:off x="774700" y="2014538"/>
            <a:ext cx="5381625"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kumimoji="0" lang="zh-CN" altLang="en-US" sz="1800" b="1">
                <a:ea typeface="华文中宋" pitchFamily="2" charset="-122"/>
              </a:rPr>
              <a:t>（</a:t>
            </a:r>
            <a:r>
              <a:rPr kumimoji="0" lang="en-US" altLang="zh-CN" sz="1800" b="1">
                <a:ea typeface="华文中宋" pitchFamily="2" charset="-122"/>
              </a:rPr>
              <a:t>1</a:t>
            </a:r>
            <a:r>
              <a:rPr kumimoji="0" lang="zh-CN" altLang="en-US" sz="1800" b="1">
                <a:ea typeface="华文中宋" pitchFamily="2" charset="-122"/>
              </a:rPr>
              <a:t>）分子</a:t>
            </a:r>
            <a:r>
              <a:rPr lang="zh-CN" altLang="en-US" sz="1800" b="1">
                <a:ea typeface="华文中宋" pitchFamily="2" charset="-122"/>
              </a:rPr>
              <a:t>是</a:t>
            </a:r>
            <a:r>
              <a:rPr kumimoji="0" lang="zh-CN" altLang="en-US" sz="1800" b="1">
                <a:ea typeface="华文中宋" pitchFamily="2" charset="-122"/>
              </a:rPr>
              <a:t>有效直径为</a:t>
            </a:r>
            <a:r>
              <a:rPr kumimoji="0" lang="en-US" altLang="zh-CN" sz="1800" b="1" i="1">
                <a:ea typeface="华文中宋" pitchFamily="2" charset="-122"/>
              </a:rPr>
              <a:t>d </a:t>
            </a:r>
            <a:r>
              <a:rPr lang="zh-CN" altLang="en-US" sz="1800" b="1">
                <a:ea typeface="华文中宋" pitchFamily="2" charset="-122"/>
              </a:rPr>
              <a:t>的</a:t>
            </a:r>
            <a:r>
              <a:rPr kumimoji="0" lang="zh-CN" altLang="en-US" sz="1800" b="1">
                <a:ea typeface="华文中宋" pitchFamily="2" charset="-122"/>
              </a:rPr>
              <a:t>弹性小球</a:t>
            </a:r>
            <a:r>
              <a:rPr lang="en-US" altLang="zh-CN" sz="1800" b="1">
                <a:ea typeface="华文中宋" pitchFamily="2" charset="-122"/>
              </a:rPr>
              <a:t>, </a:t>
            </a:r>
            <a:r>
              <a:rPr kumimoji="0" lang="en-US" altLang="zh-CN" sz="1800" b="1">
                <a:ea typeface="华文中宋" pitchFamily="2" charset="-122"/>
              </a:rPr>
              <a:t>(</a:t>
            </a:r>
            <a:r>
              <a:rPr kumimoji="0" lang="en-US" altLang="zh-CN" sz="1800" b="1" i="1">
                <a:solidFill>
                  <a:srgbClr val="FF0000"/>
                </a:solidFill>
                <a:ea typeface="华文中宋" pitchFamily="2" charset="-122"/>
              </a:rPr>
              <a:t>d</a:t>
            </a:r>
            <a:r>
              <a:rPr kumimoji="0" lang="zh-CN" altLang="en-US" sz="1800" b="1">
                <a:ea typeface="华文中宋" pitchFamily="2" charset="-122"/>
              </a:rPr>
              <a:t>并非分子自身的线度</a:t>
            </a:r>
            <a:r>
              <a:rPr kumimoji="0" lang="en-US" altLang="zh-CN" sz="1800" b="1">
                <a:ea typeface="华文中宋" pitchFamily="2" charset="-122"/>
              </a:rPr>
              <a:t>)</a:t>
            </a:r>
            <a:endParaRPr lang="en-US" altLang="zh-CN" sz="1800" b="1">
              <a:ea typeface="华文中宋" pitchFamily="2" charset="-122"/>
            </a:endParaRPr>
          </a:p>
        </p:txBody>
      </p:sp>
      <p:sp>
        <p:nvSpPr>
          <p:cNvPr id="2" name="Rectangle 152"/>
          <p:cNvSpPr>
            <a:spLocks noChangeArrowheads="1"/>
          </p:cNvSpPr>
          <p:nvPr/>
        </p:nvSpPr>
        <p:spPr bwMode="auto">
          <a:xfrm>
            <a:off x="757238" y="2687638"/>
            <a:ext cx="4751387" cy="376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0000"/>
              </a:lnSpc>
            </a:pPr>
            <a:r>
              <a:rPr lang="zh-CN" altLang="en-US" sz="1800" b="1">
                <a:ea typeface="华文中宋" pitchFamily="2" charset="-122"/>
              </a:rPr>
              <a:t>（</a:t>
            </a:r>
            <a:r>
              <a:rPr lang="en-US" altLang="zh-CN" sz="1800" b="1">
                <a:ea typeface="华文中宋" pitchFamily="2" charset="-122"/>
              </a:rPr>
              <a:t>2</a:t>
            </a:r>
            <a:r>
              <a:rPr lang="zh-CN" altLang="en-US" sz="1800" b="1">
                <a:ea typeface="华文中宋" pitchFamily="2" charset="-122"/>
              </a:rPr>
              <a:t>）除碰撞外，无相互作用力。</a:t>
            </a:r>
          </a:p>
        </p:txBody>
      </p:sp>
      <p:graphicFrame>
        <p:nvGraphicFramePr>
          <p:cNvPr id="136227" name="Object 35"/>
          <p:cNvGraphicFramePr>
            <a:graphicFrameLocks noChangeAspect="1"/>
          </p:cNvGraphicFramePr>
          <p:nvPr/>
        </p:nvGraphicFramePr>
        <p:xfrm>
          <a:off x="2411413" y="2355850"/>
          <a:ext cx="892175" cy="301625"/>
        </p:xfrm>
        <a:graphic>
          <a:graphicData uri="http://schemas.openxmlformats.org/presentationml/2006/ole">
            <p:oleObj spid="_x0000_s64577" name="Equation" r:id="rId3" imgW="342603" imgH="177646" progId="Equation.DSMT4">
              <p:embed/>
            </p:oleObj>
          </a:graphicData>
        </a:graphic>
      </p:graphicFrame>
      <p:sp>
        <p:nvSpPr>
          <p:cNvPr id="136228" name="Rectangle 36"/>
          <p:cNvSpPr>
            <a:spLocks noChangeArrowheads="1"/>
          </p:cNvSpPr>
          <p:nvPr/>
        </p:nvSpPr>
        <p:spPr bwMode="auto">
          <a:xfrm>
            <a:off x="755650" y="3057525"/>
            <a:ext cx="78486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800" b="1">
                <a:ea typeface="华文中宋" pitchFamily="2" charset="-122"/>
              </a:rPr>
              <a:t>（</a:t>
            </a:r>
            <a:r>
              <a:rPr lang="en-US" altLang="zh-CN" sz="1800" b="1">
                <a:ea typeface="华文中宋" pitchFamily="2" charset="-122"/>
              </a:rPr>
              <a:t>3</a:t>
            </a:r>
            <a:r>
              <a:rPr lang="zh-CN" altLang="en-US" sz="1800" b="1">
                <a:ea typeface="华文中宋" pitchFamily="2" charset="-122"/>
              </a:rPr>
              <a:t>）</a:t>
            </a:r>
            <a:r>
              <a:rPr lang="zh-CN" altLang="en-US" sz="1800" b="1">
                <a:solidFill>
                  <a:srgbClr val="FF3300"/>
                </a:solidFill>
                <a:ea typeface="华文中宋" pitchFamily="2" charset="-122"/>
              </a:rPr>
              <a:t>简化为</a:t>
            </a:r>
            <a:r>
              <a:rPr lang="zh-CN" altLang="en-US" sz="1800" b="1">
                <a:ea typeface="华文中宋" pitchFamily="2" charset="-122"/>
              </a:rPr>
              <a:t>其他分子都静止不动，只有某个分子以平均相对速率运动。</a:t>
            </a:r>
          </a:p>
        </p:txBody>
      </p:sp>
      <p:grpSp>
        <p:nvGrpSpPr>
          <p:cNvPr id="5" name="Group 77"/>
          <p:cNvGrpSpPr>
            <a:grpSpLocks/>
          </p:cNvGrpSpPr>
          <p:nvPr/>
        </p:nvGrpSpPr>
        <p:grpSpPr bwMode="auto">
          <a:xfrm>
            <a:off x="684213" y="3436938"/>
            <a:ext cx="7848600" cy="382587"/>
            <a:chOff x="431" y="2886"/>
            <a:chExt cx="4944" cy="321"/>
          </a:xfrm>
        </p:grpSpPr>
        <p:sp>
          <p:nvSpPr>
            <p:cNvPr id="64551" name="Text Box 155"/>
            <p:cNvSpPr txBox="1">
              <a:spLocks noChangeArrowheads="1"/>
            </p:cNvSpPr>
            <p:nvPr/>
          </p:nvSpPr>
          <p:spPr bwMode="auto">
            <a:xfrm>
              <a:off x="431" y="2886"/>
              <a:ext cx="4944" cy="3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ea typeface="华文中宋" pitchFamily="2" charset="-122"/>
                </a:rPr>
                <a:t>        </a:t>
              </a:r>
              <a:r>
                <a:rPr lang="zh-CN" altLang="en-US" sz="1800" b="1">
                  <a:ea typeface="华文中宋" pitchFamily="2" charset="-122"/>
                </a:rPr>
                <a:t>设分子</a:t>
              </a:r>
              <a:r>
                <a:rPr lang="en-US" altLang="zh-CN" sz="1800" b="1" i="1">
                  <a:ea typeface="华文中宋" pitchFamily="2" charset="-122"/>
                </a:rPr>
                <a:t>i</a:t>
              </a:r>
              <a:r>
                <a:rPr lang="zh-CN" altLang="en-US" sz="1800" b="1">
                  <a:ea typeface="华文中宋" pitchFamily="2" charset="-122"/>
                </a:rPr>
                <a:t>与分子</a:t>
              </a:r>
              <a:r>
                <a:rPr lang="en-US" altLang="zh-CN" sz="1800" b="1" i="1">
                  <a:ea typeface="华文中宋" pitchFamily="2" charset="-122"/>
                </a:rPr>
                <a:t>j</a:t>
              </a:r>
              <a:r>
                <a:rPr lang="zh-CN" altLang="en-US" sz="1800" b="1">
                  <a:ea typeface="华文中宋" pitchFamily="2" charset="-122"/>
                </a:rPr>
                <a:t>的相对速度为     ，那么依据相对运动的知识：</a:t>
              </a:r>
            </a:p>
          </p:txBody>
        </p:sp>
        <p:graphicFrame>
          <p:nvGraphicFramePr>
            <p:cNvPr id="64552" name="Object 61"/>
            <p:cNvGraphicFramePr>
              <a:graphicFrameLocks noChangeAspect="1"/>
            </p:cNvGraphicFramePr>
            <p:nvPr/>
          </p:nvGraphicFramePr>
          <p:xfrm>
            <a:off x="2562" y="2886"/>
            <a:ext cx="233" cy="321"/>
          </p:xfrm>
          <a:graphic>
            <a:graphicData uri="http://schemas.openxmlformats.org/presentationml/2006/ole">
              <p:oleObj spid="_x0000_s64578" name="Equation" r:id="rId4" imgW="203112" imgH="241195" progId="Equation.DSMT4">
                <p:embed/>
              </p:oleObj>
            </a:graphicData>
          </a:graphic>
        </p:graphicFrame>
      </p:grpSp>
      <p:grpSp>
        <p:nvGrpSpPr>
          <p:cNvPr id="6" name="组合 41"/>
          <p:cNvGrpSpPr>
            <a:grpSpLocks/>
          </p:cNvGrpSpPr>
          <p:nvPr/>
        </p:nvGrpSpPr>
        <p:grpSpPr bwMode="auto">
          <a:xfrm>
            <a:off x="5364163" y="3940175"/>
            <a:ext cx="2447925" cy="625475"/>
            <a:chOff x="6054408" y="2903538"/>
            <a:chExt cx="2092896" cy="616902"/>
          </a:xfrm>
        </p:grpSpPr>
        <p:sp>
          <p:nvSpPr>
            <p:cNvPr id="64545" name="Oval 158"/>
            <p:cNvSpPr>
              <a:spLocks noChangeArrowheads="1"/>
            </p:cNvSpPr>
            <p:nvPr/>
          </p:nvSpPr>
          <p:spPr bwMode="auto">
            <a:xfrm>
              <a:off x="6054408" y="3361627"/>
              <a:ext cx="140525" cy="140525"/>
            </a:xfrm>
            <a:prstGeom prst="ellipse">
              <a:avLst/>
            </a:prstGeom>
            <a:solidFill>
              <a:srgbClr val="FF9933"/>
            </a:solidFill>
            <a:ln w="9525">
              <a:solidFill>
                <a:schemeClr val="tx1"/>
              </a:solidFill>
              <a:round/>
              <a:headEnd/>
              <a:tailEnd/>
            </a:ln>
          </p:spPr>
          <p:txBody>
            <a:bodyPr wrap="none" anchor="ctr"/>
            <a:lstStyle/>
            <a:p>
              <a:endParaRPr kumimoji="0" lang="zh-CN" altLang="zh-CN" sz="2800" b="1">
                <a:ea typeface="宋体" pitchFamily="2" charset="-122"/>
              </a:endParaRPr>
            </a:p>
          </p:txBody>
        </p:sp>
        <p:sp>
          <p:nvSpPr>
            <p:cNvPr id="64546" name="Oval 158"/>
            <p:cNvSpPr>
              <a:spLocks noChangeArrowheads="1"/>
            </p:cNvSpPr>
            <p:nvPr/>
          </p:nvSpPr>
          <p:spPr bwMode="auto">
            <a:xfrm>
              <a:off x="7380288" y="3379915"/>
              <a:ext cx="140525" cy="140525"/>
            </a:xfrm>
            <a:prstGeom prst="ellipse">
              <a:avLst/>
            </a:prstGeom>
            <a:solidFill>
              <a:srgbClr val="FF9933"/>
            </a:solidFill>
            <a:ln w="9525">
              <a:solidFill>
                <a:schemeClr val="tx1"/>
              </a:solidFill>
              <a:round/>
              <a:headEnd/>
              <a:tailEnd/>
            </a:ln>
          </p:spPr>
          <p:txBody>
            <a:bodyPr wrap="none" anchor="ctr"/>
            <a:lstStyle/>
            <a:p>
              <a:endParaRPr kumimoji="0" lang="zh-CN" altLang="zh-CN" sz="2800" b="1">
                <a:ea typeface="宋体" pitchFamily="2" charset="-122"/>
              </a:endParaRPr>
            </a:p>
          </p:txBody>
        </p:sp>
        <p:cxnSp>
          <p:nvCxnSpPr>
            <p:cNvPr id="64547" name="直接箭头连接符 36"/>
            <p:cNvCxnSpPr>
              <a:cxnSpLocks noChangeShapeType="1"/>
            </p:cNvCxnSpPr>
            <p:nvPr/>
          </p:nvCxnSpPr>
          <p:spPr bwMode="auto">
            <a:xfrm>
              <a:off x="6172200" y="3438144"/>
              <a:ext cx="749808" cy="0"/>
            </a:xfrm>
            <a:prstGeom prst="straightConnector1">
              <a:avLst/>
            </a:prstGeom>
            <a:noFill/>
            <a:ln w="25400" algn="ctr">
              <a:solidFill>
                <a:srgbClr val="0000FF"/>
              </a:solidFill>
              <a:round/>
              <a:headEnd/>
              <a:tailEnd type="stealth" w="lg" len="lg"/>
            </a:ln>
            <a:extLst>
              <a:ext uri="{909E8E84-426E-40DD-AFC4-6F175D3DCCD1}">
                <a14:hiddenFill xmlns:a14="http://schemas.microsoft.com/office/drawing/2010/main" xmlns="">
                  <a:noFill/>
                </a14:hiddenFill>
              </a:ext>
            </a:extLst>
          </p:spPr>
        </p:cxnSp>
        <p:graphicFrame>
          <p:nvGraphicFramePr>
            <p:cNvPr id="64548" name="对象 37"/>
            <p:cNvGraphicFramePr>
              <a:graphicFrameLocks noChangeAspect="1"/>
            </p:cNvGraphicFramePr>
            <p:nvPr/>
          </p:nvGraphicFramePr>
          <p:xfrm>
            <a:off x="6355080" y="2991495"/>
            <a:ext cx="292862" cy="405501"/>
          </p:xfrm>
          <a:graphic>
            <a:graphicData uri="http://schemas.openxmlformats.org/presentationml/2006/ole">
              <p:oleObj spid="_x0000_s64579" name="公式" r:id="rId5" imgW="165028" imgH="228501" progId="Equation.3">
                <p:embed/>
              </p:oleObj>
            </a:graphicData>
          </a:graphic>
        </p:graphicFrame>
        <p:cxnSp>
          <p:nvCxnSpPr>
            <p:cNvPr id="64549" name="直接箭头连接符 39"/>
            <p:cNvCxnSpPr>
              <a:cxnSpLocks noChangeShapeType="1"/>
            </p:cNvCxnSpPr>
            <p:nvPr/>
          </p:nvCxnSpPr>
          <p:spPr bwMode="auto">
            <a:xfrm flipV="1">
              <a:off x="7507224" y="2990088"/>
              <a:ext cx="640080" cy="420624"/>
            </a:xfrm>
            <a:prstGeom prst="straightConnector1">
              <a:avLst/>
            </a:prstGeom>
            <a:noFill/>
            <a:ln w="25400" algn="ctr">
              <a:solidFill>
                <a:srgbClr val="0000FF"/>
              </a:solidFill>
              <a:round/>
              <a:headEnd/>
              <a:tailEnd type="stealth" w="lg" len="lg"/>
            </a:ln>
            <a:extLst>
              <a:ext uri="{909E8E84-426E-40DD-AFC4-6F175D3DCCD1}">
                <a14:hiddenFill xmlns:a14="http://schemas.microsoft.com/office/drawing/2010/main" xmlns="">
                  <a:noFill/>
                </a14:hiddenFill>
              </a:ext>
            </a:extLst>
          </p:spPr>
        </p:cxnSp>
        <p:graphicFrame>
          <p:nvGraphicFramePr>
            <p:cNvPr id="64550" name="对象 40"/>
            <p:cNvGraphicFramePr>
              <a:graphicFrameLocks noChangeAspect="1"/>
            </p:cNvGraphicFramePr>
            <p:nvPr/>
          </p:nvGraphicFramePr>
          <p:xfrm>
            <a:off x="7478713" y="2903538"/>
            <a:ext cx="266700" cy="360362"/>
          </p:xfrm>
          <a:graphic>
            <a:graphicData uri="http://schemas.openxmlformats.org/presentationml/2006/ole">
              <p:oleObj spid="_x0000_s64580" name="公式" r:id="rId6" imgW="177646" imgH="241091" progId="Equation.3">
                <p:embed/>
              </p:oleObj>
            </a:graphicData>
          </a:graphic>
        </p:graphicFrame>
      </p:grpSp>
      <p:grpSp>
        <p:nvGrpSpPr>
          <p:cNvPr id="7" name="Group 75"/>
          <p:cNvGrpSpPr>
            <a:grpSpLocks/>
          </p:cNvGrpSpPr>
          <p:nvPr/>
        </p:nvGrpSpPr>
        <p:grpSpPr bwMode="auto">
          <a:xfrm>
            <a:off x="1403350" y="3795713"/>
            <a:ext cx="2232025" cy="425450"/>
            <a:chOff x="3379" y="3158"/>
            <a:chExt cx="1406" cy="357"/>
          </a:xfrm>
        </p:grpSpPr>
        <p:graphicFrame>
          <p:nvGraphicFramePr>
            <p:cNvPr id="64541" name="Object 71"/>
            <p:cNvGraphicFramePr>
              <a:graphicFrameLocks noChangeAspect="1"/>
            </p:cNvGraphicFramePr>
            <p:nvPr/>
          </p:nvGraphicFramePr>
          <p:xfrm>
            <a:off x="3379" y="3158"/>
            <a:ext cx="1406" cy="341"/>
          </p:xfrm>
          <a:graphic>
            <a:graphicData uri="http://schemas.openxmlformats.org/presentationml/2006/ole">
              <p:oleObj spid="_x0000_s64581" name="Equation" r:id="rId7" imgW="888614" imgH="215806" progId="Equation.DSMT4">
                <p:embed/>
              </p:oleObj>
            </a:graphicData>
          </a:graphic>
        </p:graphicFrame>
        <p:sp>
          <p:nvSpPr>
            <p:cNvPr id="64542" name="Rectangle 72"/>
            <p:cNvSpPr>
              <a:spLocks noChangeArrowheads="1"/>
            </p:cNvSpPr>
            <p:nvPr/>
          </p:nvSpPr>
          <p:spPr bwMode="auto">
            <a:xfrm>
              <a:off x="3481" y="3244"/>
              <a:ext cx="261"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500" b="1">
                  <a:ea typeface="楷体_GB2312" pitchFamily="49" charset="-122"/>
                </a:rPr>
                <a:t>绝</a:t>
              </a:r>
            </a:p>
          </p:txBody>
        </p:sp>
        <p:sp>
          <p:nvSpPr>
            <p:cNvPr id="64543" name="Rectangle 73"/>
            <p:cNvSpPr>
              <a:spLocks noChangeArrowheads="1"/>
            </p:cNvSpPr>
            <p:nvPr/>
          </p:nvSpPr>
          <p:spPr bwMode="auto">
            <a:xfrm>
              <a:off x="4014" y="3244"/>
              <a:ext cx="261"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500" b="1">
                  <a:ea typeface="楷体_GB2312" pitchFamily="49" charset="-122"/>
                </a:rPr>
                <a:t>牵</a:t>
              </a:r>
            </a:p>
          </p:txBody>
        </p:sp>
        <p:sp>
          <p:nvSpPr>
            <p:cNvPr id="64544" name="Rectangle 74"/>
            <p:cNvSpPr>
              <a:spLocks noChangeArrowheads="1"/>
            </p:cNvSpPr>
            <p:nvPr/>
          </p:nvSpPr>
          <p:spPr bwMode="auto">
            <a:xfrm>
              <a:off x="4524" y="3244"/>
              <a:ext cx="261" cy="27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r>
                <a:rPr lang="zh-CN" altLang="en-US" sz="1500" b="1">
                  <a:ea typeface="楷体_GB2312" pitchFamily="49" charset="-122"/>
                </a:rPr>
                <a:t>相</a:t>
              </a:r>
            </a:p>
          </p:txBody>
        </p:sp>
      </p:grpSp>
      <p:graphicFrame>
        <p:nvGraphicFramePr>
          <p:cNvPr id="136268" name="Object 76"/>
          <p:cNvGraphicFramePr>
            <a:graphicFrameLocks noChangeAspect="1"/>
          </p:cNvGraphicFramePr>
          <p:nvPr/>
        </p:nvGraphicFramePr>
        <p:xfrm>
          <a:off x="1560513" y="4249738"/>
          <a:ext cx="1773237" cy="422275"/>
        </p:xfrm>
        <a:graphic>
          <a:graphicData uri="http://schemas.openxmlformats.org/presentationml/2006/ole">
            <p:oleObj spid="_x0000_s64582" name="Equation" r:id="rId8" imgW="761669" imgH="241195" progId="Equation.DSMT4">
              <p:embed/>
            </p:oleObj>
          </a:graphicData>
        </a:graphic>
      </p:graphicFrame>
      <p:grpSp>
        <p:nvGrpSpPr>
          <p:cNvPr id="8" name="Group 78"/>
          <p:cNvGrpSpPr>
            <a:grpSpLocks/>
          </p:cNvGrpSpPr>
          <p:nvPr/>
        </p:nvGrpSpPr>
        <p:grpSpPr bwMode="auto">
          <a:xfrm>
            <a:off x="6300788" y="1330325"/>
            <a:ext cx="2740025" cy="1411288"/>
            <a:chOff x="3422" y="1117"/>
            <a:chExt cx="1726" cy="1186"/>
          </a:xfrm>
        </p:grpSpPr>
        <p:grpSp>
          <p:nvGrpSpPr>
            <p:cNvPr id="64526" name="Group 79"/>
            <p:cNvGrpSpPr>
              <a:grpSpLocks/>
            </p:cNvGrpSpPr>
            <p:nvPr/>
          </p:nvGrpSpPr>
          <p:grpSpPr bwMode="auto">
            <a:xfrm>
              <a:off x="3422" y="1117"/>
              <a:ext cx="1726" cy="1186"/>
              <a:chOff x="3319" y="2048"/>
              <a:chExt cx="1726" cy="1186"/>
            </a:xfrm>
          </p:grpSpPr>
          <p:grpSp>
            <p:nvGrpSpPr>
              <p:cNvPr id="64529" name="Group 80"/>
              <p:cNvGrpSpPr>
                <a:grpSpLocks/>
              </p:cNvGrpSpPr>
              <p:nvPr/>
            </p:nvGrpSpPr>
            <p:grpSpPr bwMode="auto">
              <a:xfrm>
                <a:off x="3319" y="2048"/>
                <a:ext cx="1726" cy="1097"/>
                <a:chOff x="2784" y="1920"/>
                <a:chExt cx="1344" cy="864"/>
              </a:xfrm>
            </p:grpSpPr>
            <p:grpSp>
              <p:nvGrpSpPr>
                <p:cNvPr id="64531" name="Group 81"/>
                <p:cNvGrpSpPr>
                  <a:grpSpLocks/>
                </p:cNvGrpSpPr>
                <p:nvPr/>
              </p:nvGrpSpPr>
              <p:grpSpPr bwMode="auto">
                <a:xfrm>
                  <a:off x="2784" y="1920"/>
                  <a:ext cx="1344" cy="672"/>
                  <a:chOff x="2784" y="1920"/>
                  <a:chExt cx="1344" cy="672"/>
                </a:xfrm>
              </p:grpSpPr>
              <p:grpSp>
                <p:nvGrpSpPr>
                  <p:cNvPr id="64535" name="Group 82"/>
                  <p:cNvGrpSpPr>
                    <a:grpSpLocks/>
                  </p:cNvGrpSpPr>
                  <p:nvPr/>
                </p:nvGrpSpPr>
                <p:grpSpPr bwMode="auto">
                  <a:xfrm>
                    <a:off x="3456" y="1920"/>
                    <a:ext cx="672" cy="672"/>
                    <a:chOff x="3456" y="1920"/>
                    <a:chExt cx="672" cy="672"/>
                  </a:xfrm>
                </p:grpSpPr>
                <p:sp>
                  <p:nvSpPr>
                    <p:cNvPr id="64539" name="Oval 83"/>
                    <p:cNvSpPr>
                      <a:spLocks noChangeArrowheads="1"/>
                    </p:cNvSpPr>
                    <p:nvPr/>
                  </p:nvSpPr>
                  <p:spPr bwMode="auto">
                    <a:xfrm>
                      <a:off x="3552" y="2016"/>
                      <a:ext cx="480" cy="480"/>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40" name="Oval 84"/>
                    <p:cNvSpPr>
                      <a:spLocks noChangeArrowheads="1"/>
                    </p:cNvSpPr>
                    <p:nvPr/>
                  </p:nvSpPr>
                  <p:spPr bwMode="auto">
                    <a:xfrm>
                      <a:off x="3456" y="1920"/>
                      <a:ext cx="672" cy="672"/>
                    </a:xfrm>
                    <a:prstGeom prst="ellipse">
                      <a:avLst/>
                    </a:prstGeom>
                    <a:solidFill>
                      <a:srgbClr val="99CCFF">
                        <a:alpha val="50195"/>
                      </a:srgbClr>
                    </a:solidFill>
                    <a:ln w="9525">
                      <a:solidFill>
                        <a:srgbClr val="99CCFF"/>
                      </a:solidFill>
                      <a:prstDash val="dash"/>
                      <a:round/>
                      <a:headEnd/>
                      <a:tailEnd/>
                    </a:ln>
                  </p:spPr>
                  <p:txBody>
                    <a:bodyPr wrap="none" anchor="ctr"/>
                    <a:lstStyle/>
                    <a:p>
                      <a:endParaRPr lang="zh-CN" altLang="en-US"/>
                    </a:p>
                  </p:txBody>
                </p:sp>
              </p:grpSp>
              <p:grpSp>
                <p:nvGrpSpPr>
                  <p:cNvPr id="64536" name="Group 85"/>
                  <p:cNvGrpSpPr>
                    <a:grpSpLocks/>
                  </p:cNvGrpSpPr>
                  <p:nvPr/>
                </p:nvGrpSpPr>
                <p:grpSpPr bwMode="auto">
                  <a:xfrm>
                    <a:off x="2784" y="1920"/>
                    <a:ext cx="672" cy="672"/>
                    <a:chOff x="3456" y="1920"/>
                    <a:chExt cx="672" cy="672"/>
                  </a:xfrm>
                </p:grpSpPr>
                <p:sp>
                  <p:nvSpPr>
                    <p:cNvPr id="64537" name="Oval 86"/>
                    <p:cNvSpPr>
                      <a:spLocks noChangeArrowheads="1"/>
                    </p:cNvSpPr>
                    <p:nvPr/>
                  </p:nvSpPr>
                  <p:spPr bwMode="auto">
                    <a:xfrm>
                      <a:off x="3552" y="2016"/>
                      <a:ext cx="480" cy="480"/>
                    </a:xfrm>
                    <a:prstGeom prst="ellipse">
                      <a:avLst/>
                    </a:prstGeom>
                    <a:solidFill>
                      <a:schemeClr val="accent1"/>
                    </a:solidFill>
                    <a:ln w="9525">
                      <a:solidFill>
                        <a:schemeClr val="tx1"/>
                      </a:solidFill>
                      <a:round/>
                      <a:headEnd/>
                      <a:tailEnd/>
                    </a:ln>
                  </p:spPr>
                  <p:txBody>
                    <a:bodyPr wrap="none" anchor="ctr"/>
                    <a:lstStyle/>
                    <a:p>
                      <a:endParaRPr lang="zh-CN" altLang="en-US"/>
                    </a:p>
                  </p:txBody>
                </p:sp>
                <p:sp>
                  <p:nvSpPr>
                    <p:cNvPr id="64538" name="Oval 87"/>
                    <p:cNvSpPr>
                      <a:spLocks noChangeArrowheads="1"/>
                    </p:cNvSpPr>
                    <p:nvPr/>
                  </p:nvSpPr>
                  <p:spPr bwMode="auto">
                    <a:xfrm>
                      <a:off x="3456" y="1920"/>
                      <a:ext cx="672" cy="672"/>
                    </a:xfrm>
                    <a:prstGeom prst="ellipse">
                      <a:avLst/>
                    </a:prstGeom>
                    <a:solidFill>
                      <a:srgbClr val="99CCFF">
                        <a:alpha val="50195"/>
                      </a:srgbClr>
                    </a:solidFill>
                    <a:ln w="9525">
                      <a:solidFill>
                        <a:srgbClr val="99CCFF"/>
                      </a:solidFill>
                      <a:prstDash val="dash"/>
                      <a:round/>
                      <a:headEnd/>
                      <a:tailEnd/>
                    </a:ln>
                  </p:spPr>
                  <p:txBody>
                    <a:bodyPr wrap="none" anchor="ctr"/>
                    <a:lstStyle/>
                    <a:p>
                      <a:endParaRPr lang="zh-CN" altLang="en-US"/>
                    </a:p>
                  </p:txBody>
                </p:sp>
              </p:grpSp>
            </p:grpSp>
            <p:sp>
              <p:nvSpPr>
                <p:cNvPr id="64532" name="Line 88"/>
                <p:cNvSpPr>
                  <a:spLocks noChangeShapeType="1"/>
                </p:cNvSpPr>
                <p:nvPr/>
              </p:nvSpPr>
              <p:spPr bwMode="auto">
                <a:xfrm>
                  <a:off x="3792" y="2256"/>
                  <a:ext cx="0" cy="528"/>
                </a:xfrm>
                <a:prstGeom prst="line">
                  <a:avLst/>
                </a:prstGeom>
                <a:noFill/>
                <a:ln w="25400">
                  <a:solidFill>
                    <a:schemeClr val="tx1"/>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64533" name="Line 89"/>
                <p:cNvSpPr>
                  <a:spLocks noChangeShapeType="1"/>
                </p:cNvSpPr>
                <p:nvPr/>
              </p:nvSpPr>
              <p:spPr bwMode="auto">
                <a:xfrm>
                  <a:off x="3120" y="2256"/>
                  <a:ext cx="0" cy="528"/>
                </a:xfrm>
                <a:prstGeom prst="line">
                  <a:avLst/>
                </a:prstGeom>
                <a:noFill/>
                <a:ln w="25400">
                  <a:solidFill>
                    <a:schemeClr val="tx1"/>
                  </a:solidFill>
                  <a:prstDash val="dash"/>
                  <a:round/>
                  <a:headEnd/>
                  <a:tailEnd/>
                </a:ln>
                <a:extLst>
                  <a:ext uri="{909E8E84-426E-40DD-AFC4-6F175D3DCCD1}">
                    <a14:hiddenFill xmlns:a14="http://schemas.microsoft.com/office/drawing/2010/main" xmlns="">
                      <a:noFill/>
                    </a14:hiddenFill>
                  </a:ext>
                </a:extLst>
              </p:spPr>
              <p:txBody>
                <a:bodyPr wrap="none" anchor="ctr"/>
                <a:lstStyle/>
                <a:p>
                  <a:endParaRPr lang="zh-CN" altLang="en-US"/>
                </a:p>
              </p:txBody>
            </p:sp>
            <p:sp>
              <p:nvSpPr>
                <p:cNvPr id="64534" name="Line 90"/>
                <p:cNvSpPr>
                  <a:spLocks noChangeShapeType="1"/>
                </p:cNvSpPr>
                <p:nvPr/>
              </p:nvSpPr>
              <p:spPr bwMode="auto">
                <a:xfrm>
                  <a:off x="3120" y="2688"/>
                  <a:ext cx="672" cy="0"/>
                </a:xfrm>
                <a:prstGeom prst="line">
                  <a:avLst/>
                </a:prstGeom>
                <a:noFill/>
                <a:ln w="25400">
                  <a:solidFill>
                    <a:schemeClr val="tx1"/>
                  </a:solidFill>
                  <a:round/>
                  <a:headEnd type="triangle" w="med" len="med"/>
                  <a:tailEnd type="triangle" w="med" len="med"/>
                </a:ln>
                <a:extLst>
                  <a:ext uri="{909E8E84-426E-40DD-AFC4-6F175D3DCCD1}">
                    <a14:hiddenFill xmlns:a14="http://schemas.microsoft.com/office/drawing/2010/main" xmlns="">
                      <a:noFill/>
                    </a14:hiddenFill>
                  </a:ext>
                </a:extLst>
              </p:spPr>
              <p:txBody>
                <a:bodyPr wrap="none" anchor="ctr"/>
                <a:lstStyle/>
                <a:p>
                  <a:endParaRPr lang="zh-CN" altLang="en-US"/>
                </a:p>
              </p:txBody>
            </p:sp>
          </p:grpSp>
          <p:graphicFrame>
            <p:nvGraphicFramePr>
              <p:cNvPr id="64530" name="Object 91"/>
              <p:cNvGraphicFramePr>
                <a:graphicFrameLocks noChangeAspect="1"/>
              </p:cNvGraphicFramePr>
              <p:nvPr/>
            </p:nvGraphicFramePr>
            <p:xfrm>
              <a:off x="4120" y="2976"/>
              <a:ext cx="212" cy="258"/>
            </p:xfrm>
            <a:graphic>
              <a:graphicData uri="http://schemas.openxmlformats.org/presentationml/2006/ole">
                <p:oleObj spid="_x0000_s64583" name="公式" r:id="rId9" imgW="114201" imgH="139579" progId="Equation.3">
                  <p:embed/>
                </p:oleObj>
              </a:graphicData>
            </a:graphic>
          </p:graphicFrame>
        </p:grpSp>
        <p:sp>
          <p:nvSpPr>
            <p:cNvPr id="64527" name="Line 92"/>
            <p:cNvSpPr>
              <a:spLocks noChangeShapeType="1"/>
            </p:cNvSpPr>
            <p:nvPr/>
          </p:nvSpPr>
          <p:spPr bwMode="auto">
            <a:xfrm>
              <a:off x="4422" y="1525"/>
              <a:ext cx="590" cy="0"/>
            </a:xfrm>
            <a:prstGeom prst="line">
              <a:avLst/>
            </a:prstGeom>
            <a:noFill/>
            <a:ln w="25400">
              <a:solidFill>
                <a:schemeClr val="tx1"/>
              </a:solidFill>
              <a:round/>
              <a:headEnd type="stealth" w="lg" len="lg"/>
              <a:tailEnd type="stealth" w="lg" len="lg"/>
            </a:ln>
            <a:extLst>
              <a:ext uri="{909E8E84-426E-40DD-AFC4-6F175D3DCCD1}">
                <a14:hiddenFill xmlns:a14="http://schemas.microsoft.com/office/drawing/2010/main" xmlns="">
                  <a:noFill/>
                </a14:hiddenFill>
              </a:ext>
            </a:extLst>
          </p:spPr>
          <p:txBody>
            <a:bodyPr/>
            <a:lstStyle/>
            <a:p>
              <a:endParaRPr lang="zh-CN" altLang="en-US"/>
            </a:p>
          </p:txBody>
        </p:sp>
        <p:graphicFrame>
          <p:nvGraphicFramePr>
            <p:cNvPr id="64528" name="Object 93"/>
            <p:cNvGraphicFramePr>
              <a:graphicFrameLocks noChangeAspect="1"/>
            </p:cNvGraphicFramePr>
            <p:nvPr/>
          </p:nvGraphicFramePr>
          <p:xfrm>
            <a:off x="4649" y="1298"/>
            <a:ext cx="135" cy="237"/>
          </p:xfrm>
          <a:graphic>
            <a:graphicData uri="http://schemas.openxmlformats.org/presentationml/2006/ole">
              <p:oleObj spid="_x0000_s64584" name="Equation" r:id="rId10" imgW="101468" imgH="177569" progId="Equation.DSMT4">
                <p:embed/>
              </p:oleObj>
            </a:graphicData>
          </a:graphic>
        </p:graphicFrame>
      </p:grpSp>
      <p:sp>
        <p:nvSpPr>
          <p:cNvPr id="41" name="Text Box 2"/>
          <p:cNvSpPr>
            <a:spLocks noChangeArrowheads="1"/>
          </p:cNvSpPr>
          <p:nvPr/>
        </p:nvSpPr>
        <p:spPr bwMode="auto">
          <a:xfrm>
            <a:off x="755650" y="874713"/>
            <a:ext cx="2376488" cy="401637"/>
          </a:xfrm>
          <a:prstGeom prst="homePlate">
            <a:avLst>
              <a:gd name="adj" fmla="val 49692"/>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一、平均碰撞频率</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1"/>
                                        </p:tgtEl>
                                        <p:attrNameLst>
                                          <p:attrName>style.visibility</p:attrName>
                                        </p:attrNameLst>
                                      </p:cBhvr>
                                      <p:to>
                                        <p:strVal val="visible"/>
                                      </p:to>
                                    </p:set>
                                    <p:animEffect transition="in" filter="wipe(left)">
                                      <p:cBhvr>
                                        <p:cTn id="7" dur="500"/>
                                        <p:tgtEl>
                                          <p:spTgt spid="41"/>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3"/>
                                        </p:tgtEl>
                                        <p:attrNameLst>
                                          <p:attrName>style.visibility</p:attrName>
                                        </p:attrNameLst>
                                      </p:cBhvr>
                                      <p:to>
                                        <p:strVal val="visible"/>
                                      </p:to>
                                    </p:set>
                                    <p:animEffect transition="in" filter="wipe(left)">
                                      <p:cBhvr>
                                        <p:cTn id="12" dur="500"/>
                                        <p:tgtEl>
                                          <p:spTgt spid="23"/>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3">
                                            <p:txEl>
                                              <p:pRg st="0" end="0"/>
                                            </p:txEl>
                                          </p:spTgt>
                                        </p:tgtEl>
                                        <p:attrNameLst>
                                          <p:attrName>style.visibility</p:attrName>
                                        </p:attrNameLst>
                                      </p:cBhvr>
                                      <p:to>
                                        <p:strVal val="visible"/>
                                      </p:to>
                                    </p:set>
                                    <p:animEffect transition="in" filter="wipe(left)">
                                      <p:cBhvr>
                                        <p:cTn id="17" dur="500"/>
                                        <p:tgtEl>
                                          <p:spTgt spid="3">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4">
                                            <p:txEl>
                                              <p:pRg st="0" end="0"/>
                                            </p:txEl>
                                          </p:spTgt>
                                        </p:tgtEl>
                                        <p:attrNameLst>
                                          <p:attrName>style.visibility</p:attrName>
                                        </p:attrNameLst>
                                      </p:cBhvr>
                                      <p:to>
                                        <p:strVal val="visible"/>
                                      </p:to>
                                    </p:set>
                                    <p:animEffect transition="in" filter="wipe(left)">
                                      <p:cBhvr>
                                        <p:cTn id="22" dur="500"/>
                                        <p:tgtEl>
                                          <p:spTgt spid="4">
                                            <p:txEl>
                                              <p:pRg st="0" end="0"/>
                                            </p:txEl>
                                          </p:spTgt>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3" presetClass="entr" presetSubtype="10" fill="hold" nodeType="clickEffect">
                                  <p:stCondLst>
                                    <p:cond delay="0"/>
                                  </p:stCondLst>
                                  <p:childTnLst>
                                    <p:set>
                                      <p:cBhvr>
                                        <p:cTn id="26" dur="1" fill="hold">
                                          <p:stCondLst>
                                            <p:cond delay="0"/>
                                          </p:stCondLst>
                                        </p:cTn>
                                        <p:tgtEl>
                                          <p:spTgt spid="8"/>
                                        </p:tgtEl>
                                        <p:attrNameLst>
                                          <p:attrName>style.visibility</p:attrName>
                                        </p:attrNameLst>
                                      </p:cBhvr>
                                      <p:to>
                                        <p:strVal val="visible"/>
                                      </p:to>
                                    </p:set>
                                    <p:animEffect transition="in" filter="blinds(horizontal)">
                                      <p:cBhvr>
                                        <p:cTn id="27" dur="500"/>
                                        <p:tgtEl>
                                          <p:spTgt spid="8"/>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3" presetClass="entr" presetSubtype="10" fill="hold" nodeType="clickEffect">
                                  <p:stCondLst>
                                    <p:cond delay="0"/>
                                  </p:stCondLst>
                                  <p:childTnLst>
                                    <p:set>
                                      <p:cBhvr>
                                        <p:cTn id="31" dur="1" fill="hold">
                                          <p:stCondLst>
                                            <p:cond delay="0"/>
                                          </p:stCondLst>
                                        </p:cTn>
                                        <p:tgtEl>
                                          <p:spTgt spid="136227"/>
                                        </p:tgtEl>
                                        <p:attrNameLst>
                                          <p:attrName>style.visibility</p:attrName>
                                        </p:attrNameLst>
                                      </p:cBhvr>
                                      <p:to>
                                        <p:strVal val="visible"/>
                                      </p:to>
                                    </p:set>
                                    <p:animEffect transition="in" filter="blinds(horizontal)">
                                      <p:cBhvr>
                                        <p:cTn id="32" dur="500"/>
                                        <p:tgtEl>
                                          <p:spTgt spid="136227"/>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
                                        </p:tgtEl>
                                        <p:attrNameLst>
                                          <p:attrName>style.visibility</p:attrName>
                                        </p:attrNameLst>
                                      </p:cBhvr>
                                      <p:to>
                                        <p:strVal val="visible"/>
                                      </p:to>
                                    </p:set>
                                    <p:animEffect transition="in" filter="wipe(left)">
                                      <p:cBhvr>
                                        <p:cTn id="37" dur="500"/>
                                        <p:tgtEl>
                                          <p:spTgt spid="2"/>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3" presetClass="entr" presetSubtype="10" fill="hold" grpId="0" nodeType="clickEffect">
                                  <p:stCondLst>
                                    <p:cond delay="0"/>
                                  </p:stCondLst>
                                  <p:childTnLst>
                                    <p:set>
                                      <p:cBhvr>
                                        <p:cTn id="41" dur="1" fill="hold">
                                          <p:stCondLst>
                                            <p:cond delay="0"/>
                                          </p:stCondLst>
                                        </p:cTn>
                                        <p:tgtEl>
                                          <p:spTgt spid="136228"/>
                                        </p:tgtEl>
                                        <p:attrNameLst>
                                          <p:attrName>style.visibility</p:attrName>
                                        </p:attrNameLst>
                                      </p:cBhvr>
                                      <p:to>
                                        <p:strVal val="visible"/>
                                      </p:to>
                                    </p:set>
                                    <p:animEffect transition="in" filter="blinds(horizontal)">
                                      <p:cBhvr>
                                        <p:cTn id="42" dur="500"/>
                                        <p:tgtEl>
                                          <p:spTgt spid="136228"/>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nodeType="clickEffect">
                                  <p:stCondLst>
                                    <p:cond delay="0"/>
                                  </p:stCondLst>
                                  <p:childTnLst>
                                    <p:set>
                                      <p:cBhvr>
                                        <p:cTn id="46" dur="1" fill="hold">
                                          <p:stCondLst>
                                            <p:cond delay="0"/>
                                          </p:stCondLst>
                                        </p:cTn>
                                        <p:tgtEl>
                                          <p:spTgt spid="5"/>
                                        </p:tgtEl>
                                        <p:attrNameLst>
                                          <p:attrName>style.visibility</p:attrName>
                                        </p:attrNameLst>
                                      </p:cBhvr>
                                      <p:to>
                                        <p:strVal val="visible"/>
                                      </p:to>
                                    </p:set>
                                    <p:animEffect transition="in" filter="blinds(horizontal)">
                                      <p:cBhvr>
                                        <p:cTn id="47" dur="500"/>
                                        <p:tgtEl>
                                          <p:spTgt spid="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6"/>
                                        </p:tgtEl>
                                        <p:attrNameLst>
                                          <p:attrName>style.visibility</p:attrName>
                                        </p:attrNameLst>
                                      </p:cBhvr>
                                      <p:to>
                                        <p:strVal val="visible"/>
                                      </p:to>
                                    </p:set>
                                    <p:animEffect transition="in" filter="wipe(left)">
                                      <p:cBhvr>
                                        <p:cTn id="52" dur="500"/>
                                        <p:tgtEl>
                                          <p:spTgt spid="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3" presetClass="entr" presetSubtype="10" fill="hold" nodeType="clickEffect">
                                  <p:stCondLst>
                                    <p:cond delay="0"/>
                                  </p:stCondLst>
                                  <p:childTnLst>
                                    <p:set>
                                      <p:cBhvr>
                                        <p:cTn id="56" dur="1" fill="hold">
                                          <p:stCondLst>
                                            <p:cond delay="0"/>
                                          </p:stCondLst>
                                        </p:cTn>
                                        <p:tgtEl>
                                          <p:spTgt spid="7"/>
                                        </p:tgtEl>
                                        <p:attrNameLst>
                                          <p:attrName>style.visibility</p:attrName>
                                        </p:attrNameLst>
                                      </p:cBhvr>
                                      <p:to>
                                        <p:strVal val="visible"/>
                                      </p:to>
                                    </p:set>
                                    <p:animEffect transition="in" filter="blinds(horizontal)">
                                      <p:cBhvr>
                                        <p:cTn id="57" dur="500"/>
                                        <p:tgtEl>
                                          <p:spTgt spid="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3" presetClass="entr" presetSubtype="10" fill="hold" nodeType="clickEffect">
                                  <p:stCondLst>
                                    <p:cond delay="0"/>
                                  </p:stCondLst>
                                  <p:childTnLst>
                                    <p:set>
                                      <p:cBhvr>
                                        <p:cTn id="61" dur="1" fill="hold">
                                          <p:stCondLst>
                                            <p:cond delay="0"/>
                                          </p:stCondLst>
                                        </p:cTn>
                                        <p:tgtEl>
                                          <p:spTgt spid="136268"/>
                                        </p:tgtEl>
                                        <p:attrNameLst>
                                          <p:attrName>style.visibility</p:attrName>
                                        </p:attrNameLst>
                                      </p:cBhvr>
                                      <p:to>
                                        <p:strVal val="visible"/>
                                      </p:to>
                                    </p:set>
                                    <p:animEffect transition="in" filter="blinds(horizontal)">
                                      <p:cBhvr>
                                        <p:cTn id="62" dur="500"/>
                                        <p:tgtEl>
                                          <p:spTgt spid="13626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3" grpId="0"/>
      <p:bldP spid="3" grpId="0" build="p"/>
      <p:bldP spid="4" grpId="0" build="p"/>
      <p:bldP spid="2" grpId="0"/>
      <p:bldP spid="136228" grpId="0"/>
      <p:bldP spid="41" grpId="0" animBg="1"/>
    </p:bldLst>
  </p:timing>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65"/>
          <p:cNvGrpSpPr>
            <a:grpSpLocks/>
          </p:cNvGrpSpPr>
          <p:nvPr/>
        </p:nvGrpSpPr>
        <p:grpSpPr bwMode="auto">
          <a:xfrm>
            <a:off x="6662738" y="823913"/>
            <a:ext cx="1654175" cy="1027112"/>
            <a:chOff x="6565392" y="3827463"/>
            <a:chExt cx="1295654" cy="1111821"/>
          </a:xfrm>
        </p:grpSpPr>
        <p:cxnSp>
          <p:nvCxnSpPr>
            <p:cNvPr id="65561" name="直接箭头连接符 56"/>
            <p:cNvCxnSpPr>
              <a:cxnSpLocks noChangeShapeType="1"/>
            </p:cNvCxnSpPr>
            <p:nvPr/>
          </p:nvCxnSpPr>
          <p:spPr bwMode="auto">
            <a:xfrm>
              <a:off x="6565392" y="4562856"/>
              <a:ext cx="996696" cy="0"/>
            </a:xfrm>
            <a:prstGeom prst="straightConnector1">
              <a:avLst/>
            </a:prstGeom>
            <a:noFill/>
            <a:ln w="9525" algn="ctr">
              <a:solidFill>
                <a:srgbClr val="0000FF"/>
              </a:solidFill>
              <a:round/>
              <a:headEnd/>
              <a:tailEnd type="arrow" w="med" len="med"/>
            </a:ln>
            <a:extLst>
              <a:ext uri="{909E8E84-426E-40DD-AFC4-6F175D3DCCD1}">
                <a14:hiddenFill xmlns:a14="http://schemas.microsoft.com/office/drawing/2010/main" xmlns="">
                  <a:noFill/>
                </a14:hiddenFill>
              </a:ext>
            </a:extLst>
          </p:spPr>
        </p:cxnSp>
        <p:graphicFrame>
          <p:nvGraphicFramePr>
            <p:cNvPr id="65562" name="对象 57"/>
            <p:cNvGraphicFramePr>
              <a:graphicFrameLocks noChangeAspect="1"/>
            </p:cNvGraphicFramePr>
            <p:nvPr/>
          </p:nvGraphicFramePr>
          <p:xfrm>
            <a:off x="7001256" y="4533783"/>
            <a:ext cx="292862" cy="405501"/>
          </p:xfrm>
          <a:graphic>
            <a:graphicData uri="http://schemas.openxmlformats.org/presentationml/2006/ole">
              <p:oleObj spid="_x0000_s65612" name="公式" r:id="rId3" imgW="165028" imgH="228501" progId="Equation.3">
                <p:embed/>
              </p:oleObj>
            </a:graphicData>
          </a:graphic>
        </p:graphicFrame>
        <p:cxnSp>
          <p:nvCxnSpPr>
            <p:cNvPr id="65563" name="直接箭头连接符 59"/>
            <p:cNvCxnSpPr>
              <a:cxnSpLocks noChangeShapeType="1"/>
            </p:cNvCxnSpPr>
            <p:nvPr/>
          </p:nvCxnSpPr>
          <p:spPr bwMode="auto">
            <a:xfrm flipV="1">
              <a:off x="6574536" y="3995928"/>
              <a:ext cx="758952" cy="557784"/>
            </a:xfrm>
            <a:prstGeom prst="straightConnector1">
              <a:avLst/>
            </a:prstGeom>
            <a:noFill/>
            <a:ln w="9525" algn="ctr">
              <a:solidFill>
                <a:srgbClr val="0000FF"/>
              </a:solidFill>
              <a:round/>
              <a:headEnd/>
              <a:tailEnd type="arrow" w="med" len="med"/>
            </a:ln>
            <a:extLst>
              <a:ext uri="{909E8E84-426E-40DD-AFC4-6F175D3DCCD1}">
                <a14:hiddenFill xmlns:a14="http://schemas.microsoft.com/office/drawing/2010/main" xmlns="">
                  <a:noFill/>
                </a14:hiddenFill>
              </a:ext>
            </a:extLst>
          </p:spPr>
        </p:cxnSp>
        <p:graphicFrame>
          <p:nvGraphicFramePr>
            <p:cNvPr id="65564" name="对象 60"/>
            <p:cNvGraphicFramePr>
              <a:graphicFrameLocks noChangeAspect="1"/>
            </p:cNvGraphicFramePr>
            <p:nvPr/>
          </p:nvGraphicFramePr>
          <p:xfrm>
            <a:off x="6642100" y="3827463"/>
            <a:ext cx="317500" cy="430212"/>
          </p:xfrm>
          <a:graphic>
            <a:graphicData uri="http://schemas.openxmlformats.org/presentationml/2006/ole">
              <p:oleObj spid="_x0000_s65613" name="公式" r:id="rId4" imgW="177646" imgH="241091" progId="Equation.3">
                <p:embed/>
              </p:oleObj>
            </a:graphicData>
          </a:graphic>
        </p:graphicFrame>
        <p:cxnSp>
          <p:nvCxnSpPr>
            <p:cNvPr id="65565" name="直接箭头连接符 62"/>
            <p:cNvCxnSpPr>
              <a:cxnSpLocks noChangeShapeType="1"/>
            </p:cNvCxnSpPr>
            <p:nvPr/>
          </p:nvCxnSpPr>
          <p:spPr bwMode="auto">
            <a:xfrm flipH="1" flipV="1">
              <a:off x="7333321" y="4014553"/>
              <a:ext cx="219629" cy="566584"/>
            </a:xfrm>
            <a:prstGeom prst="straightConnector1">
              <a:avLst/>
            </a:prstGeom>
            <a:noFill/>
            <a:ln w="19050" algn="ctr">
              <a:solidFill>
                <a:srgbClr val="C00000"/>
              </a:solidFill>
              <a:round/>
              <a:headEnd/>
              <a:tailEnd type="arrow" w="med" len="med"/>
            </a:ln>
            <a:extLst>
              <a:ext uri="{909E8E84-426E-40DD-AFC4-6F175D3DCCD1}">
                <a14:hiddenFill xmlns:a14="http://schemas.microsoft.com/office/drawing/2010/main" xmlns="">
                  <a:noFill/>
                </a14:hiddenFill>
              </a:ext>
            </a:extLst>
          </p:spPr>
        </p:cxnSp>
        <p:graphicFrame>
          <p:nvGraphicFramePr>
            <p:cNvPr id="65566" name="对象 64"/>
            <p:cNvGraphicFramePr>
              <a:graphicFrameLocks noChangeAspect="1"/>
            </p:cNvGraphicFramePr>
            <p:nvPr/>
          </p:nvGraphicFramePr>
          <p:xfrm>
            <a:off x="7568184" y="4049151"/>
            <a:ext cx="292862" cy="405501"/>
          </p:xfrm>
          <a:graphic>
            <a:graphicData uri="http://schemas.openxmlformats.org/presentationml/2006/ole">
              <p:oleObj spid="_x0000_s65614" name="公式" r:id="rId5" imgW="165028" imgH="228501" progId="Equation.3">
                <p:embed/>
              </p:oleObj>
            </a:graphicData>
          </a:graphic>
        </p:graphicFrame>
      </p:grpSp>
      <p:grpSp>
        <p:nvGrpSpPr>
          <p:cNvPr id="3" name="组合 69"/>
          <p:cNvGrpSpPr>
            <a:grpSpLocks/>
          </p:cNvGrpSpPr>
          <p:nvPr/>
        </p:nvGrpSpPr>
        <p:grpSpPr bwMode="auto">
          <a:xfrm>
            <a:off x="6919913" y="1203325"/>
            <a:ext cx="460375" cy="598488"/>
            <a:chOff x="6291072" y="4231005"/>
            <a:chExt cx="360214" cy="651262"/>
          </a:xfrm>
        </p:grpSpPr>
        <p:sp>
          <p:nvSpPr>
            <p:cNvPr id="65559" name="Text Box 87"/>
            <p:cNvSpPr txBox="1">
              <a:spLocks noChangeArrowheads="1"/>
            </p:cNvSpPr>
            <p:nvPr/>
          </p:nvSpPr>
          <p:spPr bwMode="auto">
            <a:xfrm>
              <a:off x="6327093" y="4231005"/>
              <a:ext cx="324193" cy="35166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l-GR" altLang="zh-CN" sz="1500" b="1" i="1">
                  <a:ea typeface="宋体" pitchFamily="2" charset="-122"/>
                  <a:cs typeface="Times New Roman" pitchFamily="18" charset="0"/>
                </a:rPr>
                <a:t>θ</a:t>
              </a:r>
            </a:p>
          </p:txBody>
        </p:sp>
        <p:sp>
          <p:nvSpPr>
            <p:cNvPr id="65560" name="任意多边形 68"/>
            <p:cNvSpPr>
              <a:spLocks/>
            </p:cNvSpPr>
            <p:nvPr/>
          </p:nvSpPr>
          <p:spPr bwMode="auto">
            <a:xfrm>
              <a:off x="6291072" y="4379976"/>
              <a:ext cx="97708" cy="502291"/>
            </a:xfrm>
            <a:custGeom>
              <a:avLst/>
              <a:gdLst>
                <a:gd name="T0" fmla="*/ 0 w 97708"/>
                <a:gd name="T1" fmla="*/ 0 h 155448"/>
                <a:gd name="T2" fmla="*/ 91440 w 97708"/>
                <a:gd name="T3" fmla="*/ 7974555 h 155448"/>
                <a:gd name="T4" fmla="*/ 82296 w 97708"/>
                <a:gd name="T5" fmla="*/ 16945962 h 155448"/>
                <a:gd name="T6" fmla="*/ 0 60000 65536"/>
                <a:gd name="T7" fmla="*/ 0 60000 65536"/>
                <a:gd name="T8" fmla="*/ 0 60000 65536"/>
                <a:gd name="T9" fmla="*/ 0 w 97708"/>
                <a:gd name="T10" fmla="*/ 0 h 155448"/>
                <a:gd name="T11" fmla="*/ 97708 w 97708"/>
                <a:gd name="T12" fmla="*/ 155448 h 155448"/>
              </a:gdLst>
              <a:ahLst/>
              <a:cxnLst>
                <a:cxn ang="T6">
                  <a:pos x="T0" y="T1"/>
                </a:cxn>
                <a:cxn ang="T7">
                  <a:pos x="T2" y="T3"/>
                </a:cxn>
                <a:cxn ang="T8">
                  <a:pos x="T4" y="T5"/>
                </a:cxn>
              </a:cxnLst>
              <a:rect l="T9" t="T10" r="T11" b="T12"/>
              <a:pathLst>
                <a:path w="97708" h="155448">
                  <a:moveTo>
                    <a:pt x="0" y="0"/>
                  </a:moveTo>
                  <a:cubicBezTo>
                    <a:pt x="38862" y="23622"/>
                    <a:pt x="77724" y="47244"/>
                    <a:pt x="91440" y="73152"/>
                  </a:cubicBezTo>
                  <a:cubicBezTo>
                    <a:pt x="105156" y="99060"/>
                    <a:pt x="93726" y="127254"/>
                    <a:pt x="82296" y="155448"/>
                  </a:cubicBezTo>
                </a:path>
              </a:pathLst>
            </a:custGeom>
            <a:noFill/>
            <a:ln w="12700" algn="ctr">
              <a:solidFill>
                <a:srgbClr val="0000FF"/>
              </a:solidFill>
              <a:round/>
              <a:headEnd/>
              <a:tailEnd/>
            </a:ln>
            <a:extLst>
              <a:ext uri="{909E8E84-426E-40DD-AFC4-6F175D3DCCD1}">
                <a14:hiddenFill xmlns:a14="http://schemas.microsoft.com/office/drawing/2010/main" xmlns="">
                  <a:solidFill>
                    <a:srgbClr val="FFFFFF"/>
                  </a:solidFill>
                </a14:hiddenFill>
              </a:ext>
            </a:extLst>
          </p:spPr>
          <p:txBody>
            <a:bodyPr>
              <a:spAutoFit/>
            </a:bodyPr>
            <a:lstStyle/>
            <a:p>
              <a:endParaRPr lang="zh-CN" altLang="en-US"/>
            </a:p>
          </p:txBody>
        </p:sp>
      </p:grpSp>
      <p:sp>
        <p:nvSpPr>
          <p:cNvPr id="71" name="Text Box 95"/>
          <p:cNvSpPr txBox="1">
            <a:spLocks noChangeArrowheads="1"/>
          </p:cNvSpPr>
          <p:nvPr/>
        </p:nvSpPr>
        <p:spPr bwMode="auto">
          <a:xfrm>
            <a:off x="827088" y="3113088"/>
            <a:ext cx="546576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碰撞夹角</a:t>
            </a:r>
            <a:r>
              <a:rPr lang="zh-CN" altLang="en-US" sz="1800" b="1" i="1">
                <a:ea typeface="华文中宋" pitchFamily="2" charset="-122"/>
                <a:sym typeface="Symbol" pitchFamily="18" charset="2"/>
              </a:rPr>
              <a:t> </a:t>
            </a:r>
            <a:r>
              <a:rPr lang="zh-CN" altLang="en-US" sz="1800" b="1">
                <a:ea typeface="华文中宋" pitchFamily="2" charset="-122"/>
              </a:rPr>
              <a:t>有各种可能</a:t>
            </a:r>
            <a:r>
              <a:rPr lang="en-US" altLang="zh-CN" sz="1800" b="1">
                <a:ea typeface="华文中宋" pitchFamily="2" charset="-122"/>
              </a:rPr>
              <a:t>(0 —2</a:t>
            </a:r>
            <a:r>
              <a:rPr lang="en-US" altLang="zh-CN" sz="1800" b="1">
                <a:ea typeface="华文中宋" pitchFamily="2" charset="-122"/>
                <a:sym typeface="Symbol" pitchFamily="18" charset="2"/>
              </a:rPr>
              <a:t>)</a:t>
            </a:r>
            <a:r>
              <a:rPr lang="zh-CN" altLang="en-US" sz="1800" b="1">
                <a:ea typeface="华文中宋" pitchFamily="2" charset="-122"/>
                <a:sym typeface="Symbol" pitchFamily="18" charset="2"/>
              </a:rPr>
              <a:t>：</a:t>
            </a:r>
            <a:endParaRPr lang="zh-CN" altLang="en-US" sz="1800">
              <a:ea typeface="华文中宋" pitchFamily="2" charset="-122"/>
            </a:endParaRPr>
          </a:p>
        </p:txBody>
      </p:sp>
      <p:graphicFrame>
        <p:nvGraphicFramePr>
          <p:cNvPr id="72" name="对象 71"/>
          <p:cNvGraphicFramePr>
            <a:graphicFrameLocks noChangeAspect="1"/>
          </p:cNvGraphicFramePr>
          <p:nvPr/>
        </p:nvGraphicFramePr>
        <p:xfrm>
          <a:off x="4284663" y="3057525"/>
          <a:ext cx="1776412" cy="517525"/>
        </p:xfrm>
        <a:graphic>
          <a:graphicData uri="http://schemas.openxmlformats.org/presentationml/2006/ole">
            <p:oleObj spid="_x0000_s65615" name="公式" r:id="rId6" imgW="748975" imgH="291973" progId="Equation.3">
              <p:embed/>
            </p:oleObj>
          </a:graphicData>
        </a:graphic>
      </p:graphicFrame>
      <p:graphicFrame>
        <p:nvGraphicFramePr>
          <p:cNvPr id="74" name="对象 73"/>
          <p:cNvGraphicFramePr>
            <a:graphicFrameLocks noChangeAspect="1"/>
          </p:cNvGraphicFramePr>
          <p:nvPr/>
        </p:nvGraphicFramePr>
        <p:xfrm>
          <a:off x="3228975" y="3571875"/>
          <a:ext cx="1487488" cy="403225"/>
        </p:xfrm>
        <a:graphic>
          <a:graphicData uri="http://schemas.openxmlformats.org/presentationml/2006/ole">
            <p:oleObj spid="_x0000_s65616" name="公式" r:id="rId7" imgW="596641" imgH="215806" progId="Equation.3">
              <p:embed/>
            </p:oleObj>
          </a:graphicData>
        </a:graphic>
      </p:graphicFrame>
      <p:graphicFrame>
        <p:nvGraphicFramePr>
          <p:cNvPr id="137279" name="Object 63"/>
          <p:cNvGraphicFramePr>
            <a:graphicFrameLocks noChangeAspect="1"/>
          </p:cNvGraphicFramePr>
          <p:nvPr/>
        </p:nvGraphicFramePr>
        <p:xfrm>
          <a:off x="3086100" y="854075"/>
          <a:ext cx="1773238" cy="420688"/>
        </p:xfrm>
        <a:graphic>
          <a:graphicData uri="http://schemas.openxmlformats.org/presentationml/2006/ole">
            <p:oleObj spid="_x0000_s65617" name="Equation" r:id="rId8" imgW="761669" imgH="241195" progId="Equation.DSMT4">
              <p:embed/>
            </p:oleObj>
          </a:graphicData>
        </a:graphic>
      </p:graphicFrame>
      <p:graphicFrame>
        <p:nvGraphicFramePr>
          <p:cNvPr id="137280" name="Object 64"/>
          <p:cNvGraphicFramePr>
            <a:graphicFrameLocks noChangeAspect="1"/>
          </p:cNvGraphicFramePr>
          <p:nvPr/>
        </p:nvGraphicFramePr>
        <p:xfrm>
          <a:off x="3068638" y="1373188"/>
          <a:ext cx="1677987" cy="398462"/>
        </p:xfrm>
        <a:graphic>
          <a:graphicData uri="http://schemas.openxmlformats.org/presentationml/2006/ole">
            <p:oleObj spid="_x0000_s65618" name="Equation" r:id="rId9" imgW="761669" imgH="241195" progId="Equation.DSMT4">
              <p:embed/>
            </p:oleObj>
          </a:graphicData>
        </a:graphic>
      </p:graphicFrame>
      <p:graphicFrame>
        <p:nvGraphicFramePr>
          <p:cNvPr id="137281" name="Object 65"/>
          <p:cNvGraphicFramePr>
            <a:graphicFrameLocks noChangeAspect="1"/>
          </p:cNvGraphicFramePr>
          <p:nvPr/>
        </p:nvGraphicFramePr>
        <p:xfrm>
          <a:off x="1087438" y="1789113"/>
          <a:ext cx="7329487" cy="495300"/>
        </p:xfrm>
        <a:graphic>
          <a:graphicData uri="http://schemas.openxmlformats.org/presentationml/2006/ole">
            <p:oleObj spid="_x0000_s65619" name="Equation" r:id="rId10" imgW="3238500" imgH="292100" progId="Equation.DSMT4">
              <p:embed/>
            </p:oleObj>
          </a:graphicData>
        </a:graphic>
      </p:graphicFrame>
      <p:sp>
        <p:nvSpPr>
          <p:cNvPr id="23" name="Rectangle 152"/>
          <p:cNvSpPr>
            <a:spLocks noChangeArrowheads="1"/>
          </p:cNvSpPr>
          <p:nvPr/>
        </p:nvSpPr>
        <p:spPr bwMode="auto">
          <a:xfrm>
            <a:off x="179388" y="2571750"/>
            <a:ext cx="158432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0000"/>
              </a:lnSpc>
            </a:pPr>
            <a:r>
              <a:rPr lang="zh-CN" altLang="en-US" sz="1800" b="1">
                <a:ea typeface="华文中宋" pitchFamily="2" charset="-122"/>
              </a:rPr>
              <a:t>两边取平均：</a:t>
            </a:r>
          </a:p>
        </p:txBody>
      </p:sp>
      <p:graphicFrame>
        <p:nvGraphicFramePr>
          <p:cNvPr id="137283" name="Object 67"/>
          <p:cNvGraphicFramePr>
            <a:graphicFrameLocks noChangeAspect="1"/>
          </p:cNvGraphicFramePr>
          <p:nvPr/>
        </p:nvGraphicFramePr>
        <p:xfrm>
          <a:off x="1692275" y="2354263"/>
          <a:ext cx="7178675" cy="714375"/>
        </p:xfrm>
        <a:graphic>
          <a:graphicData uri="http://schemas.openxmlformats.org/presentationml/2006/ole">
            <p:oleObj spid="_x0000_s65620" name="Equation" r:id="rId11" imgW="4191000" imgH="482600" progId="Equation.DSMT4">
              <p:embed/>
            </p:oleObj>
          </a:graphicData>
        </a:graphic>
      </p:graphicFrame>
      <p:graphicFrame>
        <p:nvGraphicFramePr>
          <p:cNvPr id="37890" name="对象 2"/>
          <p:cNvGraphicFramePr>
            <a:graphicFrameLocks noChangeAspect="1"/>
          </p:cNvGraphicFramePr>
          <p:nvPr/>
        </p:nvGraphicFramePr>
        <p:xfrm>
          <a:off x="5868988" y="4227513"/>
          <a:ext cx="1223962" cy="338137"/>
        </p:xfrm>
        <a:graphic>
          <a:graphicData uri="http://schemas.openxmlformats.org/presentationml/2006/ole">
            <p:oleObj spid="_x0000_s65621" name="公式" r:id="rId12" imgW="583693" imgH="215713" progId="Equation.3">
              <p:embed/>
            </p:oleObj>
          </a:graphicData>
        </a:graphic>
      </p:graphicFrame>
      <p:grpSp>
        <p:nvGrpSpPr>
          <p:cNvPr id="4" name="Group 69"/>
          <p:cNvGrpSpPr>
            <a:grpSpLocks/>
          </p:cNvGrpSpPr>
          <p:nvPr/>
        </p:nvGrpSpPr>
        <p:grpSpPr bwMode="auto">
          <a:xfrm>
            <a:off x="1439863" y="3689350"/>
            <a:ext cx="3203575" cy="1258888"/>
            <a:chOff x="726" y="3067"/>
            <a:chExt cx="2154" cy="1149"/>
          </a:xfrm>
        </p:grpSpPr>
        <p:grpSp>
          <p:nvGrpSpPr>
            <p:cNvPr id="65553" name="Group 70"/>
            <p:cNvGrpSpPr>
              <a:grpSpLocks/>
            </p:cNvGrpSpPr>
            <p:nvPr/>
          </p:nvGrpSpPr>
          <p:grpSpPr bwMode="auto">
            <a:xfrm>
              <a:off x="726" y="3067"/>
              <a:ext cx="1180" cy="1149"/>
              <a:chOff x="635" y="3067"/>
              <a:chExt cx="1180" cy="1149"/>
            </a:xfrm>
          </p:grpSpPr>
          <p:graphicFrame>
            <p:nvGraphicFramePr>
              <p:cNvPr id="65556" name="Object 71"/>
              <p:cNvGraphicFramePr>
                <a:graphicFrameLocks noChangeAspect="1"/>
              </p:cNvGraphicFramePr>
              <p:nvPr/>
            </p:nvGraphicFramePr>
            <p:xfrm>
              <a:off x="635" y="3067"/>
              <a:ext cx="1097" cy="593"/>
            </p:xfrm>
            <a:graphic>
              <a:graphicData uri="http://schemas.openxmlformats.org/presentationml/2006/ole">
                <p:oleObj spid="_x0000_s65622" name="公式" r:id="rId13" imgW="634725" imgH="342751" progId="Equation.3">
                  <p:embed/>
                </p:oleObj>
              </a:graphicData>
            </a:graphic>
          </p:graphicFrame>
          <p:graphicFrame>
            <p:nvGraphicFramePr>
              <p:cNvPr id="65557" name="Object 72"/>
              <p:cNvGraphicFramePr>
                <a:graphicFrameLocks noChangeAspect="1"/>
              </p:cNvGraphicFramePr>
              <p:nvPr/>
            </p:nvGraphicFramePr>
            <p:xfrm>
              <a:off x="900" y="3702"/>
              <a:ext cx="710" cy="514"/>
            </p:xfrm>
            <a:graphic>
              <a:graphicData uri="http://schemas.openxmlformats.org/presentationml/2006/ole">
                <p:oleObj spid="_x0000_s65623" name="Equation" r:id="rId14" imgW="672808" imgH="444307" progId="Equation.DSMT4">
                  <p:embed/>
                </p:oleObj>
              </a:graphicData>
            </a:graphic>
          </p:graphicFrame>
          <p:sp>
            <p:nvSpPr>
              <p:cNvPr id="65558" name="AutoShape 73"/>
              <p:cNvSpPr>
                <a:spLocks/>
              </p:cNvSpPr>
              <p:nvPr/>
            </p:nvSpPr>
            <p:spPr bwMode="auto">
              <a:xfrm>
                <a:off x="1679" y="3385"/>
                <a:ext cx="136" cy="635"/>
              </a:xfrm>
              <a:prstGeom prst="rightBrace">
                <a:avLst>
                  <a:gd name="adj1" fmla="val 38909"/>
                  <a:gd name="adj2" fmla="val 50000"/>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graphicFrame>
          <p:nvGraphicFramePr>
            <p:cNvPr id="65554" name="Object 74"/>
            <p:cNvGraphicFramePr>
              <a:graphicFrameLocks noChangeAspect="1"/>
            </p:cNvGraphicFramePr>
            <p:nvPr/>
          </p:nvGraphicFramePr>
          <p:xfrm>
            <a:off x="2178" y="3339"/>
            <a:ext cx="702" cy="373"/>
          </p:xfrm>
          <a:graphic>
            <a:graphicData uri="http://schemas.openxmlformats.org/presentationml/2006/ole">
              <p:oleObj spid="_x0000_s65624" name="公式" r:id="rId15" imgW="406048" imgH="215713" progId="Equation.3">
                <p:embed/>
              </p:oleObj>
            </a:graphicData>
          </a:graphic>
        </p:graphicFrame>
        <p:graphicFrame>
          <p:nvGraphicFramePr>
            <p:cNvPr id="65555" name="Object 75"/>
            <p:cNvGraphicFramePr>
              <a:graphicFrameLocks noChangeAspect="1"/>
            </p:cNvGraphicFramePr>
            <p:nvPr/>
          </p:nvGraphicFramePr>
          <p:xfrm>
            <a:off x="2200" y="3702"/>
            <a:ext cx="680" cy="373"/>
          </p:xfrm>
          <a:graphic>
            <a:graphicData uri="http://schemas.openxmlformats.org/presentationml/2006/ole">
              <p:oleObj spid="_x0000_s65625" name="公式" r:id="rId16" imgW="393359" imgH="215713" progId="Equation.3">
                <p:embed/>
              </p:oleObj>
            </a:graphicData>
          </a:graphic>
        </p:graphicFrame>
      </p:grpSp>
      <p:grpSp>
        <p:nvGrpSpPr>
          <p:cNvPr id="6" name="Group 76"/>
          <p:cNvGrpSpPr>
            <a:grpSpLocks/>
          </p:cNvGrpSpPr>
          <p:nvPr/>
        </p:nvGrpSpPr>
        <p:grpSpPr bwMode="auto">
          <a:xfrm>
            <a:off x="4716463" y="3867150"/>
            <a:ext cx="2581275" cy="919163"/>
            <a:chOff x="2971" y="3158"/>
            <a:chExt cx="1866" cy="862"/>
          </a:xfrm>
        </p:grpSpPr>
        <p:graphicFrame>
          <p:nvGraphicFramePr>
            <p:cNvPr id="65551" name="对象 75"/>
            <p:cNvGraphicFramePr>
              <a:graphicFrameLocks noChangeAspect="1"/>
            </p:cNvGraphicFramePr>
            <p:nvPr/>
          </p:nvGraphicFramePr>
          <p:xfrm>
            <a:off x="3334" y="3188"/>
            <a:ext cx="1503" cy="336"/>
          </p:xfrm>
          <a:graphic>
            <a:graphicData uri="http://schemas.openxmlformats.org/presentationml/2006/ole">
              <p:oleObj spid="_x0000_s65626" name="Equation" r:id="rId17" imgW="1129810" imgH="253890" progId="Equation.DSMT4">
                <p:embed/>
              </p:oleObj>
            </a:graphicData>
          </a:graphic>
        </p:graphicFrame>
        <p:sp>
          <p:nvSpPr>
            <p:cNvPr id="65552" name="AutoShape 78"/>
            <p:cNvSpPr>
              <a:spLocks/>
            </p:cNvSpPr>
            <p:nvPr/>
          </p:nvSpPr>
          <p:spPr bwMode="auto">
            <a:xfrm>
              <a:off x="2971" y="3158"/>
              <a:ext cx="181" cy="862"/>
            </a:xfrm>
            <a:prstGeom prst="rightBrace">
              <a:avLst>
                <a:gd name="adj1" fmla="val 39687"/>
                <a:gd name="adj2" fmla="val 50000"/>
              </a:avLst>
            </a:prstGeom>
            <a:noFill/>
            <a:ln w="25400">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wrap="none" anchor="ctr"/>
            <a:lstStyle/>
            <a:p>
              <a:endParaRPr lang="zh-CN" altLang="en-US"/>
            </a:p>
          </p:txBody>
        </p:sp>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3" presetClass="entr" presetSubtype="10" fill="hold" nodeType="clickEffect">
                                  <p:stCondLst>
                                    <p:cond delay="0"/>
                                  </p:stCondLst>
                                  <p:childTnLst>
                                    <p:set>
                                      <p:cBhvr>
                                        <p:cTn id="6" dur="1" fill="hold">
                                          <p:stCondLst>
                                            <p:cond delay="0"/>
                                          </p:stCondLst>
                                        </p:cTn>
                                        <p:tgtEl>
                                          <p:spTgt spid="137279"/>
                                        </p:tgtEl>
                                        <p:attrNameLst>
                                          <p:attrName>style.visibility</p:attrName>
                                        </p:attrNameLst>
                                      </p:cBhvr>
                                      <p:to>
                                        <p:strVal val="visible"/>
                                      </p:to>
                                    </p:set>
                                    <p:animEffect transition="in" filter="blinds(horizontal)">
                                      <p:cBhvr>
                                        <p:cTn id="7" dur="500"/>
                                        <p:tgtEl>
                                          <p:spTgt spid="137279"/>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53" presetClass="entr" presetSubtype="16" fill="hold" nodeType="clickEffect">
                                  <p:stCondLst>
                                    <p:cond delay="0"/>
                                  </p:stCondLst>
                                  <p:childTnLst>
                                    <p:set>
                                      <p:cBhvr>
                                        <p:cTn id="11" dur="1" fill="hold">
                                          <p:stCondLst>
                                            <p:cond delay="0"/>
                                          </p:stCondLst>
                                        </p:cTn>
                                        <p:tgtEl>
                                          <p:spTgt spid="2"/>
                                        </p:tgtEl>
                                        <p:attrNameLst>
                                          <p:attrName>style.visibility</p:attrName>
                                        </p:attrNameLst>
                                      </p:cBhvr>
                                      <p:to>
                                        <p:strVal val="visible"/>
                                      </p:to>
                                    </p:set>
                                    <p:anim calcmode="lin" valueType="num">
                                      <p:cBhvr>
                                        <p:cTn id="12" dur="500" fill="hold"/>
                                        <p:tgtEl>
                                          <p:spTgt spid="2"/>
                                        </p:tgtEl>
                                        <p:attrNameLst>
                                          <p:attrName>ppt_w</p:attrName>
                                        </p:attrNameLst>
                                      </p:cBhvr>
                                      <p:tavLst>
                                        <p:tav tm="0">
                                          <p:val>
                                            <p:fltVal val="0"/>
                                          </p:val>
                                        </p:tav>
                                        <p:tav tm="100000">
                                          <p:val>
                                            <p:strVal val="#ppt_w"/>
                                          </p:val>
                                        </p:tav>
                                      </p:tavLst>
                                    </p:anim>
                                    <p:anim calcmode="lin" valueType="num">
                                      <p:cBhvr>
                                        <p:cTn id="13" dur="500" fill="hold"/>
                                        <p:tgtEl>
                                          <p:spTgt spid="2"/>
                                        </p:tgtEl>
                                        <p:attrNameLst>
                                          <p:attrName>ppt_h</p:attrName>
                                        </p:attrNameLst>
                                      </p:cBhvr>
                                      <p:tavLst>
                                        <p:tav tm="0">
                                          <p:val>
                                            <p:fltVal val="0"/>
                                          </p:val>
                                        </p:tav>
                                        <p:tav tm="100000">
                                          <p:val>
                                            <p:strVal val="#ppt_h"/>
                                          </p:val>
                                        </p:tav>
                                      </p:tavLst>
                                    </p:anim>
                                    <p:animEffect transition="in" filter="fade">
                                      <p:cBhvr>
                                        <p:cTn id="14" dur="500"/>
                                        <p:tgtEl>
                                          <p:spTgt spid="2"/>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53" presetClass="entr" presetSubtype="16" fill="hold" nodeType="clickEffect">
                                  <p:stCondLst>
                                    <p:cond delay="0"/>
                                  </p:stCondLst>
                                  <p:childTnLst>
                                    <p:set>
                                      <p:cBhvr>
                                        <p:cTn id="18" dur="1" fill="hold">
                                          <p:stCondLst>
                                            <p:cond delay="0"/>
                                          </p:stCondLst>
                                        </p:cTn>
                                        <p:tgtEl>
                                          <p:spTgt spid="3"/>
                                        </p:tgtEl>
                                        <p:attrNameLst>
                                          <p:attrName>style.visibility</p:attrName>
                                        </p:attrNameLst>
                                      </p:cBhvr>
                                      <p:to>
                                        <p:strVal val="visible"/>
                                      </p:to>
                                    </p:set>
                                    <p:anim calcmode="lin" valueType="num">
                                      <p:cBhvr>
                                        <p:cTn id="19" dur="500" fill="hold"/>
                                        <p:tgtEl>
                                          <p:spTgt spid="3"/>
                                        </p:tgtEl>
                                        <p:attrNameLst>
                                          <p:attrName>ppt_w</p:attrName>
                                        </p:attrNameLst>
                                      </p:cBhvr>
                                      <p:tavLst>
                                        <p:tav tm="0">
                                          <p:val>
                                            <p:fltVal val="0"/>
                                          </p:val>
                                        </p:tav>
                                        <p:tav tm="100000">
                                          <p:val>
                                            <p:strVal val="#ppt_w"/>
                                          </p:val>
                                        </p:tav>
                                      </p:tavLst>
                                    </p:anim>
                                    <p:anim calcmode="lin" valueType="num">
                                      <p:cBhvr>
                                        <p:cTn id="20" dur="500" fill="hold"/>
                                        <p:tgtEl>
                                          <p:spTgt spid="3"/>
                                        </p:tgtEl>
                                        <p:attrNameLst>
                                          <p:attrName>ppt_h</p:attrName>
                                        </p:attrNameLst>
                                      </p:cBhvr>
                                      <p:tavLst>
                                        <p:tav tm="0">
                                          <p:val>
                                            <p:fltVal val="0"/>
                                          </p:val>
                                        </p:tav>
                                        <p:tav tm="100000">
                                          <p:val>
                                            <p:strVal val="#ppt_h"/>
                                          </p:val>
                                        </p:tav>
                                      </p:tavLst>
                                    </p:anim>
                                    <p:animEffect transition="in" filter="fade">
                                      <p:cBhvr>
                                        <p:cTn id="21" dur="500"/>
                                        <p:tgtEl>
                                          <p:spTgt spid="3"/>
                                        </p:tgtEl>
                                      </p:cBhvr>
                                    </p:animEffect>
                                  </p:childTnLst>
                                </p:cTn>
                              </p:par>
                            </p:childTnLst>
                          </p:cTn>
                        </p:par>
                      </p:childTnLst>
                    </p:cTn>
                  </p:par>
                  <p:par>
                    <p:cTn id="22" fill="hold" nodeType="clickPar">
                      <p:stCondLst>
                        <p:cond delay="indefinite"/>
                      </p:stCondLst>
                      <p:childTnLst>
                        <p:par>
                          <p:cTn id="23" fill="hold" nodeType="withGroup">
                            <p:stCondLst>
                              <p:cond delay="0"/>
                            </p:stCondLst>
                            <p:childTnLst>
                              <p:par>
                                <p:cTn id="24" presetID="3" presetClass="entr" presetSubtype="10" fill="hold" nodeType="clickEffect">
                                  <p:stCondLst>
                                    <p:cond delay="0"/>
                                  </p:stCondLst>
                                  <p:childTnLst>
                                    <p:set>
                                      <p:cBhvr>
                                        <p:cTn id="25" dur="1" fill="hold">
                                          <p:stCondLst>
                                            <p:cond delay="0"/>
                                          </p:stCondLst>
                                        </p:cTn>
                                        <p:tgtEl>
                                          <p:spTgt spid="137280"/>
                                        </p:tgtEl>
                                        <p:attrNameLst>
                                          <p:attrName>style.visibility</p:attrName>
                                        </p:attrNameLst>
                                      </p:cBhvr>
                                      <p:to>
                                        <p:strVal val="visible"/>
                                      </p:to>
                                    </p:set>
                                    <p:animEffect transition="in" filter="blinds(horizontal)">
                                      <p:cBhvr>
                                        <p:cTn id="26" dur="500"/>
                                        <p:tgtEl>
                                          <p:spTgt spid="137280"/>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3" presetClass="entr" presetSubtype="10" fill="hold" nodeType="clickEffect">
                                  <p:stCondLst>
                                    <p:cond delay="0"/>
                                  </p:stCondLst>
                                  <p:childTnLst>
                                    <p:set>
                                      <p:cBhvr>
                                        <p:cTn id="30" dur="1" fill="hold">
                                          <p:stCondLst>
                                            <p:cond delay="0"/>
                                          </p:stCondLst>
                                        </p:cTn>
                                        <p:tgtEl>
                                          <p:spTgt spid="137281"/>
                                        </p:tgtEl>
                                        <p:attrNameLst>
                                          <p:attrName>style.visibility</p:attrName>
                                        </p:attrNameLst>
                                      </p:cBhvr>
                                      <p:to>
                                        <p:strVal val="visible"/>
                                      </p:to>
                                    </p:set>
                                    <p:animEffect transition="in" filter="blinds(horizontal)">
                                      <p:cBhvr>
                                        <p:cTn id="31" dur="500"/>
                                        <p:tgtEl>
                                          <p:spTgt spid="137281"/>
                                        </p:tgtEl>
                                      </p:cBhvr>
                                    </p:animEffect>
                                  </p:childTnLst>
                                </p:cTn>
                              </p:par>
                            </p:childTnLst>
                          </p:cTn>
                        </p:par>
                      </p:childTnLst>
                    </p:cTn>
                  </p:par>
                  <p:par>
                    <p:cTn id="32" fill="hold" nodeType="clickPar">
                      <p:stCondLst>
                        <p:cond delay="indefinite"/>
                      </p:stCondLst>
                      <p:childTnLst>
                        <p:par>
                          <p:cTn id="33" fill="hold" nodeType="withGroup">
                            <p:stCondLst>
                              <p:cond delay="0"/>
                            </p:stCondLst>
                            <p:childTnLst>
                              <p:par>
                                <p:cTn id="34" presetID="22" presetClass="entr" presetSubtype="8" fill="hold" grpId="0" nodeType="clickEffect">
                                  <p:stCondLst>
                                    <p:cond delay="0"/>
                                  </p:stCondLst>
                                  <p:childTnLst>
                                    <p:set>
                                      <p:cBhvr>
                                        <p:cTn id="35" dur="1" fill="hold">
                                          <p:stCondLst>
                                            <p:cond delay="0"/>
                                          </p:stCondLst>
                                        </p:cTn>
                                        <p:tgtEl>
                                          <p:spTgt spid="23"/>
                                        </p:tgtEl>
                                        <p:attrNameLst>
                                          <p:attrName>style.visibility</p:attrName>
                                        </p:attrNameLst>
                                      </p:cBhvr>
                                      <p:to>
                                        <p:strVal val="visible"/>
                                      </p:to>
                                    </p:set>
                                    <p:animEffect transition="in" filter="wipe(left)">
                                      <p:cBhvr>
                                        <p:cTn id="36" dur="500"/>
                                        <p:tgtEl>
                                          <p:spTgt spid="23"/>
                                        </p:tgtEl>
                                      </p:cBhvr>
                                    </p:animEffect>
                                  </p:childTnLst>
                                </p:cTn>
                              </p:par>
                            </p:childTnLst>
                          </p:cTn>
                        </p:par>
                      </p:childTnLst>
                    </p:cTn>
                  </p:par>
                  <p:par>
                    <p:cTn id="37" fill="hold" nodeType="clickPar">
                      <p:stCondLst>
                        <p:cond delay="indefinite"/>
                      </p:stCondLst>
                      <p:childTnLst>
                        <p:par>
                          <p:cTn id="38" fill="hold" nodeType="withGroup">
                            <p:stCondLst>
                              <p:cond delay="0"/>
                            </p:stCondLst>
                            <p:childTnLst>
                              <p:par>
                                <p:cTn id="39" presetID="3" presetClass="entr" presetSubtype="10" fill="hold" nodeType="clickEffect">
                                  <p:stCondLst>
                                    <p:cond delay="0"/>
                                  </p:stCondLst>
                                  <p:childTnLst>
                                    <p:set>
                                      <p:cBhvr>
                                        <p:cTn id="40" dur="1" fill="hold">
                                          <p:stCondLst>
                                            <p:cond delay="0"/>
                                          </p:stCondLst>
                                        </p:cTn>
                                        <p:tgtEl>
                                          <p:spTgt spid="137283"/>
                                        </p:tgtEl>
                                        <p:attrNameLst>
                                          <p:attrName>style.visibility</p:attrName>
                                        </p:attrNameLst>
                                      </p:cBhvr>
                                      <p:to>
                                        <p:strVal val="visible"/>
                                      </p:to>
                                    </p:set>
                                    <p:animEffect transition="in" filter="blinds(horizontal)">
                                      <p:cBhvr>
                                        <p:cTn id="41" dur="500"/>
                                        <p:tgtEl>
                                          <p:spTgt spid="137283"/>
                                        </p:tgtEl>
                                      </p:cBhvr>
                                    </p:animEffect>
                                  </p:childTnLst>
                                </p:cTn>
                              </p:par>
                            </p:childTnLst>
                          </p:cTn>
                        </p:par>
                      </p:childTnLst>
                    </p:cTn>
                  </p:par>
                  <p:par>
                    <p:cTn id="42" fill="hold" nodeType="clickPar">
                      <p:stCondLst>
                        <p:cond delay="indefinite"/>
                      </p:stCondLst>
                      <p:childTnLst>
                        <p:par>
                          <p:cTn id="43" fill="hold" nodeType="withGroup">
                            <p:stCondLst>
                              <p:cond delay="0"/>
                            </p:stCondLst>
                            <p:childTnLst>
                              <p:par>
                                <p:cTn id="44" presetID="22" presetClass="entr" presetSubtype="8" fill="hold" grpId="0" nodeType="clickEffect">
                                  <p:stCondLst>
                                    <p:cond delay="0"/>
                                  </p:stCondLst>
                                  <p:childTnLst>
                                    <p:set>
                                      <p:cBhvr>
                                        <p:cTn id="45" dur="1" fill="hold">
                                          <p:stCondLst>
                                            <p:cond delay="0"/>
                                          </p:stCondLst>
                                        </p:cTn>
                                        <p:tgtEl>
                                          <p:spTgt spid="71"/>
                                        </p:tgtEl>
                                        <p:attrNameLst>
                                          <p:attrName>style.visibility</p:attrName>
                                        </p:attrNameLst>
                                      </p:cBhvr>
                                      <p:to>
                                        <p:strVal val="visible"/>
                                      </p:to>
                                    </p:set>
                                    <p:animEffect transition="in" filter="wipe(left)">
                                      <p:cBhvr>
                                        <p:cTn id="46" dur="500"/>
                                        <p:tgtEl>
                                          <p:spTgt spid="71"/>
                                        </p:tgtEl>
                                      </p:cBhvr>
                                    </p:animEffect>
                                  </p:childTnLst>
                                </p:cTn>
                              </p:par>
                            </p:childTnLst>
                          </p:cTn>
                        </p:par>
                      </p:childTnLst>
                    </p:cTn>
                  </p:par>
                  <p:par>
                    <p:cTn id="47" fill="hold" nodeType="clickPar">
                      <p:stCondLst>
                        <p:cond delay="indefinite"/>
                      </p:stCondLst>
                      <p:childTnLst>
                        <p:par>
                          <p:cTn id="48" fill="hold" nodeType="withGroup">
                            <p:stCondLst>
                              <p:cond delay="0"/>
                            </p:stCondLst>
                            <p:childTnLst>
                              <p:par>
                                <p:cTn id="49" presetID="22" presetClass="entr" presetSubtype="8" fill="hold" nodeType="clickEffect">
                                  <p:stCondLst>
                                    <p:cond delay="0"/>
                                  </p:stCondLst>
                                  <p:childTnLst>
                                    <p:set>
                                      <p:cBhvr>
                                        <p:cTn id="50" dur="1" fill="hold">
                                          <p:stCondLst>
                                            <p:cond delay="0"/>
                                          </p:stCondLst>
                                        </p:cTn>
                                        <p:tgtEl>
                                          <p:spTgt spid="72"/>
                                        </p:tgtEl>
                                        <p:attrNameLst>
                                          <p:attrName>style.visibility</p:attrName>
                                        </p:attrNameLst>
                                      </p:cBhvr>
                                      <p:to>
                                        <p:strVal val="visible"/>
                                      </p:to>
                                    </p:set>
                                    <p:animEffect transition="in" filter="wipe(left)">
                                      <p:cBhvr>
                                        <p:cTn id="51" dur="500"/>
                                        <p:tgtEl>
                                          <p:spTgt spid="72"/>
                                        </p:tgtEl>
                                      </p:cBhvr>
                                    </p:animEffect>
                                  </p:childTnLst>
                                </p:cTn>
                              </p:par>
                            </p:childTnLst>
                          </p:cTn>
                        </p:par>
                      </p:childTnLst>
                    </p:cTn>
                  </p:par>
                  <p:par>
                    <p:cTn id="52" fill="hold" nodeType="clickPar">
                      <p:stCondLst>
                        <p:cond delay="indefinite"/>
                      </p:stCondLst>
                      <p:childTnLst>
                        <p:par>
                          <p:cTn id="53" fill="hold" nodeType="withGroup">
                            <p:stCondLst>
                              <p:cond delay="0"/>
                            </p:stCondLst>
                            <p:childTnLst>
                              <p:par>
                                <p:cTn id="54" presetID="22" presetClass="entr" presetSubtype="8" fill="hold" nodeType="clickEffect">
                                  <p:stCondLst>
                                    <p:cond delay="0"/>
                                  </p:stCondLst>
                                  <p:childTnLst>
                                    <p:set>
                                      <p:cBhvr>
                                        <p:cTn id="55" dur="1" fill="hold">
                                          <p:stCondLst>
                                            <p:cond delay="0"/>
                                          </p:stCondLst>
                                        </p:cTn>
                                        <p:tgtEl>
                                          <p:spTgt spid="74"/>
                                        </p:tgtEl>
                                        <p:attrNameLst>
                                          <p:attrName>style.visibility</p:attrName>
                                        </p:attrNameLst>
                                      </p:cBhvr>
                                      <p:to>
                                        <p:strVal val="visible"/>
                                      </p:to>
                                    </p:set>
                                    <p:animEffect transition="in" filter="wipe(left)">
                                      <p:cBhvr>
                                        <p:cTn id="56" dur="500"/>
                                        <p:tgtEl>
                                          <p:spTgt spid="74"/>
                                        </p:tgtEl>
                                      </p:cBhvr>
                                    </p:animEffect>
                                  </p:childTnLst>
                                </p:cTn>
                              </p:par>
                            </p:childTnLst>
                          </p:cTn>
                        </p:par>
                      </p:childTnLst>
                    </p:cTn>
                  </p:par>
                  <p:par>
                    <p:cTn id="57" fill="hold" nodeType="clickPar">
                      <p:stCondLst>
                        <p:cond delay="indefinite"/>
                      </p:stCondLst>
                      <p:childTnLst>
                        <p:par>
                          <p:cTn id="58" fill="hold" nodeType="withGroup">
                            <p:stCondLst>
                              <p:cond delay="0"/>
                            </p:stCondLst>
                            <p:childTnLst>
                              <p:par>
                                <p:cTn id="59" presetID="3" presetClass="entr" presetSubtype="10" fill="hold" nodeType="clickEffect">
                                  <p:stCondLst>
                                    <p:cond delay="0"/>
                                  </p:stCondLst>
                                  <p:childTnLst>
                                    <p:set>
                                      <p:cBhvr>
                                        <p:cTn id="60" dur="1" fill="hold">
                                          <p:stCondLst>
                                            <p:cond delay="0"/>
                                          </p:stCondLst>
                                        </p:cTn>
                                        <p:tgtEl>
                                          <p:spTgt spid="4"/>
                                        </p:tgtEl>
                                        <p:attrNameLst>
                                          <p:attrName>style.visibility</p:attrName>
                                        </p:attrNameLst>
                                      </p:cBhvr>
                                      <p:to>
                                        <p:strVal val="visible"/>
                                      </p:to>
                                    </p:set>
                                    <p:animEffect transition="in" filter="blinds(horizontal)">
                                      <p:cBhvr>
                                        <p:cTn id="61" dur="500"/>
                                        <p:tgtEl>
                                          <p:spTgt spid="4"/>
                                        </p:tgtEl>
                                      </p:cBhvr>
                                    </p:animEffect>
                                  </p:childTnLst>
                                </p:cTn>
                              </p:par>
                            </p:childTnLst>
                          </p:cTn>
                        </p:par>
                      </p:childTnLst>
                    </p:cTn>
                  </p:par>
                  <p:par>
                    <p:cTn id="62" fill="hold" nodeType="clickPar">
                      <p:stCondLst>
                        <p:cond delay="indefinite"/>
                      </p:stCondLst>
                      <p:childTnLst>
                        <p:par>
                          <p:cTn id="63" fill="hold" nodeType="withGroup">
                            <p:stCondLst>
                              <p:cond delay="0"/>
                            </p:stCondLst>
                            <p:childTnLst>
                              <p:par>
                                <p:cTn id="64" presetID="3" presetClass="entr" presetSubtype="10" fill="hold" nodeType="clickEffect">
                                  <p:stCondLst>
                                    <p:cond delay="0"/>
                                  </p:stCondLst>
                                  <p:childTnLst>
                                    <p:set>
                                      <p:cBhvr>
                                        <p:cTn id="65" dur="1" fill="hold">
                                          <p:stCondLst>
                                            <p:cond delay="0"/>
                                          </p:stCondLst>
                                        </p:cTn>
                                        <p:tgtEl>
                                          <p:spTgt spid="6"/>
                                        </p:tgtEl>
                                        <p:attrNameLst>
                                          <p:attrName>style.visibility</p:attrName>
                                        </p:attrNameLst>
                                      </p:cBhvr>
                                      <p:to>
                                        <p:strVal val="visible"/>
                                      </p:to>
                                    </p:set>
                                    <p:animEffect transition="in" filter="blinds(horizontal)">
                                      <p:cBhvr>
                                        <p:cTn id="66" dur="500"/>
                                        <p:tgtEl>
                                          <p:spTgt spid="6"/>
                                        </p:tgtEl>
                                      </p:cBhvr>
                                    </p:animEffect>
                                  </p:childTnLst>
                                </p:cTn>
                              </p:par>
                            </p:childTnLst>
                          </p:cTn>
                        </p:par>
                      </p:childTnLst>
                    </p:cTn>
                  </p:par>
                  <p:par>
                    <p:cTn id="67" fill="hold" nodeType="clickPar">
                      <p:stCondLst>
                        <p:cond delay="indefinite"/>
                      </p:stCondLst>
                      <p:childTnLst>
                        <p:par>
                          <p:cTn id="68" fill="hold" nodeType="withGroup">
                            <p:stCondLst>
                              <p:cond delay="0"/>
                            </p:stCondLst>
                            <p:childTnLst>
                              <p:par>
                                <p:cTn id="69" presetID="53" presetClass="entr" presetSubtype="16" fill="hold" nodeType="clickEffect">
                                  <p:stCondLst>
                                    <p:cond delay="0"/>
                                  </p:stCondLst>
                                  <p:childTnLst>
                                    <p:set>
                                      <p:cBhvr>
                                        <p:cTn id="70" dur="1" fill="hold">
                                          <p:stCondLst>
                                            <p:cond delay="0"/>
                                          </p:stCondLst>
                                        </p:cTn>
                                        <p:tgtEl>
                                          <p:spTgt spid="37890"/>
                                        </p:tgtEl>
                                        <p:attrNameLst>
                                          <p:attrName>style.visibility</p:attrName>
                                        </p:attrNameLst>
                                      </p:cBhvr>
                                      <p:to>
                                        <p:strVal val="visible"/>
                                      </p:to>
                                    </p:set>
                                    <p:anim calcmode="lin" valueType="num">
                                      <p:cBhvr>
                                        <p:cTn id="71" dur="500" fill="hold"/>
                                        <p:tgtEl>
                                          <p:spTgt spid="37890"/>
                                        </p:tgtEl>
                                        <p:attrNameLst>
                                          <p:attrName>ppt_w</p:attrName>
                                        </p:attrNameLst>
                                      </p:cBhvr>
                                      <p:tavLst>
                                        <p:tav tm="0">
                                          <p:val>
                                            <p:fltVal val="0"/>
                                          </p:val>
                                        </p:tav>
                                        <p:tav tm="100000">
                                          <p:val>
                                            <p:strVal val="#ppt_w"/>
                                          </p:val>
                                        </p:tav>
                                      </p:tavLst>
                                    </p:anim>
                                    <p:anim calcmode="lin" valueType="num">
                                      <p:cBhvr>
                                        <p:cTn id="72" dur="500" fill="hold"/>
                                        <p:tgtEl>
                                          <p:spTgt spid="37890"/>
                                        </p:tgtEl>
                                        <p:attrNameLst>
                                          <p:attrName>ppt_h</p:attrName>
                                        </p:attrNameLst>
                                      </p:cBhvr>
                                      <p:tavLst>
                                        <p:tav tm="0">
                                          <p:val>
                                            <p:fltVal val="0"/>
                                          </p:val>
                                        </p:tav>
                                        <p:tav tm="100000">
                                          <p:val>
                                            <p:strVal val="#ppt_h"/>
                                          </p:val>
                                        </p:tav>
                                      </p:tavLst>
                                    </p:anim>
                                    <p:animEffect transition="in" filter="fade">
                                      <p:cBhvr>
                                        <p:cTn id="73" dur="500"/>
                                        <p:tgtEl>
                                          <p:spTgt spid="37890"/>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1" grpId="0"/>
      <p:bldP spid="23" grpId="0"/>
    </p:bldLst>
  </p:timing>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7890" name="对象 2"/>
          <p:cNvGraphicFramePr>
            <a:graphicFrameLocks noChangeAspect="1"/>
          </p:cNvGraphicFramePr>
          <p:nvPr/>
        </p:nvGraphicFramePr>
        <p:xfrm>
          <a:off x="4932363" y="3813175"/>
          <a:ext cx="1295400" cy="358775"/>
        </p:xfrm>
        <a:graphic>
          <a:graphicData uri="http://schemas.openxmlformats.org/presentationml/2006/ole">
            <p:oleObj spid="_x0000_s66633" name="公式" r:id="rId3" imgW="583693" imgH="215713" progId="Equation.3">
              <p:embed/>
            </p:oleObj>
          </a:graphicData>
        </a:graphic>
      </p:graphicFrame>
      <p:sp>
        <p:nvSpPr>
          <p:cNvPr id="59" name="Text Box 164"/>
          <p:cNvSpPr txBox="1">
            <a:spLocks noChangeArrowheads="1"/>
          </p:cNvSpPr>
          <p:nvPr/>
        </p:nvSpPr>
        <p:spPr bwMode="auto">
          <a:xfrm>
            <a:off x="800100" y="1087438"/>
            <a:ext cx="55022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FF3300"/>
                </a:solidFill>
                <a:ea typeface="华文中宋" pitchFamily="2" charset="-122"/>
              </a:rPr>
              <a:t>简化为</a:t>
            </a:r>
            <a:r>
              <a:rPr lang="zh-CN" altLang="en-US" sz="1800" b="1">
                <a:ea typeface="华文中宋" pitchFamily="2" charset="-122"/>
              </a:rPr>
              <a:t>只有一个分子 </a:t>
            </a:r>
            <a:r>
              <a:rPr lang="en-US" altLang="zh-CN" sz="1800" b="1">
                <a:ea typeface="华文中宋" pitchFamily="2" charset="-122"/>
              </a:rPr>
              <a:t>A </a:t>
            </a:r>
            <a:r>
              <a:rPr lang="zh-CN" altLang="en-US" sz="1800" b="1">
                <a:ea typeface="华文中宋" pitchFamily="2" charset="-122"/>
              </a:rPr>
              <a:t>运动，其他分子都静止不动。</a:t>
            </a:r>
            <a:endParaRPr lang="zh-CN" altLang="en-US" sz="1800" b="1">
              <a:solidFill>
                <a:srgbClr val="FF3300"/>
              </a:solidFill>
              <a:ea typeface="华文中宋" pitchFamily="2" charset="-122"/>
            </a:endParaRPr>
          </a:p>
        </p:txBody>
      </p:sp>
      <p:grpSp>
        <p:nvGrpSpPr>
          <p:cNvPr id="3" name="组合 4"/>
          <p:cNvGrpSpPr>
            <a:grpSpLocks/>
          </p:cNvGrpSpPr>
          <p:nvPr/>
        </p:nvGrpSpPr>
        <p:grpSpPr bwMode="auto">
          <a:xfrm>
            <a:off x="1271588" y="1520825"/>
            <a:ext cx="6629400" cy="1411288"/>
            <a:chOff x="1271588" y="1811338"/>
            <a:chExt cx="6629400" cy="1882775"/>
          </a:xfrm>
        </p:grpSpPr>
        <p:grpSp>
          <p:nvGrpSpPr>
            <p:cNvPr id="66577" name="组合 97"/>
            <p:cNvGrpSpPr>
              <a:grpSpLocks/>
            </p:cNvGrpSpPr>
            <p:nvPr/>
          </p:nvGrpSpPr>
          <p:grpSpPr bwMode="auto">
            <a:xfrm>
              <a:off x="1271588" y="1811338"/>
              <a:ext cx="6629400" cy="1882775"/>
              <a:chOff x="1152525" y="2798763"/>
              <a:chExt cx="6629019" cy="1882775"/>
            </a:xfrm>
          </p:grpSpPr>
          <p:sp>
            <p:nvSpPr>
              <p:cNvPr id="66579" name="任意多边形 46"/>
              <p:cNvSpPr>
                <a:spLocks/>
              </p:cNvSpPr>
              <p:nvPr/>
            </p:nvSpPr>
            <p:spPr bwMode="auto">
              <a:xfrm>
                <a:off x="1536700" y="2952750"/>
                <a:ext cx="5951538" cy="906463"/>
              </a:xfrm>
              <a:custGeom>
                <a:avLst/>
                <a:gdLst>
                  <a:gd name="T0" fmla="*/ 0 w 5952744"/>
                  <a:gd name="T1" fmla="*/ 327372 h 905256"/>
                  <a:gd name="T2" fmla="*/ 1540022 w 5952744"/>
                  <a:gd name="T3" fmla="*/ 925995 h 905256"/>
                  <a:gd name="T4" fmla="*/ 3398981 w 5952744"/>
                  <a:gd name="T5" fmla="*/ 0 h 905256"/>
                  <a:gd name="T6" fmla="*/ 5932267 w 5952744"/>
                  <a:gd name="T7" fmla="*/ 738925 h 905256"/>
                  <a:gd name="T8" fmla="*/ 0 60000 65536"/>
                  <a:gd name="T9" fmla="*/ 0 60000 65536"/>
                  <a:gd name="T10" fmla="*/ 0 60000 65536"/>
                  <a:gd name="T11" fmla="*/ 0 60000 65536"/>
                  <a:gd name="T12" fmla="*/ 0 w 5952744"/>
                  <a:gd name="T13" fmla="*/ 0 h 905256"/>
                  <a:gd name="T14" fmla="*/ 5952744 w 5952744"/>
                  <a:gd name="T15" fmla="*/ 905256 h 905256"/>
                </a:gdLst>
                <a:ahLst/>
                <a:cxnLst>
                  <a:cxn ang="T8">
                    <a:pos x="T0" y="T1"/>
                  </a:cxn>
                  <a:cxn ang="T9">
                    <a:pos x="T2" y="T3"/>
                  </a:cxn>
                  <a:cxn ang="T10">
                    <a:pos x="T4" y="T5"/>
                  </a:cxn>
                  <a:cxn ang="T11">
                    <a:pos x="T6" y="T7"/>
                  </a:cxn>
                </a:cxnLst>
                <a:rect l="T12" t="T13" r="T14" b="T15"/>
                <a:pathLst>
                  <a:path w="5952744" h="905256">
                    <a:moveTo>
                      <a:pt x="0" y="320040"/>
                    </a:moveTo>
                    <a:lnTo>
                      <a:pt x="1545336" y="905256"/>
                    </a:lnTo>
                    <a:lnTo>
                      <a:pt x="3410712" y="0"/>
                    </a:lnTo>
                    <a:lnTo>
                      <a:pt x="5952744" y="722376"/>
                    </a:lnTo>
                  </a:path>
                </a:pathLst>
              </a:custGeom>
              <a:noFill/>
              <a:ln w="12700"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66580" name="任意多边形 47"/>
              <p:cNvSpPr>
                <a:spLocks/>
              </p:cNvSpPr>
              <p:nvPr/>
            </p:nvSpPr>
            <p:spPr bwMode="auto">
              <a:xfrm>
                <a:off x="1344613" y="3621088"/>
                <a:ext cx="5951537" cy="904875"/>
              </a:xfrm>
              <a:custGeom>
                <a:avLst/>
                <a:gdLst>
                  <a:gd name="T0" fmla="*/ 0 w 5952744"/>
                  <a:gd name="T1" fmla="*/ 317758 h 905256"/>
                  <a:gd name="T2" fmla="*/ 1540018 w 5952744"/>
                  <a:gd name="T3" fmla="*/ 898800 h 905256"/>
                  <a:gd name="T4" fmla="*/ 3398972 w 5952744"/>
                  <a:gd name="T5" fmla="*/ 0 h 905256"/>
                  <a:gd name="T6" fmla="*/ 5932250 w 5952744"/>
                  <a:gd name="T7" fmla="*/ 717226 h 905256"/>
                  <a:gd name="T8" fmla="*/ 0 60000 65536"/>
                  <a:gd name="T9" fmla="*/ 0 60000 65536"/>
                  <a:gd name="T10" fmla="*/ 0 60000 65536"/>
                  <a:gd name="T11" fmla="*/ 0 60000 65536"/>
                  <a:gd name="T12" fmla="*/ 0 w 5952744"/>
                  <a:gd name="T13" fmla="*/ 0 h 905256"/>
                  <a:gd name="T14" fmla="*/ 5952744 w 5952744"/>
                  <a:gd name="T15" fmla="*/ 905256 h 905256"/>
                </a:gdLst>
                <a:ahLst/>
                <a:cxnLst>
                  <a:cxn ang="T8">
                    <a:pos x="T0" y="T1"/>
                  </a:cxn>
                  <a:cxn ang="T9">
                    <a:pos x="T2" y="T3"/>
                  </a:cxn>
                  <a:cxn ang="T10">
                    <a:pos x="T4" y="T5"/>
                  </a:cxn>
                  <a:cxn ang="T11">
                    <a:pos x="T6" y="T7"/>
                  </a:cxn>
                </a:cxnLst>
                <a:rect l="T12" t="T13" r="T14" b="T15"/>
                <a:pathLst>
                  <a:path w="5952744" h="905256">
                    <a:moveTo>
                      <a:pt x="0" y="320040"/>
                    </a:moveTo>
                    <a:lnTo>
                      <a:pt x="1545336" y="905256"/>
                    </a:lnTo>
                    <a:lnTo>
                      <a:pt x="3410712" y="0"/>
                    </a:lnTo>
                    <a:lnTo>
                      <a:pt x="5952744" y="722376"/>
                    </a:lnTo>
                  </a:path>
                </a:pathLst>
              </a:custGeom>
              <a:noFill/>
              <a:ln w="12700" algn="ctr">
                <a:solidFill>
                  <a:schemeClr val="tx1"/>
                </a:solidFill>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66581" name="任意多边形 48"/>
              <p:cNvSpPr>
                <a:spLocks/>
              </p:cNvSpPr>
              <p:nvPr/>
            </p:nvSpPr>
            <p:spPr bwMode="auto">
              <a:xfrm>
                <a:off x="1427163" y="3282950"/>
                <a:ext cx="5951537" cy="904875"/>
              </a:xfrm>
              <a:custGeom>
                <a:avLst/>
                <a:gdLst>
                  <a:gd name="T0" fmla="*/ 0 w 5952744"/>
                  <a:gd name="T1" fmla="*/ 317758 h 905256"/>
                  <a:gd name="T2" fmla="*/ 1540018 w 5952744"/>
                  <a:gd name="T3" fmla="*/ 898800 h 905256"/>
                  <a:gd name="T4" fmla="*/ 3398972 w 5952744"/>
                  <a:gd name="T5" fmla="*/ 0 h 905256"/>
                  <a:gd name="T6" fmla="*/ 5932250 w 5952744"/>
                  <a:gd name="T7" fmla="*/ 717226 h 905256"/>
                  <a:gd name="T8" fmla="*/ 0 60000 65536"/>
                  <a:gd name="T9" fmla="*/ 0 60000 65536"/>
                  <a:gd name="T10" fmla="*/ 0 60000 65536"/>
                  <a:gd name="T11" fmla="*/ 0 60000 65536"/>
                  <a:gd name="T12" fmla="*/ 0 w 5952744"/>
                  <a:gd name="T13" fmla="*/ 0 h 905256"/>
                  <a:gd name="T14" fmla="*/ 5952744 w 5952744"/>
                  <a:gd name="T15" fmla="*/ 905256 h 905256"/>
                </a:gdLst>
                <a:ahLst/>
                <a:cxnLst>
                  <a:cxn ang="T8">
                    <a:pos x="T0" y="T1"/>
                  </a:cxn>
                  <a:cxn ang="T9">
                    <a:pos x="T2" y="T3"/>
                  </a:cxn>
                  <a:cxn ang="T10">
                    <a:pos x="T4" y="T5"/>
                  </a:cxn>
                  <a:cxn ang="T11">
                    <a:pos x="T6" y="T7"/>
                  </a:cxn>
                </a:cxnLst>
                <a:rect l="T12" t="T13" r="T14" b="T15"/>
                <a:pathLst>
                  <a:path w="5952744" h="905256">
                    <a:moveTo>
                      <a:pt x="0" y="320040"/>
                    </a:moveTo>
                    <a:lnTo>
                      <a:pt x="1545336" y="905256"/>
                    </a:lnTo>
                    <a:lnTo>
                      <a:pt x="3410712" y="0"/>
                    </a:lnTo>
                    <a:lnTo>
                      <a:pt x="5952744" y="722376"/>
                    </a:lnTo>
                  </a:path>
                </a:pathLst>
              </a:custGeom>
              <a:noFill/>
              <a:ln w="12700" algn="ctr">
                <a:solidFill>
                  <a:srgbClr val="00B0F0"/>
                </a:solidFill>
                <a:prstDash val="lgDashDot"/>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66582" name="任意多边形 49"/>
              <p:cNvSpPr>
                <a:spLocks/>
              </p:cNvSpPr>
              <p:nvPr/>
            </p:nvSpPr>
            <p:spPr bwMode="auto">
              <a:xfrm>
                <a:off x="1398588" y="3455988"/>
                <a:ext cx="5953125" cy="906462"/>
              </a:xfrm>
              <a:custGeom>
                <a:avLst/>
                <a:gdLst>
                  <a:gd name="T0" fmla="*/ 0 w 5952744"/>
                  <a:gd name="T1" fmla="*/ 327367 h 905256"/>
                  <a:gd name="T2" fmla="*/ 1547019 w 5952744"/>
                  <a:gd name="T3" fmla="*/ 925978 h 905256"/>
                  <a:gd name="T4" fmla="*/ 3414420 w 5952744"/>
                  <a:gd name="T5" fmla="*/ 0 h 905256"/>
                  <a:gd name="T6" fmla="*/ 5959217 w 5952744"/>
                  <a:gd name="T7" fmla="*/ 738912 h 905256"/>
                  <a:gd name="T8" fmla="*/ 0 60000 65536"/>
                  <a:gd name="T9" fmla="*/ 0 60000 65536"/>
                  <a:gd name="T10" fmla="*/ 0 60000 65536"/>
                  <a:gd name="T11" fmla="*/ 0 60000 65536"/>
                  <a:gd name="T12" fmla="*/ 0 w 5952744"/>
                  <a:gd name="T13" fmla="*/ 0 h 905256"/>
                  <a:gd name="T14" fmla="*/ 5952744 w 5952744"/>
                  <a:gd name="T15" fmla="*/ 905256 h 905256"/>
                </a:gdLst>
                <a:ahLst/>
                <a:cxnLst>
                  <a:cxn ang="T8">
                    <a:pos x="T0" y="T1"/>
                  </a:cxn>
                  <a:cxn ang="T9">
                    <a:pos x="T2" y="T3"/>
                  </a:cxn>
                  <a:cxn ang="T10">
                    <a:pos x="T4" y="T5"/>
                  </a:cxn>
                  <a:cxn ang="T11">
                    <a:pos x="T6" y="T7"/>
                  </a:cxn>
                </a:cxnLst>
                <a:rect l="T12" t="T13" r="T14" b="T15"/>
                <a:pathLst>
                  <a:path w="5952744" h="905256">
                    <a:moveTo>
                      <a:pt x="0" y="320040"/>
                    </a:moveTo>
                    <a:lnTo>
                      <a:pt x="1545336" y="905256"/>
                    </a:lnTo>
                    <a:lnTo>
                      <a:pt x="3410712" y="0"/>
                    </a:lnTo>
                    <a:lnTo>
                      <a:pt x="5952744" y="722376"/>
                    </a:lnTo>
                  </a:path>
                </a:pathLst>
              </a:custGeom>
              <a:noFill/>
              <a:ln w="9525" algn="ctr">
                <a:solidFill>
                  <a:schemeClr val="tx1"/>
                </a:solidFill>
                <a:prstDash val="dash"/>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66583" name="任意多边形 50"/>
              <p:cNvSpPr>
                <a:spLocks/>
              </p:cNvSpPr>
              <p:nvPr/>
            </p:nvSpPr>
            <p:spPr bwMode="auto">
              <a:xfrm>
                <a:off x="1481138" y="3117850"/>
                <a:ext cx="5953125" cy="904875"/>
              </a:xfrm>
              <a:custGeom>
                <a:avLst/>
                <a:gdLst>
                  <a:gd name="T0" fmla="*/ 0 w 5952744"/>
                  <a:gd name="T1" fmla="*/ 317758 h 905256"/>
                  <a:gd name="T2" fmla="*/ 1547019 w 5952744"/>
                  <a:gd name="T3" fmla="*/ 898800 h 905256"/>
                  <a:gd name="T4" fmla="*/ 3414420 w 5952744"/>
                  <a:gd name="T5" fmla="*/ 0 h 905256"/>
                  <a:gd name="T6" fmla="*/ 5959217 w 5952744"/>
                  <a:gd name="T7" fmla="*/ 717226 h 905256"/>
                  <a:gd name="T8" fmla="*/ 0 60000 65536"/>
                  <a:gd name="T9" fmla="*/ 0 60000 65536"/>
                  <a:gd name="T10" fmla="*/ 0 60000 65536"/>
                  <a:gd name="T11" fmla="*/ 0 60000 65536"/>
                  <a:gd name="T12" fmla="*/ 0 w 5952744"/>
                  <a:gd name="T13" fmla="*/ 0 h 905256"/>
                  <a:gd name="T14" fmla="*/ 5952744 w 5952744"/>
                  <a:gd name="T15" fmla="*/ 905256 h 905256"/>
                </a:gdLst>
                <a:ahLst/>
                <a:cxnLst>
                  <a:cxn ang="T8">
                    <a:pos x="T0" y="T1"/>
                  </a:cxn>
                  <a:cxn ang="T9">
                    <a:pos x="T2" y="T3"/>
                  </a:cxn>
                  <a:cxn ang="T10">
                    <a:pos x="T4" y="T5"/>
                  </a:cxn>
                  <a:cxn ang="T11">
                    <a:pos x="T6" y="T7"/>
                  </a:cxn>
                </a:cxnLst>
                <a:rect l="T12" t="T13" r="T14" b="T15"/>
                <a:pathLst>
                  <a:path w="5952744" h="905256">
                    <a:moveTo>
                      <a:pt x="0" y="320040"/>
                    </a:moveTo>
                    <a:lnTo>
                      <a:pt x="1545336" y="905256"/>
                    </a:lnTo>
                    <a:lnTo>
                      <a:pt x="3410712" y="0"/>
                    </a:lnTo>
                    <a:lnTo>
                      <a:pt x="5952744" y="722376"/>
                    </a:lnTo>
                  </a:path>
                </a:pathLst>
              </a:custGeom>
              <a:noFill/>
              <a:ln w="9525" algn="ctr">
                <a:solidFill>
                  <a:schemeClr val="tx1"/>
                </a:solidFill>
                <a:prstDash val="dash"/>
                <a:round/>
                <a:headEnd/>
                <a:tailEnd/>
              </a:ln>
              <a:extLst>
                <a:ext uri="{909E8E84-426E-40DD-AFC4-6F175D3DCCD1}">
                  <a14:hiddenFill xmlns:a14="http://schemas.microsoft.com/office/drawing/2010/main" xmlns="">
                    <a:solidFill>
                      <a:srgbClr val="FFFFFF"/>
                    </a:solidFill>
                  </a14:hiddenFill>
                </a:ext>
              </a:extLst>
            </p:spPr>
            <p:txBody>
              <a:bodyPr/>
              <a:lstStyle/>
              <a:p>
                <a:endParaRPr lang="zh-CN" altLang="en-US"/>
              </a:p>
            </p:txBody>
          </p:sp>
          <p:sp>
            <p:nvSpPr>
              <p:cNvPr id="66" name="椭圆 65"/>
              <p:cNvSpPr/>
              <p:nvPr/>
            </p:nvSpPr>
            <p:spPr bwMode="auto">
              <a:xfrm rot="1034670">
                <a:off x="1271580" y="3256220"/>
                <a:ext cx="309545" cy="703128"/>
              </a:xfrm>
              <a:prstGeom prst="ellipse">
                <a:avLst/>
              </a:prstGeom>
              <a:solidFill>
                <a:schemeClr val="accent4">
                  <a:lumMod val="40000"/>
                  <a:lumOff val="60000"/>
                  <a:alpha val="4902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67" name="椭圆 66"/>
              <p:cNvSpPr/>
              <p:nvPr/>
            </p:nvSpPr>
            <p:spPr bwMode="auto">
              <a:xfrm rot="1034670">
                <a:off x="7214839" y="3648024"/>
                <a:ext cx="309545" cy="705246"/>
              </a:xfrm>
              <a:prstGeom prst="ellipse">
                <a:avLst/>
              </a:prstGeom>
              <a:solidFill>
                <a:schemeClr val="accent4">
                  <a:lumMod val="75000"/>
                  <a:alpha val="4902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nvGrpSpPr>
              <p:cNvPr id="66586" name="组合 69"/>
              <p:cNvGrpSpPr>
                <a:grpSpLocks/>
              </p:cNvGrpSpPr>
              <p:nvPr/>
            </p:nvGrpSpPr>
            <p:grpSpPr bwMode="auto">
              <a:xfrm>
                <a:off x="2806700" y="4014788"/>
                <a:ext cx="338138" cy="338137"/>
                <a:chOff x="2249424" y="3803904"/>
                <a:chExt cx="338328" cy="338328"/>
              </a:xfrm>
            </p:grpSpPr>
            <p:sp>
              <p:nvSpPr>
                <p:cNvPr id="66619" name="椭圆 67"/>
                <p:cNvSpPr>
                  <a:spLocks noChangeArrowheads="1"/>
                </p:cNvSpPr>
                <p:nvPr/>
              </p:nvSpPr>
              <p:spPr bwMode="auto">
                <a:xfrm>
                  <a:off x="2249424" y="3803904"/>
                  <a:ext cx="338328" cy="338328"/>
                </a:xfrm>
                <a:prstGeom prst="ellipse">
                  <a:avLst/>
                </a:prstGeom>
                <a:solidFill>
                  <a:srgbClr val="00B0F0">
                    <a:alpha val="76077"/>
                  </a:srgbClr>
                </a:solidFill>
                <a:ln>
                  <a:noFill/>
                </a:ln>
                <a:extLst>
                  <a:ext uri="{91240B29-F687-4F45-9708-019B960494DF}">
                    <a14:hiddenLine xmlns:a14="http://schemas.microsoft.com/office/drawing/2010/main" xmlns="" w="12700" algn="ctr">
                      <a:solidFill>
                        <a:srgbClr val="000000"/>
                      </a:solidFill>
                      <a:round/>
                      <a:headEnd/>
                      <a:tailEnd/>
                    </a14:hiddenLine>
                  </a:ext>
                </a:extLst>
              </p:spPr>
              <p:txBody>
                <a:bodyPr/>
                <a:lstStyle/>
                <a:p>
                  <a:endParaRPr kumimoji="0" lang="zh-CN" altLang="zh-CN" sz="2800" b="1">
                    <a:ea typeface="宋体" pitchFamily="2" charset="-122"/>
                  </a:endParaRPr>
                </a:p>
              </p:txBody>
            </p:sp>
            <p:sp>
              <p:nvSpPr>
                <p:cNvPr id="66620" name="椭圆 68"/>
                <p:cNvSpPr>
                  <a:spLocks noChangeArrowheads="1"/>
                </p:cNvSpPr>
                <p:nvPr/>
              </p:nvSpPr>
              <p:spPr bwMode="auto">
                <a:xfrm>
                  <a:off x="2322576" y="3877056"/>
                  <a:ext cx="192024" cy="192024"/>
                </a:xfrm>
                <a:prstGeom prst="ellipse">
                  <a:avLst/>
                </a:prstGeom>
                <a:solidFill>
                  <a:srgbClr val="0070C0"/>
                </a:solidFill>
                <a:ln w="12700" algn="ctr">
                  <a:solidFill>
                    <a:schemeClr val="tx1"/>
                  </a:solidFill>
                  <a:round/>
                  <a:headEnd/>
                  <a:tailEnd/>
                </a:ln>
              </p:spPr>
              <p:txBody>
                <a:bodyPr/>
                <a:lstStyle/>
                <a:p>
                  <a:endParaRPr kumimoji="0" lang="zh-CN" altLang="zh-CN" sz="2800" b="1">
                    <a:ea typeface="宋体" pitchFamily="2" charset="-122"/>
                  </a:endParaRPr>
                </a:p>
              </p:txBody>
            </p:sp>
          </p:grpSp>
          <p:grpSp>
            <p:nvGrpSpPr>
              <p:cNvPr id="66587" name="组合 70"/>
              <p:cNvGrpSpPr>
                <a:grpSpLocks/>
              </p:cNvGrpSpPr>
              <p:nvPr/>
            </p:nvGrpSpPr>
            <p:grpSpPr bwMode="auto">
              <a:xfrm>
                <a:off x="2716213" y="4343400"/>
                <a:ext cx="338137" cy="338138"/>
                <a:chOff x="2249424" y="3803904"/>
                <a:chExt cx="338328" cy="338328"/>
              </a:xfrm>
            </p:grpSpPr>
            <p:sp>
              <p:nvSpPr>
                <p:cNvPr id="99" name="椭圆 98"/>
                <p:cNvSpPr/>
                <p:nvPr/>
              </p:nvSpPr>
              <p:spPr bwMode="auto">
                <a:xfrm>
                  <a:off x="2249333" y="3803185"/>
                  <a:ext cx="338310" cy="339047"/>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100" name="椭圆 99"/>
                <p:cNvSpPr/>
                <p:nvPr/>
              </p:nvSpPr>
              <p:spPr bwMode="auto">
                <a:xfrm>
                  <a:off x="2322395" y="3877350"/>
                  <a:ext cx="192186" cy="190714"/>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88" name="组合 73"/>
              <p:cNvGrpSpPr>
                <a:grpSpLocks/>
              </p:cNvGrpSpPr>
              <p:nvPr/>
            </p:nvGrpSpPr>
            <p:grpSpPr bwMode="auto">
              <a:xfrm>
                <a:off x="4781550" y="2798763"/>
                <a:ext cx="339725" cy="338137"/>
                <a:chOff x="2249424" y="3803904"/>
                <a:chExt cx="338328" cy="338328"/>
              </a:xfrm>
            </p:grpSpPr>
            <p:sp>
              <p:nvSpPr>
                <p:cNvPr id="97" name="椭圆 96"/>
                <p:cNvSpPr/>
                <p:nvPr/>
              </p:nvSpPr>
              <p:spPr bwMode="auto">
                <a:xfrm>
                  <a:off x="2249216" y="3803904"/>
                  <a:ext cx="338308" cy="339049"/>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98" name="椭圆 97"/>
                <p:cNvSpPr/>
                <p:nvPr/>
              </p:nvSpPr>
              <p:spPr bwMode="auto">
                <a:xfrm>
                  <a:off x="2321936" y="3878072"/>
                  <a:ext cx="192867" cy="190715"/>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89" name="组合 76"/>
              <p:cNvGrpSpPr>
                <a:grpSpLocks/>
              </p:cNvGrpSpPr>
              <p:nvPr/>
            </p:nvGrpSpPr>
            <p:grpSpPr bwMode="auto">
              <a:xfrm>
                <a:off x="4635500" y="3694113"/>
                <a:ext cx="338138" cy="338137"/>
                <a:chOff x="2249424" y="3803904"/>
                <a:chExt cx="338328" cy="338328"/>
              </a:xfrm>
            </p:grpSpPr>
            <p:sp>
              <p:nvSpPr>
                <p:cNvPr id="95" name="椭圆 94"/>
                <p:cNvSpPr/>
                <p:nvPr/>
              </p:nvSpPr>
              <p:spPr bwMode="auto">
                <a:xfrm>
                  <a:off x="2249224" y="3804409"/>
                  <a:ext cx="338308" cy="336929"/>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96" name="椭圆 95"/>
                <p:cNvSpPr/>
                <p:nvPr/>
              </p:nvSpPr>
              <p:spPr bwMode="auto">
                <a:xfrm>
                  <a:off x="2322286" y="3876456"/>
                  <a:ext cx="192184" cy="192833"/>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90" name="组合 79"/>
              <p:cNvGrpSpPr>
                <a:grpSpLocks/>
              </p:cNvGrpSpPr>
              <p:nvPr/>
            </p:nvGrpSpPr>
            <p:grpSpPr bwMode="auto">
              <a:xfrm>
                <a:off x="5595938" y="2908300"/>
                <a:ext cx="338137" cy="338138"/>
                <a:chOff x="2249424" y="3803904"/>
                <a:chExt cx="338328" cy="338328"/>
              </a:xfrm>
            </p:grpSpPr>
            <p:sp>
              <p:nvSpPr>
                <p:cNvPr id="93" name="椭圆 92"/>
                <p:cNvSpPr/>
                <p:nvPr/>
              </p:nvSpPr>
              <p:spPr bwMode="auto">
                <a:xfrm>
                  <a:off x="2249168" y="3804495"/>
                  <a:ext cx="338310" cy="336929"/>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94" name="椭圆 93"/>
                <p:cNvSpPr/>
                <p:nvPr/>
              </p:nvSpPr>
              <p:spPr bwMode="auto">
                <a:xfrm>
                  <a:off x="2322230" y="3876543"/>
                  <a:ext cx="192186" cy="192834"/>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91" name="组合 82"/>
              <p:cNvGrpSpPr>
                <a:grpSpLocks/>
              </p:cNvGrpSpPr>
              <p:nvPr/>
            </p:nvGrpSpPr>
            <p:grpSpPr bwMode="auto">
              <a:xfrm>
                <a:off x="3355975" y="3346450"/>
                <a:ext cx="338138" cy="338138"/>
                <a:chOff x="2249424" y="3803904"/>
                <a:chExt cx="338328" cy="338328"/>
              </a:xfrm>
            </p:grpSpPr>
            <p:sp>
              <p:nvSpPr>
                <p:cNvPr id="91" name="椭圆 90"/>
                <p:cNvSpPr/>
                <p:nvPr/>
              </p:nvSpPr>
              <p:spPr bwMode="auto">
                <a:xfrm>
                  <a:off x="2249297" y="3804744"/>
                  <a:ext cx="338308" cy="336928"/>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92" name="椭圆 91"/>
                <p:cNvSpPr/>
                <p:nvPr/>
              </p:nvSpPr>
              <p:spPr bwMode="auto">
                <a:xfrm>
                  <a:off x="2322359" y="3876791"/>
                  <a:ext cx="192184" cy="192833"/>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92" name="组合 85"/>
              <p:cNvGrpSpPr>
                <a:grpSpLocks/>
              </p:cNvGrpSpPr>
              <p:nvPr/>
            </p:nvGrpSpPr>
            <p:grpSpPr bwMode="auto">
              <a:xfrm>
                <a:off x="6291263" y="4051300"/>
                <a:ext cx="338137" cy="338138"/>
                <a:chOff x="2249424" y="3803904"/>
                <a:chExt cx="338328" cy="338328"/>
              </a:xfrm>
            </p:grpSpPr>
            <p:sp>
              <p:nvSpPr>
                <p:cNvPr id="89" name="椭圆 88"/>
                <p:cNvSpPr/>
                <p:nvPr/>
              </p:nvSpPr>
              <p:spPr bwMode="auto">
                <a:xfrm>
                  <a:off x="2249128" y="3803020"/>
                  <a:ext cx="338310" cy="339047"/>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90" name="椭圆 89"/>
                <p:cNvSpPr/>
                <p:nvPr/>
              </p:nvSpPr>
              <p:spPr bwMode="auto">
                <a:xfrm>
                  <a:off x="2322190" y="3877186"/>
                  <a:ext cx="192186" cy="190714"/>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93" name="组合 88"/>
              <p:cNvGrpSpPr>
                <a:grpSpLocks/>
              </p:cNvGrpSpPr>
              <p:nvPr/>
            </p:nvGrpSpPr>
            <p:grpSpPr bwMode="auto">
              <a:xfrm>
                <a:off x="1938338" y="3236913"/>
                <a:ext cx="338137" cy="338137"/>
                <a:chOff x="2249424" y="3803904"/>
                <a:chExt cx="338328" cy="338328"/>
              </a:xfrm>
            </p:grpSpPr>
            <p:sp>
              <p:nvSpPr>
                <p:cNvPr id="87" name="椭圆 86"/>
                <p:cNvSpPr/>
                <p:nvPr/>
              </p:nvSpPr>
              <p:spPr bwMode="auto">
                <a:xfrm>
                  <a:off x="2249378" y="3804151"/>
                  <a:ext cx="338310" cy="339049"/>
                </a:xfrm>
                <a:prstGeom prst="ellipse">
                  <a:avLst/>
                </a:prstGeom>
                <a:solidFill>
                  <a:schemeClr val="accent6">
                    <a:lumMod val="60000"/>
                    <a:lumOff val="40000"/>
                    <a:alpha val="76078"/>
                  </a:schemeClr>
                </a:solidFill>
                <a:ln w="12700" cap="flat" cmpd="sng" algn="ctr">
                  <a:no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sp>
              <p:nvSpPr>
                <p:cNvPr id="88" name="椭圆 87"/>
                <p:cNvSpPr/>
                <p:nvPr/>
              </p:nvSpPr>
              <p:spPr bwMode="auto">
                <a:xfrm>
                  <a:off x="2322440" y="3878317"/>
                  <a:ext cx="192186" cy="190715"/>
                </a:xfrm>
                <a:prstGeom prst="ellipse">
                  <a:avLst/>
                </a:prstGeom>
                <a:solidFill>
                  <a:schemeClr val="accent6">
                    <a:lumMod val="75000"/>
                  </a:schemeClr>
                </a:solidFill>
                <a:ln w="12700" cap="flat" cmpd="sng" algn="ctr">
                  <a:solidFill>
                    <a:schemeClr val="tx1"/>
                  </a:solidFill>
                  <a:prstDash val="solid"/>
                  <a:round/>
                  <a:headEnd type="none" w="med" len="med"/>
                  <a:tailEnd type="none" w="med" len="med"/>
                </a:ln>
                <a:effectLst/>
              </p:spPr>
              <p:txBody>
                <a:bodyPr/>
                <a:lstStyle/>
                <a:p>
                  <a:pPr>
                    <a:defRPr/>
                  </a:pPr>
                  <a:endParaRPr kumimoji="0" lang="zh-CN" altLang="en-US" sz="2800" b="1">
                    <a:ea typeface="宋体" pitchFamily="2" charset="-122"/>
                  </a:endParaRPr>
                </a:p>
              </p:txBody>
            </p:sp>
          </p:grpSp>
          <p:grpSp>
            <p:nvGrpSpPr>
              <p:cNvPr id="66594" name="组合 91"/>
              <p:cNvGrpSpPr>
                <a:grpSpLocks/>
              </p:cNvGrpSpPr>
              <p:nvPr/>
            </p:nvGrpSpPr>
            <p:grpSpPr bwMode="auto">
              <a:xfrm>
                <a:off x="4700588" y="3127375"/>
                <a:ext cx="338137" cy="338138"/>
                <a:chOff x="2249424" y="3803904"/>
                <a:chExt cx="338328" cy="338328"/>
              </a:xfrm>
            </p:grpSpPr>
            <p:sp>
              <p:nvSpPr>
                <p:cNvPr id="66603" name="椭圆 92"/>
                <p:cNvSpPr>
                  <a:spLocks noChangeArrowheads="1"/>
                </p:cNvSpPr>
                <p:nvPr/>
              </p:nvSpPr>
              <p:spPr bwMode="auto">
                <a:xfrm>
                  <a:off x="2249424" y="3803904"/>
                  <a:ext cx="338328" cy="338328"/>
                </a:xfrm>
                <a:prstGeom prst="ellipse">
                  <a:avLst/>
                </a:prstGeom>
                <a:solidFill>
                  <a:srgbClr val="00B0F0">
                    <a:alpha val="76077"/>
                  </a:srgbClr>
                </a:solidFill>
                <a:ln>
                  <a:noFill/>
                </a:ln>
                <a:extLst>
                  <a:ext uri="{91240B29-F687-4F45-9708-019B960494DF}">
                    <a14:hiddenLine xmlns:a14="http://schemas.microsoft.com/office/drawing/2010/main" xmlns="" w="12700" algn="ctr">
                      <a:solidFill>
                        <a:srgbClr val="000000"/>
                      </a:solidFill>
                      <a:round/>
                      <a:headEnd/>
                      <a:tailEnd/>
                    </a14:hiddenLine>
                  </a:ext>
                </a:extLst>
              </p:spPr>
              <p:txBody>
                <a:bodyPr/>
                <a:lstStyle/>
                <a:p>
                  <a:endParaRPr kumimoji="0" lang="zh-CN" altLang="zh-CN" sz="2800" b="1">
                    <a:ea typeface="宋体" pitchFamily="2" charset="-122"/>
                  </a:endParaRPr>
                </a:p>
              </p:txBody>
            </p:sp>
            <p:sp>
              <p:nvSpPr>
                <p:cNvPr id="66604" name="椭圆 93"/>
                <p:cNvSpPr>
                  <a:spLocks noChangeArrowheads="1"/>
                </p:cNvSpPr>
                <p:nvPr/>
              </p:nvSpPr>
              <p:spPr bwMode="auto">
                <a:xfrm>
                  <a:off x="2322576" y="3877056"/>
                  <a:ext cx="192024" cy="192024"/>
                </a:xfrm>
                <a:prstGeom prst="ellipse">
                  <a:avLst/>
                </a:prstGeom>
                <a:solidFill>
                  <a:srgbClr val="0070C0"/>
                </a:solidFill>
                <a:ln w="12700" algn="ctr">
                  <a:solidFill>
                    <a:schemeClr val="tx1"/>
                  </a:solidFill>
                  <a:round/>
                  <a:headEnd/>
                  <a:tailEnd/>
                </a:ln>
              </p:spPr>
              <p:txBody>
                <a:bodyPr/>
                <a:lstStyle/>
                <a:p>
                  <a:endParaRPr kumimoji="0" lang="zh-CN" altLang="zh-CN" sz="2800" b="1">
                    <a:ea typeface="宋体" pitchFamily="2" charset="-122"/>
                  </a:endParaRPr>
                </a:p>
              </p:txBody>
            </p:sp>
          </p:grpSp>
          <p:grpSp>
            <p:nvGrpSpPr>
              <p:cNvPr id="66595" name="组合 94"/>
              <p:cNvGrpSpPr>
                <a:grpSpLocks/>
              </p:cNvGrpSpPr>
              <p:nvPr/>
            </p:nvGrpSpPr>
            <p:grpSpPr bwMode="auto">
              <a:xfrm>
                <a:off x="7251700" y="3849688"/>
                <a:ext cx="338138" cy="338137"/>
                <a:chOff x="2249424" y="3803904"/>
                <a:chExt cx="338328" cy="338328"/>
              </a:xfrm>
            </p:grpSpPr>
            <p:sp>
              <p:nvSpPr>
                <p:cNvPr id="66601" name="椭圆 95"/>
                <p:cNvSpPr>
                  <a:spLocks noChangeArrowheads="1"/>
                </p:cNvSpPr>
                <p:nvPr/>
              </p:nvSpPr>
              <p:spPr bwMode="auto">
                <a:xfrm>
                  <a:off x="2249424" y="3803904"/>
                  <a:ext cx="338328" cy="338328"/>
                </a:xfrm>
                <a:prstGeom prst="ellipse">
                  <a:avLst/>
                </a:prstGeom>
                <a:solidFill>
                  <a:srgbClr val="00B0F0">
                    <a:alpha val="76077"/>
                  </a:srgbClr>
                </a:solidFill>
                <a:ln>
                  <a:noFill/>
                </a:ln>
                <a:extLst>
                  <a:ext uri="{91240B29-F687-4F45-9708-019B960494DF}">
                    <a14:hiddenLine xmlns:a14="http://schemas.microsoft.com/office/drawing/2010/main" xmlns="" w="12700" algn="ctr">
                      <a:solidFill>
                        <a:srgbClr val="000000"/>
                      </a:solidFill>
                      <a:round/>
                      <a:headEnd/>
                      <a:tailEnd/>
                    </a14:hiddenLine>
                  </a:ext>
                </a:extLst>
              </p:spPr>
              <p:txBody>
                <a:bodyPr/>
                <a:lstStyle/>
                <a:p>
                  <a:endParaRPr kumimoji="0" lang="zh-CN" altLang="zh-CN" sz="2800" b="1">
                    <a:ea typeface="宋体" pitchFamily="2" charset="-122"/>
                  </a:endParaRPr>
                </a:p>
              </p:txBody>
            </p:sp>
            <p:sp>
              <p:nvSpPr>
                <p:cNvPr id="66602" name="椭圆 96"/>
                <p:cNvSpPr>
                  <a:spLocks noChangeArrowheads="1"/>
                </p:cNvSpPr>
                <p:nvPr/>
              </p:nvSpPr>
              <p:spPr bwMode="auto">
                <a:xfrm>
                  <a:off x="2322576" y="3877056"/>
                  <a:ext cx="192024" cy="192024"/>
                </a:xfrm>
                <a:prstGeom prst="ellipse">
                  <a:avLst/>
                </a:prstGeom>
                <a:solidFill>
                  <a:srgbClr val="0070C0"/>
                </a:solidFill>
                <a:ln w="12700" algn="ctr">
                  <a:solidFill>
                    <a:schemeClr val="tx1"/>
                  </a:solidFill>
                  <a:round/>
                  <a:headEnd/>
                  <a:tailEnd/>
                </a:ln>
              </p:spPr>
              <p:txBody>
                <a:bodyPr/>
                <a:lstStyle/>
                <a:p>
                  <a:endParaRPr kumimoji="0" lang="zh-CN" altLang="zh-CN" sz="2800" b="1">
                    <a:ea typeface="宋体" pitchFamily="2" charset="-122"/>
                  </a:endParaRPr>
                </a:p>
              </p:txBody>
            </p:sp>
          </p:grpSp>
          <p:grpSp>
            <p:nvGrpSpPr>
              <p:cNvPr id="66596" name="组合 97"/>
              <p:cNvGrpSpPr>
                <a:grpSpLocks/>
              </p:cNvGrpSpPr>
              <p:nvPr/>
            </p:nvGrpSpPr>
            <p:grpSpPr bwMode="auto">
              <a:xfrm>
                <a:off x="1152525" y="3392488"/>
                <a:ext cx="338138" cy="338137"/>
                <a:chOff x="2249424" y="3803904"/>
                <a:chExt cx="338328" cy="338328"/>
              </a:xfrm>
            </p:grpSpPr>
            <p:sp>
              <p:nvSpPr>
                <p:cNvPr id="66599" name="椭圆 98"/>
                <p:cNvSpPr>
                  <a:spLocks noChangeArrowheads="1"/>
                </p:cNvSpPr>
                <p:nvPr/>
              </p:nvSpPr>
              <p:spPr bwMode="auto">
                <a:xfrm>
                  <a:off x="2249424" y="3803904"/>
                  <a:ext cx="338328" cy="338328"/>
                </a:xfrm>
                <a:prstGeom prst="ellipse">
                  <a:avLst/>
                </a:prstGeom>
                <a:solidFill>
                  <a:srgbClr val="00B0F0">
                    <a:alpha val="76077"/>
                  </a:srgbClr>
                </a:solidFill>
                <a:ln>
                  <a:noFill/>
                </a:ln>
                <a:extLst>
                  <a:ext uri="{91240B29-F687-4F45-9708-019B960494DF}">
                    <a14:hiddenLine xmlns:a14="http://schemas.microsoft.com/office/drawing/2010/main" xmlns="" w="12700" algn="ctr">
                      <a:solidFill>
                        <a:srgbClr val="000000"/>
                      </a:solidFill>
                      <a:round/>
                      <a:headEnd/>
                      <a:tailEnd/>
                    </a14:hiddenLine>
                  </a:ext>
                </a:extLst>
              </p:spPr>
              <p:txBody>
                <a:bodyPr/>
                <a:lstStyle/>
                <a:p>
                  <a:endParaRPr kumimoji="0" lang="zh-CN" altLang="zh-CN" sz="2800" b="1">
                    <a:ea typeface="宋体" pitchFamily="2" charset="-122"/>
                  </a:endParaRPr>
                </a:p>
              </p:txBody>
            </p:sp>
            <p:sp>
              <p:nvSpPr>
                <p:cNvPr id="66600" name="椭圆 99"/>
                <p:cNvSpPr>
                  <a:spLocks noChangeArrowheads="1"/>
                </p:cNvSpPr>
                <p:nvPr/>
              </p:nvSpPr>
              <p:spPr bwMode="auto">
                <a:xfrm>
                  <a:off x="2322576" y="3877056"/>
                  <a:ext cx="192024" cy="192024"/>
                </a:xfrm>
                <a:prstGeom prst="ellipse">
                  <a:avLst/>
                </a:prstGeom>
                <a:solidFill>
                  <a:srgbClr val="0070C0"/>
                </a:solidFill>
                <a:ln w="12700" algn="ctr">
                  <a:solidFill>
                    <a:schemeClr val="tx1"/>
                  </a:solidFill>
                  <a:round/>
                  <a:headEnd/>
                  <a:tailEnd/>
                </a:ln>
              </p:spPr>
              <p:txBody>
                <a:bodyPr/>
                <a:lstStyle/>
                <a:p>
                  <a:endParaRPr kumimoji="0" lang="zh-CN" altLang="zh-CN" sz="2800" b="1">
                    <a:ea typeface="宋体" pitchFamily="2" charset="-122"/>
                  </a:endParaRPr>
                </a:p>
              </p:txBody>
            </p:sp>
          </p:grpSp>
          <p:cxnSp>
            <p:nvCxnSpPr>
              <p:cNvPr id="66597" name="直接箭头连接符 103"/>
              <p:cNvCxnSpPr>
                <a:cxnSpLocks noChangeShapeType="1"/>
              </p:cNvCxnSpPr>
              <p:nvPr/>
            </p:nvCxnSpPr>
            <p:spPr bwMode="auto">
              <a:xfrm>
                <a:off x="1463485" y="3620453"/>
                <a:ext cx="347027" cy="129046"/>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xmlns="">
                    <a:noFill/>
                  </a14:hiddenFill>
                </a:ext>
              </a:extLst>
            </p:spPr>
          </p:cxnSp>
          <p:cxnSp>
            <p:nvCxnSpPr>
              <p:cNvPr id="66598" name="直接箭头连接符 103"/>
              <p:cNvCxnSpPr>
                <a:cxnSpLocks noChangeShapeType="1"/>
              </p:cNvCxnSpPr>
              <p:nvPr/>
            </p:nvCxnSpPr>
            <p:spPr bwMode="auto">
              <a:xfrm>
                <a:off x="7416229" y="4031933"/>
                <a:ext cx="365315" cy="92011"/>
              </a:xfrm>
              <a:prstGeom prst="straightConnector1">
                <a:avLst/>
              </a:prstGeom>
              <a:noFill/>
              <a:ln w="19050" algn="ctr">
                <a:solidFill>
                  <a:srgbClr val="FF0000"/>
                </a:solidFill>
                <a:round/>
                <a:headEnd/>
                <a:tailEnd type="arrow" w="med" len="med"/>
              </a:ln>
              <a:extLst>
                <a:ext uri="{909E8E84-426E-40DD-AFC4-6F175D3DCCD1}">
                  <a14:hiddenFill xmlns:a14="http://schemas.microsoft.com/office/drawing/2010/main" xmlns="">
                    <a:noFill/>
                  </a14:hiddenFill>
                </a:ext>
              </a:extLst>
            </p:spPr>
          </p:cxnSp>
        </p:grpSp>
        <p:graphicFrame>
          <p:nvGraphicFramePr>
            <p:cNvPr id="66578" name="Object 18"/>
            <p:cNvGraphicFramePr>
              <a:graphicFrameLocks noChangeAspect="1"/>
            </p:cNvGraphicFramePr>
            <p:nvPr/>
          </p:nvGraphicFramePr>
          <p:xfrm>
            <a:off x="1909382" y="2695194"/>
            <a:ext cx="223837" cy="263525"/>
          </p:xfrm>
          <a:graphic>
            <a:graphicData uri="http://schemas.openxmlformats.org/presentationml/2006/ole">
              <p:oleObj spid="_x0000_s66634" name="Equation" r:id="rId4" imgW="139579" imgH="164957" progId="Equation.DSMT4">
                <p:embed/>
              </p:oleObj>
            </a:graphicData>
          </a:graphic>
        </p:graphicFrame>
      </p:grpSp>
      <p:grpSp>
        <p:nvGrpSpPr>
          <p:cNvPr id="16" name="组合 140"/>
          <p:cNvGrpSpPr>
            <a:grpSpLocks/>
          </p:cNvGrpSpPr>
          <p:nvPr/>
        </p:nvGrpSpPr>
        <p:grpSpPr bwMode="auto">
          <a:xfrm>
            <a:off x="5983288" y="2101850"/>
            <a:ext cx="298450" cy="322263"/>
            <a:chOff x="5726557" y="3354515"/>
            <a:chExt cx="298958" cy="431899"/>
          </a:xfrm>
        </p:grpSpPr>
        <p:cxnSp>
          <p:nvCxnSpPr>
            <p:cNvPr id="66575" name="直接连接符 101"/>
            <p:cNvCxnSpPr>
              <a:cxnSpLocks noChangeShapeType="1"/>
            </p:cNvCxnSpPr>
            <p:nvPr/>
          </p:nvCxnSpPr>
          <p:spPr bwMode="auto">
            <a:xfrm flipH="1">
              <a:off x="5915978" y="3438462"/>
              <a:ext cx="109537" cy="338137"/>
            </a:xfrm>
            <a:prstGeom prst="line">
              <a:avLst/>
            </a:prstGeom>
            <a:noFill/>
            <a:ln w="9525" algn="ctr">
              <a:solidFill>
                <a:srgbClr val="0000FF"/>
              </a:solidFill>
              <a:round/>
              <a:headEnd type="arrow" w="med" len="med"/>
              <a:tailEnd type="arrow" w="med" len="med"/>
            </a:ln>
            <a:extLst>
              <a:ext uri="{909E8E84-426E-40DD-AFC4-6F175D3DCCD1}">
                <a14:hiddenFill xmlns:a14="http://schemas.microsoft.com/office/drawing/2010/main" xmlns="">
                  <a:noFill/>
                </a14:hiddenFill>
              </a:ext>
            </a:extLst>
          </p:spPr>
        </p:cxnSp>
        <p:sp>
          <p:nvSpPr>
            <p:cNvPr id="66576" name="Text Box 203"/>
            <p:cNvSpPr txBox="1">
              <a:spLocks noChangeArrowheads="1"/>
            </p:cNvSpPr>
            <p:nvPr/>
          </p:nvSpPr>
          <p:spPr bwMode="auto">
            <a:xfrm>
              <a:off x="5726557" y="3354515"/>
              <a:ext cx="296862" cy="43189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i="1">
                  <a:ea typeface="宋体" pitchFamily="2" charset="-122"/>
                </a:rPr>
                <a:t>d</a:t>
              </a:r>
            </a:p>
          </p:txBody>
        </p:sp>
      </p:grpSp>
      <p:grpSp>
        <p:nvGrpSpPr>
          <p:cNvPr id="17" name="组合 143"/>
          <p:cNvGrpSpPr>
            <a:grpSpLocks/>
          </p:cNvGrpSpPr>
          <p:nvPr/>
        </p:nvGrpSpPr>
        <p:grpSpPr bwMode="auto">
          <a:xfrm>
            <a:off x="6245225" y="2066925"/>
            <a:ext cx="520700" cy="508000"/>
            <a:chOff x="5989320" y="3310128"/>
            <a:chExt cx="521208" cy="676656"/>
          </a:xfrm>
        </p:grpSpPr>
        <p:sp>
          <p:nvSpPr>
            <p:cNvPr id="66573" name="Text Box 203"/>
            <p:cNvSpPr txBox="1">
              <a:spLocks noChangeArrowheads="1"/>
            </p:cNvSpPr>
            <p:nvPr/>
          </p:nvSpPr>
          <p:spPr bwMode="auto">
            <a:xfrm>
              <a:off x="6046596" y="3500818"/>
              <a:ext cx="463932" cy="43071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500" b="1">
                  <a:ea typeface="宋体" pitchFamily="2" charset="-122"/>
                </a:rPr>
                <a:t>2</a:t>
              </a:r>
              <a:r>
                <a:rPr kumimoji="0" lang="en-US" altLang="zh-CN" sz="1500" b="1" i="1">
                  <a:ea typeface="宋体" pitchFamily="2" charset="-122"/>
                </a:rPr>
                <a:t>d</a:t>
              </a:r>
            </a:p>
          </p:txBody>
        </p:sp>
        <p:cxnSp>
          <p:nvCxnSpPr>
            <p:cNvPr id="66574" name="直接连接符 145"/>
            <p:cNvCxnSpPr>
              <a:cxnSpLocks noChangeShapeType="1"/>
            </p:cNvCxnSpPr>
            <p:nvPr/>
          </p:nvCxnSpPr>
          <p:spPr bwMode="auto">
            <a:xfrm flipH="1">
              <a:off x="5989320" y="3310128"/>
              <a:ext cx="219456" cy="676656"/>
            </a:xfrm>
            <a:prstGeom prst="line">
              <a:avLst/>
            </a:prstGeom>
            <a:noFill/>
            <a:ln w="9525" algn="ctr">
              <a:solidFill>
                <a:srgbClr val="0000FF"/>
              </a:solidFill>
              <a:round/>
              <a:headEnd type="arrow" w="med" len="med"/>
              <a:tailEnd type="arrow" w="med" len="med"/>
            </a:ln>
            <a:extLst>
              <a:ext uri="{909E8E84-426E-40DD-AFC4-6F175D3DCCD1}">
                <a14:hiddenFill xmlns:a14="http://schemas.microsoft.com/office/drawing/2010/main" xmlns="">
                  <a:noFill/>
                </a14:hiddenFill>
              </a:ext>
            </a:extLst>
          </p:spPr>
        </p:cxnSp>
      </p:grpSp>
      <p:sp>
        <p:nvSpPr>
          <p:cNvPr id="123" name="Text Box 71"/>
          <p:cNvSpPr txBox="1">
            <a:spLocks noChangeArrowheads="1"/>
          </p:cNvSpPr>
          <p:nvPr/>
        </p:nvSpPr>
        <p:spPr bwMode="auto">
          <a:xfrm>
            <a:off x="2268538" y="2951163"/>
            <a:ext cx="3914775" cy="374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lnSpc>
                <a:spcPct val="110000"/>
              </a:lnSpc>
            </a:pPr>
            <a:r>
              <a:rPr lang="zh-CN" altLang="en-US" sz="1800" b="1">
                <a:ea typeface="华文中宋" pitchFamily="2" charset="-122"/>
              </a:rPr>
              <a:t>碰撞截面  </a:t>
            </a:r>
            <a:r>
              <a:rPr lang="zh-CN" altLang="en-US" sz="1800" b="1">
                <a:solidFill>
                  <a:srgbClr val="0000FF"/>
                </a:solidFill>
                <a:ea typeface="华文中宋" pitchFamily="2" charset="-122"/>
              </a:rPr>
              <a:t>      </a:t>
            </a:r>
            <a:r>
              <a:rPr lang="zh-CN" altLang="en-US" sz="1800" b="1" i="1">
                <a:solidFill>
                  <a:srgbClr val="0000FF"/>
                </a:solidFill>
                <a:ea typeface="华文中宋" pitchFamily="2" charset="-122"/>
                <a:sym typeface="Symbol" pitchFamily="18" charset="2"/>
              </a:rPr>
              <a:t> </a:t>
            </a:r>
            <a:r>
              <a:rPr lang="en-US" altLang="zh-CN" sz="1800" b="1" i="1">
                <a:solidFill>
                  <a:srgbClr val="0000FF"/>
                </a:solidFill>
                <a:ea typeface="华文中宋" pitchFamily="2" charset="-122"/>
                <a:sym typeface="Symbol" pitchFamily="18" charset="2"/>
              </a:rPr>
              <a:t>= </a:t>
            </a:r>
            <a:r>
              <a:rPr lang="en-US" altLang="zh-CN" sz="1800" b="1">
                <a:solidFill>
                  <a:srgbClr val="0000FF"/>
                </a:solidFill>
                <a:ea typeface="华文中宋" pitchFamily="2" charset="-122"/>
                <a:sym typeface="Symbol" pitchFamily="18" charset="2"/>
              </a:rPr>
              <a:t></a:t>
            </a:r>
            <a:r>
              <a:rPr lang="en-US" altLang="zh-CN" sz="1800" b="1" i="1">
                <a:solidFill>
                  <a:srgbClr val="0000FF"/>
                </a:solidFill>
                <a:ea typeface="华文中宋" pitchFamily="2" charset="-122"/>
                <a:cs typeface="Times New Roman" pitchFamily="18" charset="0"/>
                <a:sym typeface="Symbol" pitchFamily="18" charset="2"/>
              </a:rPr>
              <a:t>d</a:t>
            </a:r>
            <a:r>
              <a:rPr lang="en-US" altLang="zh-CN" sz="1800" b="1" i="1" baseline="30000">
                <a:solidFill>
                  <a:srgbClr val="0000FF"/>
                </a:solidFill>
                <a:ea typeface="华文中宋" pitchFamily="2" charset="-122"/>
                <a:cs typeface="Times New Roman" pitchFamily="18" charset="0"/>
                <a:sym typeface="Symbol" pitchFamily="18" charset="2"/>
              </a:rPr>
              <a:t>2</a:t>
            </a:r>
            <a:endParaRPr lang="el-GR" altLang="en-US" sz="1800" b="1" i="1">
              <a:solidFill>
                <a:srgbClr val="0000FF"/>
              </a:solidFill>
              <a:ea typeface="华文中宋" pitchFamily="2" charset="-122"/>
              <a:cs typeface="Times New Roman" pitchFamily="18" charset="0"/>
              <a:sym typeface="Symbol" pitchFamily="18" charset="2"/>
            </a:endParaRPr>
          </a:p>
        </p:txBody>
      </p:sp>
      <p:sp>
        <p:nvSpPr>
          <p:cNvPr id="124" name="Text Box 72"/>
          <p:cNvSpPr txBox="1">
            <a:spLocks noChangeArrowheads="1"/>
          </p:cNvSpPr>
          <p:nvPr/>
        </p:nvSpPr>
        <p:spPr bwMode="auto">
          <a:xfrm>
            <a:off x="882650" y="3360738"/>
            <a:ext cx="7426325" cy="376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ea typeface="华文中宋" pitchFamily="2" charset="-122"/>
              </a:rPr>
              <a:t>凡球心在柱体内的分子，都会与分子</a:t>
            </a:r>
            <a:r>
              <a:rPr lang="en-US" altLang="zh-CN" sz="1800" b="1">
                <a:ea typeface="华文中宋" pitchFamily="2" charset="-122"/>
              </a:rPr>
              <a:t>A </a:t>
            </a:r>
            <a:r>
              <a:rPr lang="zh-CN" altLang="en-US" sz="1800" b="1">
                <a:ea typeface="华文中宋" pitchFamily="2" charset="-122"/>
              </a:rPr>
              <a:t>碰撞。</a:t>
            </a:r>
          </a:p>
        </p:txBody>
      </p:sp>
      <p:graphicFrame>
        <p:nvGraphicFramePr>
          <p:cNvPr id="139" name="Object 73"/>
          <p:cNvGraphicFramePr>
            <a:graphicFrameLocks noChangeAspect="1"/>
          </p:cNvGraphicFramePr>
          <p:nvPr/>
        </p:nvGraphicFramePr>
        <p:xfrm>
          <a:off x="2700338" y="3776663"/>
          <a:ext cx="2036762" cy="419100"/>
        </p:xfrm>
        <a:graphic>
          <a:graphicData uri="http://schemas.openxmlformats.org/presentationml/2006/ole">
            <p:oleObj spid="_x0000_s66635" name="Equation" r:id="rId5" imgW="558800" imgH="190500" progId="Equation.DSMT4">
              <p:embed/>
            </p:oleObj>
          </a:graphicData>
        </a:graphic>
      </p:graphicFrame>
      <p:sp>
        <p:nvSpPr>
          <p:cNvPr id="140" name="Text Box 105"/>
          <p:cNvSpPr txBox="1">
            <a:spLocks noChangeArrowheads="1"/>
          </p:cNvSpPr>
          <p:nvPr/>
        </p:nvSpPr>
        <p:spPr bwMode="auto">
          <a:xfrm>
            <a:off x="2078038" y="4227513"/>
            <a:ext cx="838200" cy="5222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spcBef>
                <a:spcPct val="50000"/>
              </a:spcBef>
            </a:pPr>
            <a:r>
              <a:rPr lang="en-US" altLang="zh-CN" sz="2800" b="1">
                <a:ea typeface="宋体" pitchFamily="2" charset="-122"/>
                <a:sym typeface="Symbol" pitchFamily="18" charset="2"/>
              </a:rPr>
              <a:t></a:t>
            </a:r>
            <a:endParaRPr lang="en-US" altLang="zh-CN" sz="2800" b="1">
              <a:ea typeface="宋体" pitchFamily="2" charset="-122"/>
            </a:endParaRPr>
          </a:p>
        </p:txBody>
      </p:sp>
      <p:graphicFrame>
        <p:nvGraphicFramePr>
          <p:cNvPr id="141" name="Object 106"/>
          <p:cNvGraphicFramePr>
            <a:graphicFrameLocks noChangeAspect="1"/>
          </p:cNvGraphicFramePr>
          <p:nvPr/>
        </p:nvGraphicFramePr>
        <p:xfrm>
          <a:off x="3167063" y="4289425"/>
          <a:ext cx="2413000" cy="409575"/>
        </p:xfrm>
        <a:graphic>
          <a:graphicData uri="http://schemas.openxmlformats.org/presentationml/2006/ole">
            <p:oleObj spid="_x0000_s66636" name="公式" r:id="rId6" imgW="952087" imgH="215806" progId="Equation.3">
              <p:embed/>
            </p:oleObj>
          </a:graphicData>
        </a:graphic>
      </p:graphicFrame>
      <p:sp>
        <p:nvSpPr>
          <p:cNvPr id="2" name="Text Box 9"/>
          <p:cNvSpPr txBox="1">
            <a:spLocks noChangeArrowheads="1"/>
          </p:cNvSpPr>
          <p:nvPr/>
        </p:nvSpPr>
        <p:spPr bwMode="auto">
          <a:xfrm>
            <a:off x="544513" y="755650"/>
            <a:ext cx="2874962" cy="376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38100">
                <a:solidFill>
                  <a:srgbClr val="000000"/>
                </a:solidFill>
                <a:miter lim="800000"/>
                <a:headEnd/>
                <a:tailEnd/>
              </a14:hiddenLine>
            </a:ext>
          </a:extLst>
        </p:spPr>
        <p:txBody>
          <a:bodyPr>
            <a:spAutoFit/>
          </a:bodyPr>
          <a:lstStyle>
            <a:lvl1pPr marL="457200" indent="-457200"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kumimoji="0" lang="en-US" altLang="zh-CN" sz="1800" b="1">
                <a:solidFill>
                  <a:srgbClr val="0000FF"/>
                </a:solidFill>
                <a:ea typeface="华文中宋" pitchFamily="2" charset="-122"/>
              </a:rPr>
              <a:t>2</a:t>
            </a:r>
            <a:r>
              <a:rPr kumimoji="0" lang="zh-CN" altLang="en-US" sz="1800" b="1">
                <a:solidFill>
                  <a:srgbClr val="0000FF"/>
                </a:solidFill>
                <a:ea typeface="华文中宋" pitchFamily="2" charset="-122"/>
              </a:rPr>
              <a:t>、平均碰撞频率</a:t>
            </a:r>
            <a:endParaRPr lang="zh-CN" altLang="en-US" sz="1800" b="1">
              <a:ea typeface="华文中宋" pitchFamily="2" charset="-122"/>
            </a:endParaRP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xEl>
                                              <p:pRg st="0" end="0"/>
                                            </p:txEl>
                                          </p:spTgt>
                                        </p:tgtEl>
                                        <p:attrNameLst>
                                          <p:attrName>style.visibility</p:attrName>
                                        </p:attrNameLst>
                                      </p:cBhvr>
                                      <p:to>
                                        <p:strVal val="visible"/>
                                      </p:to>
                                    </p:set>
                                    <p:animEffect transition="in" filter="wipe(left)">
                                      <p:cBhvr>
                                        <p:cTn id="7" dur="500"/>
                                        <p:tgtEl>
                                          <p:spTgt spid="2">
                                            <p:txEl>
                                              <p:pRg st="0" end="0"/>
                                            </p:txEl>
                                          </p:spTgt>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59"/>
                                        </p:tgtEl>
                                        <p:attrNameLst>
                                          <p:attrName>style.visibility</p:attrName>
                                        </p:attrNameLst>
                                      </p:cBhvr>
                                      <p:to>
                                        <p:strVal val="visible"/>
                                      </p:to>
                                    </p:set>
                                    <p:animEffect transition="in" filter="wipe(left)">
                                      <p:cBhvr>
                                        <p:cTn id="12" dur="500"/>
                                        <p:tgtEl>
                                          <p:spTgt spid="5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53" presetClass="entr" presetSubtype="16" fill="hold" nodeType="clickEffect">
                                  <p:stCondLst>
                                    <p:cond delay="0"/>
                                  </p:stCondLst>
                                  <p:childTnLst>
                                    <p:set>
                                      <p:cBhvr>
                                        <p:cTn id="16" dur="1" fill="hold">
                                          <p:stCondLst>
                                            <p:cond delay="0"/>
                                          </p:stCondLst>
                                        </p:cTn>
                                        <p:tgtEl>
                                          <p:spTgt spid="3"/>
                                        </p:tgtEl>
                                        <p:attrNameLst>
                                          <p:attrName>style.visibility</p:attrName>
                                        </p:attrNameLst>
                                      </p:cBhvr>
                                      <p:to>
                                        <p:strVal val="visible"/>
                                      </p:to>
                                    </p:set>
                                    <p:anim calcmode="lin" valueType="num">
                                      <p:cBhvr>
                                        <p:cTn id="17" dur="500" fill="hold"/>
                                        <p:tgtEl>
                                          <p:spTgt spid="3"/>
                                        </p:tgtEl>
                                        <p:attrNameLst>
                                          <p:attrName>ppt_w</p:attrName>
                                        </p:attrNameLst>
                                      </p:cBhvr>
                                      <p:tavLst>
                                        <p:tav tm="0">
                                          <p:val>
                                            <p:fltVal val="0"/>
                                          </p:val>
                                        </p:tav>
                                        <p:tav tm="100000">
                                          <p:val>
                                            <p:strVal val="#ppt_w"/>
                                          </p:val>
                                        </p:tav>
                                      </p:tavLst>
                                    </p:anim>
                                    <p:anim calcmode="lin" valueType="num">
                                      <p:cBhvr>
                                        <p:cTn id="18" dur="500" fill="hold"/>
                                        <p:tgtEl>
                                          <p:spTgt spid="3"/>
                                        </p:tgtEl>
                                        <p:attrNameLst>
                                          <p:attrName>ppt_h</p:attrName>
                                        </p:attrNameLst>
                                      </p:cBhvr>
                                      <p:tavLst>
                                        <p:tav tm="0">
                                          <p:val>
                                            <p:fltVal val="0"/>
                                          </p:val>
                                        </p:tav>
                                        <p:tav tm="100000">
                                          <p:val>
                                            <p:strVal val="#ppt_h"/>
                                          </p:val>
                                        </p:tav>
                                      </p:tavLst>
                                    </p:anim>
                                    <p:animEffect transition="in" filter="fade">
                                      <p:cBhvr>
                                        <p:cTn id="19" dur="500"/>
                                        <p:tgtEl>
                                          <p:spTgt spid="3"/>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53" presetClass="entr" presetSubtype="16" fill="hold" nodeType="clickEffect">
                                  <p:stCondLst>
                                    <p:cond delay="0"/>
                                  </p:stCondLst>
                                  <p:childTnLst>
                                    <p:set>
                                      <p:cBhvr>
                                        <p:cTn id="23" dur="1" fill="hold">
                                          <p:stCondLst>
                                            <p:cond delay="0"/>
                                          </p:stCondLst>
                                        </p:cTn>
                                        <p:tgtEl>
                                          <p:spTgt spid="16"/>
                                        </p:tgtEl>
                                        <p:attrNameLst>
                                          <p:attrName>style.visibility</p:attrName>
                                        </p:attrNameLst>
                                      </p:cBhvr>
                                      <p:to>
                                        <p:strVal val="visible"/>
                                      </p:to>
                                    </p:set>
                                    <p:anim calcmode="lin" valueType="num">
                                      <p:cBhvr>
                                        <p:cTn id="24" dur="500" fill="hold"/>
                                        <p:tgtEl>
                                          <p:spTgt spid="16"/>
                                        </p:tgtEl>
                                        <p:attrNameLst>
                                          <p:attrName>ppt_w</p:attrName>
                                        </p:attrNameLst>
                                      </p:cBhvr>
                                      <p:tavLst>
                                        <p:tav tm="0">
                                          <p:val>
                                            <p:fltVal val="0"/>
                                          </p:val>
                                        </p:tav>
                                        <p:tav tm="100000">
                                          <p:val>
                                            <p:strVal val="#ppt_w"/>
                                          </p:val>
                                        </p:tav>
                                      </p:tavLst>
                                    </p:anim>
                                    <p:anim calcmode="lin" valueType="num">
                                      <p:cBhvr>
                                        <p:cTn id="25" dur="500" fill="hold"/>
                                        <p:tgtEl>
                                          <p:spTgt spid="16"/>
                                        </p:tgtEl>
                                        <p:attrNameLst>
                                          <p:attrName>ppt_h</p:attrName>
                                        </p:attrNameLst>
                                      </p:cBhvr>
                                      <p:tavLst>
                                        <p:tav tm="0">
                                          <p:val>
                                            <p:fltVal val="0"/>
                                          </p:val>
                                        </p:tav>
                                        <p:tav tm="100000">
                                          <p:val>
                                            <p:strVal val="#ppt_h"/>
                                          </p:val>
                                        </p:tav>
                                      </p:tavLst>
                                    </p:anim>
                                    <p:animEffect transition="in" filter="fade">
                                      <p:cBhvr>
                                        <p:cTn id="26" dur="500"/>
                                        <p:tgtEl>
                                          <p:spTgt spid="16"/>
                                        </p:tgtEl>
                                      </p:cBhvr>
                                    </p:animEffect>
                                  </p:childTnLst>
                                </p:cTn>
                              </p:par>
                            </p:childTnLst>
                          </p:cTn>
                        </p:par>
                      </p:childTnLst>
                    </p:cTn>
                  </p:par>
                  <p:par>
                    <p:cTn id="27" fill="hold" nodeType="clickPar">
                      <p:stCondLst>
                        <p:cond delay="indefinite"/>
                      </p:stCondLst>
                      <p:childTnLst>
                        <p:par>
                          <p:cTn id="28" fill="hold" nodeType="withGroup">
                            <p:stCondLst>
                              <p:cond delay="0"/>
                            </p:stCondLst>
                            <p:childTnLst>
                              <p:par>
                                <p:cTn id="29" presetID="53" presetClass="entr" presetSubtype="16" fill="hold" nodeType="clickEffect">
                                  <p:stCondLst>
                                    <p:cond delay="0"/>
                                  </p:stCondLst>
                                  <p:childTnLst>
                                    <p:set>
                                      <p:cBhvr>
                                        <p:cTn id="30" dur="1" fill="hold">
                                          <p:stCondLst>
                                            <p:cond delay="0"/>
                                          </p:stCondLst>
                                        </p:cTn>
                                        <p:tgtEl>
                                          <p:spTgt spid="17"/>
                                        </p:tgtEl>
                                        <p:attrNameLst>
                                          <p:attrName>style.visibility</p:attrName>
                                        </p:attrNameLst>
                                      </p:cBhvr>
                                      <p:to>
                                        <p:strVal val="visible"/>
                                      </p:to>
                                    </p:set>
                                    <p:anim calcmode="lin" valueType="num">
                                      <p:cBhvr>
                                        <p:cTn id="31" dur="500" fill="hold"/>
                                        <p:tgtEl>
                                          <p:spTgt spid="17"/>
                                        </p:tgtEl>
                                        <p:attrNameLst>
                                          <p:attrName>ppt_w</p:attrName>
                                        </p:attrNameLst>
                                      </p:cBhvr>
                                      <p:tavLst>
                                        <p:tav tm="0">
                                          <p:val>
                                            <p:fltVal val="0"/>
                                          </p:val>
                                        </p:tav>
                                        <p:tav tm="100000">
                                          <p:val>
                                            <p:strVal val="#ppt_w"/>
                                          </p:val>
                                        </p:tav>
                                      </p:tavLst>
                                    </p:anim>
                                    <p:anim calcmode="lin" valueType="num">
                                      <p:cBhvr>
                                        <p:cTn id="32" dur="500" fill="hold"/>
                                        <p:tgtEl>
                                          <p:spTgt spid="17"/>
                                        </p:tgtEl>
                                        <p:attrNameLst>
                                          <p:attrName>ppt_h</p:attrName>
                                        </p:attrNameLst>
                                      </p:cBhvr>
                                      <p:tavLst>
                                        <p:tav tm="0">
                                          <p:val>
                                            <p:fltVal val="0"/>
                                          </p:val>
                                        </p:tav>
                                        <p:tav tm="100000">
                                          <p:val>
                                            <p:strVal val="#ppt_h"/>
                                          </p:val>
                                        </p:tav>
                                      </p:tavLst>
                                    </p:anim>
                                    <p:animEffect transition="in" filter="fade">
                                      <p:cBhvr>
                                        <p:cTn id="33" dur="500"/>
                                        <p:tgtEl>
                                          <p:spTgt spid="17"/>
                                        </p:tgtEl>
                                      </p:cBhvr>
                                    </p:animEffect>
                                  </p:childTnLst>
                                </p:cTn>
                              </p:par>
                            </p:childTnLst>
                          </p:cTn>
                        </p:par>
                      </p:childTnLst>
                    </p:cTn>
                  </p:par>
                  <p:par>
                    <p:cTn id="34" fill="hold" nodeType="clickPar">
                      <p:stCondLst>
                        <p:cond delay="indefinite"/>
                      </p:stCondLst>
                      <p:childTnLst>
                        <p:par>
                          <p:cTn id="35" fill="hold" nodeType="withGroup">
                            <p:stCondLst>
                              <p:cond delay="0"/>
                            </p:stCondLst>
                            <p:childTnLst>
                              <p:par>
                                <p:cTn id="36" presetID="22" presetClass="entr" presetSubtype="8" fill="hold" grpId="0" nodeType="clickEffect">
                                  <p:stCondLst>
                                    <p:cond delay="0"/>
                                  </p:stCondLst>
                                  <p:childTnLst>
                                    <p:set>
                                      <p:cBhvr>
                                        <p:cTn id="37" dur="1" fill="hold">
                                          <p:stCondLst>
                                            <p:cond delay="0"/>
                                          </p:stCondLst>
                                        </p:cTn>
                                        <p:tgtEl>
                                          <p:spTgt spid="123"/>
                                        </p:tgtEl>
                                        <p:attrNameLst>
                                          <p:attrName>style.visibility</p:attrName>
                                        </p:attrNameLst>
                                      </p:cBhvr>
                                      <p:to>
                                        <p:strVal val="visible"/>
                                      </p:to>
                                    </p:set>
                                    <p:animEffect transition="in" filter="wipe(left)">
                                      <p:cBhvr>
                                        <p:cTn id="38" dur="500"/>
                                        <p:tgtEl>
                                          <p:spTgt spid="123"/>
                                        </p:tgtEl>
                                      </p:cBhvr>
                                    </p:animEffect>
                                  </p:childTnLst>
                                </p:cTn>
                              </p:par>
                            </p:childTnLst>
                          </p:cTn>
                        </p:par>
                      </p:childTnLst>
                    </p:cTn>
                  </p:par>
                  <p:par>
                    <p:cTn id="39" fill="hold" nodeType="clickPar">
                      <p:stCondLst>
                        <p:cond delay="indefinite"/>
                      </p:stCondLst>
                      <p:childTnLst>
                        <p:par>
                          <p:cTn id="40" fill="hold" nodeType="withGroup">
                            <p:stCondLst>
                              <p:cond delay="0"/>
                            </p:stCondLst>
                            <p:childTnLst>
                              <p:par>
                                <p:cTn id="41" presetID="22" presetClass="entr" presetSubtype="8" fill="hold" grpId="0" nodeType="clickEffect">
                                  <p:stCondLst>
                                    <p:cond delay="0"/>
                                  </p:stCondLst>
                                  <p:childTnLst>
                                    <p:set>
                                      <p:cBhvr>
                                        <p:cTn id="42" dur="1" fill="hold">
                                          <p:stCondLst>
                                            <p:cond delay="0"/>
                                          </p:stCondLst>
                                        </p:cTn>
                                        <p:tgtEl>
                                          <p:spTgt spid="124"/>
                                        </p:tgtEl>
                                        <p:attrNameLst>
                                          <p:attrName>style.visibility</p:attrName>
                                        </p:attrNameLst>
                                      </p:cBhvr>
                                      <p:to>
                                        <p:strVal val="visible"/>
                                      </p:to>
                                    </p:set>
                                    <p:animEffect transition="in" filter="wipe(left)">
                                      <p:cBhvr>
                                        <p:cTn id="43" dur="500"/>
                                        <p:tgtEl>
                                          <p:spTgt spid="124"/>
                                        </p:tgtEl>
                                      </p:cBhvr>
                                    </p:animEffect>
                                  </p:childTnLst>
                                </p:cTn>
                              </p:par>
                            </p:childTnLst>
                          </p:cTn>
                        </p:par>
                      </p:childTnLst>
                    </p:cTn>
                  </p:par>
                  <p:par>
                    <p:cTn id="44" fill="hold" nodeType="clickPar">
                      <p:stCondLst>
                        <p:cond delay="indefinite"/>
                      </p:stCondLst>
                      <p:childTnLst>
                        <p:par>
                          <p:cTn id="45" fill="hold" nodeType="withGroup">
                            <p:stCondLst>
                              <p:cond delay="0"/>
                            </p:stCondLst>
                            <p:childTnLst>
                              <p:par>
                                <p:cTn id="46" presetID="22" presetClass="entr" presetSubtype="8" fill="hold" nodeType="clickEffect">
                                  <p:stCondLst>
                                    <p:cond delay="0"/>
                                  </p:stCondLst>
                                  <p:childTnLst>
                                    <p:set>
                                      <p:cBhvr>
                                        <p:cTn id="47" dur="1" fill="hold">
                                          <p:stCondLst>
                                            <p:cond delay="0"/>
                                          </p:stCondLst>
                                        </p:cTn>
                                        <p:tgtEl>
                                          <p:spTgt spid="139"/>
                                        </p:tgtEl>
                                        <p:attrNameLst>
                                          <p:attrName>style.visibility</p:attrName>
                                        </p:attrNameLst>
                                      </p:cBhvr>
                                      <p:to>
                                        <p:strVal val="visible"/>
                                      </p:to>
                                    </p:set>
                                    <p:animEffect transition="in" filter="wipe(left)">
                                      <p:cBhvr>
                                        <p:cTn id="48" dur="500"/>
                                        <p:tgtEl>
                                          <p:spTgt spid="139"/>
                                        </p:tgtEl>
                                      </p:cBhvr>
                                    </p:animEffect>
                                  </p:childTnLst>
                                </p:cTn>
                              </p:par>
                            </p:childTnLst>
                          </p:cTn>
                        </p:par>
                      </p:childTnLst>
                    </p:cTn>
                  </p:par>
                  <p:par>
                    <p:cTn id="49" fill="hold" nodeType="clickPar">
                      <p:stCondLst>
                        <p:cond delay="indefinite"/>
                      </p:stCondLst>
                      <p:childTnLst>
                        <p:par>
                          <p:cTn id="50" fill="hold" nodeType="withGroup">
                            <p:stCondLst>
                              <p:cond delay="0"/>
                            </p:stCondLst>
                            <p:childTnLst>
                              <p:par>
                                <p:cTn id="51" presetID="53" presetClass="entr" presetSubtype="16" fill="hold" nodeType="clickEffect">
                                  <p:stCondLst>
                                    <p:cond delay="0"/>
                                  </p:stCondLst>
                                  <p:childTnLst>
                                    <p:set>
                                      <p:cBhvr>
                                        <p:cTn id="52" dur="1" fill="hold">
                                          <p:stCondLst>
                                            <p:cond delay="0"/>
                                          </p:stCondLst>
                                        </p:cTn>
                                        <p:tgtEl>
                                          <p:spTgt spid="37890"/>
                                        </p:tgtEl>
                                        <p:attrNameLst>
                                          <p:attrName>style.visibility</p:attrName>
                                        </p:attrNameLst>
                                      </p:cBhvr>
                                      <p:to>
                                        <p:strVal val="visible"/>
                                      </p:to>
                                    </p:set>
                                    <p:anim calcmode="lin" valueType="num">
                                      <p:cBhvr>
                                        <p:cTn id="53" dur="500" fill="hold"/>
                                        <p:tgtEl>
                                          <p:spTgt spid="37890"/>
                                        </p:tgtEl>
                                        <p:attrNameLst>
                                          <p:attrName>ppt_w</p:attrName>
                                        </p:attrNameLst>
                                      </p:cBhvr>
                                      <p:tavLst>
                                        <p:tav tm="0">
                                          <p:val>
                                            <p:fltVal val="0"/>
                                          </p:val>
                                        </p:tav>
                                        <p:tav tm="100000">
                                          <p:val>
                                            <p:strVal val="#ppt_w"/>
                                          </p:val>
                                        </p:tav>
                                      </p:tavLst>
                                    </p:anim>
                                    <p:anim calcmode="lin" valueType="num">
                                      <p:cBhvr>
                                        <p:cTn id="54" dur="500" fill="hold"/>
                                        <p:tgtEl>
                                          <p:spTgt spid="37890"/>
                                        </p:tgtEl>
                                        <p:attrNameLst>
                                          <p:attrName>ppt_h</p:attrName>
                                        </p:attrNameLst>
                                      </p:cBhvr>
                                      <p:tavLst>
                                        <p:tav tm="0">
                                          <p:val>
                                            <p:fltVal val="0"/>
                                          </p:val>
                                        </p:tav>
                                        <p:tav tm="100000">
                                          <p:val>
                                            <p:strVal val="#ppt_h"/>
                                          </p:val>
                                        </p:tav>
                                      </p:tavLst>
                                    </p:anim>
                                    <p:animEffect transition="in" filter="fade">
                                      <p:cBhvr>
                                        <p:cTn id="55" dur="500"/>
                                        <p:tgtEl>
                                          <p:spTgt spid="37890"/>
                                        </p:tgtEl>
                                      </p:cBhvr>
                                    </p:animEffect>
                                  </p:childTnLst>
                                </p:cTn>
                              </p:par>
                            </p:childTnLst>
                          </p:cTn>
                        </p:par>
                      </p:childTnLst>
                    </p:cTn>
                  </p:par>
                  <p:par>
                    <p:cTn id="56" fill="hold" nodeType="clickPar">
                      <p:stCondLst>
                        <p:cond delay="indefinite"/>
                      </p:stCondLst>
                      <p:childTnLst>
                        <p:par>
                          <p:cTn id="57" fill="hold" nodeType="withGroup">
                            <p:stCondLst>
                              <p:cond delay="0"/>
                            </p:stCondLst>
                            <p:childTnLst>
                              <p:par>
                                <p:cTn id="58" presetID="22" presetClass="entr" presetSubtype="8" fill="hold" grpId="0" nodeType="clickEffect">
                                  <p:stCondLst>
                                    <p:cond delay="0"/>
                                  </p:stCondLst>
                                  <p:childTnLst>
                                    <p:set>
                                      <p:cBhvr>
                                        <p:cTn id="59" dur="1" fill="hold">
                                          <p:stCondLst>
                                            <p:cond delay="0"/>
                                          </p:stCondLst>
                                        </p:cTn>
                                        <p:tgtEl>
                                          <p:spTgt spid="140"/>
                                        </p:tgtEl>
                                        <p:attrNameLst>
                                          <p:attrName>style.visibility</p:attrName>
                                        </p:attrNameLst>
                                      </p:cBhvr>
                                      <p:to>
                                        <p:strVal val="visible"/>
                                      </p:to>
                                    </p:set>
                                    <p:animEffect transition="in" filter="wipe(left)">
                                      <p:cBhvr>
                                        <p:cTn id="60" dur="500"/>
                                        <p:tgtEl>
                                          <p:spTgt spid="140"/>
                                        </p:tgtEl>
                                      </p:cBhvr>
                                    </p:animEffect>
                                  </p:childTnLst>
                                </p:cTn>
                              </p:par>
                            </p:childTnLst>
                          </p:cTn>
                        </p:par>
                      </p:childTnLst>
                    </p:cTn>
                  </p:par>
                  <p:par>
                    <p:cTn id="61" fill="hold" nodeType="clickPar">
                      <p:stCondLst>
                        <p:cond delay="indefinite"/>
                      </p:stCondLst>
                      <p:childTnLst>
                        <p:par>
                          <p:cTn id="62" fill="hold" nodeType="withGroup">
                            <p:stCondLst>
                              <p:cond delay="0"/>
                            </p:stCondLst>
                            <p:childTnLst>
                              <p:par>
                                <p:cTn id="63" presetID="22" presetClass="entr" presetSubtype="8" fill="hold" nodeType="clickEffect">
                                  <p:stCondLst>
                                    <p:cond delay="0"/>
                                  </p:stCondLst>
                                  <p:childTnLst>
                                    <p:set>
                                      <p:cBhvr>
                                        <p:cTn id="64" dur="1" fill="hold">
                                          <p:stCondLst>
                                            <p:cond delay="0"/>
                                          </p:stCondLst>
                                        </p:cTn>
                                        <p:tgtEl>
                                          <p:spTgt spid="141"/>
                                        </p:tgtEl>
                                        <p:attrNameLst>
                                          <p:attrName>style.visibility</p:attrName>
                                        </p:attrNameLst>
                                      </p:cBhvr>
                                      <p:to>
                                        <p:strVal val="visible"/>
                                      </p:to>
                                    </p:set>
                                    <p:animEffect transition="in" filter="wipe(left)">
                                      <p:cBhvr>
                                        <p:cTn id="65" dur="500"/>
                                        <p:tgtEl>
                                          <p:spTgt spid="14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9" grpId="0"/>
      <p:bldP spid="123" grpId="0"/>
      <p:bldP spid="124" grpId="0"/>
      <p:bldP spid="140" grpId="0"/>
      <p:bldP spid="2" grpId="0" build="p"/>
    </p:bldLst>
  </p:timing>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ext Box 7"/>
          <p:cNvSpPr txBox="1">
            <a:spLocks noChangeArrowheads="1"/>
          </p:cNvSpPr>
          <p:nvPr/>
        </p:nvSpPr>
        <p:spPr bwMode="auto">
          <a:xfrm>
            <a:off x="815975" y="1222375"/>
            <a:ext cx="7932738"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en-US" altLang="zh-CN" sz="1800" b="1">
                <a:ea typeface="华文中宋" pitchFamily="2" charset="-122"/>
              </a:rPr>
              <a:t>        </a:t>
            </a:r>
            <a:r>
              <a:rPr kumimoji="0" lang="zh-CN" altLang="en-US" sz="1800" b="1">
                <a:ea typeface="华文中宋" pitchFamily="2" charset="-122"/>
              </a:rPr>
              <a:t>分子在连续两次碰撞之间所经历的直线自由程的平均值。依据平均速度的定义：</a:t>
            </a:r>
          </a:p>
        </p:txBody>
      </p:sp>
      <p:graphicFrame>
        <p:nvGraphicFramePr>
          <p:cNvPr id="7" name="对象 6"/>
          <p:cNvGraphicFramePr>
            <a:graphicFrameLocks noChangeAspect="1"/>
          </p:cNvGraphicFramePr>
          <p:nvPr/>
        </p:nvGraphicFramePr>
        <p:xfrm>
          <a:off x="2411413" y="1574800"/>
          <a:ext cx="814387" cy="592138"/>
        </p:xfrm>
        <a:graphic>
          <a:graphicData uri="http://schemas.openxmlformats.org/presentationml/2006/ole">
            <p:oleObj spid="_x0000_s67616" name="公式" r:id="rId3" imgW="431613" imgH="418918" progId="Equation.3">
              <p:embed/>
            </p:oleObj>
          </a:graphicData>
        </a:graphic>
      </p:graphicFrame>
      <p:graphicFrame>
        <p:nvGraphicFramePr>
          <p:cNvPr id="8" name="对象 7"/>
          <p:cNvGraphicFramePr>
            <a:graphicFrameLocks noChangeAspect="1"/>
          </p:cNvGraphicFramePr>
          <p:nvPr/>
        </p:nvGraphicFramePr>
        <p:xfrm>
          <a:off x="3190875" y="1576388"/>
          <a:ext cx="1579563" cy="628650"/>
        </p:xfrm>
        <a:graphic>
          <a:graphicData uri="http://schemas.openxmlformats.org/presentationml/2006/ole">
            <p:oleObj spid="_x0000_s67617" name="公式" r:id="rId4" imgW="837836" imgH="444307" progId="Equation.3">
              <p:embed/>
            </p:oleObj>
          </a:graphicData>
        </a:graphic>
      </p:graphicFrame>
      <p:graphicFrame>
        <p:nvGraphicFramePr>
          <p:cNvPr id="9" name="对象 8"/>
          <p:cNvGraphicFramePr>
            <a:graphicFrameLocks noChangeAspect="1"/>
          </p:cNvGraphicFramePr>
          <p:nvPr/>
        </p:nvGraphicFramePr>
        <p:xfrm>
          <a:off x="4703763" y="1563688"/>
          <a:ext cx="1412875" cy="628650"/>
        </p:xfrm>
        <a:graphic>
          <a:graphicData uri="http://schemas.openxmlformats.org/presentationml/2006/ole">
            <p:oleObj spid="_x0000_s67618" name="公式" r:id="rId5" imgW="748975" imgH="444307" progId="Equation.3">
              <p:embed/>
            </p:oleObj>
          </a:graphicData>
        </a:graphic>
      </p:graphicFrame>
      <p:graphicFrame>
        <p:nvGraphicFramePr>
          <p:cNvPr id="10" name="对象 9"/>
          <p:cNvGraphicFramePr>
            <a:graphicFrameLocks noChangeAspect="1"/>
          </p:cNvGraphicFramePr>
          <p:nvPr/>
        </p:nvGraphicFramePr>
        <p:xfrm>
          <a:off x="3644900" y="2332038"/>
          <a:ext cx="1719263" cy="665162"/>
        </p:xfrm>
        <a:graphic>
          <a:graphicData uri="http://schemas.openxmlformats.org/presentationml/2006/ole">
            <p:oleObj spid="_x0000_s67619" name="公式" r:id="rId6" imgW="634725" imgH="330057" progId="Equation.3">
              <p:embed/>
            </p:oleObj>
          </a:graphicData>
        </a:graphic>
      </p:graphicFrame>
      <p:sp>
        <p:nvSpPr>
          <p:cNvPr id="140" name="Text Box 105"/>
          <p:cNvSpPr txBox="1">
            <a:spLocks noChangeArrowheads="1"/>
          </p:cNvSpPr>
          <p:nvPr/>
        </p:nvSpPr>
        <p:spPr bwMode="auto">
          <a:xfrm>
            <a:off x="2339975" y="2355850"/>
            <a:ext cx="838200" cy="523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gn="ctr" eaLnBrk="1" hangingPunct="1">
              <a:spcBef>
                <a:spcPct val="50000"/>
              </a:spcBef>
            </a:pPr>
            <a:r>
              <a:rPr lang="en-US" altLang="zh-CN" sz="2800" b="1">
                <a:ea typeface="宋体" pitchFamily="2" charset="-122"/>
                <a:sym typeface="Symbol" pitchFamily="18" charset="2"/>
              </a:rPr>
              <a:t></a:t>
            </a:r>
            <a:endParaRPr lang="en-US" altLang="zh-CN" sz="2800" b="1">
              <a:ea typeface="宋体" pitchFamily="2" charset="-122"/>
            </a:endParaRPr>
          </a:p>
        </p:txBody>
      </p:sp>
      <p:graphicFrame>
        <p:nvGraphicFramePr>
          <p:cNvPr id="141" name="Object 106"/>
          <p:cNvGraphicFramePr>
            <a:graphicFrameLocks noChangeAspect="1"/>
          </p:cNvGraphicFramePr>
          <p:nvPr/>
        </p:nvGraphicFramePr>
        <p:xfrm>
          <a:off x="2276475" y="4156075"/>
          <a:ext cx="2089150" cy="354013"/>
        </p:xfrm>
        <a:graphic>
          <a:graphicData uri="http://schemas.openxmlformats.org/presentationml/2006/ole">
            <p:oleObj spid="_x0000_s67620" name="公式" r:id="rId7" imgW="952087" imgH="215806" progId="Equation.3">
              <p:embed/>
            </p:oleObj>
          </a:graphicData>
        </a:graphic>
      </p:graphicFrame>
      <p:graphicFrame>
        <p:nvGraphicFramePr>
          <p:cNvPr id="2" name="对象 9"/>
          <p:cNvGraphicFramePr>
            <a:graphicFrameLocks noChangeAspect="1"/>
          </p:cNvGraphicFramePr>
          <p:nvPr/>
        </p:nvGraphicFramePr>
        <p:xfrm>
          <a:off x="6880225" y="3786188"/>
          <a:ext cx="1719263" cy="665162"/>
        </p:xfrm>
        <a:graphic>
          <a:graphicData uri="http://schemas.openxmlformats.org/presentationml/2006/ole">
            <p:oleObj spid="_x0000_s67621" name="公式" r:id="rId8" imgW="634725" imgH="330057" progId="Equation.3">
              <p:embed/>
            </p:oleObj>
          </a:graphicData>
        </a:graphic>
      </p:graphicFrame>
      <p:sp>
        <p:nvSpPr>
          <p:cNvPr id="139286" name="Rectangle 22"/>
          <p:cNvSpPr>
            <a:spLocks noChangeArrowheads="1"/>
          </p:cNvSpPr>
          <p:nvPr/>
        </p:nvSpPr>
        <p:spPr bwMode="auto">
          <a:xfrm>
            <a:off x="827088" y="3397250"/>
            <a:ext cx="7170737"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eaLnBrk="0" hangingPunct="0"/>
            <a:r>
              <a:rPr kumimoji="0" lang="zh-CN" altLang="en-US" sz="1800" b="1">
                <a:ea typeface="华文中宋" pitchFamily="2" charset="-122"/>
              </a:rPr>
              <a:t>（１） 这说明：平均自由程与分子数密度</a:t>
            </a:r>
            <a:r>
              <a:rPr kumimoji="0" lang="en-US" altLang="zh-CN" sz="1800" b="1" i="1">
                <a:ea typeface="华文中宋" pitchFamily="2" charset="-122"/>
              </a:rPr>
              <a:t>n</a:t>
            </a:r>
            <a:r>
              <a:rPr kumimoji="0" lang="zh-CN" altLang="en-US" sz="1800" b="1">
                <a:ea typeface="华文中宋" pitchFamily="2" charset="-122"/>
              </a:rPr>
              <a:t>成反比；</a:t>
            </a:r>
          </a:p>
        </p:txBody>
      </p:sp>
      <p:sp>
        <p:nvSpPr>
          <p:cNvPr id="139288" name="Text Box 24"/>
          <p:cNvSpPr txBox="1">
            <a:spLocks noChangeArrowheads="1"/>
          </p:cNvSpPr>
          <p:nvPr/>
        </p:nvSpPr>
        <p:spPr bwMode="auto">
          <a:xfrm>
            <a:off x="2484438" y="3749675"/>
            <a:ext cx="5256212"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ea typeface="华文中宋" pitchFamily="2" charset="-122"/>
              </a:rPr>
              <a:t>平均碰撞频率与</a:t>
            </a:r>
            <a:r>
              <a:rPr kumimoji="0" lang="zh-CN" altLang="en-US" sz="1800" b="1">
                <a:ea typeface="华文中宋" pitchFamily="2" charset="-122"/>
              </a:rPr>
              <a:t>分子数密度</a:t>
            </a:r>
            <a:r>
              <a:rPr kumimoji="0" lang="en-US" altLang="zh-CN" sz="1800" b="1" i="1">
                <a:ea typeface="华文中宋" pitchFamily="2" charset="-122"/>
              </a:rPr>
              <a:t>n</a:t>
            </a:r>
            <a:r>
              <a:rPr kumimoji="0" lang="zh-CN" altLang="en-US" sz="1800" b="1">
                <a:ea typeface="华文中宋" pitchFamily="2" charset="-122"/>
              </a:rPr>
              <a:t>成正比。</a:t>
            </a:r>
          </a:p>
        </p:txBody>
      </p:sp>
      <p:sp>
        <p:nvSpPr>
          <p:cNvPr id="14" name="Text Box 2"/>
          <p:cNvSpPr>
            <a:spLocks noChangeArrowheads="1"/>
          </p:cNvSpPr>
          <p:nvPr/>
        </p:nvSpPr>
        <p:spPr bwMode="auto">
          <a:xfrm>
            <a:off x="755650" y="874713"/>
            <a:ext cx="2376488" cy="401637"/>
          </a:xfrm>
          <a:prstGeom prst="homePlate">
            <a:avLst>
              <a:gd name="adj" fmla="val 49692"/>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二、平均自由程</a:t>
            </a:r>
          </a:p>
        </p:txBody>
      </p:sp>
      <p:sp>
        <p:nvSpPr>
          <p:cNvPr id="15" name="Text Box 2"/>
          <p:cNvSpPr>
            <a:spLocks noChangeArrowheads="1"/>
          </p:cNvSpPr>
          <p:nvPr/>
        </p:nvSpPr>
        <p:spPr bwMode="auto">
          <a:xfrm>
            <a:off x="755650" y="2967038"/>
            <a:ext cx="1350963" cy="400050"/>
          </a:xfrm>
          <a:prstGeom prst="homePlate">
            <a:avLst>
              <a:gd name="adj" fmla="val 49873"/>
            </a:avLst>
          </a:prstGeom>
          <a:solidFill>
            <a:srgbClr val="539A84"/>
          </a:solidFill>
          <a:ln>
            <a:noFill/>
          </a:ln>
          <a:extLs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buFont typeface="Arial" charset="0"/>
              <a:buNone/>
            </a:pPr>
            <a:r>
              <a:rPr lang="zh-CN" altLang="en-US" sz="2000">
                <a:solidFill>
                  <a:srgbClr val="FFFFFF"/>
                </a:solidFill>
                <a:latin typeface="微软雅黑" pitchFamily="34" charset="-122"/>
                <a:ea typeface="微软雅黑" pitchFamily="34" charset="-122"/>
              </a:rPr>
              <a:t>三、讨论</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14"/>
                                        </p:tgtEl>
                                        <p:attrNameLst>
                                          <p:attrName>style.visibility</p:attrName>
                                        </p:attrNameLst>
                                      </p:cBhvr>
                                      <p:to>
                                        <p:strVal val="visible"/>
                                      </p:to>
                                    </p:set>
                                    <p:animEffect transition="in" filter="wipe(left)">
                                      <p:cBhvr>
                                        <p:cTn id="7" dur="500"/>
                                        <p:tgtEl>
                                          <p:spTgt spid="14"/>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wipe(left)">
                                      <p:cBhvr>
                                        <p:cTn id="12" dur="500"/>
                                        <p:tgtEl>
                                          <p:spTgt spid="6"/>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Effect transition="in" filter="wipe(left)">
                                      <p:cBhvr>
                                        <p:cTn id="17" dur="500"/>
                                        <p:tgtEl>
                                          <p:spTgt spid="7"/>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8"/>
                                        </p:tgtEl>
                                        <p:attrNameLst>
                                          <p:attrName>style.visibility</p:attrName>
                                        </p:attrNameLst>
                                      </p:cBhvr>
                                      <p:to>
                                        <p:strVal val="visible"/>
                                      </p:to>
                                    </p:set>
                                    <p:animEffect transition="in" filter="wipe(left)">
                                      <p:cBhvr>
                                        <p:cTn id="22" dur="500"/>
                                        <p:tgtEl>
                                          <p:spTgt spid="8"/>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9"/>
                                        </p:tgtEl>
                                        <p:attrNameLst>
                                          <p:attrName>style.visibility</p:attrName>
                                        </p:attrNameLst>
                                      </p:cBhvr>
                                      <p:to>
                                        <p:strVal val="visible"/>
                                      </p:to>
                                    </p:set>
                                    <p:animEffect transition="in" filter="wipe(left)">
                                      <p:cBhvr>
                                        <p:cTn id="27" dur="500"/>
                                        <p:tgtEl>
                                          <p:spTgt spid="9"/>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40"/>
                                        </p:tgtEl>
                                        <p:attrNameLst>
                                          <p:attrName>style.visibility</p:attrName>
                                        </p:attrNameLst>
                                      </p:cBhvr>
                                      <p:to>
                                        <p:strVal val="visible"/>
                                      </p:to>
                                    </p:set>
                                    <p:animEffect transition="in" filter="wipe(left)">
                                      <p:cBhvr>
                                        <p:cTn id="32" dur="500"/>
                                        <p:tgtEl>
                                          <p:spTgt spid="140"/>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10"/>
                                        </p:tgtEl>
                                        <p:attrNameLst>
                                          <p:attrName>style.visibility</p:attrName>
                                        </p:attrNameLst>
                                      </p:cBhvr>
                                      <p:to>
                                        <p:strVal val="visible"/>
                                      </p:to>
                                    </p:set>
                                    <p:animEffect transition="in" filter="wipe(left)">
                                      <p:cBhvr>
                                        <p:cTn id="37" dur="500"/>
                                        <p:tgtEl>
                                          <p:spTgt spid="10"/>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15"/>
                                        </p:tgtEl>
                                        <p:attrNameLst>
                                          <p:attrName>style.visibility</p:attrName>
                                        </p:attrNameLst>
                                      </p:cBhvr>
                                      <p:to>
                                        <p:strVal val="visible"/>
                                      </p:to>
                                    </p:set>
                                    <p:animEffect transition="in" filter="wipe(left)">
                                      <p:cBhvr>
                                        <p:cTn id="42" dur="500"/>
                                        <p:tgtEl>
                                          <p:spTgt spid="15"/>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3" presetClass="entr" presetSubtype="10" fill="hold" grpId="0" nodeType="clickEffect">
                                  <p:stCondLst>
                                    <p:cond delay="0"/>
                                  </p:stCondLst>
                                  <p:childTnLst>
                                    <p:set>
                                      <p:cBhvr>
                                        <p:cTn id="46" dur="1" fill="hold">
                                          <p:stCondLst>
                                            <p:cond delay="0"/>
                                          </p:stCondLst>
                                        </p:cTn>
                                        <p:tgtEl>
                                          <p:spTgt spid="139286"/>
                                        </p:tgtEl>
                                        <p:attrNameLst>
                                          <p:attrName>style.visibility</p:attrName>
                                        </p:attrNameLst>
                                      </p:cBhvr>
                                      <p:to>
                                        <p:strVal val="visible"/>
                                      </p:to>
                                    </p:set>
                                    <p:animEffect transition="in" filter="blinds(horizontal)">
                                      <p:cBhvr>
                                        <p:cTn id="47" dur="500"/>
                                        <p:tgtEl>
                                          <p:spTgt spid="139286"/>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3" presetClass="entr" presetSubtype="10" fill="hold" grpId="0" nodeType="clickEffect">
                                  <p:stCondLst>
                                    <p:cond delay="0"/>
                                  </p:stCondLst>
                                  <p:childTnLst>
                                    <p:set>
                                      <p:cBhvr>
                                        <p:cTn id="51" dur="1" fill="hold">
                                          <p:stCondLst>
                                            <p:cond delay="0"/>
                                          </p:stCondLst>
                                        </p:cTn>
                                        <p:tgtEl>
                                          <p:spTgt spid="139288"/>
                                        </p:tgtEl>
                                        <p:attrNameLst>
                                          <p:attrName>style.visibility</p:attrName>
                                        </p:attrNameLst>
                                      </p:cBhvr>
                                      <p:to>
                                        <p:strVal val="visible"/>
                                      </p:to>
                                    </p:set>
                                    <p:animEffect transition="in" filter="blinds(horizontal)">
                                      <p:cBhvr>
                                        <p:cTn id="52" dur="500"/>
                                        <p:tgtEl>
                                          <p:spTgt spid="13928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141"/>
                                        </p:tgtEl>
                                        <p:attrNameLst>
                                          <p:attrName>style.visibility</p:attrName>
                                        </p:attrNameLst>
                                      </p:cBhvr>
                                      <p:to>
                                        <p:strVal val="visible"/>
                                      </p:to>
                                    </p:set>
                                    <p:animEffect transition="in" filter="wipe(left)">
                                      <p:cBhvr>
                                        <p:cTn id="57" dur="500"/>
                                        <p:tgtEl>
                                          <p:spTgt spid="141"/>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nodeType="clickEffect">
                                  <p:stCondLst>
                                    <p:cond delay="0"/>
                                  </p:stCondLst>
                                  <p:childTnLst>
                                    <p:set>
                                      <p:cBhvr>
                                        <p:cTn id="61" dur="1" fill="hold">
                                          <p:stCondLst>
                                            <p:cond delay="0"/>
                                          </p:stCondLst>
                                        </p:cTn>
                                        <p:tgtEl>
                                          <p:spTgt spid="2"/>
                                        </p:tgtEl>
                                        <p:attrNameLst>
                                          <p:attrName>style.visibility</p:attrName>
                                        </p:attrNameLst>
                                      </p:cBhvr>
                                      <p:to>
                                        <p:strVal val="visible"/>
                                      </p:to>
                                    </p:set>
                                    <p:animEffect transition="in" filter="wipe(left)">
                                      <p:cBhvr>
                                        <p:cTn id="62"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P spid="140" grpId="0"/>
      <p:bldP spid="139286" grpId="0"/>
      <p:bldP spid="139288" grpId="0"/>
      <p:bldP spid="14" grpId="0" animBg="1"/>
      <p:bldP spid="15" grpId="0" animBg="1"/>
    </p:bldLst>
  </p:timing>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8504" name="Text Box 24"/>
          <p:cNvSpPr txBox="1">
            <a:spLocks noChangeArrowheads="1"/>
          </p:cNvSpPr>
          <p:nvPr/>
        </p:nvSpPr>
        <p:spPr bwMode="auto">
          <a:xfrm>
            <a:off x="601663" y="836613"/>
            <a:ext cx="2941637" cy="36830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r>
              <a:rPr kumimoji="0" lang="zh-CN" altLang="en-US" sz="1800" b="1">
                <a:ea typeface="华文中宋" pitchFamily="2" charset="-122"/>
              </a:rPr>
              <a:t>（２）对于理想气体</a:t>
            </a:r>
          </a:p>
        </p:txBody>
      </p:sp>
      <p:graphicFrame>
        <p:nvGraphicFramePr>
          <p:cNvPr id="12" name="Object 13"/>
          <p:cNvGraphicFramePr>
            <a:graphicFrameLocks noChangeAspect="1"/>
          </p:cNvGraphicFramePr>
          <p:nvPr/>
        </p:nvGraphicFramePr>
        <p:xfrm>
          <a:off x="4572000" y="2808288"/>
          <a:ext cx="1871663" cy="627062"/>
        </p:xfrm>
        <a:graphic>
          <a:graphicData uri="http://schemas.openxmlformats.org/presentationml/2006/ole">
            <p:oleObj spid="_x0000_s68628" name="Equation" r:id="rId3" imgW="736600" imgH="330200" progId="Equation.DSMT4">
              <p:embed/>
            </p:oleObj>
          </a:graphicData>
        </a:graphic>
      </p:graphicFrame>
      <p:sp>
        <p:nvSpPr>
          <p:cNvPr id="13" name="Text Box 14"/>
          <p:cNvSpPr txBox="1">
            <a:spLocks noChangeArrowheads="1"/>
          </p:cNvSpPr>
          <p:nvPr/>
        </p:nvSpPr>
        <p:spPr bwMode="auto">
          <a:xfrm>
            <a:off x="1620838" y="3741738"/>
            <a:ext cx="5543550" cy="7016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0000FF"/>
                </a:solidFill>
                <a:ea typeface="华文中宋" pitchFamily="2" charset="-122"/>
              </a:rPr>
              <a:t>这说明：平均碰撞频率与</a:t>
            </a:r>
            <a:r>
              <a:rPr lang="en-US" altLang="zh-CN" sz="1800" b="1" i="1">
                <a:solidFill>
                  <a:srgbClr val="0000FF"/>
                </a:solidFill>
                <a:ea typeface="华文中宋" pitchFamily="2" charset="-122"/>
              </a:rPr>
              <a:t>P</a:t>
            </a:r>
            <a:r>
              <a:rPr lang="zh-CN" altLang="en-US" sz="1800" b="1">
                <a:solidFill>
                  <a:srgbClr val="0000FF"/>
                </a:solidFill>
                <a:ea typeface="华文中宋" pitchFamily="2" charset="-122"/>
              </a:rPr>
              <a:t>成正比，与</a:t>
            </a:r>
            <a:r>
              <a:rPr lang="en-US" altLang="zh-CN" sz="1800" b="1" i="1">
                <a:solidFill>
                  <a:srgbClr val="0000FF"/>
                </a:solidFill>
                <a:ea typeface="华文中宋" pitchFamily="2" charset="-122"/>
              </a:rPr>
              <a:t>T</a:t>
            </a:r>
            <a:r>
              <a:rPr lang="en-US" altLang="zh-CN" sz="1800" b="1" baseline="30000">
                <a:solidFill>
                  <a:srgbClr val="0000FF"/>
                </a:solidFill>
                <a:ea typeface="华文中宋" pitchFamily="2" charset="-122"/>
              </a:rPr>
              <a:t>1/2</a:t>
            </a:r>
            <a:r>
              <a:rPr lang="zh-CN" altLang="en-US" sz="1800" b="1">
                <a:solidFill>
                  <a:srgbClr val="0000FF"/>
                </a:solidFill>
                <a:ea typeface="华文中宋" pitchFamily="2" charset="-122"/>
              </a:rPr>
              <a:t>成反比；</a:t>
            </a:r>
          </a:p>
          <a:p>
            <a:pPr eaLnBrk="1" hangingPunct="1">
              <a:lnSpc>
                <a:spcPct val="110000"/>
              </a:lnSpc>
            </a:pPr>
            <a:r>
              <a:rPr lang="zh-CN" altLang="en-US" sz="1800" b="1">
                <a:solidFill>
                  <a:srgbClr val="0000FF"/>
                </a:solidFill>
                <a:ea typeface="华文中宋" pitchFamily="2" charset="-122"/>
              </a:rPr>
              <a:t>                平均自由程与</a:t>
            </a:r>
            <a:r>
              <a:rPr lang="en-US" altLang="zh-CN" sz="1800" b="1" i="1">
                <a:solidFill>
                  <a:srgbClr val="0000FF"/>
                </a:solidFill>
                <a:ea typeface="华文中宋" pitchFamily="2" charset="-122"/>
              </a:rPr>
              <a:t>P</a:t>
            </a:r>
            <a:r>
              <a:rPr lang="zh-CN" altLang="en-US" sz="1800" b="1">
                <a:solidFill>
                  <a:srgbClr val="0000FF"/>
                </a:solidFill>
                <a:ea typeface="华文中宋" pitchFamily="2" charset="-122"/>
              </a:rPr>
              <a:t>成反比，与</a:t>
            </a:r>
            <a:r>
              <a:rPr lang="en-US" altLang="zh-CN" sz="1800" b="1" i="1">
                <a:solidFill>
                  <a:srgbClr val="0000FF"/>
                </a:solidFill>
                <a:ea typeface="华文中宋" pitchFamily="2" charset="-122"/>
              </a:rPr>
              <a:t>T</a:t>
            </a:r>
            <a:r>
              <a:rPr lang="zh-CN" altLang="en-US" sz="1800" b="1">
                <a:solidFill>
                  <a:srgbClr val="0000FF"/>
                </a:solidFill>
                <a:ea typeface="华文中宋" pitchFamily="2" charset="-122"/>
              </a:rPr>
              <a:t>成正比。</a:t>
            </a:r>
          </a:p>
        </p:txBody>
      </p:sp>
      <p:graphicFrame>
        <p:nvGraphicFramePr>
          <p:cNvPr id="148507" name="Object 27"/>
          <p:cNvGraphicFramePr>
            <a:graphicFrameLocks noChangeAspect="1"/>
          </p:cNvGraphicFramePr>
          <p:nvPr/>
        </p:nvGraphicFramePr>
        <p:xfrm>
          <a:off x="2627313" y="1195388"/>
          <a:ext cx="2690812" cy="646112"/>
        </p:xfrm>
        <a:graphic>
          <a:graphicData uri="http://schemas.openxmlformats.org/presentationml/2006/ole">
            <p:oleObj spid="_x0000_s68629" name="Equation" r:id="rId4" imgW="1269449" imgH="406224" progId="Equation.DSMT4">
              <p:embed/>
            </p:oleObj>
          </a:graphicData>
        </a:graphic>
      </p:graphicFrame>
      <p:graphicFrame>
        <p:nvGraphicFramePr>
          <p:cNvPr id="148508" name="Object 28"/>
          <p:cNvGraphicFramePr>
            <a:graphicFrameLocks noChangeAspect="1"/>
          </p:cNvGraphicFramePr>
          <p:nvPr/>
        </p:nvGraphicFramePr>
        <p:xfrm>
          <a:off x="1974850" y="2800350"/>
          <a:ext cx="2171700" cy="625475"/>
        </p:xfrm>
        <a:graphic>
          <a:graphicData uri="http://schemas.openxmlformats.org/presentationml/2006/ole">
            <p:oleObj spid="_x0000_s68630" name="Equation" r:id="rId5" imgW="1193800" imgH="457200" progId="Equation.DSMT4">
              <p:embed/>
            </p:oleObj>
          </a:graphicData>
        </a:graphic>
      </p:graphicFrame>
      <p:graphicFrame>
        <p:nvGraphicFramePr>
          <p:cNvPr id="148509" name="Object 29"/>
          <p:cNvGraphicFramePr>
            <a:graphicFrameLocks noChangeAspect="1"/>
          </p:cNvGraphicFramePr>
          <p:nvPr/>
        </p:nvGraphicFramePr>
        <p:xfrm>
          <a:off x="4211638" y="1851025"/>
          <a:ext cx="1592262" cy="790575"/>
        </p:xfrm>
        <a:graphic>
          <a:graphicData uri="http://schemas.openxmlformats.org/presentationml/2006/ole">
            <p:oleObj spid="_x0000_s68631" name="Equation" r:id="rId6" imgW="672808" imgH="444307" progId="Equation.DSMT4">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17" presetClass="entr" presetSubtype="10" fill="hold" grpId="0" nodeType="clickEffect">
                                  <p:stCondLst>
                                    <p:cond delay="0"/>
                                  </p:stCondLst>
                                  <p:childTnLst>
                                    <p:set>
                                      <p:cBhvr>
                                        <p:cTn id="6" dur="1" fill="hold">
                                          <p:stCondLst>
                                            <p:cond delay="0"/>
                                          </p:stCondLst>
                                        </p:cTn>
                                        <p:tgtEl>
                                          <p:spTgt spid="148504"/>
                                        </p:tgtEl>
                                        <p:attrNameLst>
                                          <p:attrName>style.visibility</p:attrName>
                                        </p:attrNameLst>
                                      </p:cBhvr>
                                      <p:to>
                                        <p:strVal val="visible"/>
                                      </p:to>
                                    </p:set>
                                    <p:anim calcmode="lin" valueType="num">
                                      <p:cBhvr>
                                        <p:cTn id="7" dur="500" fill="hold"/>
                                        <p:tgtEl>
                                          <p:spTgt spid="148504"/>
                                        </p:tgtEl>
                                        <p:attrNameLst>
                                          <p:attrName>ppt_w</p:attrName>
                                        </p:attrNameLst>
                                      </p:cBhvr>
                                      <p:tavLst>
                                        <p:tav tm="0">
                                          <p:val>
                                            <p:fltVal val="0"/>
                                          </p:val>
                                        </p:tav>
                                        <p:tav tm="100000">
                                          <p:val>
                                            <p:strVal val="#ppt_w"/>
                                          </p:val>
                                        </p:tav>
                                      </p:tavLst>
                                    </p:anim>
                                    <p:anim calcmode="lin" valueType="num">
                                      <p:cBhvr>
                                        <p:cTn id="8" dur="500" fill="hold"/>
                                        <p:tgtEl>
                                          <p:spTgt spid="148504"/>
                                        </p:tgtEl>
                                        <p:attrNameLst>
                                          <p:attrName>ppt_h</p:attrName>
                                        </p:attrNameLst>
                                      </p:cBhvr>
                                      <p:tavLst>
                                        <p:tav tm="0">
                                          <p:val>
                                            <p:strVal val="#ppt_h"/>
                                          </p:val>
                                        </p:tav>
                                        <p:tav tm="100000">
                                          <p:val>
                                            <p:strVal val="#ppt_h"/>
                                          </p:val>
                                        </p:tav>
                                      </p:tavLst>
                                    </p:anim>
                                  </p:childTnLst>
                                </p:cTn>
                              </p:par>
                            </p:childTnLst>
                          </p:cTn>
                        </p:par>
                      </p:childTnLst>
                    </p:cTn>
                  </p:par>
                  <p:par>
                    <p:cTn id="9" fill="hold" nodeType="clickPar">
                      <p:stCondLst>
                        <p:cond delay="indefinite"/>
                      </p:stCondLst>
                      <p:childTnLst>
                        <p:par>
                          <p:cTn id="10" fill="hold" nodeType="withGroup">
                            <p:stCondLst>
                              <p:cond delay="0"/>
                            </p:stCondLst>
                            <p:childTnLst>
                              <p:par>
                                <p:cTn id="11" presetID="3" presetClass="entr" presetSubtype="10" fill="hold" nodeType="clickEffect">
                                  <p:stCondLst>
                                    <p:cond delay="0"/>
                                  </p:stCondLst>
                                  <p:childTnLst>
                                    <p:set>
                                      <p:cBhvr>
                                        <p:cTn id="12" dur="1" fill="hold">
                                          <p:stCondLst>
                                            <p:cond delay="0"/>
                                          </p:stCondLst>
                                        </p:cTn>
                                        <p:tgtEl>
                                          <p:spTgt spid="148507"/>
                                        </p:tgtEl>
                                        <p:attrNameLst>
                                          <p:attrName>style.visibility</p:attrName>
                                        </p:attrNameLst>
                                      </p:cBhvr>
                                      <p:to>
                                        <p:strVal val="visible"/>
                                      </p:to>
                                    </p:set>
                                    <p:animEffect transition="in" filter="blinds(horizontal)">
                                      <p:cBhvr>
                                        <p:cTn id="13" dur="500"/>
                                        <p:tgtEl>
                                          <p:spTgt spid="148507"/>
                                        </p:tgtEl>
                                      </p:cBhvr>
                                    </p:animEffect>
                                  </p:childTnLst>
                                </p:cTn>
                              </p:par>
                            </p:childTnLst>
                          </p:cTn>
                        </p:par>
                      </p:childTnLst>
                    </p:cTn>
                  </p:par>
                  <p:par>
                    <p:cTn id="14" fill="hold" nodeType="clickPar">
                      <p:stCondLst>
                        <p:cond delay="indefinite"/>
                      </p:stCondLst>
                      <p:childTnLst>
                        <p:par>
                          <p:cTn id="15" fill="hold" nodeType="withGroup">
                            <p:stCondLst>
                              <p:cond delay="0"/>
                            </p:stCondLst>
                            <p:childTnLst>
                              <p:par>
                                <p:cTn id="16" presetID="23" presetClass="entr" presetSubtype="16" fill="hold" nodeType="clickEffect">
                                  <p:stCondLst>
                                    <p:cond delay="0"/>
                                  </p:stCondLst>
                                  <p:childTnLst>
                                    <p:set>
                                      <p:cBhvr>
                                        <p:cTn id="17" dur="1" fill="hold">
                                          <p:stCondLst>
                                            <p:cond delay="0"/>
                                          </p:stCondLst>
                                        </p:cTn>
                                        <p:tgtEl>
                                          <p:spTgt spid="148509"/>
                                        </p:tgtEl>
                                        <p:attrNameLst>
                                          <p:attrName>style.visibility</p:attrName>
                                        </p:attrNameLst>
                                      </p:cBhvr>
                                      <p:to>
                                        <p:strVal val="visible"/>
                                      </p:to>
                                    </p:set>
                                    <p:anim calcmode="lin" valueType="num">
                                      <p:cBhvr>
                                        <p:cTn id="18" dur="500" fill="hold"/>
                                        <p:tgtEl>
                                          <p:spTgt spid="148509"/>
                                        </p:tgtEl>
                                        <p:attrNameLst>
                                          <p:attrName>ppt_w</p:attrName>
                                        </p:attrNameLst>
                                      </p:cBhvr>
                                      <p:tavLst>
                                        <p:tav tm="0">
                                          <p:val>
                                            <p:fltVal val="0"/>
                                          </p:val>
                                        </p:tav>
                                        <p:tav tm="100000">
                                          <p:val>
                                            <p:strVal val="#ppt_w"/>
                                          </p:val>
                                        </p:tav>
                                      </p:tavLst>
                                    </p:anim>
                                    <p:anim calcmode="lin" valueType="num">
                                      <p:cBhvr>
                                        <p:cTn id="19" dur="500" fill="hold"/>
                                        <p:tgtEl>
                                          <p:spTgt spid="148509"/>
                                        </p:tgtEl>
                                        <p:attrNameLst>
                                          <p:attrName>ppt_h</p:attrName>
                                        </p:attrNameLst>
                                      </p:cBhvr>
                                      <p:tavLst>
                                        <p:tav tm="0">
                                          <p:val>
                                            <p:fltVal val="0"/>
                                          </p:val>
                                        </p:tav>
                                        <p:tav tm="100000">
                                          <p:val>
                                            <p:strVal val="#ppt_h"/>
                                          </p:val>
                                        </p:tav>
                                      </p:tavLst>
                                    </p:anim>
                                  </p:childTnLst>
                                </p:cTn>
                              </p:par>
                            </p:childTnLst>
                          </p:cTn>
                        </p:par>
                      </p:childTnLst>
                    </p:cTn>
                  </p:par>
                  <p:par>
                    <p:cTn id="20" fill="hold" nodeType="clickPar">
                      <p:stCondLst>
                        <p:cond delay="indefinite"/>
                      </p:stCondLst>
                      <p:childTnLst>
                        <p:par>
                          <p:cTn id="21" fill="hold" nodeType="withGroup">
                            <p:stCondLst>
                              <p:cond delay="0"/>
                            </p:stCondLst>
                            <p:childTnLst>
                              <p:par>
                                <p:cTn id="22" presetID="3" presetClass="entr" presetSubtype="10" fill="hold" nodeType="clickEffect">
                                  <p:stCondLst>
                                    <p:cond delay="0"/>
                                  </p:stCondLst>
                                  <p:childTnLst>
                                    <p:set>
                                      <p:cBhvr>
                                        <p:cTn id="23" dur="1" fill="hold">
                                          <p:stCondLst>
                                            <p:cond delay="0"/>
                                          </p:stCondLst>
                                        </p:cTn>
                                        <p:tgtEl>
                                          <p:spTgt spid="148508"/>
                                        </p:tgtEl>
                                        <p:attrNameLst>
                                          <p:attrName>style.visibility</p:attrName>
                                        </p:attrNameLst>
                                      </p:cBhvr>
                                      <p:to>
                                        <p:strVal val="visible"/>
                                      </p:to>
                                    </p:set>
                                    <p:animEffect transition="in" filter="blinds(horizontal)">
                                      <p:cBhvr>
                                        <p:cTn id="24" dur="500"/>
                                        <p:tgtEl>
                                          <p:spTgt spid="148508"/>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12"/>
                                        </p:tgtEl>
                                        <p:attrNameLst>
                                          <p:attrName>style.visibility</p:attrName>
                                        </p:attrNameLst>
                                      </p:cBhvr>
                                      <p:to>
                                        <p:strVal val="visible"/>
                                      </p:to>
                                    </p:set>
                                    <p:animEffect transition="in" filter="wipe(left)">
                                      <p:cBhvr>
                                        <p:cTn id="29" dur="500"/>
                                        <p:tgtEl>
                                          <p:spTgt spid="12"/>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2" presetClass="entr" presetSubtype="8" fill="hold" grpId="0" nodeType="clickEffect">
                                  <p:stCondLst>
                                    <p:cond delay="0"/>
                                  </p:stCondLst>
                                  <p:childTnLst>
                                    <p:set>
                                      <p:cBhvr>
                                        <p:cTn id="33" dur="1" fill="hold">
                                          <p:stCondLst>
                                            <p:cond delay="0"/>
                                          </p:stCondLst>
                                        </p:cTn>
                                        <p:tgtEl>
                                          <p:spTgt spid="13"/>
                                        </p:tgtEl>
                                        <p:attrNameLst>
                                          <p:attrName>style.visibility</p:attrName>
                                        </p:attrNameLst>
                                      </p:cBhvr>
                                      <p:to>
                                        <p:strVal val="visible"/>
                                      </p:to>
                                    </p:set>
                                    <p:animEffect transition="in" filter="wipe(left)">
                                      <p:cBhvr>
                                        <p:cTn id="34"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48504" grpId="0" autoUpdateAnimBg="0"/>
      <p:bldP spid="13" grpId="0"/>
    </p:bldLst>
  </p:timing>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2"/>
          <p:cNvGrpSpPr>
            <a:grpSpLocks/>
          </p:cNvGrpSpPr>
          <p:nvPr/>
        </p:nvGrpSpPr>
        <p:grpSpPr bwMode="auto">
          <a:xfrm>
            <a:off x="468313" y="831850"/>
            <a:ext cx="7897812" cy="2460625"/>
            <a:chOff x="431800" y="279400"/>
            <a:chExt cx="7441184" cy="3280456"/>
          </a:xfrm>
        </p:grpSpPr>
        <p:sp>
          <p:nvSpPr>
            <p:cNvPr id="69642" name="Text Box 3"/>
            <p:cNvSpPr txBox="1">
              <a:spLocks noChangeArrowheads="1"/>
            </p:cNvSpPr>
            <p:nvPr/>
          </p:nvSpPr>
          <p:spPr bwMode="auto">
            <a:xfrm>
              <a:off x="431800" y="279400"/>
              <a:ext cx="7441184" cy="861681"/>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b="1">
                  <a:solidFill>
                    <a:srgbClr val="0000FF"/>
                  </a:solidFill>
                  <a:ea typeface="宋体" pitchFamily="2" charset="-122"/>
                </a:rPr>
                <a:t>例  气缸内有一定量的氢气</a:t>
              </a:r>
              <a:r>
                <a:rPr lang="en-US" altLang="zh-CN" sz="1800" b="1">
                  <a:solidFill>
                    <a:srgbClr val="0000FF"/>
                  </a:solidFill>
                  <a:ea typeface="宋体" pitchFamily="2" charset="-122"/>
                </a:rPr>
                <a:t>(</a:t>
              </a:r>
              <a:r>
                <a:rPr lang="zh-CN" altLang="en-US" sz="1800" b="1">
                  <a:solidFill>
                    <a:srgbClr val="0000FF"/>
                  </a:solidFill>
                  <a:ea typeface="宋体" pitchFamily="2" charset="-122"/>
                </a:rPr>
                <a:t>可视作理想气体</a:t>
              </a:r>
              <a:r>
                <a:rPr lang="en-US" altLang="zh-CN" sz="1800" b="1">
                  <a:solidFill>
                    <a:srgbClr val="0000FF"/>
                  </a:solidFill>
                  <a:ea typeface="宋体" pitchFamily="2" charset="-122"/>
                </a:rPr>
                <a:t>)</a:t>
              </a:r>
              <a:r>
                <a:rPr lang="zh-CN" altLang="en-US" sz="1800" b="1">
                  <a:solidFill>
                    <a:srgbClr val="0000FF"/>
                  </a:solidFill>
                  <a:ea typeface="宋体" pitchFamily="2" charset="-122"/>
                </a:rPr>
                <a:t>，当温度不变而压强增大一倍时，氢气分子的平均碰撞次数　和平均自由程　的变化情况是</a:t>
              </a:r>
              <a:r>
                <a:rPr lang="en-US" altLang="zh-CN" sz="1800" b="1">
                  <a:solidFill>
                    <a:srgbClr val="0000FF"/>
                  </a:solidFill>
                  <a:ea typeface="宋体" pitchFamily="2" charset="-122"/>
                </a:rPr>
                <a:t>:</a:t>
              </a:r>
              <a:r>
                <a:rPr lang="zh-CN" altLang="en-US" sz="1800" b="1">
                  <a:solidFill>
                    <a:srgbClr val="0000FF"/>
                  </a:solidFill>
                  <a:ea typeface="宋体" pitchFamily="2" charset="-122"/>
                </a:rPr>
                <a:t>（        ）</a:t>
              </a:r>
              <a:endParaRPr lang="en-US" altLang="zh-CN" sz="1800" b="1">
                <a:solidFill>
                  <a:srgbClr val="0000FF"/>
                </a:solidFill>
                <a:ea typeface="宋体" pitchFamily="2" charset="-122"/>
              </a:endParaRPr>
            </a:p>
          </p:txBody>
        </p:sp>
        <p:sp>
          <p:nvSpPr>
            <p:cNvPr id="69643" name="Text Box 6"/>
            <p:cNvSpPr txBox="1">
              <a:spLocks noChangeArrowheads="1"/>
            </p:cNvSpPr>
            <p:nvPr/>
          </p:nvSpPr>
          <p:spPr bwMode="auto">
            <a:xfrm>
              <a:off x="1153870" y="1385137"/>
              <a:ext cx="6093293" cy="217471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solidFill>
                    <a:srgbClr val="0000FF"/>
                  </a:solidFill>
                  <a:ea typeface="宋体" pitchFamily="2" charset="-122"/>
                </a:rPr>
                <a:t>(A)    </a:t>
              </a:r>
              <a:r>
                <a:rPr lang="zh-CN" altLang="en-US" sz="1800" b="1">
                  <a:solidFill>
                    <a:srgbClr val="0000FF"/>
                  </a:solidFill>
                  <a:ea typeface="宋体" pitchFamily="2" charset="-122"/>
                </a:rPr>
                <a:t>和　都增大一倍</a:t>
              </a:r>
            </a:p>
            <a:p>
              <a:pPr eaLnBrk="1" hangingPunct="1"/>
              <a:r>
                <a:rPr lang="en-US" altLang="zh-CN" sz="1800" b="1">
                  <a:solidFill>
                    <a:srgbClr val="0000FF"/>
                  </a:solidFill>
                  <a:ea typeface="宋体" pitchFamily="2" charset="-122"/>
                </a:rPr>
                <a:t>(B)</a:t>
              </a:r>
              <a:r>
                <a:rPr lang="zh-CN" altLang="en-US" sz="1800" b="1">
                  <a:solidFill>
                    <a:srgbClr val="0000FF"/>
                  </a:solidFill>
                  <a:ea typeface="宋体" pitchFamily="2" charset="-122"/>
                </a:rPr>
                <a:t>　和　都减为原来的一半；</a:t>
              </a:r>
            </a:p>
            <a:p>
              <a:pPr eaLnBrk="1" hangingPunct="1"/>
              <a:r>
                <a:rPr lang="en-US" altLang="zh-CN" sz="1800" b="1">
                  <a:solidFill>
                    <a:srgbClr val="0000FF"/>
                  </a:solidFill>
                  <a:ea typeface="宋体" pitchFamily="2" charset="-122"/>
                </a:rPr>
                <a:t>(C)</a:t>
              </a:r>
              <a:r>
                <a:rPr lang="zh-CN" altLang="en-US" sz="1800" b="1">
                  <a:solidFill>
                    <a:srgbClr val="0000FF"/>
                  </a:solidFill>
                  <a:ea typeface="宋体" pitchFamily="2" charset="-122"/>
                </a:rPr>
                <a:t>　增大一倍而　减为原来的一半；</a:t>
              </a:r>
            </a:p>
            <a:p>
              <a:pPr eaLnBrk="1" hangingPunct="1"/>
              <a:r>
                <a:rPr lang="en-US" altLang="zh-CN" sz="1800" b="1">
                  <a:solidFill>
                    <a:srgbClr val="0000FF"/>
                  </a:solidFill>
                  <a:ea typeface="宋体" pitchFamily="2" charset="-122"/>
                </a:rPr>
                <a:t>(D)</a:t>
              </a:r>
              <a:r>
                <a:rPr lang="zh-CN" altLang="en-US" sz="1800" b="1">
                  <a:solidFill>
                    <a:srgbClr val="0000FF"/>
                  </a:solidFill>
                  <a:ea typeface="宋体" pitchFamily="2" charset="-122"/>
                </a:rPr>
                <a:t>　减为原来的一半而　增大一倍；</a:t>
              </a:r>
            </a:p>
            <a:p>
              <a:pPr eaLnBrk="1" hangingPunct="1"/>
              <a:r>
                <a:rPr lang="zh-CN" altLang="en-US" sz="2800" b="1">
                  <a:solidFill>
                    <a:srgbClr val="0000FF"/>
                  </a:solidFill>
                  <a:ea typeface="宋体" pitchFamily="2" charset="-122"/>
                </a:rPr>
                <a:t>                          </a:t>
              </a:r>
              <a:endParaRPr lang="en-US" altLang="zh-CN" sz="2800" b="1">
                <a:solidFill>
                  <a:srgbClr val="0000FF"/>
                </a:solidFill>
                <a:ea typeface="宋体" pitchFamily="2" charset="-122"/>
              </a:endParaRPr>
            </a:p>
          </p:txBody>
        </p:sp>
        <p:graphicFrame>
          <p:nvGraphicFramePr>
            <p:cNvPr id="69644" name="Object 15"/>
            <p:cNvGraphicFramePr>
              <a:graphicFrameLocks noChangeAspect="1"/>
            </p:cNvGraphicFramePr>
            <p:nvPr/>
          </p:nvGraphicFramePr>
          <p:xfrm>
            <a:off x="2941810" y="703545"/>
            <a:ext cx="289433" cy="374981"/>
          </p:xfrm>
          <a:graphic>
            <a:graphicData uri="http://schemas.openxmlformats.org/presentationml/2006/ole">
              <p:oleObj spid="_x0000_s69699" name="公式" r:id="rId3" imgW="126780" imgH="164814" progId="Equation.3">
                <p:embed/>
              </p:oleObj>
            </a:graphicData>
          </a:graphic>
        </p:graphicFrame>
        <p:graphicFrame>
          <p:nvGraphicFramePr>
            <p:cNvPr id="69645" name="Object 13"/>
            <p:cNvGraphicFramePr>
              <a:graphicFrameLocks noChangeAspect="1"/>
            </p:cNvGraphicFramePr>
            <p:nvPr/>
          </p:nvGraphicFramePr>
          <p:xfrm>
            <a:off x="1580915" y="1492823"/>
            <a:ext cx="289433" cy="374981"/>
          </p:xfrm>
          <a:graphic>
            <a:graphicData uri="http://schemas.openxmlformats.org/presentationml/2006/ole">
              <p:oleObj spid="_x0000_s69700" name="公式" r:id="rId4" imgW="126780" imgH="164814" progId="Equation.3">
                <p:embed/>
              </p:oleObj>
            </a:graphicData>
          </a:graphic>
        </p:graphicFrame>
        <p:graphicFrame>
          <p:nvGraphicFramePr>
            <p:cNvPr id="69646" name="Object 14"/>
            <p:cNvGraphicFramePr>
              <a:graphicFrameLocks noChangeAspect="1"/>
            </p:cNvGraphicFramePr>
            <p:nvPr/>
          </p:nvGraphicFramePr>
          <p:xfrm>
            <a:off x="1579536" y="1867804"/>
            <a:ext cx="289433" cy="374981"/>
          </p:xfrm>
          <a:graphic>
            <a:graphicData uri="http://schemas.openxmlformats.org/presentationml/2006/ole">
              <p:oleObj spid="_x0000_s69701" name="公式" r:id="rId5" imgW="126780" imgH="164814" progId="Equation.3">
                <p:embed/>
              </p:oleObj>
            </a:graphicData>
          </a:graphic>
        </p:graphicFrame>
        <p:graphicFrame>
          <p:nvGraphicFramePr>
            <p:cNvPr id="69647" name="Object 10"/>
            <p:cNvGraphicFramePr>
              <a:graphicFrameLocks noChangeAspect="1"/>
            </p:cNvGraphicFramePr>
            <p:nvPr/>
          </p:nvGraphicFramePr>
          <p:xfrm>
            <a:off x="1580915" y="2155803"/>
            <a:ext cx="289433" cy="374981"/>
          </p:xfrm>
          <a:graphic>
            <a:graphicData uri="http://schemas.openxmlformats.org/presentationml/2006/ole">
              <p:oleObj spid="_x0000_s69702" name="公式" r:id="rId6" imgW="126780" imgH="164814" progId="Equation.3">
                <p:embed/>
              </p:oleObj>
            </a:graphicData>
          </a:graphic>
        </p:graphicFrame>
        <p:graphicFrame>
          <p:nvGraphicFramePr>
            <p:cNvPr id="69648" name="Object 16"/>
            <p:cNvGraphicFramePr>
              <a:graphicFrameLocks noChangeAspect="1"/>
            </p:cNvGraphicFramePr>
            <p:nvPr/>
          </p:nvGraphicFramePr>
          <p:xfrm>
            <a:off x="1579536" y="2548826"/>
            <a:ext cx="289433" cy="374981"/>
          </p:xfrm>
          <a:graphic>
            <a:graphicData uri="http://schemas.openxmlformats.org/presentationml/2006/ole">
              <p:oleObj spid="_x0000_s69703" name="公式" r:id="rId7" imgW="126780" imgH="164814" progId="Equation.3">
                <p:embed/>
              </p:oleObj>
            </a:graphicData>
          </a:graphic>
        </p:graphicFrame>
        <p:graphicFrame>
          <p:nvGraphicFramePr>
            <p:cNvPr id="69649" name="对象 27"/>
            <p:cNvGraphicFramePr>
              <a:graphicFrameLocks noChangeAspect="1"/>
            </p:cNvGraphicFramePr>
            <p:nvPr/>
          </p:nvGraphicFramePr>
          <p:xfrm>
            <a:off x="4434248" y="691418"/>
            <a:ext cx="285128" cy="350647"/>
          </p:xfrm>
          <a:graphic>
            <a:graphicData uri="http://schemas.openxmlformats.org/presentationml/2006/ole">
              <p:oleObj spid="_x0000_s69704" name="公式" r:id="rId8" imgW="164957" imgH="203024" progId="Equation.3">
                <p:embed/>
              </p:oleObj>
            </a:graphicData>
          </a:graphic>
        </p:graphicFrame>
        <p:graphicFrame>
          <p:nvGraphicFramePr>
            <p:cNvPr id="69650" name="对象 28"/>
            <p:cNvGraphicFramePr>
              <a:graphicFrameLocks noChangeAspect="1"/>
            </p:cNvGraphicFramePr>
            <p:nvPr/>
          </p:nvGraphicFramePr>
          <p:xfrm>
            <a:off x="1924238" y="1483803"/>
            <a:ext cx="285128" cy="350647"/>
          </p:xfrm>
          <a:graphic>
            <a:graphicData uri="http://schemas.openxmlformats.org/presentationml/2006/ole">
              <p:oleObj spid="_x0000_s69705" name="公式" r:id="rId9" imgW="164957" imgH="203024" progId="Equation.3">
                <p:embed/>
              </p:oleObj>
            </a:graphicData>
          </a:graphic>
        </p:graphicFrame>
        <p:graphicFrame>
          <p:nvGraphicFramePr>
            <p:cNvPr id="69651" name="对象 29"/>
            <p:cNvGraphicFramePr>
              <a:graphicFrameLocks noChangeAspect="1"/>
            </p:cNvGraphicFramePr>
            <p:nvPr/>
          </p:nvGraphicFramePr>
          <p:xfrm>
            <a:off x="1978301" y="1867804"/>
            <a:ext cx="285128" cy="350647"/>
          </p:xfrm>
          <a:graphic>
            <a:graphicData uri="http://schemas.openxmlformats.org/presentationml/2006/ole">
              <p:oleObj spid="_x0000_s69706" name="公式" r:id="rId10" imgW="164957" imgH="203024" progId="Equation.3">
                <p:embed/>
              </p:oleObj>
            </a:graphicData>
          </a:graphic>
        </p:graphicFrame>
        <p:graphicFrame>
          <p:nvGraphicFramePr>
            <p:cNvPr id="69652" name="对象 30"/>
            <p:cNvGraphicFramePr>
              <a:graphicFrameLocks noChangeAspect="1"/>
            </p:cNvGraphicFramePr>
            <p:nvPr/>
          </p:nvGraphicFramePr>
          <p:xfrm>
            <a:off x="2860197" y="2153206"/>
            <a:ext cx="285128" cy="350647"/>
          </p:xfrm>
          <a:graphic>
            <a:graphicData uri="http://schemas.openxmlformats.org/presentationml/2006/ole">
              <p:oleObj spid="_x0000_s69707" name="公式" r:id="rId11" imgW="164957" imgH="203024" progId="Equation.3">
                <p:embed/>
              </p:oleObj>
            </a:graphicData>
          </a:graphic>
        </p:graphicFrame>
        <p:graphicFrame>
          <p:nvGraphicFramePr>
            <p:cNvPr id="69653" name="对象 31"/>
            <p:cNvGraphicFramePr>
              <a:graphicFrameLocks noChangeAspect="1"/>
            </p:cNvGraphicFramePr>
            <p:nvPr/>
          </p:nvGraphicFramePr>
          <p:xfrm>
            <a:off x="3484515" y="2573159"/>
            <a:ext cx="285128" cy="350647"/>
          </p:xfrm>
          <a:graphic>
            <a:graphicData uri="http://schemas.openxmlformats.org/presentationml/2006/ole">
              <p:oleObj spid="_x0000_s69708" name="公式" r:id="rId12" imgW="164957" imgH="203024" progId="Equation.3">
                <p:embed/>
              </p:oleObj>
            </a:graphicData>
          </a:graphic>
        </p:graphicFrame>
      </p:grpSp>
      <p:graphicFrame>
        <p:nvGraphicFramePr>
          <p:cNvPr id="4" name="对象 3"/>
          <p:cNvGraphicFramePr>
            <a:graphicFrameLocks noChangeAspect="1"/>
          </p:cNvGraphicFramePr>
          <p:nvPr/>
        </p:nvGraphicFramePr>
        <p:xfrm>
          <a:off x="1547813" y="3175000"/>
          <a:ext cx="2376487" cy="404813"/>
        </p:xfrm>
        <a:graphic>
          <a:graphicData uri="http://schemas.openxmlformats.org/presentationml/2006/ole">
            <p:oleObj spid="_x0000_s69709" name="公式" r:id="rId13" imgW="952087" imgH="215806" progId="Equation.3">
              <p:embed/>
            </p:oleObj>
          </a:graphicData>
        </a:graphic>
      </p:graphicFrame>
      <p:graphicFrame>
        <p:nvGraphicFramePr>
          <p:cNvPr id="7" name="对象 6"/>
          <p:cNvGraphicFramePr>
            <a:graphicFrameLocks noChangeAspect="1"/>
          </p:cNvGraphicFramePr>
          <p:nvPr/>
        </p:nvGraphicFramePr>
        <p:xfrm>
          <a:off x="1547813" y="4156075"/>
          <a:ext cx="1479550" cy="385763"/>
        </p:xfrm>
        <a:graphic>
          <a:graphicData uri="http://schemas.openxmlformats.org/presentationml/2006/ole">
            <p:oleObj spid="_x0000_s69710" name="公式" r:id="rId14" imgW="583947" imgH="203112" progId="Equation.3">
              <p:embed/>
            </p:oleObj>
          </a:graphicData>
        </a:graphic>
      </p:graphicFrame>
      <p:graphicFrame>
        <p:nvGraphicFramePr>
          <p:cNvPr id="8" name="对象 7"/>
          <p:cNvGraphicFramePr>
            <a:graphicFrameLocks noChangeAspect="1"/>
          </p:cNvGraphicFramePr>
          <p:nvPr/>
        </p:nvGraphicFramePr>
        <p:xfrm>
          <a:off x="3233738" y="3940175"/>
          <a:ext cx="2106612" cy="736600"/>
        </p:xfrm>
        <a:graphic>
          <a:graphicData uri="http://schemas.openxmlformats.org/presentationml/2006/ole">
            <p:oleObj spid="_x0000_s69711" name="Equation" r:id="rId15" imgW="914400" imgH="431800" progId="Equation.DSMT4">
              <p:embed/>
            </p:oleObj>
          </a:graphicData>
        </a:graphic>
      </p:graphicFrame>
      <p:graphicFrame>
        <p:nvGraphicFramePr>
          <p:cNvPr id="9" name="对象 8"/>
          <p:cNvGraphicFramePr>
            <a:graphicFrameLocks noChangeAspect="1"/>
          </p:cNvGraphicFramePr>
          <p:nvPr/>
        </p:nvGraphicFramePr>
        <p:xfrm>
          <a:off x="5738813" y="3806825"/>
          <a:ext cx="1998662" cy="766763"/>
        </p:xfrm>
        <a:graphic>
          <a:graphicData uri="http://schemas.openxmlformats.org/presentationml/2006/ole">
            <p:oleObj spid="_x0000_s69712" name="Equation" r:id="rId16" imgW="837836" imgH="431613" progId="Equation.DSMT4">
              <p:embed/>
            </p:oleObj>
          </a:graphicData>
        </a:graphic>
      </p:graphicFrame>
      <p:sp>
        <p:nvSpPr>
          <p:cNvPr id="36" name="Rectangle 19"/>
          <p:cNvSpPr>
            <a:spLocks noChangeArrowheads="1"/>
          </p:cNvSpPr>
          <p:nvPr/>
        </p:nvSpPr>
        <p:spPr bwMode="auto">
          <a:xfrm>
            <a:off x="6659563" y="1095375"/>
            <a:ext cx="4445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gn="ctr"/>
            <a:r>
              <a:rPr lang="en-US" altLang="zh-CN" sz="1800" b="1">
                <a:solidFill>
                  <a:srgbClr val="FF0000"/>
                </a:solidFill>
                <a:ea typeface="宋体" pitchFamily="2" charset="-122"/>
              </a:rPr>
              <a:t>C</a:t>
            </a:r>
          </a:p>
        </p:txBody>
      </p:sp>
      <p:graphicFrame>
        <p:nvGraphicFramePr>
          <p:cNvPr id="10" name="对象 9"/>
          <p:cNvGraphicFramePr>
            <a:graphicFrameLocks noChangeAspect="1"/>
          </p:cNvGraphicFramePr>
          <p:nvPr/>
        </p:nvGraphicFramePr>
        <p:xfrm>
          <a:off x="4140200" y="3113088"/>
          <a:ext cx="1871663" cy="723900"/>
        </p:xfrm>
        <a:graphic>
          <a:graphicData uri="http://schemas.openxmlformats.org/presentationml/2006/ole">
            <p:oleObj spid="_x0000_s69713" name="Equation" r:id="rId17" imgW="634725" imgH="330057" progId="Equation.DSMT4">
              <p:embed/>
            </p:oleObj>
          </a:graphicData>
        </a:graphic>
      </p:graphicFrame>
      <p:sp>
        <p:nvSpPr>
          <p:cNvPr id="3" name="TextBox 2"/>
          <p:cNvSpPr txBox="1">
            <a:spLocks noChangeArrowheads="1"/>
          </p:cNvSpPr>
          <p:nvPr/>
        </p:nvSpPr>
        <p:spPr bwMode="auto">
          <a:xfrm>
            <a:off x="468313" y="3148013"/>
            <a:ext cx="64611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wrap="none">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zh-CN" altLang="en-US" sz="1800">
                <a:solidFill>
                  <a:srgbClr val="FF0000"/>
                </a:solidFill>
              </a:rPr>
              <a:t>解：</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53" presetClass="entr" presetSubtype="16"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 calcmode="lin" valueType="num">
                                      <p:cBhvr>
                                        <p:cTn id="7" dur="500" fill="hold"/>
                                        <p:tgtEl>
                                          <p:spTgt spid="2"/>
                                        </p:tgtEl>
                                        <p:attrNameLst>
                                          <p:attrName>ppt_w</p:attrName>
                                        </p:attrNameLst>
                                      </p:cBhvr>
                                      <p:tavLst>
                                        <p:tav tm="0">
                                          <p:val>
                                            <p:fltVal val="0"/>
                                          </p:val>
                                        </p:tav>
                                        <p:tav tm="100000">
                                          <p:val>
                                            <p:strVal val="#ppt_w"/>
                                          </p:val>
                                        </p:tav>
                                      </p:tavLst>
                                    </p:anim>
                                    <p:anim calcmode="lin" valueType="num">
                                      <p:cBhvr>
                                        <p:cTn id="8" dur="500" fill="hold"/>
                                        <p:tgtEl>
                                          <p:spTgt spid="2"/>
                                        </p:tgtEl>
                                        <p:attrNameLst>
                                          <p:attrName>ppt_h</p:attrName>
                                        </p:attrNameLst>
                                      </p:cBhvr>
                                      <p:tavLst>
                                        <p:tav tm="0">
                                          <p:val>
                                            <p:fltVal val="0"/>
                                          </p:val>
                                        </p:tav>
                                        <p:tav tm="100000">
                                          <p:val>
                                            <p:strVal val="#ppt_h"/>
                                          </p:val>
                                        </p:tav>
                                      </p:tavLst>
                                    </p:anim>
                                    <p:animEffect transition="in" filter="fade">
                                      <p:cBhvr>
                                        <p:cTn id="9" dur="500"/>
                                        <p:tgtEl>
                                          <p:spTgt spid="2"/>
                                        </p:tgtEl>
                                      </p:cBhvr>
                                    </p:animEffect>
                                  </p:childTnLst>
                                </p:cTn>
                              </p:par>
                            </p:childTnLst>
                          </p:cTn>
                        </p:par>
                      </p:childTnLst>
                    </p:cTn>
                  </p:par>
                  <p:par>
                    <p:cTn id="10" fill="hold" nodeType="clickPar">
                      <p:stCondLst>
                        <p:cond delay="indefinite"/>
                      </p:stCondLst>
                      <p:childTnLst>
                        <p:par>
                          <p:cTn id="11" fill="hold" nodeType="withGroup">
                            <p:stCondLst>
                              <p:cond delay="0"/>
                            </p:stCondLst>
                            <p:childTnLst>
                              <p:par>
                                <p:cTn id="12" presetID="22" presetClass="entr" presetSubtype="8" fill="hold" grpId="0" nodeType="clickEffect">
                                  <p:stCondLst>
                                    <p:cond delay="0"/>
                                  </p:stCondLst>
                                  <p:childTnLst>
                                    <p:set>
                                      <p:cBhvr>
                                        <p:cTn id="13" dur="1" fill="hold">
                                          <p:stCondLst>
                                            <p:cond delay="0"/>
                                          </p:stCondLst>
                                        </p:cTn>
                                        <p:tgtEl>
                                          <p:spTgt spid="3"/>
                                        </p:tgtEl>
                                        <p:attrNameLst>
                                          <p:attrName>style.visibility</p:attrName>
                                        </p:attrNameLst>
                                      </p:cBhvr>
                                      <p:to>
                                        <p:strVal val="visible"/>
                                      </p:to>
                                    </p:set>
                                    <p:animEffect transition="in" filter="wipe(left)">
                                      <p:cBhvr>
                                        <p:cTn id="14" dur="500"/>
                                        <p:tgtEl>
                                          <p:spTgt spid="3"/>
                                        </p:tgtEl>
                                      </p:cBhvr>
                                    </p:animEffect>
                                  </p:childTnLst>
                                </p:cTn>
                              </p:par>
                            </p:childTnLst>
                          </p:cTn>
                        </p:par>
                      </p:childTnLst>
                    </p:cTn>
                  </p:par>
                  <p:par>
                    <p:cTn id="15" fill="hold" nodeType="clickPar">
                      <p:stCondLst>
                        <p:cond delay="indefinite"/>
                      </p:stCondLst>
                      <p:childTnLst>
                        <p:par>
                          <p:cTn id="16" fill="hold" nodeType="withGroup">
                            <p:stCondLst>
                              <p:cond delay="0"/>
                            </p:stCondLst>
                            <p:childTnLst>
                              <p:par>
                                <p:cTn id="17" presetID="22" presetClass="entr" presetSubtype="8" fill="hold" nodeType="clickEffect">
                                  <p:stCondLst>
                                    <p:cond delay="0"/>
                                  </p:stCondLst>
                                  <p:childTnLst>
                                    <p:set>
                                      <p:cBhvr>
                                        <p:cTn id="18" dur="1" fill="hold">
                                          <p:stCondLst>
                                            <p:cond delay="0"/>
                                          </p:stCondLst>
                                        </p:cTn>
                                        <p:tgtEl>
                                          <p:spTgt spid="4"/>
                                        </p:tgtEl>
                                        <p:attrNameLst>
                                          <p:attrName>style.visibility</p:attrName>
                                        </p:attrNameLst>
                                      </p:cBhvr>
                                      <p:to>
                                        <p:strVal val="visible"/>
                                      </p:to>
                                    </p:set>
                                    <p:animEffect transition="in" filter="wipe(left)">
                                      <p:cBhvr>
                                        <p:cTn id="19" dur="500"/>
                                        <p:tgtEl>
                                          <p:spTgt spid="4"/>
                                        </p:tgtEl>
                                      </p:cBhvr>
                                    </p:animEffect>
                                  </p:childTnLst>
                                </p:cTn>
                              </p:par>
                            </p:childTnLst>
                          </p:cTn>
                        </p:par>
                      </p:childTnLst>
                    </p:cTn>
                  </p:par>
                  <p:par>
                    <p:cTn id="20" fill="hold" nodeType="clickPar">
                      <p:stCondLst>
                        <p:cond delay="indefinite"/>
                      </p:stCondLst>
                      <p:childTnLst>
                        <p:par>
                          <p:cTn id="21" fill="hold" nodeType="withGroup">
                            <p:stCondLst>
                              <p:cond delay="0"/>
                            </p:stCondLst>
                            <p:childTnLst>
                              <p:par>
                                <p:cTn id="22" presetID="22" presetClass="entr" presetSubtype="8" fill="hold" nodeType="clickEffect">
                                  <p:stCondLst>
                                    <p:cond delay="0"/>
                                  </p:stCondLst>
                                  <p:childTnLst>
                                    <p:set>
                                      <p:cBhvr>
                                        <p:cTn id="23" dur="1" fill="hold">
                                          <p:stCondLst>
                                            <p:cond delay="0"/>
                                          </p:stCondLst>
                                        </p:cTn>
                                        <p:tgtEl>
                                          <p:spTgt spid="10"/>
                                        </p:tgtEl>
                                        <p:attrNameLst>
                                          <p:attrName>style.visibility</p:attrName>
                                        </p:attrNameLst>
                                      </p:cBhvr>
                                      <p:to>
                                        <p:strVal val="visible"/>
                                      </p:to>
                                    </p:set>
                                    <p:animEffect transition="in" filter="wipe(left)">
                                      <p:cBhvr>
                                        <p:cTn id="24" dur="500"/>
                                        <p:tgtEl>
                                          <p:spTgt spid="10"/>
                                        </p:tgtEl>
                                      </p:cBhvr>
                                    </p:animEffect>
                                  </p:childTnLst>
                                </p:cTn>
                              </p:par>
                            </p:childTnLst>
                          </p:cTn>
                        </p:par>
                      </p:childTnLst>
                    </p:cTn>
                  </p:par>
                  <p:par>
                    <p:cTn id="25" fill="hold" nodeType="clickPar">
                      <p:stCondLst>
                        <p:cond delay="indefinite"/>
                      </p:stCondLst>
                      <p:childTnLst>
                        <p:par>
                          <p:cTn id="26" fill="hold" nodeType="withGroup">
                            <p:stCondLst>
                              <p:cond delay="0"/>
                            </p:stCondLst>
                            <p:childTnLst>
                              <p:par>
                                <p:cTn id="27" presetID="22" presetClass="entr" presetSubtype="8" fill="hold" nodeType="clickEffect">
                                  <p:stCondLst>
                                    <p:cond delay="0"/>
                                  </p:stCondLst>
                                  <p:childTnLst>
                                    <p:set>
                                      <p:cBhvr>
                                        <p:cTn id="28" dur="1" fill="hold">
                                          <p:stCondLst>
                                            <p:cond delay="0"/>
                                          </p:stCondLst>
                                        </p:cTn>
                                        <p:tgtEl>
                                          <p:spTgt spid="7"/>
                                        </p:tgtEl>
                                        <p:attrNameLst>
                                          <p:attrName>style.visibility</p:attrName>
                                        </p:attrNameLst>
                                      </p:cBhvr>
                                      <p:to>
                                        <p:strVal val="visible"/>
                                      </p:to>
                                    </p:set>
                                    <p:animEffect transition="in" filter="wipe(left)">
                                      <p:cBhvr>
                                        <p:cTn id="29" dur="500"/>
                                        <p:tgtEl>
                                          <p:spTgt spid="7"/>
                                        </p:tgtEl>
                                      </p:cBhvr>
                                    </p:animEffect>
                                  </p:childTnLst>
                                </p:cTn>
                              </p:par>
                            </p:childTnLst>
                          </p:cTn>
                        </p:par>
                      </p:childTnLst>
                    </p:cTn>
                  </p:par>
                  <p:par>
                    <p:cTn id="30" fill="hold" nodeType="clickPar">
                      <p:stCondLst>
                        <p:cond delay="indefinite"/>
                      </p:stCondLst>
                      <p:childTnLst>
                        <p:par>
                          <p:cTn id="31" fill="hold" nodeType="withGroup">
                            <p:stCondLst>
                              <p:cond delay="0"/>
                            </p:stCondLst>
                            <p:childTnLst>
                              <p:par>
                                <p:cTn id="32" presetID="23" presetClass="entr" presetSubtype="16" fill="hold" nodeType="clickEffect">
                                  <p:stCondLst>
                                    <p:cond delay="0"/>
                                  </p:stCondLst>
                                  <p:childTnLst>
                                    <p:set>
                                      <p:cBhvr>
                                        <p:cTn id="33" dur="1" fill="hold">
                                          <p:stCondLst>
                                            <p:cond delay="0"/>
                                          </p:stCondLst>
                                        </p:cTn>
                                        <p:tgtEl>
                                          <p:spTgt spid="8"/>
                                        </p:tgtEl>
                                        <p:attrNameLst>
                                          <p:attrName>style.visibility</p:attrName>
                                        </p:attrNameLst>
                                      </p:cBhvr>
                                      <p:to>
                                        <p:strVal val="visible"/>
                                      </p:to>
                                    </p:set>
                                    <p:anim calcmode="lin" valueType="num">
                                      <p:cBhvr>
                                        <p:cTn id="34" dur="500" fill="hold"/>
                                        <p:tgtEl>
                                          <p:spTgt spid="8"/>
                                        </p:tgtEl>
                                        <p:attrNameLst>
                                          <p:attrName>ppt_w</p:attrName>
                                        </p:attrNameLst>
                                      </p:cBhvr>
                                      <p:tavLst>
                                        <p:tav tm="0">
                                          <p:val>
                                            <p:fltVal val="0"/>
                                          </p:val>
                                        </p:tav>
                                        <p:tav tm="100000">
                                          <p:val>
                                            <p:strVal val="#ppt_w"/>
                                          </p:val>
                                        </p:tav>
                                      </p:tavLst>
                                    </p:anim>
                                    <p:anim calcmode="lin" valueType="num">
                                      <p:cBhvr>
                                        <p:cTn id="35" dur="500" fill="hold"/>
                                        <p:tgtEl>
                                          <p:spTgt spid="8"/>
                                        </p:tgtEl>
                                        <p:attrNameLst>
                                          <p:attrName>ppt_h</p:attrName>
                                        </p:attrNameLst>
                                      </p:cBhvr>
                                      <p:tavLst>
                                        <p:tav tm="0">
                                          <p:val>
                                            <p:fltVal val="0"/>
                                          </p:val>
                                        </p:tav>
                                        <p:tav tm="100000">
                                          <p:val>
                                            <p:strVal val="#ppt_h"/>
                                          </p:val>
                                        </p:tav>
                                      </p:tavLst>
                                    </p:anim>
                                  </p:childTnLst>
                                </p:cTn>
                              </p:par>
                            </p:childTnLst>
                          </p:cTn>
                        </p:par>
                      </p:childTnLst>
                    </p:cTn>
                  </p:par>
                  <p:par>
                    <p:cTn id="36" fill="hold" nodeType="clickPar">
                      <p:stCondLst>
                        <p:cond delay="indefinite"/>
                      </p:stCondLst>
                      <p:childTnLst>
                        <p:par>
                          <p:cTn id="37" fill="hold" nodeType="withGroup">
                            <p:stCondLst>
                              <p:cond delay="0"/>
                            </p:stCondLst>
                            <p:childTnLst>
                              <p:par>
                                <p:cTn id="38" presetID="23" presetClass="entr" presetSubtype="16" fill="hold" nodeType="clickEffect">
                                  <p:stCondLst>
                                    <p:cond delay="0"/>
                                  </p:stCondLst>
                                  <p:childTnLst>
                                    <p:set>
                                      <p:cBhvr>
                                        <p:cTn id="39" dur="1" fill="hold">
                                          <p:stCondLst>
                                            <p:cond delay="0"/>
                                          </p:stCondLst>
                                        </p:cTn>
                                        <p:tgtEl>
                                          <p:spTgt spid="9"/>
                                        </p:tgtEl>
                                        <p:attrNameLst>
                                          <p:attrName>style.visibility</p:attrName>
                                        </p:attrNameLst>
                                      </p:cBhvr>
                                      <p:to>
                                        <p:strVal val="visible"/>
                                      </p:to>
                                    </p:set>
                                    <p:anim calcmode="lin" valueType="num">
                                      <p:cBhvr>
                                        <p:cTn id="40" dur="500" fill="hold"/>
                                        <p:tgtEl>
                                          <p:spTgt spid="9"/>
                                        </p:tgtEl>
                                        <p:attrNameLst>
                                          <p:attrName>ppt_w</p:attrName>
                                        </p:attrNameLst>
                                      </p:cBhvr>
                                      <p:tavLst>
                                        <p:tav tm="0">
                                          <p:val>
                                            <p:fltVal val="0"/>
                                          </p:val>
                                        </p:tav>
                                        <p:tav tm="100000">
                                          <p:val>
                                            <p:strVal val="#ppt_w"/>
                                          </p:val>
                                        </p:tav>
                                      </p:tavLst>
                                    </p:anim>
                                    <p:anim calcmode="lin" valueType="num">
                                      <p:cBhvr>
                                        <p:cTn id="41" dur="500" fill="hold"/>
                                        <p:tgtEl>
                                          <p:spTgt spid="9"/>
                                        </p:tgtEl>
                                        <p:attrNameLst>
                                          <p:attrName>ppt_h</p:attrName>
                                        </p:attrNameLst>
                                      </p:cBhvr>
                                      <p:tavLst>
                                        <p:tav tm="0">
                                          <p:val>
                                            <p:fltVal val="0"/>
                                          </p:val>
                                        </p:tav>
                                        <p:tav tm="100000">
                                          <p:val>
                                            <p:strVal val="#ppt_h"/>
                                          </p:val>
                                        </p:tav>
                                      </p:tavLst>
                                    </p:anim>
                                  </p:childTnLst>
                                </p:cTn>
                              </p:par>
                            </p:childTnLst>
                          </p:cTn>
                        </p:par>
                      </p:childTnLst>
                    </p:cTn>
                  </p:par>
                  <p:par>
                    <p:cTn id="42" fill="hold" nodeType="clickPar">
                      <p:stCondLst>
                        <p:cond delay="indefinite"/>
                      </p:stCondLst>
                      <p:childTnLst>
                        <p:par>
                          <p:cTn id="43" fill="hold" nodeType="withGroup">
                            <p:stCondLst>
                              <p:cond delay="0"/>
                            </p:stCondLst>
                            <p:childTnLst>
                              <p:par>
                                <p:cTn id="44" presetID="23" presetClass="entr" presetSubtype="16" fill="hold" grpId="0" nodeType="clickEffect">
                                  <p:stCondLst>
                                    <p:cond delay="0"/>
                                  </p:stCondLst>
                                  <p:childTnLst>
                                    <p:set>
                                      <p:cBhvr>
                                        <p:cTn id="45" dur="1" fill="hold">
                                          <p:stCondLst>
                                            <p:cond delay="0"/>
                                          </p:stCondLst>
                                        </p:cTn>
                                        <p:tgtEl>
                                          <p:spTgt spid="36"/>
                                        </p:tgtEl>
                                        <p:attrNameLst>
                                          <p:attrName>style.visibility</p:attrName>
                                        </p:attrNameLst>
                                      </p:cBhvr>
                                      <p:to>
                                        <p:strVal val="visible"/>
                                      </p:to>
                                    </p:set>
                                    <p:anim calcmode="lin" valueType="num">
                                      <p:cBhvr>
                                        <p:cTn id="46" dur="500" fill="hold"/>
                                        <p:tgtEl>
                                          <p:spTgt spid="36"/>
                                        </p:tgtEl>
                                        <p:attrNameLst>
                                          <p:attrName>ppt_w</p:attrName>
                                        </p:attrNameLst>
                                      </p:cBhvr>
                                      <p:tavLst>
                                        <p:tav tm="0">
                                          <p:val>
                                            <p:fltVal val="0"/>
                                          </p:val>
                                        </p:tav>
                                        <p:tav tm="100000">
                                          <p:val>
                                            <p:strVal val="#ppt_w"/>
                                          </p:val>
                                        </p:tav>
                                      </p:tavLst>
                                    </p:anim>
                                    <p:anim calcmode="lin" valueType="num">
                                      <p:cBhvr>
                                        <p:cTn id="47" dur="500" fill="hold"/>
                                        <p:tgtEl>
                                          <p:spTgt spid="36"/>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6" grpId="0"/>
      <p:bldP spid="3" grpId="0"/>
    </p:bldLst>
  </p:timing>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组合 7"/>
          <p:cNvGrpSpPr>
            <a:grpSpLocks/>
          </p:cNvGrpSpPr>
          <p:nvPr/>
        </p:nvGrpSpPr>
        <p:grpSpPr bwMode="auto">
          <a:xfrm>
            <a:off x="611188" y="806450"/>
            <a:ext cx="7346950" cy="396875"/>
            <a:chOff x="680911" y="260795"/>
            <a:chExt cx="6981761" cy="529859"/>
          </a:xfrm>
        </p:grpSpPr>
        <p:sp>
          <p:nvSpPr>
            <p:cNvPr id="70671" name="Rectangle 12"/>
            <p:cNvSpPr>
              <a:spLocks noChangeArrowheads="1"/>
            </p:cNvSpPr>
            <p:nvPr/>
          </p:nvSpPr>
          <p:spPr bwMode="auto">
            <a:xfrm>
              <a:off x="680911" y="260795"/>
              <a:ext cx="6981761" cy="529859"/>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0000"/>
                </a:lnSpc>
              </a:pPr>
              <a:r>
                <a:rPr lang="zh-CN" altLang="en-US" sz="1800" b="1">
                  <a:solidFill>
                    <a:srgbClr val="0000FF"/>
                  </a:solidFill>
                  <a:ea typeface="华文中宋" pitchFamily="2" charset="-122"/>
                </a:rPr>
                <a:t>例：已知</a:t>
              </a:r>
              <a:r>
                <a:rPr lang="en-US" altLang="zh-CN" sz="1800" b="1">
                  <a:solidFill>
                    <a:srgbClr val="0000FF"/>
                  </a:solidFill>
                  <a:ea typeface="华文中宋" pitchFamily="2" charset="-122"/>
                </a:rPr>
                <a:t>: O</a:t>
              </a:r>
              <a:r>
                <a:rPr lang="en-US" altLang="zh-CN" sz="1800" b="1" baseline="-25000">
                  <a:solidFill>
                    <a:srgbClr val="0000FF"/>
                  </a:solidFill>
                  <a:ea typeface="华文中宋" pitchFamily="2" charset="-122"/>
                </a:rPr>
                <a:t>2</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d </a:t>
              </a:r>
              <a:r>
                <a:rPr lang="en-US" altLang="zh-CN" sz="1800" b="1">
                  <a:solidFill>
                    <a:srgbClr val="0000FF"/>
                  </a:solidFill>
                  <a:ea typeface="华文中宋" pitchFamily="2" charset="-122"/>
                  <a:sym typeface="Symbol" pitchFamily="18" charset="2"/>
                </a:rPr>
                <a:t></a:t>
              </a:r>
              <a:r>
                <a:rPr lang="en-US" altLang="zh-CN" sz="1800" b="1">
                  <a:solidFill>
                    <a:srgbClr val="0000FF"/>
                  </a:solidFill>
                  <a:ea typeface="华文中宋" pitchFamily="2" charset="-122"/>
                </a:rPr>
                <a:t> 3.6×10</a:t>
              </a:r>
              <a:r>
                <a:rPr lang="en-US" altLang="zh-CN" sz="1800" b="1" baseline="30000">
                  <a:solidFill>
                    <a:srgbClr val="0000FF"/>
                  </a:solidFill>
                  <a:ea typeface="华文中宋" pitchFamily="2" charset="-122"/>
                </a:rPr>
                <a:t>-10 </a:t>
              </a:r>
              <a:r>
                <a:rPr lang="en-US" altLang="zh-CN" sz="1800" b="1">
                  <a:solidFill>
                    <a:srgbClr val="0000FF"/>
                  </a:solidFill>
                  <a:ea typeface="华文中宋" pitchFamily="2" charset="-122"/>
                </a:rPr>
                <a:t>m</a:t>
              </a:r>
              <a:r>
                <a:rPr lang="zh-CN" altLang="en-US" sz="1800" b="1">
                  <a:solidFill>
                    <a:srgbClr val="0000FF"/>
                  </a:solidFill>
                  <a:ea typeface="华文中宋" pitchFamily="2" charset="-122"/>
                </a:rPr>
                <a:t>，</a:t>
              </a:r>
              <a:r>
                <a:rPr lang="en-US" altLang="zh-CN" sz="1800" b="1" i="1">
                  <a:solidFill>
                    <a:srgbClr val="0000FF"/>
                  </a:solidFill>
                  <a:ea typeface="华文中宋" pitchFamily="2" charset="-122"/>
                </a:rPr>
                <a:t>T </a:t>
              </a:r>
              <a:r>
                <a:rPr lang="en-US" altLang="zh-CN" sz="1800" b="1">
                  <a:solidFill>
                    <a:srgbClr val="0000FF"/>
                  </a:solidFill>
                  <a:ea typeface="华文中宋" pitchFamily="2" charset="-122"/>
                </a:rPr>
                <a:t>= 273K</a:t>
              </a:r>
              <a:r>
                <a:rPr lang="zh-CN" altLang="en-US" sz="1800" b="1">
                  <a:solidFill>
                    <a:srgbClr val="0000FF"/>
                  </a:solidFill>
                  <a:ea typeface="华文中宋" pitchFamily="2" charset="-122"/>
                </a:rPr>
                <a:t>， </a:t>
              </a:r>
              <a:r>
                <a:rPr lang="en-US" altLang="zh-CN" sz="1800" b="1" i="1">
                  <a:solidFill>
                    <a:srgbClr val="0000FF"/>
                  </a:solidFill>
                  <a:ea typeface="华文中宋" pitchFamily="2" charset="-122"/>
                </a:rPr>
                <a:t>p</a:t>
              </a:r>
              <a:r>
                <a:rPr lang="en-US" altLang="zh-CN" sz="1800" b="1">
                  <a:solidFill>
                    <a:srgbClr val="0000FF"/>
                  </a:solidFill>
                  <a:ea typeface="华文中宋" pitchFamily="2" charset="-122"/>
                </a:rPr>
                <a:t>= 1atm</a:t>
              </a:r>
              <a:r>
                <a:rPr lang="en-US" altLang="zh-CN" sz="1800" b="1" i="1">
                  <a:solidFill>
                    <a:srgbClr val="0000FF"/>
                  </a:solidFill>
                  <a:ea typeface="华文中宋" pitchFamily="2" charset="-122"/>
                </a:rPr>
                <a:t>,    </a:t>
              </a:r>
              <a:r>
                <a:rPr lang="zh-CN" altLang="en-US" sz="1800" b="1">
                  <a:solidFill>
                    <a:srgbClr val="0000FF"/>
                  </a:solidFill>
                  <a:ea typeface="华文中宋" pitchFamily="2" charset="-122"/>
                </a:rPr>
                <a:t>求：</a:t>
              </a:r>
            </a:p>
          </p:txBody>
        </p:sp>
        <p:graphicFrame>
          <p:nvGraphicFramePr>
            <p:cNvPr id="70672" name="对象 5"/>
            <p:cNvGraphicFramePr>
              <a:graphicFrameLocks noChangeAspect="1"/>
            </p:cNvGraphicFramePr>
            <p:nvPr/>
          </p:nvGraphicFramePr>
          <p:xfrm>
            <a:off x="6359305" y="260795"/>
            <a:ext cx="668337" cy="519113"/>
          </p:xfrm>
          <a:graphic>
            <a:graphicData uri="http://schemas.openxmlformats.org/presentationml/2006/ole">
              <p:oleObj spid="_x0000_s70694" name="Equation" r:id="rId3" imgW="291973" imgH="228501" progId="Equation.DSMT4">
                <p:embed/>
              </p:oleObj>
            </a:graphicData>
          </a:graphic>
        </p:graphicFrame>
      </p:grpSp>
      <p:graphicFrame>
        <p:nvGraphicFramePr>
          <p:cNvPr id="31" name="Object 28"/>
          <p:cNvGraphicFramePr>
            <a:graphicFrameLocks noChangeAspect="1"/>
          </p:cNvGraphicFramePr>
          <p:nvPr/>
        </p:nvGraphicFramePr>
        <p:xfrm>
          <a:off x="1930400" y="1255713"/>
          <a:ext cx="2611438" cy="668337"/>
        </p:xfrm>
        <a:graphic>
          <a:graphicData uri="http://schemas.openxmlformats.org/presentationml/2006/ole">
            <p:oleObj spid="_x0000_s70695" name="Equation" r:id="rId4" imgW="1485900" imgH="482600" progId="Equation.DSMT4">
              <p:embed/>
            </p:oleObj>
          </a:graphicData>
        </a:graphic>
      </p:graphicFrame>
      <p:graphicFrame>
        <p:nvGraphicFramePr>
          <p:cNvPr id="32" name="Object 29"/>
          <p:cNvGraphicFramePr>
            <a:graphicFrameLocks noChangeAspect="1"/>
          </p:cNvGraphicFramePr>
          <p:nvPr/>
        </p:nvGraphicFramePr>
        <p:xfrm>
          <a:off x="1914525" y="1884363"/>
          <a:ext cx="2921000" cy="577850"/>
        </p:xfrm>
        <a:graphic>
          <a:graphicData uri="http://schemas.openxmlformats.org/presentationml/2006/ole">
            <p:oleObj spid="_x0000_s70696" name="公式" r:id="rId5" imgW="1548728" imgH="406224" progId="Equation.3">
              <p:embed/>
            </p:oleObj>
          </a:graphicData>
        </a:graphic>
      </p:graphicFrame>
      <p:graphicFrame>
        <p:nvGraphicFramePr>
          <p:cNvPr id="33" name="Object 30"/>
          <p:cNvGraphicFramePr>
            <a:graphicFrameLocks noChangeAspect="1"/>
          </p:cNvGraphicFramePr>
          <p:nvPr/>
        </p:nvGraphicFramePr>
        <p:xfrm>
          <a:off x="1858963" y="2563813"/>
          <a:ext cx="4103687" cy="354012"/>
        </p:xfrm>
        <a:graphic>
          <a:graphicData uri="http://schemas.openxmlformats.org/presentationml/2006/ole">
            <p:oleObj spid="_x0000_s70697" name="公式" r:id="rId6" imgW="1879600" imgH="215900" progId="Equation.3">
              <p:embed/>
            </p:oleObj>
          </a:graphicData>
        </a:graphic>
      </p:graphicFrame>
      <p:sp>
        <p:nvSpPr>
          <p:cNvPr id="34" name="Text Box 31"/>
          <p:cNvSpPr txBox="1">
            <a:spLocks noChangeArrowheads="1"/>
          </p:cNvSpPr>
          <p:nvPr/>
        </p:nvSpPr>
        <p:spPr bwMode="auto">
          <a:xfrm>
            <a:off x="611188" y="1331913"/>
            <a:ext cx="1219200" cy="376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FF0000"/>
                </a:solidFill>
                <a:ea typeface="华文中宋" pitchFamily="2" charset="-122"/>
              </a:rPr>
              <a:t>解：</a:t>
            </a:r>
          </a:p>
        </p:txBody>
      </p:sp>
      <p:sp>
        <p:nvSpPr>
          <p:cNvPr id="35" name="Text Box 32"/>
          <p:cNvSpPr txBox="1">
            <a:spLocks noChangeArrowheads="1"/>
          </p:cNvSpPr>
          <p:nvPr/>
        </p:nvSpPr>
        <p:spPr bwMode="auto">
          <a:xfrm>
            <a:off x="5873750" y="2571750"/>
            <a:ext cx="1651000" cy="36988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en-US" altLang="zh-CN" sz="1800" b="1">
                <a:ea typeface="华文中宋" pitchFamily="2" charset="-122"/>
              </a:rPr>
              <a:t>~66</a:t>
            </a:r>
            <a:r>
              <a:rPr kumimoji="0" lang="zh-CN" altLang="en-US" sz="1800" b="1">
                <a:ea typeface="华文中宋" pitchFamily="2" charset="-122"/>
              </a:rPr>
              <a:t>亿次</a:t>
            </a:r>
            <a:r>
              <a:rPr kumimoji="0" lang="en-US" altLang="zh-CN" sz="1800" b="1">
                <a:ea typeface="华文中宋" pitchFamily="2" charset="-122"/>
              </a:rPr>
              <a:t>/</a:t>
            </a:r>
            <a:r>
              <a:rPr kumimoji="0" lang="zh-CN" altLang="en-US" sz="1800" b="1">
                <a:ea typeface="华文中宋" pitchFamily="2" charset="-122"/>
              </a:rPr>
              <a:t>秒</a:t>
            </a:r>
          </a:p>
        </p:txBody>
      </p:sp>
      <p:graphicFrame>
        <p:nvGraphicFramePr>
          <p:cNvPr id="36" name="Object 33"/>
          <p:cNvGraphicFramePr>
            <a:graphicFrameLocks noChangeAspect="1"/>
          </p:cNvGraphicFramePr>
          <p:nvPr/>
        </p:nvGraphicFramePr>
        <p:xfrm>
          <a:off x="1831975" y="3070225"/>
          <a:ext cx="3051175" cy="688975"/>
        </p:xfrm>
        <a:graphic>
          <a:graphicData uri="http://schemas.openxmlformats.org/presentationml/2006/ole">
            <p:oleObj spid="_x0000_s70698" name="公式" r:id="rId7" imgW="1397000" imgH="419100" progId="Equation.3">
              <p:embed/>
            </p:oleObj>
          </a:graphicData>
        </a:graphic>
      </p:graphicFrame>
      <p:grpSp>
        <p:nvGrpSpPr>
          <p:cNvPr id="3" name="组合 36"/>
          <p:cNvGrpSpPr>
            <a:grpSpLocks/>
          </p:cNvGrpSpPr>
          <p:nvPr/>
        </p:nvGrpSpPr>
        <p:grpSpPr bwMode="auto">
          <a:xfrm>
            <a:off x="2171700" y="3786188"/>
            <a:ext cx="5332413" cy="369887"/>
            <a:chOff x="404876" y="5319713"/>
            <a:chExt cx="5331693" cy="493822"/>
          </a:xfrm>
        </p:grpSpPr>
        <p:sp>
          <p:nvSpPr>
            <p:cNvPr id="70669" name="Text Box 38"/>
            <p:cNvSpPr txBox="1">
              <a:spLocks noChangeArrowheads="1"/>
            </p:cNvSpPr>
            <p:nvPr/>
          </p:nvSpPr>
          <p:spPr bwMode="auto">
            <a:xfrm>
              <a:off x="566777" y="5319713"/>
              <a:ext cx="5169792" cy="49382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ea typeface="华文中宋" pitchFamily="2" charset="-122"/>
                </a:rPr>
                <a:t>的数量级是</a:t>
              </a:r>
              <a:r>
                <a:rPr kumimoji="0" lang="en-US" altLang="zh-CN" sz="1800" b="1">
                  <a:ea typeface="华文中宋" pitchFamily="2" charset="-122"/>
                </a:rPr>
                <a:t>10</a:t>
              </a:r>
              <a:r>
                <a:rPr kumimoji="0" lang="en-US" altLang="zh-CN" sz="1800" b="1" baseline="30000">
                  <a:ea typeface="华文中宋" pitchFamily="2" charset="-122"/>
                </a:rPr>
                <a:t>-8</a:t>
              </a:r>
              <a:r>
                <a:rPr kumimoji="0" lang="en-US" altLang="zh-CN" sz="1800" b="1">
                  <a:ea typeface="华文中宋" pitchFamily="2" charset="-122"/>
                </a:rPr>
                <a:t>m</a:t>
              </a:r>
              <a:r>
                <a:rPr kumimoji="0" lang="zh-CN" altLang="en-US" sz="1800" b="1">
                  <a:ea typeface="华文中宋" pitchFamily="2" charset="-122"/>
                </a:rPr>
                <a:t>，约是分子有效直径的</a:t>
              </a:r>
              <a:r>
                <a:rPr kumimoji="0" lang="en-US" altLang="zh-CN" sz="1800" b="1">
                  <a:ea typeface="华文中宋" pitchFamily="2" charset="-122"/>
                </a:rPr>
                <a:t>100</a:t>
              </a:r>
              <a:r>
                <a:rPr kumimoji="0" lang="zh-CN" altLang="en-US" sz="1800" b="1">
                  <a:ea typeface="华文中宋" pitchFamily="2" charset="-122"/>
                </a:rPr>
                <a:t>倍。   </a:t>
              </a:r>
            </a:p>
          </p:txBody>
        </p:sp>
        <p:graphicFrame>
          <p:nvGraphicFramePr>
            <p:cNvPr id="70670" name="对象 38"/>
            <p:cNvGraphicFramePr>
              <a:graphicFrameLocks noChangeAspect="1"/>
            </p:cNvGraphicFramePr>
            <p:nvPr/>
          </p:nvGraphicFramePr>
          <p:xfrm>
            <a:off x="404876" y="5397246"/>
            <a:ext cx="285750" cy="350838"/>
          </p:xfrm>
          <a:graphic>
            <a:graphicData uri="http://schemas.openxmlformats.org/presentationml/2006/ole">
              <p:oleObj spid="_x0000_s70699" name="公式" r:id="rId8" imgW="164957" imgH="203024" progId="Equation.3">
                <p:embed/>
              </p:oleObj>
            </a:graphicData>
          </a:graphic>
        </p:graphicFrame>
      </p:grpSp>
      <p:grpSp>
        <p:nvGrpSpPr>
          <p:cNvPr id="4" name="组合 39"/>
          <p:cNvGrpSpPr>
            <a:grpSpLocks/>
          </p:cNvGrpSpPr>
          <p:nvPr/>
        </p:nvGrpSpPr>
        <p:grpSpPr bwMode="auto">
          <a:xfrm>
            <a:off x="2124075" y="4227513"/>
            <a:ext cx="5235575" cy="369887"/>
            <a:chOff x="539115" y="5859463"/>
            <a:chExt cx="5236674" cy="492125"/>
          </a:xfrm>
        </p:grpSpPr>
        <p:sp>
          <p:nvSpPr>
            <p:cNvPr id="70667" name="Text Box 41"/>
            <p:cNvSpPr txBox="1">
              <a:spLocks noChangeArrowheads="1"/>
            </p:cNvSpPr>
            <p:nvPr/>
          </p:nvSpPr>
          <p:spPr bwMode="auto">
            <a:xfrm>
              <a:off x="656602" y="5859463"/>
              <a:ext cx="5119187" cy="49212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kumimoji="0" lang="zh-CN" altLang="en-US" sz="1800" b="1">
                  <a:ea typeface="华文中宋" pitchFamily="2" charset="-122"/>
                </a:rPr>
                <a:t>的数量级是</a:t>
              </a:r>
              <a:r>
                <a:rPr kumimoji="0" lang="en-US" altLang="zh-CN" sz="1800" b="1">
                  <a:ea typeface="华文中宋" pitchFamily="2" charset="-122"/>
                </a:rPr>
                <a:t>10</a:t>
              </a:r>
              <a:r>
                <a:rPr kumimoji="0" lang="en-US" altLang="zh-CN" sz="1800" b="1" baseline="30000">
                  <a:ea typeface="华文中宋" pitchFamily="2" charset="-122"/>
                </a:rPr>
                <a:t>9</a:t>
              </a:r>
              <a:r>
                <a:rPr kumimoji="0" lang="zh-CN" altLang="en-US" sz="1800" b="1">
                  <a:ea typeface="华文中宋" pitchFamily="2" charset="-122"/>
                </a:rPr>
                <a:t>秒</a:t>
              </a:r>
              <a:r>
                <a:rPr kumimoji="0" lang="en-US" altLang="zh-CN" sz="1800" b="1" baseline="30000">
                  <a:ea typeface="华文中宋" pitchFamily="2" charset="-122"/>
                </a:rPr>
                <a:t>-1</a:t>
              </a:r>
              <a:r>
                <a:rPr kumimoji="0" lang="zh-CN" altLang="en-US" sz="1800" b="1">
                  <a:ea typeface="华文中宋" pitchFamily="2" charset="-122"/>
                </a:rPr>
                <a:t>，即一秒种要碰撞几十亿次。</a:t>
              </a:r>
            </a:p>
          </p:txBody>
        </p:sp>
        <p:graphicFrame>
          <p:nvGraphicFramePr>
            <p:cNvPr id="70668" name="对象 41"/>
            <p:cNvGraphicFramePr>
              <a:graphicFrameLocks noChangeAspect="1"/>
            </p:cNvGraphicFramePr>
            <p:nvPr/>
          </p:nvGraphicFramePr>
          <p:xfrm>
            <a:off x="539115" y="5909437"/>
            <a:ext cx="290513" cy="374650"/>
          </p:xfrm>
          <a:graphic>
            <a:graphicData uri="http://schemas.openxmlformats.org/presentationml/2006/ole">
              <p:oleObj spid="_x0000_s70700" name="公式" r:id="rId9" imgW="126780" imgH="164814" progId="Equation.3">
                <p:embed/>
              </p:oleObj>
            </a:graphicData>
          </a:graphic>
        </p:graphicFrame>
      </p:gr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iterate type="wd">
                                    <p:tmPct val="100000"/>
                                  </p:iterate>
                                  <p:childTnLst>
                                    <p:set>
                                      <p:cBhvr>
                                        <p:cTn id="11" dur="1" fill="hold">
                                          <p:stCondLst>
                                            <p:cond delay="0"/>
                                          </p:stCondLst>
                                        </p:cTn>
                                        <p:tgtEl>
                                          <p:spTgt spid="34"/>
                                        </p:tgtEl>
                                        <p:attrNameLst>
                                          <p:attrName>style.visibility</p:attrName>
                                        </p:attrNameLst>
                                      </p:cBhvr>
                                      <p:to>
                                        <p:strVal val="visible"/>
                                      </p:to>
                                    </p:set>
                                    <p:animEffect transition="in" filter="wipe(left)">
                                      <p:cBhvr>
                                        <p:cTn id="12" dur="300"/>
                                        <p:tgtEl>
                                          <p:spTgt spid="34"/>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31"/>
                                        </p:tgtEl>
                                        <p:attrNameLst>
                                          <p:attrName>style.visibility</p:attrName>
                                        </p:attrNameLst>
                                      </p:cBhvr>
                                      <p:to>
                                        <p:strVal val="visible"/>
                                      </p:to>
                                    </p:set>
                                    <p:animEffect transition="in" filter="wipe(left)">
                                      <p:cBhvr>
                                        <p:cTn id="17" dur="500"/>
                                        <p:tgtEl>
                                          <p:spTgt spid="31"/>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32"/>
                                        </p:tgtEl>
                                        <p:attrNameLst>
                                          <p:attrName>style.visibility</p:attrName>
                                        </p:attrNameLst>
                                      </p:cBhvr>
                                      <p:to>
                                        <p:strVal val="visible"/>
                                      </p:to>
                                    </p:set>
                                    <p:animEffect transition="in" filter="wipe(left)">
                                      <p:cBhvr>
                                        <p:cTn id="22" dur="500"/>
                                        <p:tgtEl>
                                          <p:spTgt spid="32"/>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33"/>
                                        </p:tgtEl>
                                        <p:attrNameLst>
                                          <p:attrName>style.visibility</p:attrName>
                                        </p:attrNameLst>
                                      </p:cBhvr>
                                      <p:to>
                                        <p:strVal val="visible"/>
                                      </p:to>
                                    </p:set>
                                    <p:animEffect transition="in" filter="wipe(left)">
                                      <p:cBhvr>
                                        <p:cTn id="27" dur="500"/>
                                        <p:tgtEl>
                                          <p:spTgt spid="33"/>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35"/>
                                        </p:tgtEl>
                                        <p:attrNameLst>
                                          <p:attrName>style.visibility</p:attrName>
                                        </p:attrNameLst>
                                      </p:cBhvr>
                                      <p:to>
                                        <p:strVal val="visible"/>
                                      </p:to>
                                    </p:set>
                                    <p:animEffect transition="in" filter="wipe(left)">
                                      <p:cBhvr>
                                        <p:cTn id="32" dur="500"/>
                                        <p:tgtEl>
                                          <p:spTgt spid="35"/>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36"/>
                                        </p:tgtEl>
                                        <p:attrNameLst>
                                          <p:attrName>style.visibility</p:attrName>
                                        </p:attrNameLst>
                                      </p:cBhvr>
                                      <p:to>
                                        <p:strVal val="visible"/>
                                      </p:to>
                                    </p:set>
                                    <p:animEffect transition="in" filter="wipe(left)">
                                      <p:cBhvr>
                                        <p:cTn id="37" dur="500"/>
                                        <p:tgtEl>
                                          <p:spTgt spid="36"/>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3"/>
                                        </p:tgtEl>
                                        <p:attrNameLst>
                                          <p:attrName>style.visibility</p:attrName>
                                        </p:attrNameLst>
                                      </p:cBhvr>
                                      <p:to>
                                        <p:strVal val="visible"/>
                                      </p:to>
                                    </p:set>
                                    <p:animEffect transition="in" filter="wipe(left)">
                                      <p:cBhvr>
                                        <p:cTn id="42" dur="500"/>
                                        <p:tgtEl>
                                          <p:spTgt spid="3"/>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4"/>
                                        </p:tgtEl>
                                        <p:attrNameLst>
                                          <p:attrName>style.visibility</p:attrName>
                                        </p:attrNameLst>
                                      </p:cBhvr>
                                      <p:to>
                                        <p:strVal val="visible"/>
                                      </p:to>
                                    </p:set>
                                    <p:animEffect transition="in" filter="wipe(left)">
                                      <p:cBhvr>
                                        <p:cTn id="4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4" grpId="0" autoUpdateAnimBg="0"/>
      <p:bldP spid="35" grpId="0"/>
    </p:bldLst>
  </p:timing>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3715" name="Text Box 3"/>
          <p:cNvSpPr txBox="1">
            <a:spLocks noChangeArrowheads="1"/>
          </p:cNvSpPr>
          <p:nvPr/>
        </p:nvSpPr>
        <p:spPr bwMode="auto">
          <a:xfrm>
            <a:off x="638175" y="1836738"/>
            <a:ext cx="2681288" cy="374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3333FF"/>
                </a:solidFill>
                <a:latin typeface="华文中宋" pitchFamily="2" charset="-122"/>
                <a:ea typeface="华文中宋" pitchFamily="2" charset="-122"/>
              </a:rPr>
              <a:t>二、研究方法</a:t>
            </a:r>
          </a:p>
        </p:txBody>
      </p:sp>
      <p:sp>
        <p:nvSpPr>
          <p:cNvPr id="243716" name="Text Box 4"/>
          <p:cNvSpPr txBox="1">
            <a:spLocks noChangeArrowheads="1"/>
          </p:cNvSpPr>
          <p:nvPr/>
        </p:nvSpPr>
        <p:spPr bwMode="auto">
          <a:xfrm>
            <a:off x="1222375" y="2155825"/>
            <a:ext cx="3149600" cy="376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 1. </a:t>
            </a:r>
            <a:r>
              <a:rPr lang="zh-CN" altLang="en-US" sz="1800" b="1">
                <a:latin typeface="华文中宋" pitchFamily="2" charset="-122"/>
                <a:ea typeface="华文中宋" pitchFamily="2" charset="-122"/>
              </a:rPr>
              <a:t>提出微观模型</a:t>
            </a:r>
          </a:p>
        </p:txBody>
      </p:sp>
      <p:sp>
        <p:nvSpPr>
          <p:cNvPr id="243717" name="Text Box 5"/>
          <p:cNvSpPr txBox="1">
            <a:spLocks noChangeArrowheads="1"/>
          </p:cNvSpPr>
          <p:nvPr/>
        </p:nvSpPr>
        <p:spPr bwMode="auto">
          <a:xfrm>
            <a:off x="1546225" y="2533650"/>
            <a:ext cx="6084888" cy="376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buFontTx/>
              <a:buChar char="•"/>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求压强公式</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单个分子假设；分子集体假设</a:t>
            </a:r>
            <a:r>
              <a:rPr lang="en-US" altLang="zh-CN" sz="1800" b="1">
                <a:latin typeface="华文中宋" pitchFamily="2" charset="-122"/>
                <a:ea typeface="华文中宋" pitchFamily="2" charset="-122"/>
              </a:rPr>
              <a:t>)</a:t>
            </a:r>
          </a:p>
        </p:txBody>
      </p:sp>
      <p:sp>
        <p:nvSpPr>
          <p:cNvPr id="243718" name="Text Box 6"/>
          <p:cNvSpPr txBox="1">
            <a:spLocks noChangeArrowheads="1"/>
          </p:cNvSpPr>
          <p:nvPr/>
        </p:nvSpPr>
        <p:spPr bwMode="auto">
          <a:xfrm>
            <a:off x="1538288" y="2857500"/>
            <a:ext cx="6084887" cy="376238"/>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buFontTx/>
              <a:buChar char="•"/>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求内能公式</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考虑分子的平动、转动、振动</a:t>
            </a:r>
            <a:r>
              <a:rPr lang="en-US" altLang="zh-CN" sz="1800" b="1">
                <a:latin typeface="华文中宋" pitchFamily="2" charset="-122"/>
                <a:ea typeface="华文中宋" pitchFamily="2" charset="-122"/>
              </a:rPr>
              <a:t>)</a:t>
            </a:r>
          </a:p>
        </p:txBody>
      </p:sp>
      <p:sp>
        <p:nvSpPr>
          <p:cNvPr id="243719" name="Text Box 7"/>
          <p:cNvSpPr txBox="1">
            <a:spLocks noChangeArrowheads="1"/>
          </p:cNvSpPr>
          <p:nvPr/>
        </p:nvSpPr>
        <p:spPr bwMode="auto">
          <a:xfrm>
            <a:off x="1511300" y="3236913"/>
            <a:ext cx="5975350" cy="376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buFontTx/>
              <a:buChar char="•"/>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求碰撞频率（分子的刚性小球模型）</a:t>
            </a:r>
          </a:p>
        </p:txBody>
      </p:sp>
      <p:sp>
        <p:nvSpPr>
          <p:cNvPr id="243720" name="Text Box 8"/>
          <p:cNvSpPr txBox="1">
            <a:spLocks noChangeArrowheads="1"/>
          </p:cNvSpPr>
          <p:nvPr/>
        </p:nvSpPr>
        <p:spPr bwMode="auto">
          <a:xfrm>
            <a:off x="1331913" y="3624263"/>
            <a:ext cx="2892425" cy="376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2. </a:t>
            </a:r>
            <a:r>
              <a:rPr lang="zh-CN" altLang="en-US" sz="1800" b="1">
                <a:latin typeface="华文中宋" pitchFamily="2" charset="-122"/>
                <a:ea typeface="华文中宋" pitchFamily="2" charset="-122"/>
              </a:rPr>
              <a:t>统计方法</a:t>
            </a:r>
          </a:p>
        </p:txBody>
      </p:sp>
      <p:sp>
        <p:nvSpPr>
          <p:cNvPr id="243721" name="Text Box 9"/>
          <p:cNvSpPr txBox="1">
            <a:spLocks noChangeArrowheads="1"/>
          </p:cNvSpPr>
          <p:nvPr/>
        </p:nvSpPr>
        <p:spPr bwMode="auto">
          <a:xfrm>
            <a:off x="1692275" y="3962400"/>
            <a:ext cx="4283075"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buFontTx/>
              <a:buChar char="•"/>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求压强公式时，分小矩形 </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或小柱体</a:t>
            </a:r>
            <a:r>
              <a:rPr lang="en-US" altLang="zh-CN" sz="1800" b="1">
                <a:latin typeface="华文中宋" pitchFamily="2" charset="-122"/>
                <a:ea typeface="华文中宋" pitchFamily="2" charset="-122"/>
              </a:rPr>
              <a:t>)</a:t>
            </a:r>
          </a:p>
        </p:txBody>
      </p:sp>
      <p:sp>
        <p:nvSpPr>
          <p:cNvPr id="243722" name="Text Box 10"/>
          <p:cNvSpPr txBox="1">
            <a:spLocks noChangeArrowheads="1"/>
          </p:cNvSpPr>
          <p:nvPr/>
        </p:nvSpPr>
        <p:spPr bwMode="auto">
          <a:xfrm>
            <a:off x="1692275" y="4262438"/>
            <a:ext cx="36004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buFontTx/>
              <a:buChar char="•"/>
            </a:pP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求速率公式时，分小区间</a:t>
            </a:r>
          </a:p>
        </p:txBody>
      </p:sp>
      <p:sp>
        <p:nvSpPr>
          <p:cNvPr id="2" name="Text Box 3"/>
          <p:cNvSpPr txBox="1">
            <a:spLocks noChangeArrowheads="1"/>
          </p:cNvSpPr>
          <p:nvPr/>
        </p:nvSpPr>
        <p:spPr bwMode="auto">
          <a:xfrm>
            <a:off x="611188" y="763588"/>
            <a:ext cx="2681287" cy="374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3333FF"/>
                </a:solidFill>
                <a:latin typeface="华文中宋" pitchFamily="2" charset="-122"/>
                <a:ea typeface="华文中宋" pitchFamily="2" charset="-122"/>
              </a:rPr>
              <a:t>一、概念</a:t>
            </a:r>
          </a:p>
        </p:txBody>
      </p:sp>
      <p:sp>
        <p:nvSpPr>
          <p:cNvPr id="3" name="Rectangle 23"/>
          <p:cNvSpPr>
            <a:spLocks noChangeArrowheads="1"/>
          </p:cNvSpPr>
          <p:nvPr/>
        </p:nvSpPr>
        <p:spPr bwMode="auto">
          <a:xfrm>
            <a:off x="1268413" y="1074738"/>
            <a:ext cx="3375025" cy="376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p>
            <a:pPr>
              <a:lnSpc>
                <a:spcPct val="110000"/>
              </a:lnSpc>
            </a:pPr>
            <a:r>
              <a:rPr lang="en-US" altLang="zh-CN" sz="1800" b="1">
                <a:latin typeface="华文中宋" pitchFamily="2" charset="-122"/>
                <a:ea typeface="华文中宋" pitchFamily="2" charset="-122"/>
              </a:rPr>
              <a:t> 1. </a:t>
            </a:r>
            <a:r>
              <a:rPr lang="zh-CN" altLang="en-US" sz="1800" b="1">
                <a:latin typeface="华文中宋" pitchFamily="2" charset="-122"/>
                <a:ea typeface="华文中宋" pitchFamily="2" charset="-122"/>
              </a:rPr>
              <a:t>热力学系统与分类</a:t>
            </a:r>
          </a:p>
        </p:txBody>
      </p:sp>
      <p:sp>
        <p:nvSpPr>
          <p:cNvPr id="4" name="Text Box 27"/>
          <p:cNvSpPr txBox="1">
            <a:spLocks noChangeArrowheads="1"/>
          </p:cNvSpPr>
          <p:nvPr/>
        </p:nvSpPr>
        <p:spPr bwMode="auto">
          <a:xfrm>
            <a:off x="4878388" y="1074738"/>
            <a:ext cx="1935162" cy="36988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r>
              <a:rPr lang="en-US" altLang="zh-CN" sz="1800" b="1">
                <a:latin typeface="华文中宋" pitchFamily="2" charset="-122"/>
                <a:ea typeface="华文中宋" pitchFamily="2" charset="-122"/>
              </a:rPr>
              <a:t>2. </a:t>
            </a:r>
            <a:r>
              <a:rPr lang="zh-CN" altLang="en-US" sz="1800" b="1">
                <a:latin typeface="华文中宋" pitchFamily="2" charset="-122"/>
                <a:ea typeface="华文中宋" pitchFamily="2" charset="-122"/>
              </a:rPr>
              <a:t>平衡态</a:t>
            </a:r>
          </a:p>
        </p:txBody>
      </p:sp>
      <p:sp>
        <p:nvSpPr>
          <p:cNvPr id="5" name="Text Box 32"/>
          <p:cNvSpPr txBox="1">
            <a:spLocks noChangeArrowheads="1"/>
          </p:cNvSpPr>
          <p:nvPr/>
        </p:nvSpPr>
        <p:spPr bwMode="auto">
          <a:xfrm>
            <a:off x="1339850" y="1508125"/>
            <a:ext cx="3663950"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3. </a:t>
            </a:r>
            <a:r>
              <a:rPr lang="zh-CN" altLang="en-US" sz="1800" b="1">
                <a:latin typeface="华文中宋" pitchFamily="2" charset="-122"/>
                <a:ea typeface="华文中宋" pitchFamily="2" charset="-122"/>
              </a:rPr>
              <a:t>热力学第零定律 </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热平衡定律</a:t>
            </a:r>
            <a:r>
              <a:rPr lang="en-US" altLang="zh-CN" sz="1800" b="1">
                <a:latin typeface="华文中宋" pitchFamily="2" charset="-122"/>
                <a:ea typeface="华文中宋" pitchFamily="2" charset="-122"/>
              </a:rPr>
              <a:t>)</a:t>
            </a:r>
            <a:r>
              <a:rPr lang="zh-CN" altLang="en-US" sz="1800" b="1">
                <a:latin typeface="华文中宋" pitchFamily="2" charset="-122"/>
                <a:ea typeface="华文中宋" pitchFamily="2" charset="-122"/>
              </a:rPr>
              <a:t>。</a:t>
            </a:r>
          </a:p>
        </p:txBody>
      </p:sp>
      <p:sp>
        <p:nvSpPr>
          <p:cNvPr id="6" name="Text Box 3"/>
          <p:cNvSpPr txBox="1">
            <a:spLocks noChangeArrowheads="1"/>
          </p:cNvSpPr>
          <p:nvPr/>
        </p:nvSpPr>
        <p:spPr bwMode="auto">
          <a:xfrm>
            <a:off x="4878388" y="1547813"/>
            <a:ext cx="2046287" cy="376237"/>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4. </a:t>
            </a:r>
            <a:r>
              <a:rPr lang="zh-CN" altLang="en-US" sz="1800" b="1">
                <a:latin typeface="华文中宋" pitchFamily="2" charset="-122"/>
                <a:ea typeface="华文中宋" pitchFamily="2" charset="-122"/>
              </a:rPr>
              <a:t>温度</a:t>
            </a:r>
          </a:p>
        </p:txBody>
      </p:sp>
      <p:sp>
        <p:nvSpPr>
          <p:cNvPr id="7" name="Text Box 5"/>
          <p:cNvSpPr txBox="1">
            <a:spLocks noChangeArrowheads="1"/>
          </p:cNvSpPr>
          <p:nvPr/>
        </p:nvSpPr>
        <p:spPr bwMode="auto">
          <a:xfrm>
            <a:off x="5975350" y="1519238"/>
            <a:ext cx="2413000" cy="374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i="1">
                <a:ea typeface="华文中宋" pitchFamily="2" charset="-122"/>
              </a:rPr>
              <a:t>T </a:t>
            </a:r>
            <a:r>
              <a:rPr lang="en-US" altLang="zh-CN" sz="1800" b="1">
                <a:ea typeface="华文中宋" pitchFamily="2" charset="-122"/>
              </a:rPr>
              <a:t>=</a:t>
            </a:r>
            <a:r>
              <a:rPr lang="en-US" altLang="zh-CN" sz="1800" b="1" i="1">
                <a:ea typeface="华文中宋" pitchFamily="2" charset="-122"/>
              </a:rPr>
              <a:t> t </a:t>
            </a:r>
            <a:r>
              <a:rPr lang="en-US" altLang="zh-CN" sz="1800" b="1">
                <a:ea typeface="华文中宋" pitchFamily="2" charset="-122"/>
              </a:rPr>
              <a:t>+ 273.15</a:t>
            </a:r>
          </a:p>
        </p:txBody>
      </p:sp>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3">
                                            <p:txEl>
                                              <p:pRg st="0" end="0"/>
                                            </p:txEl>
                                          </p:spTgt>
                                        </p:tgtEl>
                                        <p:attrNameLst>
                                          <p:attrName>style.visibility</p:attrName>
                                        </p:attrNameLst>
                                      </p:cBhvr>
                                      <p:to>
                                        <p:strVal val="visible"/>
                                      </p:to>
                                    </p:set>
                                    <p:animEffect transition="in" filter="wipe(left)">
                                      <p:cBhvr>
                                        <p:cTn id="12" dur="500"/>
                                        <p:tgtEl>
                                          <p:spTgt spid="3">
                                            <p:txEl>
                                              <p:pRg st="0" end="0"/>
                                            </p:txEl>
                                          </p:spTgt>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4">
                                            <p:txEl>
                                              <p:pRg st="0" end="0"/>
                                            </p:txEl>
                                          </p:spTgt>
                                        </p:tgtEl>
                                        <p:attrNameLst>
                                          <p:attrName>style.visibility</p:attrName>
                                        </p:attrNameLst>
                                      </p:cBhvr>
                                      <p:to>
                                        <p:strVal val="visible"/>
                                      </p:to>
                                    </p:set>
                                    <p:animEffect transition="in" filter="wipe(left)">
                                      <p:cBhvr>
                                        <p:cTn id="17" dur="500"/>
                                        <p:tgtEl>
                                          <p:spTgt spid="4">
                                            <p:txEl>
                                              <p:pRg st="0" end="0"/>
                                            </p:txEl>
                                          </p:spTgt>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grpId="0" nodeType="clickEffect">
                                  <p:stCondLst>
                                    <p:cond delay="0"/>
                                  </p:stCondLst>
                                  <p:childTnLst>
                                    <p:set>
                                      <p:cBhvr>
                                        <p:cTn id="21" dur="1" fill="hold">
                                          <p:stCondLst>
                                            <p:cond delay="0"/>
                                          </p:stCondLst>
                                        </p:cTn>
                                        <p:tgtEl>
                                          <p:spTgt spid="5"/>
                                        </p:tgtEl>
                                        <p:attrNameLst>
                                          <p:attrName>style.visibility</p:attrName>
                                        </p:attrNameLst>
                                      </p:cBhvr>
                                      <p:to>
                                        <p:strVal val="visible"/>
                                      </p:to>
                                    </p:set>
                                    <p:animEffect transition="in" filter="wipe(left)">
                                      <p:cBhvr>
                                        <p:cTn id="22" dur="500"/>
                                        <p:tgtEl>
                                          <p:spTgt spid="5"/>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grpId="0" nodeType="clickEffect">
                                  <p:stCondLst>
                                    <p:cond delay="0"/>
                                  </p:stCondLst>
                                  <p:childTnLst>
                                    <p:set>
                                      <p:cBhvr>
                                        <p:cTn id="26" dur="1" fill="hold">
                                          <p:stCondLst>
                                            <p:cond delay="0"/>
                                          </p:stCondLst>
                                        </p:cTn>
                                        <p:tgtEl>
                                          <p:spTgt spid="6">
                                            <p:txEl>
                                              <p:pRg st="0" end="0"/>
                                            </p:txEl>
                                          </p:spTgt>
                                        </p:tgtEl>
                                        <p:attrNameLst>
                                          <p:attrName>style.visibility</p:attrName>
                                        </p:attrNameLst>
                                      </p:cBhvr>
                                      <p:to>
                                        <p:strVal val="visible"/>
                                      </p:to>
                                    </p:set>
                                    <p:animEffect transition="in" filter="wipe(left)">
                                      <p:cBhvr>
                                        <p:cTn id="27" dur="500"/>
                                        <p:tgtEl>
                                          <p:spTgt spid="6">
                                            <p:txEl>
                                              <p:pRg st="0" end="0"/>
                                            </p:txEl>
                                          </p:spTgt>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7">
                                            <p:txEl>
                                              <p:pRg st="0" end="0"/>
                                            </p:txEl>
                                          </p:spTgt>
                                        </p:tgtEl>
                                        <p:attrNameLst>
                                          <p:attrName>style.visibility</p:attrName>
                                        </p:attrNameLst>
                                      </p:cBhvr>
                                      <p:to>
                                        <p:strVal val="visible"/>
                                      </p:to>
                                    </p:set>
                                    <p:animEffect transition="in" filter="wipe(left)">
                                      <p:cBhvr>
                                        <p:cTn id="32" dur="500"/>
                                        <p:tgtEl>
                                          <p:spTgt spid="7">
                                            <p:txEl>
                                              <p:pRg st="0" end="0"/>
                                            </p:txEl>
                                          </p:spTgt>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grpId="0" nodeType="clickEffect">
                                  <p:stCondLst>
                                    <p:cond delay="0"/>
                                  </p:stCondLst>
                                  <p:childTnLst>
                                    <p:set>
                                      <p:cBhvr>
                                        <p:cTn id="36" dur="1" fill="hold">
                                          <p:stCondLst>
                                            <p:cond delay="0"/>
                                          </p:stCondLst>
                                        </p:cTn>
                                        <p:tgtEl>
                                          <p:spTgt spid="243715"/>
                                        </p:tgtEl>
                                        <p:attrNameLst>
                                          <p:attrName>style.visibility</p:attrName>
                                        </p:attrNameLst>
                                      </p:cBhvr>
                                      <p:to>
                                        <p:strVal val="visible"/>
                                      </p:to>
                                    </p:set>
                                    <p:animEffect transition="in" filter="wipe(left)">
                                      <p:cBhvr>
                                        <p:cTn id="37" dur="500"/>
                                        <p:tgtEl>
                                          <p:spTgt spid="243715"/>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grpId="0" nodeType="clickEffect">
                                  <p:stCondLst>
                                    <p:cond delay="0"/>
                                  </p:stCondLst>
                                  <p:childTnLst>
                                    <p:set>
                                      <p:cBhvr>
                                        <p:cTn id="41" dur="1" fill="hold">
                                          <p:stCondLst>
                                            <p:cond delay="0"/>
                                          </p:stCondLst>
                                        </p:cTn>
                                        <p:tgtEl>
                                          <p:spTgt spid="243716"/>
                                        </p:tgtEl>
                                        <p:attrNameLst>
                                          <p:attrName>style.visibility</p:attrName>
                                        </p:attrNameLst>
                                      </p:cBhvr>
                                      <p:to>
                                        <p:strVal val="visible"/>
                                      </p:to>
                                    </p:set>
                                    <p:animEffect transition="in" filter="wipe(left)">
                                      <p:cBhvr>
                                        <p:cTn id="42" dur="500"/>
                                        <p:tgtEl>
                                          <p:spTgt spid="243716"/>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grpId="0" nodeType="clickEffect">
                                  <p:stCondLst>
                                    <p:cond delay="0"/>
                                  </p:stCondLst>
                                  <p:childTnLst>
                                    <p:set>
                                      <p:cBhvr>
                                        <p:cTn id="46" dur="1" fill="hold">
                                          <p:stCondLst>
                                            <p:cond delay="0"/>
                                          </p:stCondLst>
                                        </p:cTn>
                                        <p:tgtEl>
                                          <p:spTgt spid="243717"/>
                                        </p:tgtEl>
                                        <p:attrNameLst>
                                          <p:attrName>style.visibility</p:attrName>
                                        </p:attrNameLst>
                                      </p:cBhvr>
                                      <p:to>
                                        <p:strVal val="visible"/>
                                      </p:to>
                                    </p:set>
                                    <p:animEffect transition="in" filter="wipe(left)">
                                      <p:cBhvr>
                                        <p:cTn id="47" dur="500"/>
                                        <p:tgtEl>
                                          <p:spTgt spid="243717"/>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grpId="0" nodeType="clickEffect">
                                  <p:stCondLst>
                                    <p:cond delay="0"/>
                                  </p:stCondLst>
                                  <p:childTnLst>
                                    <p:set>
                                      <p:cBhvr>
                                        <p:cTn id="51" dur="1" fill="hold">
                                          <p:stCondLst>
                                            <p:cond delay="0"/>
                                          </p:stCondLst>
                                        </p:cTn>
                                        <p:tgtEl>
                                          <p:spTgt spid="243718"/>
                                        </p:tgtEl>
                                        <p:attrNameLst>
                                          <p:attrName>style.visibility</p:attrName>
                                        </p:attrNameLst>
                                      </p:cBhvr>
                                      <p:to>
                                        <p:strVal val="visible"/>
                                      </p:to>
                                    </p:set>
                                    <p:animEffect transition="in" filter="wipe(left)">
                                      <p:cBhvr>
                                        <p:cTn id="52" dur="500"/>
                                        <p:tgtEl>
                                          <p:spTgt spid="243718"/>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grpId="0" nodeType="clickEffect">
                                  <p:stCondLst>
                                    <p:cond delay="0"/>
                                  </p:stCondLst>
                                  <p:childTnLst>
                                    <p:set>
                                      <p:cBhvr>
                                        <p:cTn id="56" dur="1" fill="hold">
                                          <p:stCondLst>
                                            <p:cond delay="0"/>
                                          </p:stCondLst>
                                        </p:cTn>
                                        <p:tgtEl>
                                          <p:spTgt spid="243719"/>
                                        </p:tgtEl>
                                        <p:attrNameLst>
                                          <p:attrName>style.visibility</p:attrName>
                                        </p:attrNameLst>
                                      </p:cBhvr>
                                      <p:to>
                                        <p:strVal val="visible"/>
                                      </p:to>
                                    </p:set>
                                    <p:animEffect transition="in" filter="wipe(left)">
                                      <p:cBhvr>
                                        <p:cTn id="57" dur="500"/>
                                        <p:tgtEl>
                                          <p:spTgt spid="243719"/>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43720"/>
                                        </p:tgtEl>
                                        <p:attrNameLst>
                                          <p:attrName>style.visibility</p:attrName>
                                        </p:attrNameLst>
                                      </p:cBhvr>
                                      <p:to>
                                        <p:strVal val="visible"/>
                                      </p:to>
                                    </p:set>
                                    <p:animEffect transition="in" filter="wipe(left)">
                                      <p:cBhvr>
                                        <p:cTn id="62" dur="500"/>
                                        <p:tgtEl>
                                          <p:spTgt spid="243720"/>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grpId="0" nodeType="clickEffect">
                                  <p:stCondLst>
                                    <p:cond delay="0"/>
                                  </p:stCondLst>
                                  <p:childTnLst>
                                    <p:set>
                                      <p:cBhvr>
                                        <p:cTn id="66" dur="1" fill="hold">
                                          <p:stCondLst>
                                            <p:cond delay="0"/>
                                          </p:stCondLst>
                                        </p:cTn>
                                        <p:tgtEl>
                                          <p:spTgt spid="243721"/>
                                        </p:tgtEl>
                                        <p:attrNameLst>
                                          <p:attrName>style.visibility</p:attrName>
                                        </p:attrNameLst>
                                      </p:cBhvr>
                                      <p:to>
                                        <p:strVal val="visible"/>
                                      </p:to>
                                    </p:set>
                                    <p:animEffect transition="in" filter="wipe(left)">
                                      <p:cBhvr>
                                        <p:cTn id="67" dur="500"/>
                                        <p:tgtEl>
                                          <p:spTgt spid="243721"/>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grpId="0" nodeType="clickEffect">
                                  <p:stCondLst>
                                    <p:cond delay="0"/>
                                  </p:stCondLst>
                                  <p:childTnLst>
                                    <p:set>
                                      <p:cBhvr>
                                        <p:cTn id="71" dur="1" fill="hold">
                                          <p:stCondLst>
                                            <p:cond delay="0"/>
                                          </p:stCondLst>
                                        </p:cTn>
                                        <p:tgtEl>
                                          <p:spTgt spid="243722"/>
                                        </p:tgtEl>
                                        <p:attrNameLst>
                                          <p:attrName>style.visibility</p:attrName>
                                        </p:attrNameLst>
                                      </p:cBhvr>
                                      <p:to>
                                        <p:strVal val="visible"/>
                                      </p:to>
                                    </p:set>
                                    <p:animEffect transition="in" filter="wipe(left)">
                                      <p:cBhvr>
                                        <p:cTn id="72" dur="500"/>
                                        <p:tgtEl>
                                          <p:spTgt spid="24372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3715" grpId="0" autoUpdateAnimBg="0"/>
      <p:bldP spid="243716" grpId="0" autoUpdateAnimBg="0"/>
      <p:bldP spid="243717" grpId="0" autoUpdateAnimBg="0"/>
      <p:bldP spid="243718" grpId="0" autoUpdateAnimBg="0"/>
      <p:bldP spid="243719" grpId="0" autoUpdateAnimBg="0"/>
      <p:bldP spid="243720" grpId="0" autoUpdateAnimBg="0"/>
      <p:bldP spid="243721" grpId="0" autoUpdateAnimBg="0"/>
      <p:bldP spid="243722" grpId="0" autoUpdateAnimBg="0"/>
      <p:bldP spid="2" grpId="0" autoUpdateAnimBg="0"/>
      <p:bldP spid="3" grpId="0" build="p"/>
      <p:bldP spid="4" grpId="0" build="p"/>
      <p:bldP spid="5" grpId="0"/>
      <p:bldP spid="6" grpId="0" build="p"/>
      <p:bldP spid="7" grpId="0" build="p"/>
    </p:bldLst>
  </p:timing>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4738" name="Text Box 2"/>
          <p:cNvSpPr txBox="1">
            <a:spLocks noChangeArrowheads="1"/>
          </p:cNvSpPr>
          <p:nvPr/>
        </p:nvSpPr>
        <p:spPr bwMode="auto">
          <a:xfrm>
            <a:off x="660400" y="828675"/>
            <a:ext cx="1612900" cy="374650"/>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zh-CN" altLang="en-US" sz="1800" b="1">
                <a:solidFill>
                  <a:srgbClr val="3333FF"/>
                </a:solidFill>
                <a:latin typeface="华文中宋" pitchFamily="2" charset="-122"/>
                <a:ea typeface="华文中宋" pitchFamily="2" charset="-122"/>
              </a:rPr>
              <a:t>三、规律</a:t>
            </a:r>
          </a:p>
        </p:txBody>
      </p:sp>
      <p:sp>
        <p:nvSpPr>
          <p:cNvPr id="244739" name="Text Box 3"/>
          <p:cNvSpPr txBox="1">
            <a:spLocks noChangeArrowheads="1"/>
          </p:cNvSpPr>
          <p:nvPr/>
        </p:nvSpPr>
        <p:spPr bwMode="auto">
          <a:xfrm>
            <a:off x="1227138" y="1193800"/>
            <a:ext cx="1541462"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1. </a:t>
            </a:r>
            <a:r>
              <a:rPr lang="zh-CN" altLang="en-US" sz="1800" b="1">
                <a:latin typeface="华文中宋" pitchFamily="2" charset="-122"/>
                <a:ea typeface="华文中宋" pitchFamily="2" charset="-122"/>
              </a:rPr>
              <a:t>理想气体</a:t>
            </a:r>
          </a:p>
        </p:txBody>
      </p:sp>
      <p:graphicFrame>
        <p:nvGraphicFramePr>
          <p:cNvPr id="5" name="对象 4"/>
          <p:cNvGraphicFramePr>
            <a:graphicFrameLocks noChangeAspect="1"/>
          </p:cNvGraphicFramePr>
          <p:nvPr/>
        </p:nvGraphicFramePr>
        <p:xfrm>
          <a:off x="3024188" y="1203325"/>
          <a:ext cx="1252537" cy="325438"/>
        </p:xfrm>
        <a:graphic>
          <a:graphicData uri="http://schemas.openxmlformats.org/presentationml/2006/ole">
            <p:oleObj spid="_x0000_s72763" name="公式" r:id="rId3" imgW="583947" imgH="203112" progId="Equation.3">
              <p:embed/>
            </p:oleObj>
          </a:graphicData>
        </a:graphic>
      </p:graphicFrame>
      <p:graphicFrame>
        <p:nvGraphicFramePr>
          <p:cNvPr id="6" name="对象 5"/>
          <p:cNvGraphicFramePr>
            <a:graphicFrameLocks noChangeAspect="1"/>
          </p:cNvGraphicFramePr>
          <p:nvPr/>
        </p:nvGraphicFramePr>
        <p:xfrm>
          <a:off x="4918075" y="1058863"/>
          <a:ext cx="1287463" cy="549275"/>
        </p:xfrm>
        <a:graphic>
          <a:graphicData uri="http://schemas.openxmlformats.org/presentationml/2006/ole">
            <p:oleObj spid="_x0000_s72764" name="Equation" r:id="rId4" imgW="622030" imgH="406224" progId="Equation.3">
              <p:embed/>
            </p:oleObj>
          </a:graphicData>
        </a:graphic>
      </p:graphicFrame>
      <p:graphicFrame>
        <p:nvGraphicFramePr>
          <p:cNvPr id="7" name="对象 6"/>
          <p:cNvGraphicFramePr>
            <a:graphicFrameLocks noChangeAspect="1"/>
          </p:cNvGraphicFramePr>
          <p:nvPr/>
        </p:nvGraphicFramePr>
        <p:xfrm>
          <a:off x="6732588" y="1069975"/>
          <a:ext cx="1358900" cy="565150"/>
        </p:xfrm>
        <a:graphic>
          <a:graphicData uri="http://schemas.openxmlformats.org/presentationml/2006/ole">
            <p:oleObj spid="_x0000_s72765" name="公式" r:id="rId5" imgW="634725" imgH="406224" progId="Equation.3">
              <p:embed/>
            </p:oleObj>
          </a:graphicData>
        </a:graphic>
      </p:graphicFrame>
      <p:sp>
        <p:nvSpPr>
          <p:cNvPr id="19" name="Text Box 8"/>
          <p:cNvSpPr txBox="1">
            <a:spLocks noChangeArrowheads="1"/>
          </p:cNvSpPr>
          <p:nvPr/>
        </p:nvSpPr>
        <p:spPr bwMode="auto">
          <a:xfrm>
            <a:off x="1227138" y="1592263"/>
            <a:ext cx="3128962"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a:lnSpc>
                <a:spcPct val="110000"/>
              </a:lnSpc>
            </a:pPr>
            <a:r>
              <a:rPr kumimoji="0" lang="en-US" altLang="zh-CN" sz="1800" b="1">
                <a:latin typeface="华文中宋" pitchFamily="2" charset="-122"/>
                <a:ea typeface="华文中宋" pitchFamily="2" charset="-122"/>
                <a:cs typeface="Times New Roman" pitchFamily="18" charset="0"/>
              </a:rPr>
              <a:t>2. </a:t>
            </a:r>
            <a:r>
              <a:rPr lang="zh-CN" altLang="en-US" sz="1800" b="1">
                <a:latin typeface="华文中宋" pitchFamily="2" charset="-122"/>
                <a:ea typeface="华文中宋" pitchFamily="2" charset="-122"/>
                <a:cs typeface="Times New Roman" pitchFamily="18" charset="0"/>
              </a:rPr>
              <a:t>麦克斯韦</a:t>
            </a:r>
            <a:r>
              <a:rPr kumimoji="0" lang="zh-CN" altLang="en-US" sz="1800" b="1">
                <a:latin typeface="华文中宋" pitchFamily="2" charset="-122"/>
                <a:ea typeface="华文中宋" pitchFamily="2" charset="-122"/>
                <a:cs typeface="Times New Roman" pitchFamily="18" charset="0"/>
              </a:rPr>
              <a:t>速率分布函数 </a:t>
            </a:r>
          </a:p>
        </p:txBody>
      </p:sp>
      <p:graphicFrame>
        <p:nvGraphicFramePr>
          <p:cNvPr id="21" name="对象 1"/>
          <p:cNvGraphicFramePr>
            <a:graphicFrameLocks noChangeAspect="1"/>
          </p:cNvGraphicFramePr>
          <p:nvPr/>
        </p:nvGraphicFramePr>
        <p:xfrm>
          <a:off x="2525713" y="2017713"/>
          <a:ext cx="1376362" cy="500062"/>
        </p:xfrm>
        <a:graphic>
          <a:graphicData uri="http://schemas.openxmlformats.org/presentationml/2006/ole">
            <p:oleObj spid="_x0000_s72766" name="Equation" r:id="rId6" imgW="812447" imgH="393529" progId="Equation.DSMT4">
              <p:embed/>
            </p:oleObj>
          </a:graphicData>
        </a:graphic>
      </p:graphicFrame>
      <p:graphicFrame>
        <p:nvGraphicFramePr>
          <p:cNvPr id="22" name="Object 20"/>
          <p:cNvGraphicFramePr>
            <a:graphicFrameLocks noChangeAspect="1"/>
          </p:cNvGraphicFramePr>
          <p:nvPr/>
        </p:nvGraphicFramePr>
        <p:xfrm>
          <a:off x="4476750" y="2044700"/>
          <a:ext cx="1635125" cy="430213"/>
        </p:xfrm>
        <a:graphic>
          <a:graphicData uri="http://schemas.openxmlformats.org/presentationml/2006/ole">
            <p:oleObj spid="_x0000_s72767" name="Equation" r:id="rId7" imgW="939392" imgH="330057" progId="Equation.DSMT4">
              <p:embed/>
            </p:oleObj>
          </a:graphicData>
        </a:graphic>
      </p:graphicFrame>
      <p:graphicFrame>
        <p:nvGraphicFramePr>
          <p:cNvPr id="25" name="对象 24"/>
          <p:cNvGraphicFramePr>
            <a:graphicFrameLocks noChangeAspect="1"/>
          </p:cNvGraphicFramePr>
          <p:nvPr/>
        </p:nvGraphicFramePr>
        <p:xfrm>
          <a:off x="2006600" y="2601913"/>
          <a:ext cx="1403350" cy="541337"/>
        </p:xfrm>
        <a:graphic>
          <a:graphicData uri="http://schemas.openxmlformats.org/presentationml/2006/ole">
            <p:oleObj spid="_x0000_s72768" name="Equation" r:id="rId8" imgW="939392" imgH="482391" progId="Equation.DSMT4">
              <p:embed/>
            </p:oleObj>
          </a:graphicData>
        </a:graphic>
      </p:graphicFrame>
      <p:graphicFrame>
        <p:nvGraphicFramePr>
          <p:cNvPr id="26" name="对象 25"/>
          <p:cNvGraphicFramePr>
            <a:graphicFrameLocks noChangeAspect="1"/>
          </p:cNvGraphicFramePr>
          <p:nvPr/>
        </p:nvGraphicFramePr>
        <p:xfrm>
          <a:off x="3951288" y="2608263"/>
          <a:ext cx="1365250" cy="539750"/>
        </p:xfrm>
        <a:graphic>
          <a:graphicData uri="http://schemas.openxmlformats.org/presentationml/2006/ole">
            <p:oleObj spid="_x0000_s72769" name="Equation" r:id="rId9" imgW="914400" imgH="482600" progId="Equation.DSMT4">
              <p:embed/>
            </p:oleObj>
          </a:graphicData>
        </a:graphic>
      </p:graphicFrame>
      <p:graphicFrame>
        <p:nvGraphicFramePr>
          <p:cNvPr id="27" name="对象 26"/>
          <p:cNvGraphicFramePr>
            <a:graphicFrameLocks noChangeAspect="1"/>
          </p:cNvGraphicFramePr>
          <p:nvPr/>
        </p:nvGraphicFramePr>
        <p:xfrm>
          <a:off x="5861050" y="2603500"/>
          <a:ext cx="1552575" cy="541338"/>
        </p:xfrm>
        <a:graphic>
          <a:graphicData uri="http://schemas.openxmlformats.org/presentationml/2006/ole">
            <p:oleObj spid="_x0000_s72770" name="Equation" r:id="rId10" imgW="1040948" imgH="482391" progId="Equation.DSMT4">
              <p:embed/>
            </p:oleObj>
          </a:graphicData>
        </a:graphic>
      </p:graphicFrame>
      <p:sp>
        <p:nvSpPr>
          <p:cNvPr id="29" name="Text Box 5"/>
          <p:cNvSpPr txBox="1">
            <a:spLocks noChangeArrowheads="1"/>
          </p:cNvSpPr>
          <p:nvPr/>
        </p:nvSpPr>
        <p:spPr bwMode="auto">
          <a:xfrm>
            <a:off x="1227138" y="3303588"/>
            <a:ext cx="2857500" cy="398462"/>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3. </a:t>
            </a:r>
            <a:r>
              <a:rPr lang="zh-CN" altLang="en-US" sz="1800" b="1">
                <a:latin typeface="华文中宋" pitchFamily="2" charset="-122"/>
                <a:ea typeface="华文中宋" pitchFamily="2" charset="-122"/>
              </a:rPr>
              <a:t>能量均分定理与内能</a:t>
            </a:r>
          </a:p>
        </p:txBody>
      </p:sp>
      <p:graphicFrame>
        <p:nvGraphicFramePr>
          <p:cNvPr id="30" name="对象 29"/>
          <p:cNvGraphicFramePr>
            <a:graphicFrameLocks noChangeAspect="1"/>
          </p:cNvGraphicFramePr>
          <p:nvPr/>
        </p:nvGraphicFramePr>
        <p:xfrm>
          <a:off x="4371975" y="3211513"/>
          <a:ext cx="704850" cy="584200"/>
        </p:xfrm>
        <a:graphic>
          <a:graphicData uri="http://schemas.openxmlformats.org/presentationml/2006/ole">
            <p:oleObj spid="_x0000_s72771" name="公式" r:id="rId11" imgW="355292" imgH="393359" progId="Equation.3">
              <p:embed/>
            </p:oleObj>
          </a:graphicData>
        </a:graphic>
      </p:graphicFrame>
      <p:graphicFrame>
        <p:nvGraphicFramePr>
          <p:cNvPr id="31" name="对象 30"/>
          <p:cNvGraphicFramePr>
            <a:graphicFrameLocks noChangeAspect="1"/>
          </p:cNvGraphicFramePr>
          <p:nvPr/>
        </p:nvGraphicFramePr>
        <p:xfrm>
          <a:off x="5337175" y="3249613"/>
          <a:ext cx="1179513" cy="498475"/>
        </p:xfrm>
        <a:graphic>
          <a:graphicData uri="http://schemas.openxmlformats.org/presentationml/2006/ole">
            <p:oleObj spid="_x0000_s72772" name="公式" r:id="rId12" imgW="660113" imgH="393529" progId="Equation.3">
              <p:embed/>
            </p:oleObj>
          </a:graphicData>
        </a:graphic>
      </p:graphicFrame>
      <p:graphicFrame>
        <p:nvGraphicFramePr>
          <p:cNvPr id="32" name="对象 31"/>
          <p:cNvGraphicFramePr>
            <a:graphicFrameLocks noChangeAspect="1"/>
          </p:cNvGraphicFramePr>
          <p:nvPr/>
        </p:nvGraphicFramePr>
        <p:xfrm>
          <a:off x="6924675" y="3240088"/>
          <a:ext cx="1347788" cy="515937"/>
        </p:xfrm>
        <a:graphic>
          <a:graphicData uri="http://schemas.openxmlformats.org/presentationml/2006/ole">
            <p:oleObj spid="_x0000_s72773" name="Equation" r:id="rId13" imgW="965200" imgH="431800" progId="Equation.DSMT4">
              <p:embed/>
            </p:oleObj>
          </a:graphicData>
        </a:graphic>
      </p:graphicFrame>
      <p:sp>
        <p:nvSpPr>
          <p:cNvPr id="16" name="Text Box 6"/>
          <p:cNvSpPr txBox="1">
            <a:spLocks noChangeArrowheads="1"/>
          </p:cNvSpPr>
          <p:nvPr/>
        </p:nvSpPr>
        <p:spPr bwMode="auto">
          <a:xfrm>
            <a:off x="1227138" y="3868738"/>
            <a:ext cx="3671887" cy="396875"/>
          </a:xfrm>
          <a:prstGeom prst="rect">
            <a:avLst/>
          </a:prstGeom>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p:spPr>
        <p:txBody>
          <a:bodyPr>
            <a:spAutoFit/>
          </a:bodyPr>
          <a:lstStyle>
            <a:lvl1pPr eaLnBrk="0" hangingPunct="0">
              <a:defRPr kumimoji="1" sz="2400">
                <a:solidFill>
                  <a:schemeClr val="tx1"/>
                </a:solidFill>
                <a:latin typeface="Times New Roman" pitchFamily="18" charset="0"/>
                <a:ea typeface="黑体" pitchFamily="49" charset="-122"/>
              </a:defRPr>
            </a:lvl1pPr>
            <a:lvl2pPr marL="742950" indent="-285750" eaLnBrk="0" hangingPunct="0">
              <a:defRPr kumimoji="1" sz="2400">
                <a:solidFill>
                  <a:schemeClr val="tx1"/>
                </a:solidFill>
                <a:latin typeface="Times New Roman" pitchFamily="18" charset="0"/>
                <a:ea typeface="黑体" pitchFamily="49" charset="-122"/>
              </a:defRPr>
            </a:lvl2pPr>
            <a:lvl3pPr marL="1143000" indent="-228600" eaLnBrk="0" hangingPunct="0">
              <a:defRPr kumimoji="1" sz="2400">
                <a:solidFill>
                  <a:schemeClr val="tx1"/>
                </a:solidFill>
                <a:latin typeface="Times New Roman" pitchFamily="18" charset="0"/>
                <a:ea typeface="黑体" pitchFamily="49" charset="-122"/>
              </a:defRPr>
            </a:lvl3pPr>
            <a:lvl4pPr marL="1600200" indent="-228600" eaLnBrk="0" hangingPunct="0">
              <a:defRPr kumimoji="1" sz="2400">
                <a:solidFill>
                  <a:schemeClr val="tx1"/>
                </a:solidFill>
                <a:latin typeface="Times New Roman" pitchFamily="18" charset="0"/>
                <a:ea typeface="黑体" pitchFamily="49" charset="-122"/>
              </a:defRPr>
            </a:lvl4pPr>
            <a:lvl5pPr marL="2057400" indent="-228600" eaLnBrk="0" hangingPunct="0">
              <a:defRPr kumimoji="1" sz="2400">
                <a:solidFill>
                  <a:schemeClr val="tx1"/>
                </a:solidFill>
                <a:latin typeface="Times New Roman" pitchFamily="18" charset="0"/>
                <a:ea typeface="黑体" pitchFamily="49" charset="-122"/>
              </a:defRPr>
            </a:lvl5pPr>
            <a:lvl6pPr marL="25146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6pPr>
            <a:lvl7pPr marL="29718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7pPr>
            <a:lvl8pPr marL="34290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8pPr>
            <a:lvl9pPr marL="3886200" indent="-228600" eaLnBrk="0" fontAlgn="base" hangingPunct="0">
              <a:spcBef>
                <a:spcPct val="0"/>
              </a:spcBef>
              <a:spcAft>
                <a:spcPct val="0"/>
              </a:spcAft>
              <a:defRPr kumimoji="1" sz="2400">
                <a:solidFill>
                  <a:schemeClr val="tx1"/>
                </a:solidFill>
                <a:latin typeface="Times New Roman" pitchFamily="18" charset="0"/>
                <a:ea typeface="黑体" pitchFamily="49" charset="-122"/>
              </a:defRPr>
            </a:lvl9pPr>
          </a:lstStyle>
          <a:p>
            <a:pPr eaLnBrk="1" hangingPunct="1">
              <a:lnSpc>
                <a:spcPct val="110000"/>
              </a:lnSpc>
            </a:pPr>
            <a:r>
              <a:rPr lang="en-US" altLang="zh-CN" sz="1800" b="1">
                <a:latin typeface="华文中宋" pitchFamily="2" charset="-122"/>
                <a:ea typeface="华文中宋" pitchFamily="2" charset="-122"/>
              </a:rPr>
              <a:t>4. </a:t>
            </a:r>
            <a:r>
              <a:rPr lang="zh-CN" altLang="en-US" sz="1800" b="1">
                <a:latin typeface="华文中宋" pitchFamily="2" charset="-122"/>
                <a:ea typeface="华文中宋" pitchFamily="2" charset="-122"/>
              </a:rPr>
              <a:t>分子平均碰撞频率</a:t>
            </a:r>
            <a:r>
              <a:rPr lang="en-US" altLang="zh-CN" sz="1800" b="1">
                <a:latin typeface="华文中宋" pitchFamily="2" charset="-122"/>
                <a:ea typeface="华文中宋" pitchFamily="2" charset="-122"/>
              </a:rPr>
              <a:t>; </a:t>
            </a:r>
            <a:r>
              <a:rPr lang="zh-CN" altLang="en-US" sz="1800" b="1">
                <a:latin typeface="华文中宋" pitchFamily="2" charset="-122"/>
                <a:ea typeface="华文中宋" pitchFamily="2" charset="-122"/>
              </a:rPr>
              <a:t>平均自由程</a:t>
            </a:r>
          </a:p>
        </p:txBody>
      </p:sp>
      <p:graphicFrame>
        <p:nvGraphicFramePr>
          <p:cNvPr id="17" name="对象 39"/>
          <p:cNvGraphicFramePr>
            <a:graphicFrameLocks noChangeAspect="1"/>
          </p:cNvGraphicFramePr>
          <p:nvPr/>
        </p:nvGraphicFramePr>
        <p:xfrm>
          <a:off x="5016500" y="3903663"/>
          <a:ext cx="1931988" cy="328612"/>
        </p:xfrm>
        <a:graphic>
          <a:graphicData uri="http://schemas.openxmlformats.org/presentationml/2006/ole">
            <p:oleObj spid="_x0000_s72774" name="Equation" r:id="rId14" imgW="952087" imgH="215806" progId="Equation.DSMT4">
              <p:embed/>
            </p:oleObj>
          </a:graphicData>
        </a:graphic>
      </p:graphicFrame>
      <p:graphicFrame>
        <p:nvGraphicFramePr>
          <p:cNvPr id="18" name="对象 40"/>
          <p:cNvGraphicFramePr>
            <a:graphicFrameLocks noChangeAspect="1"/>
          </p:cNvGraphicFramePr>
          <p:nvPr/>
        </p:nvGraphicFramePr>
        <p:xfrm>
          <a:off x="7235825" y="3835400"/>
          <a:ext cx="1603375" cy="606425"/>
        </p:xfrm>
        <a:graphic>
          <a:graphicData uri="http://schemas.openxmlformats.org/presentationml/2006/ole">
            <p:oleObj spid="_x0000_s72775" name="公式" r:id="rId15" imgW="875920" imgH="444307" progId="Equation.3">
              <p:embed/>
            </p:oleObj>
          </a:graphicData>
        </a:graphic>
      </p:graphicFrame>
    </p:spTree>
  </p:cSld>
  <p:clrMapOvr>
    <a:masterClrMapping/>
  </p:clrMapOvr>
  <p:timing>
    <p:tnLst>
      <p:par>
        <p:cTn id="1" dur="indefinite" restart="never" nodeType="tmRoot">
          <p:childTnLst>
            <p:seq concurrent="1" nextAc="seek">
              <p:cTn id="2" dur="indefinite" nodeType="mainSeq">
                <p:childTnLst>
                  <p:par>
                    <p:cTn id="3" fill="hold" nodeType="clickPar">
                      <p:stCondLst>
                        <p:cond delay="indefinite"/>
                      </p:stCondLst>
                      <p:childTnLst>
                        <p:par>
                          <p:cTn id="4" fill="hold" nodeType="withGroup">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44738"/>
                                        </p:tgtEl>
                                        <p:attrNameLst>
                                          <p:attrName>style.visibility</p:attrName>
                                        </p:attrNameLst>
                                      </p:cBhvr>
                                      <p:to>
                                        <p:strVal val="visible"/>
                                      </p:to>
                                    </p:set>
                                    <p:animEffect transition="in" filter="wipe(left)">
                                      <p:cBhvr>
                                        <p:cTn id="7" dur="500"/>
                                        <p:tgtEl>
                                          <p:spTgt spid="244738"/>
                                        </p:tgtEl>
                                      </p:cBhvr>
                                    </p:animEffect>
                                  </p:childTnLst>
                                </p:cTn>
                              </p:par>
                            </p:childTnLst>
                          </p:cTn>
                        </p:par>
                      </p:childTnLst>
                    </p:cTn>
                  </p:par>
                  <p:par>
                    <p:cTn id="8" fill="hold" nodeType="clickPar">
                      <p:stCondLst>
                        <p:cond delay="indefinite"/>
                      </p:stCondLst>
                      <p:childTnLst>
                        <p:par>
                          <p:cTn id="9" fill="hold" nodeType="withGroup">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244739"/>
                                        </p:tgtEl>
                                        <p:attrNameLst>
                                          <p:attrName>style.visibility</p:attrName>
                                        </p:attrNameLst>
                                      </p:cBhvr>
                                      <p:to>
                                        <p:strVal val="visible"/>
                                      </p:to>
                                    </p:set>
                                    <p:animEffect transition="in" filter="wipe(left)">
                                      <p:cBhvr>
                                        <p:cTn id="12" dur="500"/>
                                        <p:tgtEl>
                                          <p:spTgt spid="244739"/>
                                        </p:tgtEl>
                                      </p:cBhvr>
                                    </p:animEffect>
                                  </p:childTnLst>
                                </p:cTn>
                              </p:par>
                            </p:childTnLst>
                          </p:cTn>
                        </p:par>
                      </p:childTnLst>
                    </p:cTn>
                  </p:par>
                  <p:par>
                    <p:cTn id="13" fill="hold" nodeType="clickPar">
                      <p:stCondLst>
                        <p:cond delay="indefinite"/>
                      </p:stCondLst>
                      <p:childTnLst>
                        <p:par>
                          <p:cTn id="14" fill="hold" nodeType="withGroup">
                            <p:stCondLst>
                              <p:cond delay="0"/>
                            </p:stCondLst>
                            <p:childTnLst>
                              <p:par>
                                <p:cTn id="15" presetID="22" presetClass="entr" presetSubtype="8" fill="hold" nodeType="clickEffect">
                                  <p:stCondLst>
                                    <p:cond delay="0"/>
                                  </p:stCondLst>
                                  <p:childTnLst>
                                    <p:set>
                                      <p:cBhvr>
                                        <p:cTn id="16" dur="1" fill="hold">
                                          <p:stCondLst>
                                            <p:cond delay="0"/>
                                          </p:stCondLst>
                                        </p:cTn>
                                        <p:tgtEl>
                                          <p:spTgt spid="5"/>
                                        </p:tgtEl>
                                        <p:attrNameLst>
                                          <p:attrName>style.visibility</p:attrName>
                                        </p:attrNameLst>
                                      </p:cBhvr>
                                      <p:to>
                                        <p:strVal val="visible"/>
                                      </p:to>
                                    </p:set>
                                    <p:animEffect transition="in" filter="wipe(left)">
                                      <p:cBhvr>
                                        <p:cTn id="17" dur="500"/>
                                        <p:tgtEl>
                                          <p:spTgt spid="5"/>
                                        </p:tgtEl>
                                      </p:cBhvr>
                                    </p:animEffect>
                                  </p:childTnLst>
                                </p:cTn>
                              </p:par>
                            </p:childTnLst>
                          </p:cTn>
                        </p:par>
                      </p:childTnLst>
                    </p:cTn>
                  </p:par>
                  <p:par>
                    <p:cTn id="18" fill="hold" nodeType="clickPar">
                      <p:stCondLst>
                        <p:cond delay="indefinite"/>
                      </p:stCondLst>
                      <p:childTnLst>
                        <p:par>
                          <p:cTn id="19" fill="hold" nodeType="withGroup">
                            <p:stCondLst>
                              <p:cond delay="0"/>
                            </p:stCondLst>
                            <p:childTnLst>
                              <p:par>
                                <p:cTn id="20" presetID="22" presetClass="entr" presetSubtype="8" fill="hold" nodeType="clickEffect">
                                  <p:stCondLst>
                                    <p:cond delay="0"/>
                                  </p:stCondLst>
                                  <p:childTnLst>
                                    <p:set>
                                      <p:cBhvr>
                                        <p:cTn id="21" dur="1" fill="hold">
                                          <p:stCondLst>
                                            <p:cond delay="0"/>
                                          </p:stCondLst>
                                        </p:cTn>
                                        <p:tgtEl>
                                          <p:spTgt spid="6"/>
                                        </p:tgtEl>
                                        <p:attrNameLst>
                                          <p:attrName>style.visibility</p:attrName>
                                        </p:attrNameLst>
                                      </p:cBhvr>
                                      <p:to>
                                        <p:strVal val="visible"/>
                                      </p:to>
                                    </p:set>
                                    <p:animEffect transition="in" filter="wipe(left)">
                                      <p:cBhvr>
                                        <p:cTn id="22" dur="500"/>
                                        <p:tgtEl>
                                          <p:spTgt spid="6"/>
                                        </p:tgtEl>
                                      </p:cBhvr>
                                    </p:animEffect>
                                  </p:childTnLst>
                                </p:cTn>
                              </p:par>
                            </p:childTnLst>
                          </p:cTn>
                        </p:par>
                      </p:childTnLst>
                    </p:cTn>
                  </p:par>
                  <p:par>
                    <p:cTn id="23" fill="hold" nodeType="clickPar">
                      <p:stCondLst>
                        <p:cond delay="indefinite"/>
                      </p:stCondLst>
                      <p:childTnLst>
                        <p:par>
                          <p:cTn id="24" fill="hold" nodeType="withGroup">
                            <p:stCondLst>
                              <p:cond delay="0"/>
                            </p:stCondLst>
                            <p:childTnLst>
                              <p:par>
                                <p:cTn id="25" presetID="22" presetClass="entr" presetSubtype="8" fill="hold" nodeType="clickEffect">
                                  <p:stCondLst>
                                    <p:cond delay="0"/>
                                  </p:stCondLst>
                                  <p:childTnLst>
                                    <p:set>
                                      <p:cBhvr>
                                        <p:cTn id="26" dur="1" fill="hold">
                                          <p:stCondLst>
                                            <p:cond delay="0"/>
                                          </p:stCondLst>
                                        </p:cTn>
                                        <p:tgtEl>
                                          <p:spTgt spid="7"/>
                                        </p:tgtEl>
                                        <p:attrNameLst>
                                          <p:attrName>style.visibility</p:attrName>
                                        </p:attrNameLst>
                                      </p:cBhvr>
                                      <p:to>
                                        <p:strVal val="visible"/>
                                      </p:to>
                                    </p:set>
                                    <p:animEffect transition="in" filter="wipe(left)">
                                      <p:cBhvr>
                                        <p:cTn id="27" dur="500"/>
                                        <p:tgtEl>
                                          <p:spTgt spid="7"/>
                                        </p:tgtEl>
                                      </p:cBhvr>
                                    </p:animEffect>
                                  </p:childTnLst>
                                </p:cTn>
                              </p:par>
                            </p:childTnLst>
                          </p:cTn>
                        </p:par>
                      </p:childTnLst>
                    </p:cTn>
                  </p:par>
                  <p:par>
                    <p:cTn id="28" fill="hold" nodeType="clickPar">
                      <p:stCondLst>
                        <p:cond delay="indefinite"/>
                      </p:stCondLst>
                      <p:childTnLst>
                        <p:par>
                          <p:cTn id="29" fill="hold" nodeType="withGroup">
                            <p:stCondLst>
                              <p:cond delay="0"/>
                            </p:stCondLst>
                            <p:childTnLst>
                              <p:par>
                                <p:cTn id="30" presetID="22" presetClass="entr" presetSubtype="8" fill="hold" grpId="0" nodeType="clickEffect">
                                  <p:stCondLst>
                                    <p:cond delay="0"/>
                                  </p:stCondLst>
                                  <p:childTnLst>
                                    <p:set>
                                      <p:cBhvr>
                                        <p:cTn id="31" dur="1" fill="hold">
                                          <p:stCondLst>
                                            <p:cond delay="0"/>
                                          </p:stCondLst>
                                        </p:cTn>
                                        <p:tgtEl>
                                          <p:spTgt spid="19"/>
                                        </p:tgtEl>
                                        <p:attrNameLst>
                                          <p:attrName>style.visibility</p:attrName>
                                        </p:attrNameLst>
                                      </p:cBhvr>
                                      <p:to>
                                        <p:strVal val="visible"/>
                                      </p:to>
                                    </p:set>
                                    <p:animEffect transition="in" filter="wipe(left)">
                                      <p:cBhvr>
                                        <p:cTn id="32" dur="500"/>
                                        <p:tgtEl>
                                          <p:spTgt spid="19"/>
                                        </p:tgtEl>
                                      </p:cBhvr>
                                    </p:animEffect>
                                  </p:childTnLst>
                                </p:cTn>
                              </p:par>
                            </p:childTnLst>
                          </p:cTn>
                        </p:par>
                      </p:childTnLst>
                    </p:cTn>
                  </p:par>
                  <p:par>
                    <p:cTn id="33" fill="hold" nodeType="clickPar">
                      <p:stCondLst>
                        <p:cond delay="indefinite"/>
                      </p:stCondLst>
                      <p:childTnLst>
                        <p:par>
                          <p:cTn id="34" fill="hold" nodeType="withGroup">
                            <p:stCondLst>
                              <p:cond delay="0"/>
                            </p:stCondLst>
                            <p:childTnLst>
                              <p:par>
                                <p:cTn id="35" presetID="22" presetClass="entr" presetSubtype="8" fill="hold" nodeType="clickEffect">
                                  <p:stCondLst>
                                    <p:cond delay="0"/>
                                  </p:stCondLst>
                                  <p:childTnLst>
                                    <p:set>
                                      <p:cBhvr>
                                        <p:cTn id="36" dur="1" fill="hold">
                                          <p:stCondLst>
                                            <p:cond delay="0"/>
                                          </p:stCondLst>
                                        </p:cTn>
                                        <p:tgtEl>
                                          <p:spTgt spid="21"/>
                                        </p:tgtEl>
                                        <p:attrNameLst>
                                          <p:attrName>style.visibility</p:attrName>
                                        </p:attrNameLst>
                                      </p:cBhvr>
                                      <p:to>
                                        <p:strVal val="visible"/>
                                      </p:to>
                                    </p:set>
                                    <p:animEffect transition="in" filter="wipe(left)">
                                      <p:cBhvr>
                                        <p:cTn id="37" dur="500"/>
                                        <p:tgtEl>
                                          <p:spTgt spid="21"/>
                                        </p:tgtEl>
                                      </p:cBhvr>
                                    </p:animEffect>
                                  </p:childTnLst>
                                </p:cTn>
                              </p:par>
                            </p:childTnLst>
                          </p:cTn>
                        </p:par>
                      </p:childTnLst>
                    </p:cTn>
                  </p:par>
                  <p:par>
                    <p:cTn id="38" fill="hold" nodeType="clickPar">
                      <p:stCondLst>
                        <p:cond delay="indefinite"/>
                      </p:stCondLst>
                      <p:childTnLst>
                        <p:par>
                          <p:cTn id="39" fill="hold" nodeType="withGroup">
                            <p:stCondLst>
                              <p:cond delay="0"/>
                            </p:stCondLst>
                            <p:childTnLst>
                              <p:par>
                                <p:cTn id="40" presetID="22" presetClass="entr" presetSubtype="8" fill="hold" nodeType="clickEffect">
                                  <p:stCondLst>
                                    <p:cond delay="0"/>
                                  </p:stCondLst>
                                  <p:childTnLst>
                                    <p:set>
                                      <p:cBhvr>
                                        <p:cTn id="41" dur="1" fill="hold">
                                          <p:stCondLst>
                                            <p:cond delay="0"/>
                                          </p:stCondLst>
                                        </p:cTn>
                                        <p:tgtEl>
                                          <p:spTgt spid="22"/>
                                        </p:tgtEl>
                                        <p:attrNameLst>
                                          <p:attrName>style.visibility</p:attrName>
                                        </p:attrNameLst>
                                      </p:cBhvr>
                                      <p:to>
                                        <p:strVal val="visible"/>
                                      </p:to>
                                    </p:set>
                                    <p:animEffect transition="in" filter="wipe(left)">
                                      <p:cBhvr>
                                        <p:cTn id="42" dur="500"/>
                                        <p:tgtEl>
                                          <p:spTgt spid="22"/>
                                        </p:tgtEl>
                                      </p:cBhvr>
                                    </p:animEffect>
                                  </p:childTnLst>
                                </p:cTn>
                              </p:par>
                            </p:childTnLst>
                          </p:cTn>
                        </p:par>
                      </p:childTnLst>
                    </p:cTn>
                  </p:par>
                  <p:par>
                    <p:cTn id="43" fill="hold" nodeType="clickPar">
                      <p:stCondLst>
                        <p:cond delay="indefinite"/>
                      </p:stCondLst>
                      <p:childTnLst>
                        <p:par>
                          <p:cTn id="44" fill="hold" nodeType="withGroup">
                            <p:stCondLst>
                              <p:cond delay="0"/>
                            </p:stCondLst>
                            <p:childTnLst>
                              <p:par>
                                <p:cTn id="45" presetID="22" presetClass="entr" presetSubtype="8" fill="hold" nodeType="clickEffect">
                                  <p:stCondLst>
                                    <p:cond delay="0"/>
                                  </p:stCondLst>
                                  <p:childTnLst>
                                    <p:set>
                                      <p:cBhvr>
                                        <p:cTn id="46" dur="1" fill="hold">
                                          <p:stCondLst>
                                            <p:cond delay="0"/>
                                          </p:stCondLst>
                                        </p:cTn>
                                        <p:tgtEl>
                                          <p:spTgt spid="25"/>
                                        </p:tgtEl>
                                        <p:attrNameLst>
                                          <p:attrName>style.visibility</p:attrName>
                                        </p:attrNameLst>
                                      </p:cBhvr>
                                      <p:to>
                                        <p:strVal val="visible"/>
                                      </p:to>
                                    </p:set>
                                    <p:animEffect transition="in" filter="wipe(left)">
                                      <p:cBhvr>
                                        <p:cTn id="47" dur="500"/>
                                        <p:tgtEl>
                                          <p:spTgt spid="25"/>
                                        </p:tgtEl>
                                      </p:cBhvr>
                                    </p:animEffect>
                                  </p:childTnLst>
                                </p:cTn>
                              </p:par>
                            </p:childTnLst>
                          </p:cTn>
                        </p:par>
                      </p:childTnLst>
                    </p:cTn>
                  </p:par>
                  <p:par>
                    <p:cTn id="48" fill="hold" nodeType="clickPar">
                      <p:stCondLst>
                        <p:cond delay="indefinite"/>
                      </p:stCondLst>
                      <p:childTnLst>
                        <p:par>
                          <p:cTn id="49" fill="hold" nodeType="withGroup">
                            <p:stCondLst>
                              <p:cond delay="0"/>
                            </p:stCondLst>
                            <p:childTnLst>
                              <p:par>
                                <p:cTn id="50" presetID="22" presetClass="entr" presetSubtype="8" fill="hold" nodeType="clickEffect">
                                  <p:stCondLst>
                                    <p:cond delay="0"/>
                                  </p:stCondLst>
                                  <p:childTnLst>
                                    <p:set>
                                      <p:cBhvr>
                                        <p:cTn id="51" dur="1" fill="hold">
                                          <p:stCondLst>
                                            <p:cond delay="0"/>
                                          </p:stCondLst>
                                        </p:cTn>
                                        <p:tgtEl>
                                          <p:spTgt spid="26"/>
                                        </p:tgtEl>
                                        <p:attrNameLst>
                                          <p:attrName>style.visibility</p:attrName>
                                        </p:attrNameLst>
                                      </p:cBhvr>
                                      <p:to>
                                        <p:strVal val="visible"/>
                                      </p:to>
                                    </p:set>
                                    <p:animEffect transition="in" filter="wipe(left)">
                                      <p:cBhvr>
                                        <p:cTn id="52" dur="500"/>
                                        <p:tgtEl>
                                          <p:spTgt spid="26"/>
                                        </p:tgtEl>
                                      </p:cBhvr>
                                    </p:animEffect>
                                  </p:childTnLst>
                                </p:cTn>
                              </p:par>
                            </p:childTnLst>
                          </p:cTn>
                        </p:par>
                      </p:childTnLst>
                    </p:cTn>
                  </p:par>
                  <p:par>
                    <p:cTn id="53" fill="hold" nodeType="clickPar">
                      <p:stCondLst>
                        <p:cond delay="indefinite"/>
                      </p:stCondLst>
                      <p:childTnLst>
                        <p:par>
                          <p:cTn id="54" fill="hold" nodeType="withGroup">
                            <p:stCondLst>
                              <p:cond delay="0"/>
                            </p:stCondLst>
                            <p:childTnLst>
                              <p:par>
                                <p:cTn id="55" presetID="22" presetClass="entr" presetSubtype="8" fill="hold" nodeType="clickEffect">
                                  <p:stCondLst>
                                    <p:cond delay="0"/>
                                  </p:stCondLst>
                                  <p:childTnLst>
                                    <p:set>
                                      <p:cBhvr>
                                        <p:cTn id="56" dur="1" fill="hold">
                                          <p:stCondLst>
                                            <p:cond delay="0"/>
                                          </p:stCondLst>
                                        </p:cTn>
                                        <p:tgtEl>
                                          <p:spTgt spid="27"/>
                                        </p:tgtEl>
                                        <p:attrNameLst>
                                          <p:attrName>style.visibility</p:attrName>
                                        </p:attrNameLst>
                                      </p:cBhvr>
                                      <p:to>
                                        <p:strVal val="visible"/>
                                      </p:to>
                                    </p:set>
                                    <p:animEffect transition="in" filter="wipe(left)">
                                      <p:cBhvr>
                                        <p:cTn id="57" dur="500"/>
                                        <p:tgtEl>
                                          <p:spTgt spid="27"/>
                                        </p:tgtEl>
                                      </p:cBhvr>
                                    </p:animEffect>
                                  </p:childTnLst>
                                </p:cTn>
                              </p:par>
                            </p:childTnLst>
                          </p:cTn>
                        </p:par>
                      </p:childTnLst>
                    </p:cTn>
                  </p:par>
                  <p:par>
                    <p:cTn id="58" fill="hold" nodeType="clickPar">
                      <p:stCondLst>
                        <p:cond delay="indefinite"/>
                      </p:stCondLst>
                      <p:childTnLst>
                        <p:par>
                          <p:cTn id="59" fill="hold" nodeType="withGroup">
                            <p:stCondLst>
                              <p:cond delay="0"/>
                            </p:stCondLst>
                            <p:childTnLst>
                              <p:par>
                                <p:cTn id="60" presetID="22" presetClass="entr" presetSubtype="8" fill="hold" grpId="0" nodeType="clickEffect">
                                  <p:stCondLst>
                                    <p:cond delay="0"/>
                                  </p:stCondLst>
                                  <p:childTnLst>
                                    <p:set>
                                      <p:cBhvr>
                                        <p:cTn id="61" dur="1" fill="hold">
                                          <p:stCondLst>
                                            <p:cond delay="0"/>
                                          </p:stCondLst>
                                        </p:cTn>
                                        <p:tgtEl>
                                          <p:spTgt spid="29"/>
                                        </p:tgtEl>
                                        <p:attrNameLst>
                                          <p:attrName>style.visibility</p:attrName>
                                        </p:attrNameLst>
                                      </p:cBhvr>
                                      <p:to>
                                        <p:strVal val="visible"/>
                                      </p:to>
                                    </p:set>
                                    <p:animEffect transition="in" filter="wipe(left)">
                                      <p:cBhvr>
                                        <p:cTn id="62" dur="500"/>
                                        <p:tgtEl>
                                          <p:spTgt spid="29"/>
                                        </p:tgtEl>
                                      </p:cBhvr>
                                    </p:animEffect>
                                  </p:childTnLst>
                                </p:cTn>
                              </p:par>
                            </p:childTnLst>
                          </p:cTn>
                        </p:par>
                      </p:childTnLst>
                    </p:cTn>
                  </p:par>
                  <p:par>
                    <p:cTn id="63" fill="hold" nodeType="clickPar">
                      <p:stCondLst>
                        <p:cond delay="indefinite"/>
                      </p:stCondLst>
                      <p:childTnLst>
                        <p:par>
                          <p:cTn id="64" fill="hold" nodeType="withGroup">
                            <p:stCondLst>
                              <p:cond delay="0"/>
                            </p:stCondLst>
                            <p:childTnLst>
                              <p:par>
                                <p:cTn id="65" presetID="22" presetClass="entr" presetSubtype="8" fill="hold" nodeType="clickEffect">
                                  <p:stCondLst>
                                    <p:cond delay="0"/>
                                  </p:stCondLst>
                                  <p:childTnLst>
                                    <p:set>
                                      <p:cBhvr>
                                        <p:cTn id="66" dur="1" fill="hold">
                                          <p:stCondLst>
                                            <p:cond delay="0"/>
                                          </p:stCondLst>
                                        </p:cTn>
                                        <p:tgtEl>
                                          <p:spTgt spid="30"/>
                                        </p:tgtEl>
                                        <p:attrNameLst>
                                          <p:attrName>style.visibility</p:attrName>
                                        </p:attrNameLst>
                                      </p:cBhvr>
                                      <p:to>
                                        <p:strVal val="visible"/>
                                      </p:to>
                                    </p:set>
                                    <p:animEffect transition="in" filter="wipe(left)">
                                      <p:cBhvr>
                                        <p:cTn id="67" dur="500"/>
                                        <p:tgtEl>
                                          <p:spTgt spid="30"/>
                                        </p:tgtEl>
                                      </p:cBhvr>
                                    </p:animEffect>
                                  </p:childTnLst>
                                </p:cTn>
                              </p:par>
                            </p:childTnLst>
                          </p:cTn>
                        </p:par>
                      </p:childTnLst>
                    </p:cTn>
                  </p:par>
                  <p:par>
                    <p:cTn id="68" fill="hold" nodeType="clickPar">
                      <p:stCondLst>
                        <p:cond delay="indefinite"/>
                      </p:stCondLst>
                      <p:childTnLst>
                        <p:par>
                          <p:cTn id="69" fill="hold" nodeType="withGroup">
                            <p:stCondLst>
                              <p:cond delay="0"/>
                            </p:stCondLst>
                            <p:childTnLst>
                              <p:par>
                                <p:cTn id="70" presetID="22" presetClass="entr" presetSubtype="8" fill="hold" nodeType="clickEffect">
                                  <p:stCondLst>
                                    <p:cond delay="0"/>
                                  </p:stCondLst>
                                  <p:childTnLst>
                                    <p:set>
                                      <p:cBhvr>
                                        <p:cTn id="71" dur="1" fill="hold">
                                          <p:stCondLst>
                                            <p:cond delay="0"/>
                                          </p:stCondLst>
                                        </p:cTn>
                                        <p:tgtEl>
                                          <p:spTgt spid="31"/>
                                        </p:tgtEl>
                                        <p:attrNameLst>
                                          <p:attrName>style.visibility</p:attrName>
                                        </p:attrNameLst>
                                      </p:cBhvr>
                                      <p:to>
                                        <p:strVal val="visible"/>
                                      </p:to>
                                    </p:set>
                                    <p:animEffect transition="in" filter="wipe(left)">
                                      <p:cBhvr>
                                        <p:cTn id="72" dur="500"/>
                                        <p:tgtEl>
                                          <p:spTgt spid="31"/>
                                        </p:tgtEl>
                                      </p:cBhvr>
                                    </p:animEffect>
                                  </p:childTnLst>
                                </p:cTn>
                              </p:par>
                            </p:childTnLst>
                          </p:cTn>
                        </p:par>
                      </p:childTnLst>
                    </p:cTn>
                  </p:par>
                  <p:par>
                    <p:cTn id="73" fill="hold" nodeType="clickPar">
                      <p:stCondLst>
                        <p:cond delay="indefinite"/>
                      </p:stCondLst>
                      <p:childTnLst>
                        <p:par>
                          <p:cTn id="74" fill="hold" nodeType="withGroup">
                            <p:stCondLst>
                              <p:cond delay="0"/>
                            </p:stCondLst>
                            <p:childTnLst>
                              <p:par>
                                <p:cTn id="75" presetID="22" presetClass="entr" presetSubtype="8" fill="hold" nodeType="clickEffect">
                                  <p:stCondLst>
                                    <p:cond delay="0"/>
                                  </p:stCondLst>
                                  <p:childTnLst>
                                    <p:set>
                                      <p:cBhvr>
                                        <p:cTn id="76" dur="1" fill="hold">
                                          <p:stCondLst>
                                            <p:cond delay="0"/>
                                          </p:stCondLst>
                                        </p:cTn>
                                        <p:tgtEl>
                                          <p:spTgt spid="32"/>
                                        </p:tgtEl>
                                        <p:attrNameLst>
                                          <p:attrName>style.visibility</p:attrName>
                                        </p:attrNameLst>
                                      </p:cBhvr>
                                      <p:to>
                                        <p:strVal val="visible"/>
                                      </p:to>
                                    </p:set>
                                    <p:animEffect transition="in" filter="wipe(left)">
                                      <p:cBhvr>
                                        <p:cTn id="77" dur="500"/>
                                        <p:tgtEl>
                                          <p:spTgt spid="32"/>
                                        </p:tgtEl>
                                      </p:cBhvr>
                                    </p:animEffect>
                                  </p:childTnLst>
                                </p:cTn>
                              </p:par>
                            </p:childTnLst>
                          </p:cTn>
                        </p:par>
                      </p:childTnLst>
                    </p:cTn>
                  </p:par>
                  <p:par>
                    <p:cTn id="78" fill="hold" nodeType="clickPar">
                      <p:stCondLst>
                        <p:cond delay="indefinite"/>
                      </p:stCondLst>
                      <p:childTnLst>
                        <p:par>
                          <p:cTn id="79" fill="hold" nodeType="withGroup">
                            <p:stCondLst>
                              <p:cond delay="0"/>
                            </p:stCondLst>
                            <p:childTnLst>
                              <p:par>
                                <p:cTn id="80" presetID="22" presetClass="entr" presetSubtype="8" fill="hold" grpId="0" nodeType="clickEffect">
                                  <p:stCondLst>
                                    <p:cond delay="0"/>
                                  </p:stCondLst>
                                  <p:childTnLst>
                                    <p:set>
                                      <p:cBhvr>
                                        <p:cTn id="81" dur="1" fill="hold">
                                          <p:stCondLst>
                                            <p:cond delay="0"/>
                                          </p:stCondLst>
                                        </p:cTn>
                                        <p:tgtEl>
                                          <p:spTgt spid="16"/>
                                        </p:tgtEl>
                                        <p:attrNameLst>
                                          <p:attrName>style.visibility</p:attrName>
                                        </p:attrNameLst>
                                      </p:cBhvr>
                                      <p:to>
                                        <p:strVal val="visible"/>
                                      </p:to>
                                    </p:set>
                                    <p:animEffect transition="in" filter="wipe(left)">
                                      <p:cBhvr>
                                        <p:cTn id="82" dur="500"/>
                                        <p:tgtEl>
                                          <p:spTgt spid="16"/>
                                        </p:tgtEl>
                                      </p:cBhvr>
                                    </p:animEffect>
                                  </p:childTnLst>
                                </p:cTn>
                              </p:par>
                            </p:childTnLst>
                          </p:cTn>
                        </p:par>
                      </p:childTnLst>
                    </p:cTn>
                  </p:par>
                  <p:par>
                    <p:cTn id="83" fill="hold" nodeType="clickPar">
                      <p:stCondLst>
                        <p:cond delay="indefinite"/>
                      </p:stCondLst>
                      <p:childTnLst>
                        <p:par>
                          <p:cTn id="84" fill="hold" nodeType="withGroup">
                            <p:stCondLst>
                              <p:cond delay="0"/>
                            </p:stCondLst>
                            <p:childTnLst>
                              <p:par>
                                <p:cTn id="85" presetID="22" presetClass="entr" presetSubtype="8" fill="hold" nodeType="clickEffect">
                                  <p:stCondLst>
                                    <p:cond delay="0"/>
                                  </p:stCondLst>
                                  <p:childTnLst>
                                    <p:set>
                                      <p:cBhvr>
                                        <p:cTn id="86" dur="1" fill="hold">
                                          <p:stCondLst>
                                            <p:cond delay="0"/>
                                          </p:stCondLst>
                                        </p:cTn>
                                        <p:tgtEl>
                                          <p:spTgt spid="17"/>
                                        </p:tgtEl>
                                        <p:attrNameLst>
                                          <p:attrName>style.visibility</p:attrName>
                                        </p:attrNameLst>
                                      </p:cBhvr>
                                      <p:to>
                                        <p:strVal val="visible"/>
                                      </p:to>
                                    </p:set>
                                    <p:animEffect transition="in" filter="wipe(left)">
                                      <p:cBhvr>
                                        <p:cTn id="87" dur="500"/>
                                        <p:tgtEl>
                                          <p:spTgt spid="17"/>
                                        </p:tgtEl>
                                      </p:cBhvr>
                                    </p:animEffect>
                                  </p:childTnLst>
                                </p:cTn>
                              </p:par>
                            </p:childTnLst>
                          </p:cTn>
                        </p:par>
                      </p:childTnLst>
                    </p:cTn>
                  </p:par>
                  <p:par>
                    <p:cTn id="88" fill="hold" nodeType="clickPar">
                      <p:stCondLst>
                        <p:cond delay="indefinite"/>
                      </p:stCondLst>
                      <p:childTnLst>
                        <p:par>
                          <p:cTn id="89" fill="hold" nodeType="withGroup">
                            <p:stCondLst>
                              <p:cond delay="0"/>
                            </p:stCondLst>
                            <p:childTnLst>
                              <p:par>
                                <p:cTn id="90" presetID="22" presetClass="entr" presetSubtype="8" fill="hold" nodeType="clickEffect">
                                  <p:stCondLst>
                                    <p:cond delay="0"/>
                                  </p:stCondLst>
                                  <p:childTnLst>
                                    <p:set>
                                      <p:cBhvr>
                                        <p:cTn id="91" dur="1" fill="hold">
                                          <p:stCondLst>
                                            <p:cond delay="0"/>
                                          </p:stCondLst>
                                        </p:cTn>
                                        <p:tgtEl>
                                          <p:spTgt spid="18"/>
                                        </p:tgtEl>
                                        <p:attrNameLst>
                                          <p:attrName>style.visibility</p:attrName>
                                        </p:attrNameLst>
                                      </p:cBhvr>
                                      <p:to>
                                        <p:strVal val="visible"/>
                                      </p:to>
                                    </p:set>
                                    <p:animEffect transition="in" filter="wipe(left)">
                                      <p:cBhvr>
                                        <p:cTn id="92" dur="500"/>
                                        <p:tgtEl>
                                          <p:spTgt spid="1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44738" grpId="0" autoUpdateAnimBg="0"/>
      <p:bldP spid="244739" grpId="0" autoUpdateAnimBg="0"/>
      <p:bldP spid="19" grpId="0"/>
      <p:bldP spid="29" grpId="0" autoUpdateAnimBg="0"/>
      <p:bldP spid="16" grpId="0" autoUpdateAnimBg="0"/>
    </p:bldLst>
  </p:timing>
</p:sld>
</file>

<file path=ppt/theme/theme1.xml><?xml version="1.0" encoding="utf-8"?>
<a:theme xmlns:a="http://schemas.openxmlformats.org/drawingml/2006/main" name="1_自定义设计方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noFill/>
        <a:ln>
          <a:noFill/>
        </a:ln>
        <a:extLst>
          <a:ext uri="{909E8E84-426E-40DD-AFC4-6F175D3DCCD1}">
            <a14:hiddenFill xmlns:a14="http://schemas.microsoft.com/office/drawing/2010/main" xmlns="">
              <a:solidFill>
                <a:srgbClr val="FFFFFF"/>
              </a:solidFill>
            </a14:hiddenFill>
          </a:ext>
          <a:ext uri="{91240B29-F687-4F45-9708-019B960494DF}">
            <a14:hiddenLine xmlns:a14="http://schemas.microsoft.com/office/drawing/2010/main" xmlns="" w="9525">
              <a:solidFill>
                <a:srgbClr val="000000"/>
              </a:solidFill>
              <a:miter lim="800000"/>
              <a:headEnd/>
              <a:tailEnd/>
            </a14:hiddenLine>
          </a:ext>
        </a:extLst>
      </a:spPr>
      <a:bodyPr lIns="0" tIns="0" rIns="0" bIns="0">
        <a:spAutoFit/>
      </a:bodyPr>
      <a:lstStyle>
        <a:defPPr algn="ctr">
          <a:defRPr sz="1800" dirty="0">
            <a:solidFill>
              <a:srgbClr val="000000"/>
            </a:solidFill>
            <a:latin typeface="华文中宋" pitchFamily="2" charset="-122"/>
            <a:ea typeface="华文中宋" pitchFamily="2" charset="-122"/>
          </a:defRPr>
        </a:defPPr>
      </a:lstStyle>
    </a:spDef>
  </a:objectDefaults>
  <a:extraClrSchemeLst/>
  <a:extLst>
    <a:ext uri="{05A4C25C-085E-4340-85A3-A5531E510DB2}">
      <thm15:themeFamily xmlns=""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14617</TotalTime>
  <Words>6460</Words>
  <Application>Microsoft Office PowerPoint</Application>
  <PresentationFormat>全屏显示(16:9)</PresentationFormat>
  <Paragraphs>500</Paragraphs>
  <Slides>59</Slides>
  <Notes>0</Notes>
  <HiddenSlides>0</HiddenSlides>
  <MMClips>0</MMClips>
  <ScaleCrop>false</ScaleCrop>
  <HeadingPairs>
    <vt:vector size="6" baseType="variant">
      <vt:variant>
        <vt:lpstr>主题</vt:lpstr>
      </vt:variant>
      <vt:variant>
        <vt:i4>1</vt:i4>
      </vt:variant>
      <vt:variant>
        <vt:lpstr>嵌入 OLE 服务器</vt:lpstr>
      </vt:variant>
      <vt:variant>
        <vt:i4>2</vt:i4>
      </vt:variant>
      <vt:variant>
        <vt:lpstr>幻灯片标题</vt:lpstr>
      </vt:variant>
      <vt:variant>
        <vt:i4>59</vt:i4>
      </vt:variant>
    </vt:vector>
  </HeadingPairs>
  <TitlesOfParts>
    <vt:vector size="62" baseType="lpstr">
      <vt:lpstr>1_自定义设计方案</vt:lpstr>
      <vt:lpstr>Equation</vt:lpstr>
      <vt:lpstr>公式</vt:lpstr>
      <vt:lpstr>幻灯片 1</vt:lpstr>
      <vt:lpstr>幻灯片 2</vt:lpstr>
      <vt:lpstr>幻灯片 3</vt:lpstr>
      <vt:lpstr>幻灯片 4</vt:lpstr>
      <vt:lpstr>幻灯片 5</vt:lpstr>
      <vt:lpstr>幻灯片 6</vt:lpstr>
      <vt:lpstr>幻灯片 7</vt:lpstr>
      <vt:lpstr>幻灯片 8</vt:lpstr>
      <vt:lpstr>幻灯片 9</vt:lpstr>
      <vt:lpstr>幻灯片 10</vt:lpstr>
      <vt:lpstr>幻灯片 11</vt:lpstr>
      <vt:lpstr>幻灯片 12</vt:lpstr>
      <vt:lpstr>幻灯片 13</vt:lpstr>
      <vt:lpstr>幻灯片 14</vt:lpstr>
      <vt:lpstr>幻灯片 15</vt:lpstr>
      <vt:lpstr>幻灯片 16</vt:lpstr>
      <vt:lpstr>幻灯片 17</vt:lpstr>
      <vt:lpstr>幻灯片 18</vt:lpstr>
      <vt:lpstr>幻灯片 19</vt:lpstr>
      <vt:lpstr>幻灯片 20</vt:lpstr>
      <vt:lpstr>幻灯片 21</vt:lpstr>
      <vt:lpstr>幻灯片 22</vt:lpstr>
      <vt:lpstr>幻灯片 23</vt:lpstr>
      <vt:lpstr>幻灯片 24</vt:lpstr>
      <vt:lpstr>幻灯片 25</vt:lpstr>
      <vt:lpstr>幻灯片 26</vt:lpstr>
      <vt:lpstr>幻灯片 27</vt:lpstr>
      <vt:lpstr>幻灯片 28</vt:lpstr>
      <vt:lpstr>幻灯片 29</vt:lpstr>
      <vt:lpstr>幻灯片 30</vt:lpstr>
      <vt:lpstr>幻灯片 31</vt:lpstr>
      <vt:lpstr>幻灯片 32</vt:lpstr>
      <vt:lpstr>幻灯片 33</vt:lpstr>
      <vt:lpstr>幻灯片 34</vt:lpstr>
      <vt:lpstr>幻灯片 35</vt:lpstr>
      <vt:lpstr>幻灯片 36</vt:lpstr>
      <vt:lpstr>幻灯片 37</vt:lpstr>
      <vt:lpstr>幻灯片 38</vt:lpstr>
      <vt:lpstr>幻灯片 39</vt:lpstr>
      <vt:lpstr>幻灯片 40</vt:lpstr>
      <vt:lpstr>幻灯片 41</vt:lpstr>
      <vt:lpstr>幻灯片 42</vt:lpstr>
      <vt:lpstr>幻灯片 43</vt:lpstr>
      <vt:lpstr>幻灯片 44</vt:lpstr>
      <vt:lpstr>幻灯片 45</vt:lpstr>
      <vt:lpstr>幻灯片 46</vt:lpstr>
      <vt:lpstr>幻灯片 47</vt:lpstr>
      <vt:lpstr>幻灯片 48</vt:lpstr>
      <vt:lpstr>幻灯片 49</vt:lpstr>
      <vt:lpstr>幻灯片 50</vt:lpstr>
      <vt:lpstr>幻灯片 51</vt:lpstr>
      <vt:lpstr>幻灯片 52</vt:lpstr>
      <vt:lpstr>幻灯片 53</vt:lpstr>
      <vt:lpstr>幻灯片 54</vt:lpstr>
      <vt:lpstr>幻灯片 55</vt:lpstr>
      <vt:lpstr>幻灯片 56</vt:lpstr>
      <vt:lpstr>幻灯片 57</vt:lpstr>
      <vt:lpstr>幻灯片 58</vt:lpstr>
      <vt:lpstr>幻灯片 59</vt:lpstr>
    </vt:vector>
  </TitlesOfParts>
  <Company>fxn</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演示文稿</dc:title>
  <dc:creator>Alex</dc:creator>
  <cp:lastModifiedBy>Administrator</cp:lastModifiedBy>
  <cp:revision>331</cp:revision>
  <dcterms:created xsi:type="dcterms:W3CDTF">2002-04-19T13:42:26Z</dcterms:created>
  <dcterms:modified xsi:type="dcterms:W3CDTF">2020-05-20T02:24:47Z</dcterms:modified>
</cp:coreProperties>
</file>