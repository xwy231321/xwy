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21"/>
  </p:notesMasterIdLst>
  <p:sldIdLst>
    <p:sldId id="506" r:id="rId3"/>
    <p:sldId id="753" r:id="rId4"/>
    <p:sldId id="278" r:id="rId5"/>
    <p:sldId id="310" r:id="rId6"/>
    <p:sldId id="279" r:id="rId7"/>
    <p:sldId id="280" r:id="rId8"/>
    <p:sldId id="311" r:id="rId9"/>
    <p:sldId id="281" r:id="rId10"/>
    <p:sldId id="282" r:id="rId11"/>
    <p:sldId id="761" r:id="rId12"/>
    <p:sldId id="283" r:id="rId13"/>
    <p:sldId id="312" r:id="rId14"/>
    <p:sldId id="284" r:id="rId15"/>
    <p:sldId id="285" r:id="rId16"/>
    <p:sldId id="286" r:id="rId17"/>
    <p:sldId id="287" r:id="rId18"/>
    <p:sldId id="760" r:id="rId19"/>
    <p:sldId id="617" r:id="rId20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1" autoAdjust="0"/>
  </p:normalViewPr>
  <p:slideViewPr>
    <p:cSldViewPr>
      <p:cViewPr varScale="1">
        <p:scale>
          <a:sx n="77" d="100"/>
          <a:sy n="77" d="100"/>
        </p:scale>
        <p:origin x="9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505FF7-E130-4293-9A3B-C36394E38DF8}" type="datetimeFigureOut">
              <a:rPr lang="zh-CN" altLang="en-US"/>
              <a:t>2024/5/13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3109E0-5DAF-4820-9E3E-6785A71E836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DB1F-B615-4FA4-9589-ECC4971F846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A24C9-AC68-4F6D-9FEA-E6C241625FF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D541F-F17C-46A4-B775-589380DB365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94494-B8BA-4446-8863-7AF2C18936A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8AEA-AFCC-4030-A601-349A0A5DC20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B275E-4F88-4EF4-889E-853FA6A135B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4528A-1906-409E-8994-8C3616DF783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9DE6-E6B8-45A2-A78D-F35CF4601FB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5A64C-451E-410D-AE22-6547DD6D52E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2127A-09F7-458D-BE1D-F730474DD69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F5BFA-77F0-4330-9546-213A7F5C86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750800" imgH="2324100" progId="">
                  <p:embed/>
                </p:oleObj>
              </mc:Choice>
              <mc:Fallback>
                <p:oleObj r:id="rId16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F54C75E0-2E59-4159-8858-67A1F145963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3.xml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wmf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19.bin"/><Relationship Id="rId39" Type="http://schemas.openxmlformats.org/officeDocument/2006/relationships/image" Target="../media/image28.wmf"/><Relationship Id="rId21" Type="http://schemas.openxmlformats.org/officeDocument/2006/relationships/image" Target="../media/image19.wmf"/><Relationship Id="rId34" Type="http://schemas.openxmlformats.org/officeDocument/2006/relationships/oleObject" Target="../embeddings/oleObject23.bin"/><Relationship Id="rId42" Type="http://schemas.openxmlformats.org/officeDocument/2006/relationships/oleObject" Target="../embeddings/oleObject27.bin"/><Relationship Id="rId7" Type="http://schemas.openxmlformats.org/officeDocument/2006/relationships/image" Target="../media/image12.wmf"/><Relationship Id="rId2" Type="http://schemas.openxmlformats.org/officeDocument/2006/relationships/oleObject" Target="../embeddings/oleObject7.bin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29" Type="http://schemas.openxmlformats.org/officeDocument/2006/relationships/image" Target="../media/image23.wmf"/><Relationship Id="rId41" Type="http://schemas.openxmlformats.org/officeDocument/2006/relationships/image" Target="../media/image29.w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4.wmf"/><Relationship Id="rId24" Type="http://schemas.openxmlformats.org/officeDocument/2006/relationships/oleObject" Target="../embeddings/oleObject18.bin"/><Relationship Id="rId32" Type="http://schemas.openxmlformats.org/officeDocument/2006/relationships/oleObject" Target="../embeddings/oleObject22.bin"/><Relationship Id="rId37" Type="http://schemas.openxmlformats.org/officeDocument/2006/relationships/image" Target="../media/image27.wmf"/><Relationship Id="rId40" Type="http://schemas.openxmlformats.org/officeDocument/2006/relationships/oleObject" Target="../embeddings/oleObject26.bin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23" Type="http://schemas.openxmlformats.org/officeDocument/2006/relationships/image" Target="../media/image20.wmf"/><Relationship Id="rId28" Type="http://schemas.openxmlformats.org/officeDocument/2006/relationships/oleObject" Target="../embeddings/oleObject20.bin"/><Relationship Id="rId36" Type="http://schemas.openxmlformats.org/officeDocument/2006/relationships/oleObject" Target="../embeddings/oleObject24.bin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8.wmf"/><Relationship Id="rId31" Type="http://schemas.openxmlformats.org/officeDocument/2006/relationships/image" Target="../media/image24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7.bin"/><Relationship Id="rId27" Type="http://schemas.openxmlformats.org/officeDocument/2006/relationships/image" Target="../media/image22.wmf"/><Relationship Id="rId30" Type="http://schemas.openxmlformats.org/officeDocument/2006/relationships/oleObject" Target="../embeddings/oleObject21.bin"/><Relationship Id="rId35" Type="http://schemas.openxmlformats.org/officeDocument/2006/relationships/image" Target="../media/image26.wmf"/><Relationship Id="rId43" Type="http://schemas.openxmlformats.org/officeDocument/2006/relationships/image" Target="../media/image30.wmf"/><Relationship Id="rId8" Type="http://schemas.openxmlformats.org/officeDocument/2006/relationships/oleObject" Target="../embeddings/oleObject10.bin"/><Relationship Id="rId3" Type="http://schemas.openxmlformats.org/officeDocument/2006/relationships/image" Target="../media/image10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7.wmf"/><Relationship Id="rId25" Type="http://schemas.openxmlformats.org/officeDocument/2006/relationships/image" Target="../media/image21.wmf"/><Relationship Id="rId33" Type="http://schemas.openxmlformats.org/officeDocument/2006/relationships/image" Target="../media/image25.wmf"/><Relationship Id="rId38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3.bin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42.bin"/><Relationship Id="rId3" Type="http://schemas.openxmlformats.org/officeDocument/2006/relationships/image" Target="../media/image37.emf"/><Relationship Id="rId21" Type="http://schemas.openxmlformats.org/officeDocument/2006/relationships/image" Target="../media/image38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28.wmf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29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40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61810" y="2997200"/>
            <a:ext cx="3420380" cy="863600"/>
          </a:xfrm>
        </p:spPr>
        <p:txBody>
          <a:bodyPr/>
          <a:lstStyle/>
          <a:p>
            <a:pPr eaLnBrk="1" hangingPunct="1"/>
            <a:r>
              <a:rPr lang="en-US" altLang="zh-CN" sz="4400" dirty="0">
                <a:latin typeface="Times New Roman" panose="02020603050405020304" pitchFamily="18" charset="0"/>
              </a:rPr>
              <a:t>6.4  </a:t>
            </a:r>
            <a:r>
              <a:rPr lang="zh-CN" altLang="en-US" sz="4400" dirty="0">
                <a:latin typeface="Times New Roman" panose="02020603050405020304" pitchFamily="18" charset="0"/>
              </a:rPr>
              <a:t>路与回路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7826" y="2819760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21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路（路径与轨迹）</a:t>
              </a:r>
              <a:endParaRPr kumimoji="0" lang="en-US" altLang="zh-CN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46238" y="3789040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21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回路（闭迹与圈）</a:t>
              </a:r>
              <a:endParaRPr kumimoji="0"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71745520-51F9-45EB-B748-E5DFDAB43AAE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3789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经常考虑从一个节点出发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沿着一些边连续移动到另一个节点的问题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这就是路的概念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(walk, way)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对于任意图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中节点与边交替出现的序列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是    到    的一条路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1981994" y="5057829"/>
          <a:ext cx="51800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185600" imgH="5486400" progId="Equation.DSMT4">
                  <p:embed/>
                </p:oleObj>
              </mc:Choice>
              <mc:Fallback>
                <p:oleObj name="Equation" r:id="rId2" imgW="37185600" imgH="548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994" y="5057829"/>
                        <a:ext cx="5180012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87622" y="5835678"/>
          <a:ext cx="360031" cy="540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57600" imgH="5486400" progId="Equation.DSMT4">
                  <p:embed/>
                </p:oleObj>
              </mc:Choice>
              <mc:Fallback>
                <p:oleObj name="Equation" r:id="rId4" imgW="3657600" imgH="54864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7622" y="5835678"/>
                        <a:ext cx="360031" cy="540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989138" y="5862638"/>
          <a:ext cx="3302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52800" imgH="5486400" progId="Equation.DSMT4">
                  <p:embed/>
                </p:oleObj>
              </mc:Choice>
              <mc:Fallback>
                <p:oleObj name="Equation" r:id="rId6" imgW="3352800" imgH="548640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89138" y="5862638"/>
                        <a:ext cx="330200" cy="541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D3E7BD3-73D8-4A60-AAD0-A6150B83CB23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76804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640638" cy="5184428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路的起点与终点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路的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长度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跳数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) 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平凡路：单独一个节点   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的长度为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需要注意的是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有向图中的路须按边的方向走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有向图中的路可称为有向路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860032" y="3095119"/>
          <a:ext cx="288032" cy="352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3352800" progId="Equation.DSMT4">
                  <p:embed/>
                </p:oleObj>
              </mc:Choice>
              <mc:Fallback>
                <p:oleObj name="Equation" r:id="rId2" imgW="2743200" imgH="33528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60032" y="3095119"/>
                        <a:ext cx="288032" cy="352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508104" y="3095120"/>
          <a:ext cx="288032" cy="352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3200" imgH="3352800" progId="Equation.DSMT4">
                  <p:embed/>
                </p:oleObj>
              </mc:Choice>
              <mc:Fallback>
                <p:oleObj name="Equation" r:id="rId4" imgW="2743200" imgH="33528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08104" y="3095120"/>
                        <a:ext cx="288032" cy="352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D3E7BD3-73D8-4A60-AAD0-A6150B83CB23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38914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5122800" y="1699196"/>
            <a:ext cx="2838506" cy="3967968"/>
            <a:chOff x="4582116" y="553240"/>
            <a:chExt cx="2838506" cy="3967968"/>
          </a:xfrm>
        </p:grpSpPr>
        <p:sp>
          <p:nvSpPr>
            <p:cNvPr id="38918" name="Oval 6"/>
            <p:cNvSpPr>
              <a:spLocks noChangeArrowheads="1"/>
            </p:cNvSpPr>
            <p:nvPr/>
          </p:nvSpPr>
          <p:spPr bwMode="auto">
            <a:xfrm>
              <a:off x="5219700" y="13414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19" name="Oval 7"/>
            <p:cNvSpPr>
              <a:spLocks noChangeArrowheads="1"/>
            </p:cNvSpPr>
            <p:nvPr/>
          </p:nvSpPr>
          <p:spPr bwMode="auto">
            <a:xfrm>
              <a:off x="6877050" y="13414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0" name="Oval 8"/>
            <p:cNvSpPr>
              <a:spLocks noChangeArrowheads="1"/>
            </p:cNvSpPr>
            <p:nvPr/>
          </p:nvSpPr>
          <p:spPr bwMode="auto">
            <a:xfrm>
              <a:off x="5219700" y="29972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1" name="Oval 9"/>
            <p:cNvSpPr>
              <a:spLocks noChangeArrowheads="1"/>
            </p:cNvSpPr>
            <p:nvPr/>
          </p:nvSpPr>
          <p:spPr bwMode="auto">
            <a:xfrm>
              <a:off x="6877050" y="29972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5" name="Freeform 13"/>
            <p:cNvSpPr/>
            <p:nvPr/>
          </p:nvSpPr>
          <p:spPr bwMode="auto">
            <a:xfrm>
              <a:off x="5364163" y="994009"/>
              <a:ext cx="1511300" cy="455612"/>
            </a:xfrm>
            <a:custGeom>
              <a:avLst/>
              <a:gdLst>
                <a:gd name="T0" fmla="*/ 0 w 952"/>
                <a:gd name="T1" fmla="*/ 287 h 287"/>
                <a:gd name="T2" fmla="*/ 408 w 952"/>
                <a:gd name="T3" fmla="*/ 15 h 287"/>
                <a:gd name="T4" fmla="*/ 952 w 952"/>
                <a:gd name="T5" fmla="*/ 19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2" h="287">
                  <a:moveTo>
                    <a:pt x="0" y="287"/>
                  </a:moveTo>
                  <a:cubicBezTo>
                    <a:pt x="124" y="158"/>
                    <a:pt x="249" y="30"/>
                    <a:pt x="408" y="15"/>
                  </a:cubicBezTo>
                  <a:cubicBezTo>
                    <a:pt x="567" y="0"/>
                    <a:pt x="759" y="98"/>
                    <a:pt x="952" y="19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6" name="Freeform 14"/>
            <p:cNvSpPr/>
            <p:nvPr/>
          </p:nvSpPr>
          <p:spPr bwMode="auto">
            <a:xfrm>
              <a:off x="5364163" y="1484313"/>
              <a:ext cx="1439862" cy="301625"/>
            </a:xfrm>
            <a:custGeom>
              <a:avLst/>
              <a:gdLst>
                <a:gd name="T0" fmla="*/ 907 w 907"/>
                <a:gd name="T1" fmla="*/ 0 h 190"/>
                <a:gd name="T2" fmla="*/ 499 w 907"/>
                <a:gd name="T3" fmla="*/ 182 h 190"/>
                <a:gd name="T4" fmla="*/ 0 w 907"/>
                <a:gd name="T5" fmla="*/ 4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7" h="190">
                  <a:moveTo>
                    <a:pt x="907" y="0"/>
                  </a:moveTo>
                  <a:cubicBezTo>
                    <a:pt x="778" y="87"/>
                    <a:pt x="650" y="174"/>
                    <a:pt x="499" y="182"/>
                  </a:cubicBezTo>
                  <a:cubicBezTo>
                    <a:pt x="348" y="190"/>
                    <a:pt x="174" y="118"/>
                    <a:pt x="0" y="4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7" name="Line 15"/>
            <p:cNvSpPr>
              <a:spLocks noChangeShapeType="1"/>
            </p:cNvSpPr>
            <p:nvPr/>
          </p:nvSpPr>
          <p:spPr bwMode="auto">
            <a:xfrm flipV="1">
              <a:off x="6948488" y="1557338"/>
              <a:ext cx="0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8" name="Line 16"/>
            <p:cNvSpPr>
              <a:spLocks noChangeShapeType="1"/>
            </p:cNvSpPr>
            <p:nvPr/>
          </p:nvSpPr>
          <p:spPr bwMode="auto">
            <a:xfrm>
              <a:off x="5292724" y="1484312"/>
              <a:ext cx="1" cy="15113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9" name="Freeform 17"/>
            <p:cNvSpPr/>
            <p:nvPr/>
          </p:nvSpPr>
          <p:spPr bwMode="auto">
            <a:xfrm>
              <a:off x="5292725" y="2625725"/>
              <a:ext cx="1584325" cy="442913"/>
            </a:xfrm>
            <a:custGeom>
              <a:avLst/>
              <a:gdLst>
                <a:gd name="T0" fmla="*/ 0 w 998"/>
                <a:gd name="T1" fmla="*/ 279 h 279"/>
                <a:gd name="T2" fmla="*/ 408 w 998"/>
                <a:gd name="T3" fmla="*/ 7 h 279"/>
                <a:gd name="T4" fmla="*/ 998 w 998"/>
                <a:gd name="T5" fmla="*/ 234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8" h="279">
                  <a:moveTo>
                    <a:pt x="0" y="279"/>
                  </a:moveTo>
                  <a:cubicBezTo>
                    <a:pt x="121" y="146"/>
                    <a:pt x="242" y="14"/>
                    <a:pt x="408" y="7"/>
                  </a:cubicBezTo>
                  <a:cubicBezTo>
                    <a:pt x="574" y="0"/>
                    <a:pt x="786" y="117"/>
                    <a:pt x="998" y="23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0" name="Line 18"/>
            <p:cNvSpPr>
              <a:spLocks noChangeShapeType="1"/>
            </p:cNvSpPr>
            <p:nvPr/>
          </p:nvSpPr>
          <p:spPr bwMode="auto">
            <a:xfrm>
              <a:off x="5292725" y="3068638"/>
              <a:ext cx="1511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1" name="Freeform 19"/>
            <p:cNvSpPr/>
            <p:nvPr/>
          </p:nvSpPr>
          <p:spPr bwMode="auto">
            <a:xfrm>
              <a:off x="4668838" y="2828925"/>
              <a:ext cx="923925" cy="876300"/>
            </a:xfrm>
            <a:custGeom>
              <a:avLst/>
              <a:gdLst>
                <a:gd name="T0" fmla="*/ 302 w 582"/>
                <a:gd name="T1" fmla="*/ 106 h 552"/>
                <a:gd name="T2" fmla="*/ 30 w 582"/>
                <a:gd name="T3" fmla="*/ 60 h 552"/>
                <a:gd name="T4" fmla="*/ 120 w 582"/>
                <a:gd name="T5" fmla="*/ 469 h 552"/>
                <a:gd name="T6" fmla="*/ 529 w 582"/>
                <a:gd name="T7" fmla="*/ 514 h 552"/>
                <a:gd name="T8" fmla="*/ 438 w 582"/>
                <a:gd name="T9" fmla="*/ 242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2" h="552">
                  <a:moveTo>
                    <a:pt x="302" y="106"/>
                  </a:moveTo>
                  <a:cubicBezTo>
                    <a:pt x="181" y="53"/>
                    <a:pt x="60" y="0"/>
                    <a:pt x="30" y="60"/>
                  </a:cubicBezTo>
                  <a:cubicBezTo>
                    <a:pt x="0" y="120"/>
                    <a:pt x="37" y="393"/>
                    <a:pt x="120" y="469"/>
                  </a:cubicBezTo>
                  <a:cubicBezTo>
                    <a:pt x="203" y="545"/>
                    <a:pt x="476" y="552"/>
                    <a:pt x="529" y="514"/>
                  </a:cubicBezTo>
                  <a:cubicBezTo>
                    <a:pt x="582" y="476"/>
                    <a:pt x="510" y="359"/>
                    <a:pt x="438" y="24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33" name="Object 21"/>
            <p:cNvGraphicFramePr>
              <a:graphicFrameLocks noChangeAspect="1"/>
            </p:cNvGraphicFramePr>
            <p:nvPr/>
          </p:nvGraphicFramePr>
          <p:xfrm>
            <a:off x="4909032" y="2438415"/>
            <a:ext cx="36195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352800" imgH="5486400" progId="Equation.DSMT4">
                    <p:embed/>
                  </p:oleObj>
                </mc:Choice>
                <mc:Fallback>
                  <p:oleObj name="Equation" r:id="rId2" imgW="3352800" imgH="54864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9032" y="2438415"/>
                          <a:ext cx="36195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5" name="Object 23"/>
            <p:cNvGraphicFramePr>
              <a:graphicFrameLocks noChangeAspect="1"/>
            </p:cNvGraphicFramePr>
            <p:nvPr/>
          </p:nvGraphicFramePr>
          <p:xfrm>
            <a:off x="6947043" y="2882901"/>
            <a:ext cx="395287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657600" imgH="5486400" progId="Equation.DSMT4">
                    <p:embed/>
                  </p:oleObj>
                </mc:Choice>
                <mc:Fallback>
                  <p:oleObj name="Equation" r:id="rId4" imgW="3657600" imgH="54864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7043" y="2882901"/>
                          <a:ext cx="395287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7" name="Object 25"/>
            <p:cNvGraphicFramePr>
              <a:graphicFrameLocks noChangeAspect="1"/>
            </p:cNvGraphicFramePr>
            <p:nvPr/>
          </p:nvGraphicFramePr>
          <p:xfrm>
            <a:off x="7025335" y="1138240"/>
            <a:ext cx="395287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57600" imgH="5486400" progId="Equation.DSMT4">
                    <p:embed/>
                  </p:oleObj>
                </mc:Choice>
                <mc:Fallback>
                  <p:oleObj name="Equation" r:id="rId6" imgW="3657600" imgH="54864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25335" y="1138240"/>
                          <a:ext cx="395287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8" name="Object 26"/>
            <p:cNvGraphicFramePr>
              <a:graphicFrameLocks noChangeAspect="1"/>
            </p:cNvGraphicFramePr>
            <p:nvPr/>
          </p:nvGraphicFramePr>
          <p:xfrm>
            <a:off x="4874107" y="1084350"/>
            <a:ext cx="396875" cy="587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657600" imgH="5486400" progId="Equation.DSMT4">
                    <p:embed/>
                  </p:oleObj>
                </mc:Choice>
                <mc:Fallback>
                  <p:oleObj name="Equation" r:id="rId8" imgW="3657600" imgH="54864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4107" y="1084350"/>
                          <a:ext cx="396875" cy="587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0" name="Object 28"/>
            <p:cNvGraphicFramePr>
              <a:graphicFrameLocks noChangeAspect="1"/>
            </p:cNvGraphicFramePr>
            <p:nvPr/>
          </p:nvGraphicFramePr>
          <p:xfrm>
            <a:off x="5908864" y="2898782"/>
            <a:ext cx="36195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52800" imgH="5486400" progId="Equation.DSMT4">
                    <p:embed/>
                  </p:oleObj>
                </mc:Choice>
                <mc:Fallback>
                  <p:oleObj name="Equation" r:id="rId10" imgW="3352800" imgH="54864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8864" y="2898782"/>
                          <a:ext cx="36195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2" name="Object 30"/>
            <p:cNvGraphicFramePr>
              <a:graphicFrameLocks noChangeAspect="1"/>
            </p:cNvGraphicFramePr>
            <p:nvPr/>
          </p:nvGraphicFramePr>
          <p:xfrm>
            <a:off x="5863479" y="2227961"/>
            <a:ext cx="395287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657600" imgH="5486400" progId="Equation.DSMT4">
                    <p:embed/>
                  </p:oleObj>
                </mc:Choice>
                <mc:Fallback>
                  <p:oleObj name="Equation" r:id="rId12" imgW="3657600" imgH="54864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3479" y="2227961"/>
                          <a:ext cx="395287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4" name="Object 32"/>
            <p:cNvGraphicFramePr>
              <a:graphicFrameLocks noChangeAspect="1"/>
            </p:cNvGraphicFramePr>
            <p:nvPr/>
          </p:nvGraphicFramePr>
          <p:xfrm>
            <a:off x="6962886" y="1909763"/>
            <a:ext cx="3952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657600" imgH="5486400" progId="Equation.DSMT4">
                    <p:embed/>
                  </p:oleObj>
                </mc:Choice>
                <mc:Fallback>
                  <p:oleObj name="Equation" r:id="rId14" imgW="3657600" imgH="54864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2886" y="1909763"/>
                          <a:ext cx="3952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6" name="Object 34"/>
            <p:cNvGraphicFramePr>
              <a:graphicFrameLocks noChangeAspect="1"/>
            </p:cNvGraphicFramePr>
            <p:nvPr/>
          </p:nvGraphicFramePr>
          <p:xfrm>
            <a:off x="5867400" y="553240"/>
            <a:ext cx="395287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657600" imgH="5486400" progId="Equation.DSMT4">
                    <p:embed/>
                  </p:oleObj>
                </mc:Choice>
                <mc:Fallback>
                  <p:oleObj name="Equation" r:id="rId16" imgW="3657600" imgH="548640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7400" y="553240"/>
                          <a:ext cx="395287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8" name="Object 36"/>
            <p:cNvGraphicFramePr>
              <a:graphicFrameLocks noChangeAspect="1"/>
            </p:cNvGraphicFramePr>
            <p:nvPr/>
          </p:nvGraphicFramePr>
          <p:xfrm>
            <a:off x="5897359" y="1327143"/>
            <a:ext cx="3952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657600" imgH="5486400" progId="Equation.DSMT4">
                    <p:embed/>
                  </p:oleObj>
                </mc:Choice>
                <mc:Fallback>
                  <p:oleObj name="Equation" r:id="rId18" imgW="3657600" imgH="54864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7359" y="1327143"/>
                          <a:ext cx="3952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9" name="Object 37"/>
            <p:cNvGraphicFramePr>
              <a:graphicFrameLocks noChangeAspect="1"/>
            </p:cNvGraphicFramePr>
            <p:nvPr/>
          </p:nvGraphicFramePr>
          <p:xfrm>
            <a:off x="4933156" y="1774840"/>
            <a:ext cx="395287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657600" imgH="5486400" progId="Equation.DSMT4">
                    <p:embed/>
                  </p:oleObj>
                </mc:Choice>
                <mc:Fallback>
                  <p:oleObj name="Equation" r:id="rId20" imgW="3657600" imgH="54864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156" y="1774840"/>
                          <a:ext cx="395287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0" name="Object 38"/>
            <p:cNvGraphicFramePr>
              <a:graphicFrameLocks noChangeAspect="1"/>
            </p:cNvGraphicFramePr>
            <p:nvPr/>
          </p:nvGraphicFramePr>
          <p:xfrm>
            <a:off x="4582116" y="3211366"/>
            <a:ext cx="3952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657600" imgH="5486400" progId="Equation.DSMT4">
                    <p:embed/>
                  </p:oleObj>
                </mc:Choice>
                <mc:Fallback>
                  <p:oleObj name="Equation" r:id="rId22" imgW="3657600" imgH="54864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2116" y="3211366"/>
                          <a:ext cx="3952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2" name="Object 40"/>
            <p:cNvGraphicFramePr>
              <a:graphicFrameLocks noChangeAspect="1"/>
            </p:cNvGraphicFramePr>
            <p:nvPr/>
          </p:nvGraphicFramePr>
          <p:xfrm>
            <a:off x="5167891" y="3932245"/>
            <a:ext cx="2043112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8897600" imgH="5486400" progId="Equation.DSMT4">
                    <p:embed/>
                  </p:oleObj>
                </mc:Choice>
                <mc:Fallback>
                  <p:oleObj name="Equation" r:id="rId24" imgW="18897600" imgH="54864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7891" y="3932245"/>
                          <a:ext cx="2043112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1072762" y="1592443"/>
            <a:ext cx="2780088" cy="4225564"/>
            <a:chOff x="747336" y="820738"/>
            <a:chExt cx="2780088" cy="4225564"/>
          </a:xfrm>
        </p:grpSpPr>
        <p:sp>
          <p:nvSpPr>
            <p:cNvPr id="38915" name="Oval 3"/>
            <p:cNvSpPr>
              <a:spLocks noChangeArrowheads="1"/>
            </p:cNvSpPr>
            <p:nvPr/>
          </p:nvSpPr>
          <p:spPr bwMode="auto">
            <a:xfrm>
              <a:off x="1763713" y="13414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16" name="Oval 4"/>
            <p:cNvSpPr>
              <a:spLocks noChangeArrowheads="1"/>
            </p:cNvSpPr>
            <p:nvPr/>
          </p:nvSpPr>
          <p:spPr bwMode="auto">
            <a:xfrm>
              <a:off x="3059113" y="17732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17" name="Oval 5"/>
            <p:cNvSpPr>
              <a:spLocks noChangeArrowheads="1"/>
            </p:cNvSpPr>
            <p:nvPr/>
          </p:nvSpPr>
          <p:spPr bwMode="auto">
            <a:xfrm>
              <a:off x="1763713" y="31416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2" name="Line 10"/>
            <p:cNvSpPr>
              <a:spLocks noChangeShapeType="1"/>
            </p:cNvSpPr>
            <p:nvPr/>
          </p:nvSpPr>
          <p:spPr bwMode="auto">
            <a:xfrm>
              <a:off x="1835150" y="1484313"/>
              <a:ext cx="0" cy="1657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3" name="Freeform 11"/>
            <p:cNvSpPr/>
            <p:nvPr/>
          </p:nvSpPr>
          <p:spPr bwMode="auto">
            <a:xfrm>
              <a:off x="1835150" y="1281113"/>
              <a:ext cx="1296988" cy="492125"/>
            </a:xfrm>
            <a:custGeom>
              <a:avLst/>
              <a:gdLst>
                <a:gd name="T0" fmla="*/ 0 w 817"/>
                <a:gd name="T1" fmla="*/ 83 h 310"/>
                <a:gd name="T2" fmla="*/ 499 w 817"/>
                <a:gd name="T3" fmla="*/ 38 h 310"/>
                <a:gd name="T4" fmla="*/ 817 w 817"/>
                <a:gd name="T5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7" h="310">
                  <a:moveTo>
                    <a:pt x="0" y="83"/>
                  </a:moveTo>
                  <a:cubicBezTo>
                    <a:pt x="181" y="41"/>
                    <a:pt x="363" y="0"/>
                    <a:pt x="499" y="38"/>
                  </a:cubicBezTo>
                  <a:cubicBezTo>
                    <a:pt x="635" y="76"/>
                    <a:pt x="726" y="193"/>
                    <a:pt x="817" y="31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4" name="Freeform 12"/>
            <p:cNvSpPr/>
            <p:nvPr/>
          </p:nvSpPr>
          <p:spPr bwMode="auto">
            <a:xfrm>
              <a:off x="1835150" y="1412875"/>
              <a:ext cx="1223963" cy="587375"/>
            </a:xfrm>
            <a:custGeom>
              <a:avLst/>
              <a:gdLst>
                <a:gd name="T0" fmla="*/ 0 w 771"/>
                <a:gd name="T1" fmla="*/ 0 h 370"/>
                <a:gd name="T2" fmla="*/ 318 w 771"/>
                <a:gd name="T3" fmla="*/ 317 h 370"/>
                <a:gd name="T4" fmla="*/ 771 w 771"/>
                <a:gd name="T5" fmla="*/ 31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1" h="370">
                  <a:moveTo>
                    <a:pt x="0" y="0"/>
                  </a:moveTo>
                  <a:cubicBezTo>
                    <a:pt x="95" y="132"/>
                    <a:pt x="190" y="264"/>
                    <a:pt x="318" y="317"/>
                  </a:cubicBezTo>
                  <a:cubicBezTo>
                    <a:pt x="446" y="370"/>
                    <a:pt x="608" y="343"/>
                    <a:pt x="771" y="31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32" name="Object 20"/>
            <p:cNvGraphicFramePr>
              <a:graphicFrameLocks noChangeAspect="1"/>
            </p:cNvGraphicFramePr>
            <p:nvPr/>
          </p:nvGraphicFramePr>
          <p:xfrm>
            <a:off x="3165474" y="1610158"/>
            <a:ext cx="36195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352800" imgH="5486400" progId="Equation.DSMT4">
                    <p:embed/>
                  </p:oleObj>
                </mc:Choice>
                <mc:Fallback>
                  <p:oleObj name="Equation" r:id="rId26" imgW="3352800" imgH="54864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5474" y="1610158"/>
                          <a:ext cx="36195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4" name="Object 22"/>
            <p:cNvGraphicFramePr>
              <a:graphicFrameLocks noChangeAspect="1"/>
            </p:cNvGraphicFramePr>
            <p:nvPr/>
          </p:nvGraphicFramePr>
          <p:xfrm>
            <a:off x="1423193" y="2709070"/>
            <a:ext cx="3952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3657600" imgH="5486400" progId="Equation.DSMT4">
                    <p:embed/>
                  </p:oleObj>
                </mc:Choice>
                <mc:Fallback>
                  <p:oleObj name="Equation" r:id="rId28" imgW="3657600" imgH="54864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3193" y="2709070"/>
                          <a:ext cx="3952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6" name="Object 24"/>
            <p:cNvGraphicFramePr>
              <a:graphicFrameLocks noChangeAspect="1"/>
            </p:cNvGraphicFramePr>
            <p:nvPr/>
          </p:nvGraphicFramePr>
          <p:xfrm>
            <a:off x="1407739" y="1070770"/>
            <a:ext cx="395287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3657600" imgH="5486400" progId="Equation.DSMT4">
                    <p:embed/>
                  </p:oleObj>
                </mc:Choice>
                <mc:Fallback>
                  <p:oleObj name="Equation" r:id="rId30" imgW="3657600" imgH="54864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7739" y="1070770"/>
                          <a:ext cx="395287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9" name="Object 27"/>
            <p:cNvGraphicFramePr>
              <a:graphicFrameLocks noChangeAspect="1"/>
            </p:cNvGraphicFramePr>
            <p:nvPr/>
          </p:nvGraphicFramePr>
          <p:xfrm>
            <a:off x="1835150" y="3376015"/>
            <a:ext cx="36195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3352800" imgH="5486400" progId="Equation.DSMT4">
                    <p:embed/>
                  </p:oleObj>
                </mc:Choice>
                <mc:Fallback>
                  <p:oleObj name="Equation" r:id="rId32" imgW="3352800" imgH="54864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150" y="3376015"/>
                          <a:ext cx="36195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1" name="Object 29"/>
            <p:cNvGraphicFramePr>
              <a:graphicFrameLocks noChangeAspect="1"/>
            </p:cNvGraphicFramePr>
            <p:nvPr/>
          </p:nvGraphicFramePr>
          <p:xfrm>
            <a:off x="1883986" y="3932238"/>
            <a:ext cx="3952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3657600" imgH="5486400" progId="Equation.DSMT4">
                    <p:embed/>
                  </p:oleObj>
                </mc:Choice>
                <mc:Fallback>
                  <p:oleObj name="Equation" r:id="rId34" imgW="3657600" imgH="54864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3986" y="3932238"/>
                          <a:ext cx="3952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3" name="Object 31"/>
            <p:cNvGraphicFramePr>
              <a:graphicFrameLocks noChangeAspect="1"/>
            </p:cNvGraphicFramePr>
            <p:nvPr/>
          </p:nvGraphicFramePr>
          <p:xfrm>
            <a:off x="1502295" y="1891882"/>
            <a:ext cx="3952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3657600" imgH="5486400" progId="Equation.DSMT4">
                    <p:embed/>
                  </p:oleObj>
                </mc:Choice>
                <mc:Fallback>
                  <p:oleObj name="Equation" r:id="rId36" imgW="3657600" imgH="54864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295" y="1891882"/>
                          <a:ext cx="3952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5" name="Object 33"/>
            <p:cNvGraphicFramePr>
              <a:graphicFrameLocks noChangeAspect="1"/>
            </p:cNvGraphicFramePr>
            <p:nvPr/>
          </p:nvGraphicFramePr>
          <p:xfrm>
            <a:off x="2195513" y="1769111"/>
            <a:ext cx="395287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3657600" imgH="5486400" progId="Equation.DSMT4">
                    <p:embed/>
                  </p:oleObj>
                </mc:Choice>
                <mc:Fallback>
                  <p:oleObj name="Equation" r:id="rId38" imgW="3657600" imgH="54864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513" y="1769111"/>
                          <a:ext cx="395287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7" name="Object 35"/>
            <p:cNvGraphicFramePr>
              <a:graphicFrameLocks noChangeAspect="1"/>
            </p:cNvGraphicFramePr>
            <p:nvPr/>
          </p:nvGraphicFramePr>
          <p:xfrm>
            <a:off x="2411413" y="820738"/>
            <a:ext cx="395287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3657600" imgH="5486400" progId="Equation.DSMT4">
                    <p:embed/>
                  </p:oleObj>
                </mc:Choice>
                <mc:Fallback>
                  <p:oleObj name="Equation" r:id="rId40" imgW="3657600" imgH="548640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413" y="820738"/>
                          <a:ext cx="395287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1" name="Object 39"/>
            <p:cNvGraphicFramePr>
              <a:graphicFrameLocks noChangeAspect="1"/>
            </p:cNvGraphicFramePr>
            <p:nvPr/>
          </p:nvGraphicFramePr>
          <p:xfrm>
            <a:off x="747336" y="4457339"/>
            <a:ext cx="2668587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24688800" imgH="5486400" progId="Equation.DSMT4">
                    <p:embed/>
                  </p:oleObj>
                </mc:Choice>
                <mc:Fallback>
                  <p:oleObj name="Equation" r:id="rId42" imgW="24688800" imgH="548640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7336" y="4457339"/>
                          <a:ext cx="2668587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53" name="Freeform 41"/>
            <p:cNvSpPr/>
            <p:nvPr/>
          </p:nvSpPr>
          <p:spPr bwMode="auto">
            <a:xfrm>
              <a:off x="1439863" y="3176588"/>
              <a:ext cx="865187" cy="504825"/>
            </a:xfrm>
            <a:custGeom>
              <a:avLst/>
              <a:gdLst>
                <a:gd name="T0" fmla="*/ 249 w 545"/>
                <a:gd name="T1" fmla="*/ 23 h 318"/>
                <a:gd name="T2" fmla="*/ 23 w 545"/>
                <a:gd name="T3" fmla="*/ 204 h 318"/>
                <a:gd name="T4" fmla="*/ 385 w 545"/>
                <a:gd name="T5" fmla="*/ 295 h 318"/>
                <a:gd name="T6" fmla="*/ 522 w 545"/>
                <a:gd name="T7" fmla="*/ 68 h 318"/>
                <a:gd name="T8" fmla="*/ 249 w 545"/>
                <a:gd name="T9" fmla="*/ 23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18">
                  <a:moveTo>
                    <a:pt x="249" y="23"/>
                  </a:moveTo>
                  <a:cubicBezTo>
                    <a:pt x="166" y="46"/>
                    <a:pt x="0" y="159"/>
                    <a:pt x="23" y="204"/>
                  </a:cubicBezTo>
                  <a:cubicBezTo>
                    <a:pt x="46" y="249"/>
                    <a:pt x="302" y="318"/>
                    <a:pt x="385" y="295"/>
                  </a:cubicBezTo>
                  <a:cubicBezTo>
                    <a:pt x="468" y="272"/>
                    <a:pt x="545" y="113"/>
                    <a:pt x="522" y="68"/>
                  </a:cubicBezTo>
                  <a:cubicBezTo>
                    <a:pt x="499" y="23"/>
                    <a:pt x="332" y="0"/>
                    <a:pt x="249" y="23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4" name="Freeform 42"/>
            <p:cNvSpPr/>
            <p:nvPr/>
          </p:nvSpPr>
          <p:spPr bwMode="auto">
            <a:xfrm>
              <a:off x="962025" y="2911475"/>
              <a:ext cx="1931988" cy="1416050"/>
            </a:xfrm>
            <a:custGeom>
              <a:avLst/>
              <a:gdLst>
                <a:gd name="T0" fmla="*/ 522 w 1217"/>
                <a:gd name="T1" fmla="*/ 204 h 892"/>
                <a:gd name="T2" fmla="*/ 23 w 1217"/>
                <a:gd name="T3" fmla="*/ 521 h 892"/>
                <a:gd name="T4" fmla="*/ 658 w 1217"/>
                <a:gd name="T5" fmla="*/ 884 h 892"/>
                <a:gd name="T6" fmla="*/ 1157 w 1217"/>
                <a:gd name="T7" fmla="*/ 567 h 892"/>
                <a:gd name="T8" fmla="*/ 1021 w 1217"/>
                <a:gd name="T9" fmla="*/ 68 h 892"/>
                <a:gd name="T10" fmla="*/ 568 w 1217"/>
                <a:gd name="T11" fmla="*/ 159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7" h="892">
                  <a:moveTo>
                    <a:pt x="522" y="204"/>
                  </a:moveTo>
                  <a:cubicBezTo>
                    <a:pt x="261" y="306"/>
                    <a:pt x="0" y="408"/>
                    <a:pt x="23" y="521"/>
                  </a:cubicBezTo>
                  <a:cubicBezTo>
                    <a:pt x="46" y="634"/>
                    <a:pt x="469" y="876"/>
                    <a:pt x="658" y="884"/>
                  </a:cubicBezTo>
                  <a:cubicBezTo>
                    <a:pt x="847" y="892"/>
                    <a:pt x="1097" y="703"/>
                    <a:pt x="1157" y="567"/>
                  </a:cubicBezTo>
                  <a:cubicBezTo>
                    <a:pt x="1217" y="431"/>
                    <a:pt x="1119" y="136"/>
                    <a:pt x="1021" y="68"/>
                  </a:cubicBezTo>
                  <a:cubicBezTo>
                    <a:pt x="923" y="0"/>
                    <a:pt x="745" y="79"/>
                    <a:pt x="568" y="15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D3E7BD3-73D8-4A60-AAD0-A6150B83CB23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39938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charset="-122"/>
              </a:rPr>
              <a:t>在不引起混淆的情况下，可以将路</a:t>
            </a:r>
            <a:r>
              <a:rPr kumimoji="1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charset="-122"/>
              </a:rPr>
              <a:t>简记为如下形式：</a:t>
            </a:r>
            <a:endParaRPr lang="en-US" altLang="zh-CN" dirty="0"/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dirty="0"/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1248116" y="2509184"/>
          <a:ext cx="26701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688800" imgH="5486400" progId="Equation.DSMT4">
                  <p:embed/>
                </p:oleObj>
              </mc:Choice>
              <mc:Fallback>
                <p:oleObj name="Equation" r:id="rId2" imgW="24688800" imgH="5486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8116" y="2509184"/>
                        <a:ext cx="267017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1708944" y="3728850"/>
          <a:ext cx="154781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25600" imgH="5486400" progId="Equation.DSMT4">
                  <p:embed/>
                </p:oleObj>
              </mc:Choice>
              <mc:Fallback>
                <p:oleObj name="Equation" r:id="rId4" imgW="14325600" imgH="548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944" y="3728850"/>
                        <a:ext cx="1547812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1856581" y="4437112"/>
          <a:ext cx="1252538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82400" imgH="5486400" progId="Equation.DSMT4">
                  <p:embed/>
                </p:oleObj>
              </mc:Choice>
              <mc:Fallback>
                <p:oleObj name="Equation" r:id="rId6" imgW="115824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581" y="4437112"/>
                        <a:ext cx="1252538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5355263" y="2571750"/>
          <a:ext cx="204311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897600" imgH="5486400" progId="Equation.DSMT4">
                  <p:embed/>
                </p:oleObj>
              </mc:Choice>
              <mc:Fallback>
                <p:oleObj name="Equation" r:id="rId8" imgW="18897600" imgH="548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5263" y="2571750"/>
                        <a:ext cx="2043112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/>
        </p:nvGraphicFramePr>
        <p:xfrm>
          <a:off x="5858668" y="3775868"/>
          <a:ext cx="12192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277600" imgH="5486400" progId="Equation.DSMT4">
                  <p:embed/>
                </p:oleObj>
              </mc:Choice>
              <mc:Fallback>
                <p:oleObj name="Equation" r:id="rId10" imgW="11277600" imgH="548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8668" y="3775868"/>
                        <a:ext cx="121920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>
            <a:graphicFrameLocks noChangeAspect="1"/>
          </p:cNvGraphicFramePr>
          <p:nvPr/>
        </p:nvGraphicFramePr>
        <p:xfrm>
          <a:off x="6007100" y="4513768"/>
          <a:ext cx="922337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34400" imgH="5486400" progId="Equation.DSMT4">
                  <p:embed/>
                </p:oleObj>
              </mc:Choice>
              <mc:Fallback>
                <p:oleObj name="Equation" r:id="rId12" imgW="8534400" imgH="5486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513768"/>
                        <a:ext cx="922337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1510506" y="3429000"/>
            <a:ext cx="1944688" cy="1871662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17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6" name="Rectangle 10"/>
          <p:cNvSpPr>
            <a:spLocks noChangeArrowheads="1"/>
          </p:cNvSpPr>
          <p:nvPr/>
        </p:nvSpPr>
        <p:spPr bwMode="auto">
          <a:xfrm>
            <a:off x="5436096" y="3429000"/>
            <a:ext cx="1944687" cy="1871663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17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D3E7BD3-73D8-4A60-AAD0-A6150B83CB23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78852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节点不重复的路称为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路径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(path).  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边不重复的路称为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轨迹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(trail).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路径是轨迹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但轨迹不一定是路径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</p:txBody>
      </p:sp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827088" y="4149725"/>
          <a:ext cx="20764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8980" imgH="208280" progId="Equation.3">
                  <p:embed/>
                </p:oleObj>
              </mc:Choice>
              <mc:Fallback>
                <p:oleObj name="Equation" r:id="rId2" imgW="728980" imgH="208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149725"/>
                        <a:ext cx="20764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203848" y="3138083"/>
            <a:ext cx="2222562" cy="3345267"/>
            <a:chOff x="962025" y="820738"/>
            <a:chExt cx="2565399" cy="4221201"/>
          </a:xfrm>
        </p:grpSpPr>
        <p:sp>
          <p:nvSpPr>
            <p:cNvPr id="8" name="Oval 3"/>
            <p:cNvSpPr>
              <a:spLocks noChangeArrowheads="1"/>
            </p:cNvSpPr>
            <p:nvPr/>
          </p:nvSpPr>
          <p:spPr bwMode="auto">
            <a:xfrm>
              <a:off x="1763713" y="13414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3059113" y="17732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1763713" y="31416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835150" y="1484313"/>
              <a:ext cx="0" cy="1657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1835150" y="1281113"/>
              <a:ext cx="1296988" cy="492125"/>
            </a:xfrm>
            <a:custGeom>
              <a:avLst/>
              <a:gdLst>
                <a:gd name="T0" fmla="*/ 0 w 817"/>
                <a:gd name="T1" fmla="*/ 83 h 310"/>
                <a:gd name="T2" fmla="*/ 499 w 817"/>
                <a:gd name="T3" fmla="*/ 38 h 310"/>
                <a:gd name="T4" fmla="*/ 817 w 817"/>
                <a:gd name="T5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7" h="310">
                  <a:moveTo>
                    <a:pt x="0" y="83"/>
                  </a:moveTo>
                  <a:cubicBezTo>
                    <a:pt x="181" y="41"/>
                    <a:pt x="363" y="0"/>
                    <a:pt x="499" y="38"/>
                  </a:cubicBezTo>
                  <a:cubicBezTo>
                    <a:pt x="635" y="76"/>
                    <a:pt x="726" y="193"/>
                    <a:pt x="817" y="31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1835150" y="1412875"/>
              <a:ext cx="1223963" cy="587375"/>
            </a:xfrm>
            <a:custGeom>
              <a:avLst/>
              <a:gdLst>
                <a:gd name="T0" fmla="*/ 0 w 771"/>
                <a:gd name="T1" fmla="*/ 0 h 370"/>
                <a:gd name="T2" fmla="*/ 318 w 771"/>
                <a:gd name="T3" fmla="*/ 317 h 370"/>
                <a:gd name="T4" fmla="*/ 771 w 771"/>
                <a:gd name="T5" fmla="*/ 31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1" h="370">
                  <a:moveTo>
                    <a:pt x="0" y="0"/>
                  </a:moveTo>
                  <a:cubicBezTo>
                    <a:pt x="95" y="132"/>
                    <a:pt x="190" y="264"/>
                    <a:pt x="318" y="317"/>
                  </a:cubicBezTo>
                  <a:cubicBezTo>
                    <a:pt x="446" y="370"/>
                    <a:pt x="608" y="343"/>
                    <a:pt x="771" y="31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" name="Object 20"/>
            <p:cNvGraphicFramePr>
              <a:graphicFrameLocks noChangeAspect="1"/>
            </p:cNvGraphicFramePr>
            <p:nvPr/>
          </p:nvGraphicFramePr>
          <p:xfrm>
            <a:off x="3165474" y="1610158"/>
            <a:ext cx="36195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352800" imgH="5486400" progId="Equation.DSMT4">
                    <p:embed/>
                  </p:oleObj>
                </mc:Choice>
                <mc:Fallback>
                  <p:oleObj name="Equation" r:id="rId4" imgW="3352800" imgH="54864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5474" y="1610158"/>
                          <a:ext cx="36195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2"/>
            <p:cNvGraphicFramePr>
              <a:graphicFrameLocks noChangeAspect="1"/>
            </p:cNvGraphicFramePr>
            <p:nvPr/>
          </p:nvGraphicFramePr>
          <p:xfrm>
            <a:off x="1423193" y="2709070"/>
            <a:ext cx="3952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57600" imgH="5486400" progId="Equation.DSMT4">
                    <p:embed/>
                  </p:oleObj>
                </mc:Choice>
                <mc:Fallback>
                  <p:oleObj name="Equation" r:id="rId6" imgW="3657600" imgH="54864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3193" y="2709070"/>
                          <a:ext cx="3952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4"/>
            <p:cNvGraphicFramePr>
              <a:graphicFrameLocks noChangeAspect="1"/>
            </p:cNvGraphicFramePr>
            <p:nvPr/>
          </p:nvGraphicFramePr>
          <p:xfrm>
            <a:off x="1407739" y="1070770"/>
            <a:ext cx="395287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657600" imgH="5486400" progId="Equation.DSMT4">
                    <p:embed/>
                  </p:oleObj>
                </mc:Choice>
                <mc:Fallback>
                  <p:oleObj name="Equation" r:id="rId8" imgW="3657600" imgH="54864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7739" y="1070770"/>
                          <a:ext cx="395287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7"/>
            <p:cNvGraphicFramePr>
              <a:graphicFrameLocks noChangeAspect="1"/>
            </p:cNvGraphicFramePr>
            <p:nvPr/>
          </p:nvGraphicFramePr>
          <p:xfrm>
            <a:off x="1835150" y="3376015"/>
            <a:ext cx="36195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52800" imgH="5486400" progId="Equation.DSMT4">
                    <p:embed/>
                  </p:oleObj>
                </mc:Choice>
                <mc:Fallback>
                  <p:oleObj name="Equation" r:id="rId10" imgW="3352800" imgH="54864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150" y="3376015"/>
                          <a:ext cx="36195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9"/>
            <p:cNvGraphicFramePr>
              <a:graphicFrameLocks noChangeAspect="1"/>
            </p:cNvGraphicFramePr>
            <p:nvPr/>
          </p:nvGraphicFramePr>
          <p:xfrm>
            <a:off x="1883986" y="3932238"/>
            <a:ext cx="3952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657600" imgH="5486400" progId="Equation.DSMT4">
                    <p:embed/>
                  </p:oleObj>
                </mc:Choice>
                <mc:Fallback>
                  <p:oleObj name="Equation" r:id="rId12" imgW="3657600" imgH="54864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3986" y="3932238"/>
                          <a:ext cx="3952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31"/>
            <p:cNvGraphicFramePr>
              <a:graphicFrameLocks noChangeAspect="1"/>
            </p:cNvGraphicFramePr>
            <p:nvPr/>
          </p:nvGraphicFramePr>
          <p:xfrm>
            <a:off x="1502295" y="1891882"/>
            <a:ext cx="3952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657600" imgH="5486400" progId="Equation.DSMT4">
                    <p:embed/>
                  </p:oleObj>
                </mc:Choice>
                <mc:Fallback>
                  <p:oleObj name="Equation" r:id="rId14" imgW="3657600" imgH="54864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295" y="1891882"/>
                          <a:ext cx="3952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33"/>
            <p:cNvGraphicFramePr>
              <a:graphicFrameLocks noChangeAspect="1"/>
            </p:cNvGraphicFramePr>
            <p:nvPr/>
          </p:nvGraphicFramePr>
          <p:xfrm>
            <a:off x="2195513" y="1769111"/>
            <a:ext cx="395287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657600" imgH="5486400" progId="Equation.DSMT4">
                    <p:embed/>
                  </p:oleObj>
                </mc:Choice>
                <mc:Fallback>
                  <p:oleObj name="Equation" r:id="rId16" imgW="3657600" imgH="54864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513" y="1769111"/>
                          <a:ext cx="395287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35"/>
            <p:cNvGraphicFramePr>
              <a:graphicFrameLocks noChangeAspect="1"/>
            </p:cNvGraphicFramePr>
            <p:nvPr/>
          </p:nvGraphicFramePr>
          <p:xfrm>
            <a:off x="2411413" y="820738"/>
            <a:ext cx="395287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657600" imgH="5486400" progId="Equation.DSMT4">
                    <p:embed/>
                  </p:oleObj>
                </mc:Choice>
                <mc:Fallback>
                  <p:oleObj name="Equation" r:id="rId18" imgW="3657600" imgH="548640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413" y="820738"/>
                          <a:ext cx="395287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39"/>
            <p:cNvGraphicFramePr>
              <a:graphicFrameLocks noChangeAspect="1"/>
            </p:cNvGraphicFramePr>
            <p:nvPr/>
          </p:nvGraphicFramePr>
          <p:xfrm>
            <a:off x="1454402" y="4453005"/>
            <a:ext cx="1581341" cy="5889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4630400" imgH="5486400" progId="Equation.DSMT4">
                    <p:embed/>
                  </p:oleObj>
                </mc:Choice>
                <mc:Fallback>
                  <p:oleObj name="Equation" r:id="rId20" imgW="14630400" imgH="548640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4402" y="4453005"/>
                          <a:ext cx="1581341" cy="5889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Freeform 41"/>
            <p:cNvSpPr/>
            <p:nvPr/>
          </p:nvSpPr>
          <p:spPr bwMode="auto">
            <a:xfrm>
              <a:off x="1439863" y="3176588"/>
              <a:ext cx="865187" cy="504825"/>
            </a:xfrm>
            <a:custGeom>
              <a:avLst/>
              <a:gdLst>
                <a:gd name="T0" fmla="*/ 249 w 545"/>
                <a:gd name="T1" fmla="*/ 23 h 318"/>
                <a:gd name="T2" fmla="*/ 23 w 545"/>
                <a:gd name="T3" fmla="*/ 204 h 318"/>
                <a:gd name="T4" fmla="*/ 385 w 545"/>
                <a:gd name="T5" fmla="*/ 295 h 318"/>
                <a:gd name="T6" fmla="*/ 522 w 545"/>
                <a:gd name="T7" fmla="*/ 68 h 318"/>
                <a:gd name="T8" fmla="*/ 249 w 545"/>
                <a:gd name="T9" fmla="*/ 23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18">
                  <a:moveTo>
                    <a:pt x="249" y="23"/>
                  </a:moveTo>
                  <a:cubicBezTo>
                    <a:pt x="166" y="46"/>
                    <a:pt x="0" y="159"/>
                    <a:pt x="23" y="204"/>
                  </a:cubicBezTo>
                  <a:cubicBezTo>
                    <a:pt x="46" y="249"/>
                    <a:pt x="302" y="318"/>
                    <a:pt x="385" y="295"/>
                  </a:cubicBezTo>
                  <a:cubicBezTo>
                    <a:pt x="468" y="272"/>
                    <a:pt x="545" y="113"/>
                    <a:pt x="522" y="68"/>
                  </a:cubicBezTo>
                  <a:cubicBezTo>
                    <a:pt x="499" y="23"/>
                    <a:pt x="332" y="0"/>
                    <a:pt x="249" y="23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42"/>
            <p:cNvSpPr/>
            <p:nvPr/>
          </p:nvSpPr>
          <p:spPr bwMode="auto">
            <a:xfrm>
              <a:off x="962025" y="2911475"/>
              <a:ext cx="1931988" cy="1416050"/>
            </a:xfrm>
            <a:custGeom>
              <a:avLst/>
              <a:gdLst>
                <a:gd name="T0" fmla="*/ 522 w 1217"/>
                <a:gd name="T1" fmla="*/ 204 h 892"/>
                <a:gd name="T2" fmla="*/ 23 w 1217"/>
                <a:gd name="T3" fmla="*/ 521 h 892"/>
                <a:gd name="T4" fmla="*/ 658 w 1217"/>
                <a:gd name="T5" fmla="*/ 884 h 892"/>
                <a:gd name="T6" fmla="*/ 1157 w 1217"/>
                <a:gd name="T7" fmla="*/ 567 h 892"/>
                <a:gd name="T8" fmla="*/ 1021 w 1217"/>
                <a:gd name="T9" fmla="*/ 68 h 892"/>
                <a:gd name="T10" fmla="*/ 568 w 1217"/>
                <a:gd name="T11" fmla="*/ 159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7" h="892">
                  <a:moveTo>
                    <a:pt x="522" y="204"/>
                  </a:moveTo>
                  <a:cubicBezTo>
                    <a:pt x="261" y="306"/>
                    <a:pt x="0" y="408"/>
                    <a:pt x="23" y="521"/>
                  </a:cubicBezTo>
                  <a:cubicBezTo>
                    <a:pt x="46" y="634"/>
                    <a:pt x="469" y="876"/>
                    <a:pt x="658" y="884"/>
                  </a:cubicBezTo>
                  <a:cubicBezTo>
                    <a:pt x="847" y="892"/>
                    <a:pt x="1097" y="703"/>
                    <a:pt x="1157" y="567"/>
                  </a:cubicBezTo>
                  <a:cubicBezTo>
                    <a:pt x="1217" y="431"/>
                    <a:pt x="1119" y="136"/>
                    <a:pt x="1021" y="68"/>
                  </a:cubicBezTo>
                  <a:cubicBezTo>
                    <a:pt x="923" y="0"/>
                    <a:pt x="745" y="79"/>
                    <a:pt x="568" y="15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D3E7BD3-73D8-4A60-AAD0-A6150B83CB23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4096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说明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由于图论应用的广泛性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很多概念存在意义上的差别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之所以选择“路径”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它有捷径之意；“轨迹”强调边不重复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它是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可能多次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走过后留下的痕迹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若存在从节点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一条路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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则存在一条从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长度≤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- 1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的路径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D3E7BD3-73D8-4A60-AAD0-A6150B83CB23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4198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6-14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   距离：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d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 u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边数最少的长度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图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的直径：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diam(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max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351" y="3284984"/>
            <a:ext cx="2389298" cy="30311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7826" y="2819760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21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路（路径与轨迹）</a:t>
              </a:r>
              <a:endParaRPr kumimoji="0" lang="en-US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46238" y="3789040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21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回路（闭迹与圈）</a:t>
              </a:r>
              <a:endParaRPr kumimoji="0" lang="en-US" altLang="zh-CN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D3E7BD3-73D8-4A60-AAD0-A6150B83CB23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4301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回路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6-15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起点与终点相同的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长度≥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路称为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回路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(circuit).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边不重复的回路称为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简单回路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(closed trail =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闭迹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除起点重复一次外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别的节点均不重复的简单回路称为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圈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或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(cycle),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D3E7BD3-73D8-4A60-AAD0-A6150B83CB23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80900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自环和环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个节点的圈称为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阶圈，记为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38287" y="1762844"/>
            <a:ext cx="6159500" cy="1296988"/>
            <a:chOff x="1403350" y="692150"/>
            <a:chExt cx="6159500" cy="1296988"/>
          </a:xfrm>
        </p:grpSpPr>
        <p:sp>
          <p:nvSpPr>
            <p:cNvPr id="80901" name="Oval 5"/>
            <p:cNvSpPr>
              <a:spLocks noChangeArrowheads="1"/>
            </p:cNvSpPr>
            <p:nvPr/>
          </p:nvSpPr>
          <p:spPr bwMode="auto">
            <a:xfrm>
              <a:off x="1403350" y="11969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02" name="Oval 6"/>
            <p:cNvSpPr>
              <a:spLocks noChangeArrowheads="1"/>
            </p:cNvSpPr>
            <p:nvPr/>
          </p:nvSpPr>
          <p:spPr bwMode="auto">
            <a:xfrm>
              <a:off x="4572000" y="76358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03" name="Oval 7"/>
            <p:cNvSpPr>
              <a:spLocks noChangeArrowheads="1"/>
            </p:cNvSpPr>
            <p:nvPr/>
          </p:nvSpPr>
          <p:spPr bwMode="auto">
            <a:xfrm>
              <a:off x="6443663" y="18446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04" name="Freeform 8"/>
            <p:cNvSpPr/>
            <p:nvPr/>
          </p:nvSpPr>
          <p:spPr bwMode="auto">
            <a:xfrm>
              <a:off x="1476375" y="884238"/>
              <a:ext cx="455613" cy="828675"/>
            </a:xfrm>
            <a:custGeom>
              <a:avLst/>
              <a:gdLst>
                <a:gd name="T0" fmla="*/ 0 w 287"/>
                <a:gd name="T1" fmla="*/ 197 h 522"/>
                <a:gd name="T2" fmla="*/ 136 w 287"/>
                <a:gd name="T3" fmla="*/ 15 h 522"/>
                <a:gd name="T4" fmla="*/ 272 w 287"/>
                <a:gd name="T5" fmla="*/ 287 h 522"/>
                <a:gd name="T6" fmla="*/ 45 w 287"/>
                <a:gd name="T7" fmla="*/ 514 h 522"/>
                <a:gd name="T8" fmla="*/ 0 w 287"/>
                <a:gd name="T9" fmla="*/ 33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" h="522">
                  <a:moveTo>
                    <a:pt x="0" y="197"/>
                  </a:moveTo>
                  <a:cubicBezTo>
                    <a:pt x="45" y="98"/>
                    <a:pt x="91" y="0"/>
                    <a:pt x="136" y="15"/>
                  </a:cubicBezTo>
                  <a:cubicBezTo>
                    <a:pt x="181" y="30"/>
                    <a:pt x="287" y="204"/>
                    <a:pt x="272" y="287"/>
                  </a:cubicBezTo>
                  <a:cubicBezTo>
                    <a:pt x="257" y="370"/>
                    <a:pt x="90" y="506"/>
                    <a:pt x="45" y="514"/>
                  </a:cubicBezTo>
                  <a:cubicBezTo>
                    <a:pt x="0" y="522"/>
                    <a:pt x="7" y="363"/>
                    <a:pt x="0" y="33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5" name="Freeform 9"/>
            <p:cNvSpPr/>
            <p:nvPr/>
          </p:nvSpPr>
          <p:spPr bwMode="auto">
            <a:xfrm>
              <a:off x="2627313" y="836613"/>
              <a:ext cx="360362" cy="1008062"/>
            </a:xfrm>
            <a:custGeom>
              <a:avLst/>
              <a:gdLst>
                <a:gd name="T0" fmla="*/ 227 w 227"/>
                <a:gd name="T1" fmla="*/ 0 h 635"/>
                <a:gd name="T2" fmla="*/ 0 w 227"/>
                <a:gd name="T3" fmla="*/ 272 h 635"/>
                <a:gd name="T4" fmla="*/ 227 w 227"/>
                <a:gd name="T5" fmla="*/ 6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" h="635">
                  <a:moveTo>
                    <a:pt x="227" y="0"/>
                  </a:moveTo>
                  <a:cubicBezTo>
                    <a:pt x="113" y="83"/>
                    <a:pt x="0" y="166"/>
                    <a:pt x="0" y="272"/>
                  </a:cubicBezTo>
                  <a:cubicBezTo>
                    <a:pt x="0" y="378"/>
                    <a:pt x="113" y="506"/>
                    <a:pt x="227" y="63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6" name="Freeform 10"/>
            <p:cNvSpPr/>
            <p:nvPr/>
          </p:nvSpPr>
          <p:spPr bwMode="auto">
            <a:xfrm>
              <a:off x="2987675" y="836613"/>
              <a:ext cx="515938" cy="1008062"/>
            </a:xfrm>
            <a:custGeom>
              <a:avLst/>
              <a:gdLst>
                <a:gd name="T0" fmla="*/ 0 w 325"/>
                <a:gd name="T1" fmla="*/ 0 h 635"/>
                <a:gd name="T2" fmla="*/ 318 w 325"/>
                <a:gd name="T3" fmla="*/ 181 h 635"/>
                <a:gd name="T4" fmla="*/ 45 w 325"/>
                <a:gd name="T5" fmla="*/ 6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5" h="635">
                  <a:moveTo>
                    <a:pt x="0" y="0"/>
                  </a:moveTo>
                  <a:cubicBezTo>
                    <a:pt x="155" y="37"/>
                    <a:pt x="311" y="75"/>
                    <a:pt x="318" y="181"/>
                  </a:cubicBezTo>
                  <a:cubicBezTo>
                    <a:pt x="325" y="287"/>
                    <a:pt x="185" y="461"/>
                    <a:pt x="45" y="63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7" name="Line 11"/>
            <p:cNvSpPr>
              <a:spLocks noChangeShapeType="1"/>
            </p:cNvSpPr>
            <p:nvPr/>
          </p:nvSpPr>
          <p:spPr bwMode="auto">
            <a:xfrm flipH="1">
              <a:off x="4500563" y="836613"/>
              <a:ext cx="142875" cy="1008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8" name="Line 12"/>
            <p:cNvSpPr>
              <a:spLocks noChangeShapeType="1"/>
            </p:cNvSpPr>
            <p:nvPr/>
          </p:nvSpPr>
          <p:spPr bwMode="auto">
            <a:xfrm flipV="1">
              <a:off x="4500563" y="1555750"/>
              <a:ext cx="86360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09" name="Line 13"/>
            <p:cNvSpPr>
              <a:spLocks noChangeShapeType="1"/>
            </p:cNvSpPr>
            <p:nvPr/>
          </p:nvSpPr>
          <p:spPr bwMode="auto">
            <a:xfrm flipH="1" flipV="1">
              <a:off x="4643438" y="836613"/>
              <a:ext cx="720725" cy="719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0" name="Line 14"/>
            <p:cNvSpPr>
              <a:spLocks noChangeShapeType="1"/>
            </p:cNvSpPr>
            <p:nvPr/>
          </p:nvSpPr>
          <p:spPr bwMode="auto">
            <a:xfrm>
              <a:off x="6443663" y="908050"/>
              <a:ext cx="73025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1" name="Line 15"/>
            <p:cNvSpPr>
              <a:spLocks noChangeShapeType="1"/>
            </p:cNvSpPr>
            <p:nvPr/>
          </p:nvSpPr>
          <p:spPr bwMode="auto">
            <a:xfrm flipV="1">
              <a:off x="6516688" y="1628775"/>
              <a:ext cx="792162" cy="287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2" name="Line 16"/>
            <p:cNvSpPr>
              <a:spLocks noChangeShapeType="1"/>
            </p:cNvSpPr>
            <p:nvPr/>
          </p:nvSpPr>
          <p:spPr bwMode="auto">
            <a:xfrm flipV="1">
              <a:off x="7308850" y="763588"/>
              <a:ext cx="215900" cy="79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3" name="Line 17"/>
            <p:cNvSpPr>
              <a:spLocks noChangeShapeType="1"/>
            </p:cNvSpPr>
            <p:nvPr/>
          </p:nvSpPr>
          <p:spPr bwMode="auto">
            <a:xfrm flipH="1">
              <a:off x="6372225" y="763588"/>
              <a:ext cx="1079500" cy="144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14" name="Oval 18"/>
            <p:cNvSpPr>
              <a:spLocks noChangeArrowheads="1"/>
            </p:cNvSpPr>
            <p:nvPr/>
          </p:nvSpPr>
          <p:spPr bwMode="auto">
            <a:xfrm>
              <a:off x="2916238" y="76358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5" name="Oval 19"/>
            <p:cNvSpPr>
              <a:spLocks noChangeArrowheads="1"/>
            </p:cNvSpPr>
            <p:nvPr/>
          </p:nvSpPr>
          <p:spPr bwMode="auto">
            <a:xfrm>
              <a:off x="2987675" y="17732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6" name="Oval 20"/>
            <p:cNvSpPr>
              <a:spLocks noChangeArrowheads="1"/>
            </p:cNvSpPr>
            <p:nvPr/>
          </p:nvSpPr>
          <p:spPr bwMode="auto">
            <a:xfrm>
              <a:off x="4427538" y="17732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7" name="Oval 21"/>
            <p:cNvSpPr>
              <a:spLocks noChangeArrowheads="1"/>
            </p:cNvSpPr>
            <p:nvPr/>
          </p:nvSpPr>
          <p:spPr bwMode="auto">
            <a:xfrm>
              <a:off x="5292725" y="148431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8" name="Oval 22"/>
            <p:cNvSpPr>
              <a:spLocks noChangeArrowheads="1"/>
            </p:cNvSpPr>
            <p:nvPr/>
          </p:nvSpPr>
          <p:spPr bwMode="auto">
            <a:xfrm>
              <a:off x="6372225" y="83661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9" name="Oval 23"/>
            <p:cNvSpPr>
              <a:spLocks noChangeArrowheads="1"/>
            </p:cNvSpPr>
            <p:nvPr/>
          </p:nvSpPr>
          <p:spPr bwMode="auto">
            <a:xfrm>
              <a:off x="7183438" y="15224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0" name="Oval 24"/>
            <p:cNvSpPr>
              <a:spLocks noChangeArrowheads="1"/>
            </p:cNvSpPr>
            <p:nvPr/>
          </p:nvSpPr>
          <p:spPr bwMode="auto">
            <a:xfrm>
              <a:off x="7418388" y="69215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912385" y="4005064"/>
            <a:ext cx="2549525" cy="2017712"/>
            <a:chOff x="2627313" y="3500438"/>
            <a:chExt cx="2549525" cy="2017712"/>
          </a:xfrm>
        </p:grpSpPr>
        <p:sp>
          <p:nvSpPr>
            <p:cNvPr id="80921" name="Oval 25"/>
            <p:cNvSpPr>
              <a:spLocks noChangeArrowheads="1"/>
            </p:cNvSpPr>
            <p:nvPr/>
          </p:nvSpPr>
          <p:spPr bwMode="auto">
            <a:xfrm>
              <a:off x="3203575" y="35004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2" name="Oval 26"/>
            <p:cNvSpPr>
              <a:spLocks noChangeArrowheads="1"/>
            </p:cNvSpPr>
            <p:nvPr/>
          </p:nvSpPr>
          <p:spPr bwMode="auto">
            <a:xfrm>
              <a:off x="2627313" y="45085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3" name="Oval 27"/>
            <p:cNvSpPr>
              <a:spLocks noChangeArrowheads="1"/>
            </p:cNvSpPr>
            <p:nvPr/>
          </p:nvSpPr>
          <p:spPr bwMode="auto">
            <a:xfrm>
              <a:off x="3348038" y="537368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4" name="Oval 28"/>
            <p:cNvSpPr>
              <a:spLocks noChangeArrowheads="1"/>
            </p:cNvSpPr>
            <p:nvPr/>
          </p:nvSpPr>
          <p:spPr bwMode="auto">
            <a:xfrm>
              <a:off x="4519613" y="53387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5" name="Oval 29"/>
            <p:cNvSpPr>
              <a:spLocks noChangeArrowheads="1"/>
            </p:cNvSpPr>
            <p:nvPr/>
          </p:nvSpPr>
          <p:spPr bwMode="auto">
            <a:xfrm>
              <a:off x="5003800" y="436562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6" name="Oval 30"/>
            <p:cNvSpPr>
              <a:spLocks noChangeArrowheads="1"/>
            </p:cNvSpPr>
            <p:nvPr/>
          </p:nvSpPr>
          <p:spPr bwMode="auto">
            <a:xfrm>
              <a:off x="4500563" y="350043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27" name="Line 31"/>
            <p:cNvSpPr>
              <a:spLocks noChangeShapeType="1"/>
            </p:cNvSpPr>
            <p:nvPr/>
          </p:nvSpPr>
          <p:spPr bwMode="auto">
            <a:xfrm flipH="1">
              <a:off x="2700338" y="3573463"/>
              <a:ext cx="576262" cy="10080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8" name="Line 32"/>
            <p:cNvSpPr>
              <a:spLocks noChangeShapeType="1"/>
            </p:cNvSpPr>
            <p:nvPr/>
          </p:nvSpPr>
          <p:spPr bwMode="auto">
            <a:xfrm>
              <a:off x="2700338" y="4581525"/>
              <a:ext cx="719137" cy="863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9" name="Line 33"/>
            <p:cNvSpPr>
              <a:spLocks noChangeShapeType="1"/>
            </p:cNvSpPr>
            <p:nvPr/>
          </p:nvSpPr>
          <p:spPr bwMode="auto">
            <a:xfrm>
              <a:off x="3419475" y="5440363"/>
              <a:ext cx="115252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0" name="Line 34"/>
            <p:cNvSpPr>
              <a:spLocks noChangeShapeType="1"/>
            </p:cNvSpPr>
            <p:nvPr/>
          </p:nvSpPr>
          <p:spPr bwMode="auto">
            <a:xfrm flipV="1">
              <a:off x="4643438" y="4508500"/>
              <a:ext cx="433387" cy="8651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1" name="Line 35"/>
            <p:cNvSpPr>
              <a:spLocks noChangeShapeType="1"/>
            </p:cNvSpPr>
            <p:nvPr/>
          </p:nvSpPr>
          <p:spPr bwMode="auto">
            <a:xfrm flipH="1">
              <a:off x="3276600" y="3573463"/>
              <a:ext cx="1295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0932" name="Object 36"/>
            <p:cNvGraphicFramePr>
              <a:graphicFrameLocks noChangeAspect="1"/>
            </p:cNvGraphicFramePr>
            <p:nvPr/>
          </p:nvGraphicFramePr>
          <p:xfrm>
            <a:off x="4581525" y="3665538"/>
            <a:ext cx="595313" cy="593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267200" imgH="4267200" progId="Equation.DSMT4">
                    <p:embed/>
                  </p:oleObj>
                </mc:Choice>
                <mc:Fallback>
                  <p:oleObj name="Equation" r:id="rId2" imgW="4267200" imgH="42672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525" y="3665538"/>
                          <a:ext cx="595313" cy="593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4EAB9FF4-1A18-41D0-8466-897C719DC1BD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圈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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简单回路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但反过来不成立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- 1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阶圈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n-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的内部放置一个节点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并使之与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n-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的每个节点邻接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这样得到的图称为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阶轮图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记为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W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sp>
        <p:nvSpPr>
          <p:cNvPr id="44035" name="Oval 3"/>
          <p:cNvSpPr>
            <a:spLocks noChangeArrowheads="1"/>
          </p:cNvSpPr>
          <p:nvPr/>
        </p:nvSpPr>
        <p:spPr bwMode="auto">
          <a:xfrm>
            <a:off x="4211638" y="42926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3563938" y="50133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3636169" y="4366274"/>
            <a:ext cx="1368425" cy="13684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auto">
          <a:xfrm>
            <a:off x="4211638" y="56610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auto">
          <a:xfrm>
            <a:off x="4932363" y="50133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4211638" y="5013325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1" name="Line 9"/>
          <p:cNvSpPr>
            <a:spLocks noChangeShapeType="1"/>
          </p:cNvSpPr>
          <p:nvPr/>
        </p:nvSpPr>
        <p:spPr bwMode="auto">
          <a:xfrm>
            <a:off x="4284663" y="4365625"/>
            <a:ext cx="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4284663" y="5084763"/>
            <a:ext cx="71913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3" name="Line 11"/>
          <p:cNvSpPr>
            <a:spLocks noChangeShapeType="1"/>
          </p:cNvSpPr>
          <p:nvPr/>
        </p:nvSpPr>
        <p:spPr bwMode="auto">
          <a:xfrm>
            <a:off x="4284663" y="5084763"/>
            <a:ext cx="0" cy="6492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4" name="Line 12"/>
          <p:cNvSpPr>
            <a:spLocks noChangeShapeType="1"/>
          </p:cNvSpPr>
          <p:nvPr/>
        </p:nvSpPr>
        <p:spPr bwMode="auto">
          <a:xfrm flipH="1">
            <a:off x="3563938" y="5084763"/>
            <a:ext cx="7207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045" name="Object 13"/>
          <p:cNvGraphicFramePr>
            <a:graphicFrameLocks noChangeAspect="1"/>
          </p:cNvGraphicFramePr>
          <p:nvPr/>
        </p:nvGraphicFramePr>
        <p:xfrm>
          <a:off x="3986213" y="5934075"/>
          <a:ext cx="52546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5420" imgH="208280" progId="Equation.3">
                  <p:embed/>
                </p:oleObj>
              </mc:Choice>
              <mc:Fallback>
                <p:oleObj name="公式" r:id="rId2" imgW="185420" imgH="2082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5934075"/>
                        <a:ext cx="52546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D3E7BD3-73D8-4A60-AAD0-A6150B83CB23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45058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阶图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若存在从节点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一条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简单回路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则存在一条从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长度≤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的圈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212976"/>
            <a:ext cx="5240474" cy="18722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D3E7BD3-73D8-4A60-AAD0-A6150B83CB23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4608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640638" cy="518442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下面的定理很有用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采用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cs typeface="Arial" panose="020B0604020202020204" pitchFamily="34" charset="0"/>
              </a:rPr>
              <a:t>“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最长路径法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”技巧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6-3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在无向图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若任意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中存在圈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证明：不妨设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是简单图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中选取一条最长的路径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…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en-US" altLang="zh-CN" dirty="0" err="1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26" y="4365104"/>
            <a:ext cx="3888686" cy="20160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0D3E7BD3-73D8-4A60-AAD0-A6150B83CB23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4710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是最长路径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邻接的节点必在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上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由于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deg(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 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i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(2 ≤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≤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邻接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…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中的一个圈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4ADB9389-3AFF-490D-81CD-792A5D5C91AD}" type="slidenum">
              <a:rPr lang="en-US" altLang="zh-CN" smtClean="0"/>
              <a:t>17</a:t>
            </a:fld>
            <a:endParaRPr lang="en-US" altLang="zh-CN"/>
          </a:p>
        </p:txBody>
      </p:sp>
      <p:sp>
        <p:nvSpPr>
          <p:cNvPr id="34818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6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0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19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-794" y="1252242"/>
            <a:ext cx="1561307" cy="838386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小结</a:t>
            </a:r>
          </a:p>
        </p:txBody>
      </p:sp>
      <p:grpSp>
        <p:nvGrpSpPr>
          <p:cNvPr id="34820" name="Group 4"/>
          <p:cNvGrpSpPr/>
          <p:nvPr/>
        </p:nvGrpSpPr>
        <p:grpSpPr bwMode="auto">
          <a:xfrm>
            <a:off x="1899623" y="2463547"/>
            <a:ext cx="5616575" cy="647132"/>
            <a:chOff x="1419" y="1480"/>
            <a:chExt cx="3575" cy="363"/>
          </a:xfrm>
        </p:grpSpPr>
        <p:grpSp>
          <p:nvGrpSpPr>
            <p:cNvPr id="34821" name="Group 5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路（路径与轨迹）</a:t>
                </a:r>
              </a:p>
            </p:txBody>
          </p:sp>
        </p:grpSp>
        <p:sp>
          <p:nvSpPr>
            <p:cNvPr id="3482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5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44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sp>
        <p:nvSpPr>
          <p:cNvPr id="34845" name="AutoShape 29"/>
          <p:cNvSpPr>
            <a:spLocks noChangeArrowheads="1"/>
          </p:cNvSpPr>
          <p:nvPr/>
        </p:nvSpPr>
        <p:spPr bwMode="ltGray">
          <a:xfrm rot="5400000">
            <a:off x="935038" y="3178175"/>
            <a:ext cx="301625" cy="949325"/>
          </a:xfrm>
          <a:prstGeom prst="moon">
            <a:avLst>
              <a:gd name="adj" fmla="val 145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grpSp>
        <p:nvGrpSpPr>
          <p:cNvPr id="28" name="Group 10"/>
          <p:cNvGrpSpPr/>
          <p:nvPr/>
        </p:nvGrpSpPr>
        <p:grpSpPr bwMode="auto">
          <a:xfrm>
            <a:off x="1881810" y="4078010"/>
            <a:ext cx="5181600" cy="647133"/>
            <a:chOff x="1419" y="1480"/>
            <a:chExt cx="3575" cy="363"/>
          </a:xfrm>
        </p:grpSpPr>
        <p:grpSp>
          <p:nvGrpSpPr>
            <p:cNvPr id="29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2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回路（闭迹与圈）</a:t>
                </a:r>
              </a:p>
            </p:txBody>
          </p:sp>
        </p:grpSp>
        <p:sp>
          <p:nvSpPr>
            <p:cNvPr id="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zh-CN" altLang="en-US"/>
              <a:t>ＨＥ　ＥＮＤ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M1NzcxMmUzMDg4OTU3OGMzMWUzNzM0ZWU4ZGJmYzAifQ=="/>
</p:tagLst>
</file>

<file path=ppt/theme/theme1.xml><?xml version="1.0" encoding="utf-8"?>
<a:theme xmlns:a="http://schemas.openxmlformats.org/drawingml/2006/main" name="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12</TotalTime>
  <Words>658</Words>
  <Application>Microsoft Office PowerPoint</Application>
  <PresentationFormat>全屏显示(4:3)</PresentationFormat>
  <Paragraphs>78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Gulim</vt:lpstr>
      <vt:lpstr>宋体</vt:lpstr>
      <vt:lpstr>Arial</vt:lpstr>
      <vt:lpstr>Calibri</vt:lpstr>
      <vt:lpstr>Times New Roman</vt:lpstr>
      <vt:lpstr>Wingdings</vt:lpstr>
      <vt:lpstr>主题2</vt:lpstr>
      <vt:lpstr>自定义设计方案</vt:lpstr>
      <vt:lpstr>Equation</vt:lpstr>
      <vt:lpstr>公式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Company>swu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邓辉文</dc:creator>
  <cp:lastModifiedBy>超 赵</cp:lastModifiedBy>
  <cp:revision>423</cp:revision>
  <dcterms:created xsi:type="dcterms:W3CDTF">2007-04-29T00:04:00Z</dcterms:created>
  <dcterms:modified xsi:type="dcterms:W3CDTF">2024-05-13T01:45:52Z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D00923B3B2A8415985C495D2F2522BEF</vt:lpwstr>
  </property>
  <property fmtid="{D5CDD505-2E9C-101B-9397-08002B2CF9AE}" pid="3" name="KSOProductBuildVer">
    <vt:lpwstr>2052-11.1.0.11636</vt:lpwstr>
  </property>
</Properties>
</file>