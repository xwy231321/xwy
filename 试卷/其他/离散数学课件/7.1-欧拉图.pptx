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24"/>
  </p:notesMasterIdLst>
  <p:sldIdLst>
    <p:sldId id="503" r:id="rId3"/>
    <p:sldId id="265" r:id="rId4"/>
    <p:sldId id="506" r:id="rId5"/>
    <p:sldId id="753" r:id="rId6"/>
    <p:sldId id="266" r:id="rId7"/>
    <p:sldId id="267" r:id="rId8"/>
    <p:sldId id="268" r:id="rId9"/>
    <p:sldId id="762" r:id="rId10"/>
    <p:sldId id="269" r:id="rId11"/>
    <p:sldId id="270" r:id="rId12"/>
    <p:sldId id="271" r:id="rId13"/>
    <p:sldId id="279" r:id="rId14"/>
    <p:sldId id="272" r:id="rId15"/>
    <p:sldId id="273" r:id="rId16"/>
    <p:sldId id="761" r:id="rId17"/>
    <p:sldId id="274" r:id="rId18"/>
    <p:sldId id="275" r:id="rId19"/>
    <p:sldId id="280" r:id="rId20"/>
    <p:sldId id="276" r:id="rId21"/>
    <p:sldId id="760" r:id="rId22"/>
    <p:sldId id="617" r:id="rId23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  <a:t>2024/5/22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0.emf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15.emf"/><Relationship Id="rId21" Type="http://schemas.openxmlformats.org/officeDocument/2006/relationships/image" Target="../media/image24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23" Type="http://schemas.openxmlformats.org/officeDocument/2006/relationships/image" Target="../media/image25.e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ctrTitle"/>
          </p:nvPr>
        </p:nvSpPr>
        <p:spPr>
          <a:xfrm>
            <a:off x="2592388" y="2349500"/>
            <a:ext cx="3671887" cy="1470025"/>
          </a:xfrm>
        </p:spPr>
        <p:txBody>
          <a:bodyPr/>
          <a:lstStyle/>
          <a:p>
            <a:pPr algn="ctr" eaLnBrk="1" hangingPunct="1"/>
            <a:r>
              <a:rPr lang="zh-CN" altLang="en-US" sz="6000" dirty="0">
                <a:solidFill>
                  <a:schemeClr val="tx1"/>
                </a:solidFill>
              </a:rPr>
              <a:t>离散数学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4099" name="矩形 3"/>
          <p:cNvSpPr>
            <a:spLocks noChangeArrowheads="1"/>
          </p:cNvSpPr>
          <p:nvPr/>
        </p:nvSpPr>
        <p:spPr bwMode="auto">
          <a:xfrm>
            <a:off x="3854801" y="3840134"/>
            <a:ext cx="48189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第</a:t>
            </a:r>
            <a:r>
              <a:rPr kumimoji="0" lang="en-US" altLang="zh-CN" sz="36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章 几类特殊的图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图论是处理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离散对象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的一种重要的数学工具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本章讨论几类在理论研究和实际应用中都有着重要意义的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特殊的图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 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 Hamilton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特别是根树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平面图及其面着色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二部图等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1830" y="2997200"/>
            <a:ext cx="3060340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7.1  </a:t>
            </a:r>
            <a:r>
              <a:rPr lang="zh-CN" altLang="en-US" sz="4400" dirty="0">
                <a:latin typeface="Times New Roman" panose="02020603050405020304" pitchFamily="18" charset="0"/>
              </a:rPr>
              <a:t>欧拉图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 kern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欧拉图的有关概念</a:t>
              </a:r>
              <a:endPara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欧拉定理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中国邮递员问题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图的有关概念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 Euler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1736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年由年仅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29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岁的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研究七桥问题时考虑的一种图，由此得出三个概念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6" y="3140968"/>
            <a:ext cx="7695136" cy="295278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/>
          </p:nvPr>
        </p:nvSpPr>
        <p:spPr>
          <a:xfrm>
            <a:off x="215596" y="1268760"/>
            <a:ext cx="8712807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是任意图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中经过所有边一次且仅一次的路称为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轨迹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中经过所有边一次且仅一次的回路称为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回路的图称为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或简称为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轨迹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但反过来一般不成立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中的图中存在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轨迹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但不存在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00" y="2931197"/>
            <a:ext cx="2341290" cy="29283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098" y="2636912"/>
            <a:ext cx="2710887" cy="3205732"/>
          </a:xfrm>
          <a:prstGeom prst="rect">
            <a:avLst/>
          </a:prstGeom>
        </p:spPr>
      </p:pic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1763866" y="5879620"/>
          <a:ext cx="1706245" cy="553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465" imgH="177165" progId="Equation.3">
                  <p:embed/>
                </p:oleObj>
              </mc:Choice>
              <mc:Fallback>
                <p:oleObj name="Equation" r:id="rId4" imgW="545465" imgH="17716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866" y="5879620"/>
                        <a:ext cx="1706245" cy="553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1"/>
          <p:cNvGraphicFramePr>
            <a:graphicFrameLocks noChangeAspect="1"/>
          </p:cNvGraphicFramePr>
          <p:nvPr/>
        </p:nvGraphicFramePr>
        <p:xfrm>
          <a:off x="4716140" y="5859618"/>
          <a:ext cx="36210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7605" imgH="208280" progId="Equation.3">
                  <p:embed/>
                </p:oleObj>
              </mc:Choice>
              <mc:Fallback>
                <p:oleObj name="Equation" r:id="rId6" imgW="1157605" imgH="2082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140" y="5859618"/>
                        <a:ext cx="362108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 kern="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欧拉图的有关概念</a:t>
              </a:r>
              <a:endPara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欧拉定理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中国邮递员问题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本节主要定理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7-1(Euler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图的充要条件是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的每节点度数为偶数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如何找出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 1921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Fleury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给出了一个求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回路的算法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（参考教材文献）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类似于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定理有以下几个定理：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是弱连通图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图的充要条件是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的每节点的入度等于出度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根据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定理容易得出：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7-3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是连通无向图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中存在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轨迹的充要条件是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的度数为奇数的节点个数为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或为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568630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根据该定理知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“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七桥问题”无解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不存在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回路，甚至不存在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轨迹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2708920"/>
            <a:ext cx="3064028" cy="31847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一笔画问题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所谓一个图能一笔画出是指从图的某节点出发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线可以相交但不能重合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不起笔就可以将图画完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与定理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7-3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密切相关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140968"/>
            <a:ext cx="5616624" cy="260745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7-4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是弱连通图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轨迹的充要条件是下列条件之一：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(1)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的每节点的入度等于其出度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(2)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中存在一个节点出度比入度多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存在一个节点入度比出度多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而其余所有节点的入度等于其出度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94" y="4509845"/>
            <a:ext cx="1593212" cy="19298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 kern="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欧拉图的有关概念</a:t>
              </a:r>
              <a:endPara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1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欧拉定理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中国邮递员问题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中国邮递员问题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一位邮递员从邮局选好邮件去投递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然后返回邮局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要求邮递员必须经过其负责的每一条街至少一次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为这位邮递员设计一条投递线路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使其所走的路最短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500" y="4365104"/>
            <a:ext cx="4392488" cy="19695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若连通无向图有度数为奇数的节点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由于必须返回邮局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邮递员必须得重复走一些街道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欧拉定理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问题是怎样才能使得完成投递任务所走的路最短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这是一个允许添加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多重边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后求最短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回路的问题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 flipH="1">
            <a:off x="1908175" y="1555750"/>
            <a:ext cx="2376488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1908175" y="2420938"/>
            <a:ext cx="2376488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4284663" y="1555750"/>
            <a:ext cx="215900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 flipH="1">
            <a:off x="3419475" y="1555750"/>
            <a:ext cx="865188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3492500" y="2420938"/>
            <a:ext cx="792163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Freeform 10"/>
          <p:cNvSpPr/>
          <p:nvPr/>
        </p:nvSpPr>
        <p:spPr bwMode="auto">
          <a:xfrm>
            <a:off x="4284663" y="1555750"/>
            <a:ext cx="2159000" cy="865188"/>
          </a:xfrm>
          <a:custGeom>
            <a:avLst/>
            <a:gdLst>
              <a:gd name="T0" fmla="*/ 0 w 1360"/>
              <a:gd name="T1" fmla="*/ 0 h 545"/>
              <a:gd name="T2" fmla="*/ 725 w 1360"/>
              <a:gd name="T3" fmla="*/ 91 h 545"/>
              <a:gd name="T4" fmla="*/ 1360 w 1360"/>
              <a:gd name="T5" fmla="*/ 545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60" h="545">
                <a:moveTo>
                  <a:pt x="0" y="0"/>
                </a:moveTo>
                <a:cubicBezTo>
                  <a:pt x="249" y="0"/>
                  <a:pt x="498" y="0"/>
                  <a:pt x="725" y="91"/>
                </a:cubicBezTo>
                <a:cubicBezTo>
                  <a:pt x="952" y="182"/>
                  <a:pt x="1156" y="363"/>
                  <a:pt x="1360" y="545"/>
                </a:cubicBez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3" name="Freeform 11"/>
          <p:cNvSpPr/>
          <p:nvPr/>
        </p:nvSpPr>
        <p:spPr bwMode="auto">
          <a:xfrm>
            <a:off x="4140200" y="1555750"/>
            <a:ext cx="755650" cy="865188"/>
          </a:xfrm>
          <a:custGeom>
            <a:avLst/>
            <a:gdLst>
              <a:gd name="T0" fmla="*/ 68 w 476"/>
              <a:gd name="T1" fmla="*/ 0 h 545"/>
              <a:gd name="T2" fmla="*/ 68 w 476"/>
              <a:gd name="T3" fmla="*/ 363 h 545"/>
              <a:gd name="T4" fmla="*/ 476 w 476"/>
              <a:gd name="T5" fmla="*/ 545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6" h="545">
                <a:moveTo>
                  <a:pt x="68" y="0"/>
                </a:moveTo>
                <a:cubicBezTo>
                  <a:pt x="34" y="136"/>
                  <a:pt x="0" y="272"/>
                  <a:pt x="68" y="363"/>
                </a:cubicBezTo>
                <a:cubicBezTo>
                  <a:pt x="136" y="454"/>
                  <a:pt x="306" y="499"/>
                  <a:pt x="476" y="545"/>
                </a:cubicBez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4" name="Freeform 12"/>
          <p:cNvSpPr/>
          <p:nvPr/>
        </p:nvSpPr>
        <p:spPr bwMode="auto">
          <a:xfrm>
            <a:off x="4284663" y="2420938"/>
            <a:ext cx="647700" cy="935037"/>
          </a:xfrm>
          <a:custGeom>
            <a:avLst/>
            <a:gdLst>
              <a:gd name="T0" fmla="*/ 408 w 408"/>
              <a:gd name="T1" fmla="*/ 0 h 589"/>
              <a:gd name="T2" fmla="*/ 272 w 408"/>
              <a:gd name="T3" fmla="*/ 363 h 589"/>
              <a:gd name="T4" fmla="*/ 0 w 408"/>
              <a:gd name="T5" fmla="*/ 589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8" h="589">
                <a:moveTo>
                  <a:pt x="408" y="0"/>
                </a:moveTo>
                <a:cubicBezTo>
                  <a:pt x="374" y="132"/>
                  <a:pt x="340" y="265"/>
                  <a:pt x="272" y="363"/>
                </a:cubicBezTo>
                <a:cubicBezTo>
                  <a:pt x="204" y="461"/>
                  <a:pt x="102" y="525"/>
                  <a:pt x="0" y="589"/>
                </a:cubicBez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2801938" y="1484313"/>
          <a:ext cx="3095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" imgH="161925" progId="Equation.3">
                  <p:embed/>
                </p:oleObj>
              </mc:Choice>
              <mc:Fallback>
                <p:oleObj name="Equation" r:id="rId2" imgW="115570" imgH="16192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1484313"/>
                        <a:ext cx="3095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3579813" y="1771650"/>
          <a:ext cx="27781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40" imgH="161925" progId="Equation.3">
                  <p:embed/>
                </p:oleObj>
              </mc:Choice>
              <mc:Fallback>
                <p:oleObj name="Equation" r:id="rId4" imgW="104140" imgH="16192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1771650"/>
                        <a:ext cx="27781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4500563" y="1771650"/>
          <a:ext cx="3095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" imgH="150495" progId="Equation.3">
                  <p:embed/>
                </p:oleObj>
              </mc:Choice>
              <mc:Fallback>
                <p:oleObj name="Equation" r:id="rId6" imgW="115570" imgH="1504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771650"/>
                        <a:ext cx="30956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2987675" y="2779713"/>
          <a:ext cx="3095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70" imgH="150495" progId="Equation.3">
                  <p:embed/>
                </p:oleObj>
              </mc:Choice>
              <mc:Fallback>
                <p:oleObj name="Equation" r:id="rId8" imgW="115570" imgH="1504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779713"/>
                        <a:ext cx="3095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8"/>
          <p:cNvGraphicFramePr>
            <a:graphicFrameLocks noChangeAspect="1"/>
          </p:cNvGraphicFramePr>
          <p:nvPr/>
        </p:nvGraphicFramePr>
        <p:xfrm>
          <a:off x="3635375" y="2563813"/>
          <a:ext cx="3095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70" imgH="150495" progId="Equation.3">
                  <p:embed/>
                </p:oleObj>
              </mc:Choice>
              <mc:Fallback>
                <p:oleObj name="Equation" r:id="rId10" imgW="115570" imgH="15049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563813"/>
                        <a:ext cx="3095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5122863" y="1628775"/>
          <a:ext cx="2159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80" imgH="150495" progId="Equation.3">
                  <p:embed/>
                </p:oleObj>
              </mc:Choice>
              <mc:Fallback>
                <p:oleObj name="Equation" r:id="rId12" imgW="81280" imgH="1504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1628775"/>
                        <a:ext cx="2159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0"/>
          <p:cNvGraphicFramePr>
            <a:graphicFrameLocks noChangeAspect="1"/>
          </p:cNvGraphicFramePr>
          <p:nvPr/>
        </p:nvGraphicFramePr>
        <p:xfrm>
          <a:off x="4427538" y="2636838"/>
          <a:ext cx="2159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80" imgH="150495" progId="Equation.3">
                  <p:embed/>
                </p:oleObj>
              </mc:Choice>
              <mc:Fallback>
                <p:oleObj name="Equation" r:id="rId14" imgW="81280" imgH="15049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636838"/>
                        <a:ext cx="2159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1"/>
          <p:cNvGraphicFramePr>
            <a:graphicFrameLocks noChangeAspect="1"/>
          </p:cNvGraphicFramePr>
          <p:nvPr/>
        </p:nvGraphicFramePr>
        <p:xfrm>
          <a:off x="5318125" y="2276475"/>
          <a:ext cx="3095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70" imgH="150495" progId="Equation.3">
                  <p:embed/>
                </p:oleObj>
              </mc:Choice>
              <mc:Fallback>
                <p:oleObj name="Equation" r:id="rId16" imgW="115570" imgH="1504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2276475"/>
                        <a:ext cx="30956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2"/>
          <p:cNvGraphicFramePr>
            <a:graphicFrameLocks noChangeAspect="1"/>
          </p:cNvGraphicFramePr>
          <p:nvPr/>
        </p:nvGraphicFramePr>
        <p:xfrm>
          <a:off x="5307013" y="2765425"/>
          <a:ext cx="27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4140" imgH="161925" progId="Equation.3">
                  <p:embed/>
                </p:oleObj>
              </mc:Choice>
              <mc:Fallback>
                <p:oleObj name="Equation" r:id="rId18" imgW="104140" imgH="16192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2765425"/>
                        <a:ext cx="27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Oval 23"/>
          <p:cNvSpPr>
            <a:spLocks noChangeArrowheads="1"/>
          </p:cNvSpPr>
          <p:nvPr/>
        </p:nvSpPr>
        <p:spPr bwMode="auto">
          <a:xfrm>
            <a:off x="3419475" y="234791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1908175" y="24209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>
            <a:off x="3492500" y="2420938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 flipV="1">
            <a:off x="4356100" y="2439988"/>
            <a:ext cx="20161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1" name="Line 29"/>
          <p:cNvSpPr>
            <a:spLocks noChangeShapeType="1"/>
          </p:cNvSpPr>
          <p:nvPr/>
        </p:nvSpPr>
        <p:spPr bwMode="auto">
          <a:xfrm>
            <a:off x="4284663" y="1557338"/>
            <a:ext cx="64770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2" name="Line 30"/>
          <p:cNvSpPr>
            <a:spLocks noChangeShapeType="1"/>
          </p:cNvSpPr>
          <p:nvPr/>
        </p:nvSpPr>
        <p:spPr bwMode="auto">
          <a:xfrm flipH="1">
            <a:off x="4211638" y="2420938"/>
            <a:ext cx="720725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23" name="Object 31"/>
          <p:cNvGraphicFramePr>
            <a:graphicFrameLocks noChangeAspect="1"/>
          </p:cNvGraphicFramePr>
          <p:nvPr/>
        </p:nvGraphicFramePr>
        <p:xfrm>
          <a:off x="2771775" y="2205038"/>
          <a:ext cx="2778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140" imgH="161925" progId="Equation.3">
                  <p:embed/>
                </p:oleObj>
              </mc:Choice>
              <mc:Fallback>
                <p:oleObj name="Equation" r:id="rId20" imgW="104140" imgH="16192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205038"/>
                        <a:ext cx="2778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4" name="Object 32"/>
          <p:cNvGraphicFramePr>
            <a:graphicFrameLocks noChangeAspect="1"/>
          </p:cNvGraphicFramePr>
          <p:nvPr/>
        </p:nvGraphicFramePr>
        <p:xfrm>
          <a:off x="3995738" y="2276475"/>
          <a:ext cx="3095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570" imgH="150495" progId="Equation.3">
                  <p:embed/>
                </p:oleObj>
              </mc:Choice>
              <mc:Fallback>
                <p:oleObj name="Equation" r:id="rId22" imgW="115570" imgH="15049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276475"/>
                        <a:ext cx="30956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5" name="Oval 33"/>
          <p:cNvSpPr>
            <a:spLocks noChangeArrowheads="1"/>
          </p:cNvSpPr>
          <p:nvPr/>
        </p:nvSpPr>
        <p:spPr bwMode="auto">
          <a:xfrm>
            <a:off x="4211638" y="33035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6" name="Oval 34"/>
          <p:cNvSpPr>
            <a:spLocks noChangeArrowheads="1"/>
          </p:cNvSpPr>
          <p:nvPr/>
        </p:nvSpPr>
        <p:spPr bwMode="auto">
          <a:xfrm>
            <a:off x="1908175" y="23495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7" name="Oval 35"/>
          <p:cNvSpPr>
            <a:spLocks noChangeArrowheads="1"/>
          </p:cNvSpPr>
          <p:nvPr/>
        </p:nvSpPr>
        <p:spPr bwMode="auto">
          <a:xfrm>
            <a:off x="6300788" y="23495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8" name="Oval 36"/>
          <p:cNvSpPr>
            <a:spLocks noChangeArrowheads="1"/>
          </p:cNvSpPr>
          <p:nvPr/>
        </p:nvSpPr>
        <p:spPr bwMode="auto">
          <a:xfrm>
            <a:off x="4211638" y="14843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9" name="Oval 37"/>
          <p:cNvSpPr>
            <a:spLocks noChangeArrowheads="1"/>
          </p:cNvSpPr>
          <p:nvPr/>
        </p:nvSpPr>
        <p:spPr bwMode="auto">
          <a:xfrm>
            <a:off x="4806950" y="23336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 flipH="1">
            <a:off x="4932363" y="2420938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1" name="Freeform 39"/>
          <p:cNvSpPr/>
          <p:nvPr/>
        </p:nvSpPr>
        <p:spPr bwMode="auto">
          <a:xfrm>
            <a:off x="1979613" y="2420938"/>
            <a:ext cx="2305050" cy="1176337"/>
          </a:xfrm>
          <a:custGeom>
            <a:avLst/>
            <a:gdLst>
              <a:gd name="T0" fmla="*/ 0 w 1452"/>
              <a:gd name="T1" fmla="*/ 0 h 741"/>
              <a:gd name="T2" fmla="*/ 590 w 1452"/>
              <a:gd name="T3" fmla="*/ 635 h 741"/>
              <a:gd name="T4" fmla="*/ 1452 w 1452"/>
              <a:gd name="T5" fmla="*/ 635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52" h="741">
                <a:moveTo>
                  <a:pt x="0" y="0"/>
                </a:moveTo>
                <a:cubicBezTo>
                  <a:pt x="174" y="264"/>
                  <a:pt x="348" y="529"/>
                  <a:pt x="590" y="635"/>
                </a:cubicBezTo>
                <a:cubicBezTo>
                  <a:pt x="832" y="741"/>
                  <a:pt x="1142" y="688"/>
                  <a:pt x="1452" y="635"/>
                </a:cubicBezTo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/>
          </p:nvPr>
        </p:nvSpPr>
        <p:spPr>
          <a:xfrm>
            <a:off x="342106" y="1268760"/>
            <a:ext cx="8459788" cy="5184428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中国邮递员问题首次由中国图论专家管梅谷于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1962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年提出并研究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提出了“奇偶点图上作业法”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引起世界上不少数学家的关注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1973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年匈牙利数学家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Edmonds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Johnson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对中国邮递员问题给出了一种有效算法；另外在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1995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年王树禾研究了多邮递员中国邮路问题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-Postman Chinese Postman Problem). 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692275" y="2133600"/>
            <a:ext cx="5616575" cy="508000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欧拉图的有关概念</a:t>
                </a: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26" name="Group 10"/>
          <p:cNvGrpSpPr/>
          <p:nvPr/>
        </p:nvGrpSpPr>
        <p:grpSpPr bwMode="auto">
          <a:xfrm>
            <a:off x="2069502" y="3507564"/>
            <a:ext cx="5181600" cy="508000"/>
            <a:chOff x="1419" y="1480"/>
            <a:chExt cx="3575" cy="363"/>
          </a:xfrm>
        </p:grpSpPr>
        <p:grpSp>
          <p:nvGrpSpPr>
            <p:cNvPr id="3482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欧拉定理</a:t>
                </a: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697823" y="4854938"/>
            <a:ext cx="5181600" cy="508000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中国邮递员问题</a:t>
                </a: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M1NzcxMmUzMDg4OTU3OGMzMWUzNzM0ZWU4ZGJmYzAifQ=="/>
  <p:tag name="KSO_WPP_MARK_KEY" val="5ab73f38-ff64-44b3-909a-abd2c738f257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5</TotalTime>
  <Words>737</Words>
  <Application>Microsoft Office PowerPoint</Application>
  <PresentationFormat>全屏显示(4:3)</PresentationFormat>
  <Paragraphs>77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Gulim</vt:lpstr>
      <vt:lpstr>仿宋</vt:lpstr>
      <vt:lpstr>华文新魏</vt:lpstr>
      <vt:lpstr>宋体</vt:lpstr>
      <vt:lpstr>Arial</vt:lpstr>
      <vt:lpstr>Calibri</vt:lpstr>
      <vt:lpstr>Times New Roman</vt:lpstr>
      <vt:lpstr>Wingdings</vt:lpstr>
      <vt:lpstr>主题2</vt:lpstr>
      <vt:lpstr>自定义设计方案</vt:lpstr>
      <vt:lpstr>Equation</vt:lpstr>
      <vt:lpstr>离散数学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超 赵</cp:lastModifiedBy>
  <cp:revision>436</cp:revision>
  <dcterms:created xsi:type="dcterms:W3CDTF">2007-04-29T00:04:00Z</dcterms:created>
  <dcterms:modified xsi:type="dcterms:W3CDTF">2024-05-22T00:55:47Z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F0DB7DA5A5C2479391C785C74C557B69</vt:lpwstr>
  </property>
  <property fmtid="{D5CDD505-2E9C-101B-9397-08002B2CF9AE}" pid="3" name="KSOProductBuildVer">
    <vt:lpwstr>2052-11.1.0.14309</vt:lpwstr>
  </property>
</Properties>
</file>