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75" r:id="rId3"/>
    <p:sldMasterId id="2147483690" r:id="rId4"/>
  </p:sldMasterIdLst>
  <p:notesMasterIdLst>
    <p:notesMasterId r:id="rId39"/>
  </p:notesMasterIdLst>
  <p:sldIdLst>
    <p:sldId id="256" r:id="rId5"/>
    <p:sldId id="286" r:id="rId6"/>
    <p:sldId id="257" r:id="rId7"/>
    <p:sldId id="258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6" r:id="rId22"/>
    <p:sldId id="268" r:id="rId23"/>
    <p:sldId id="269" r:id="rId24"/>
    <p:sldId id="270" r:id="rId25"/>
    <p:sldId id="271" r:id="rId26"/>
    <p:sldId id="276" r:id="rId27"/>
    <p:sldId id="278" r:id="rId28"/>
    <p:sldId id="279" r:id="rId29"/>
    <p:sldId id="280" r:id="rId30"/>
    <p:sldId id="283" r:id="rId31"/>
    <p:sldId id="284" r:id="rId32"/>
    <p:sldId id="300" r:id="rId33"/>
    <p:sldId id="285" r:id="rId34"/>
    <p:sldId id="301" r:id="rId35"/>
    <p:sldId id="303" r:id="rId36"/>
    <p:sldId id="304" r:id="rId37"/>
    <p:sldId id="305" r:id="rId38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765" autoAdjust="0"/>
  </p:normalViewPr>
  <p:slideViewPr>
    <p:cSldViewPr>
      <p:cViewPr varScale="1">
        <p:scale>
          <a:sx n="72" d="100"/>
          <a:sy n="72" d="100"/>
        </p:scale>
        <p:origin x="112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C8A640-3C04-4A30-ACB4-835770F8B37D}" type="datetimeFigureOut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9510F-0C7E-449E-94AE-0C3A48EBD8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BDB41-E972-41F6-97CB-EA06D43D1F9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42360-F42F-4403-AFAB-31EE57EFE7B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F7E65-729B-4EA0-AF5E-2BB9B0DD1DE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F6498-9D41-4623-90C9-0DEFD3308C6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AF305-B70B-4068-937A-BA265C24EE1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21075-8535-4305-A606-BCC0D523D4F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B480B-B911-40DF-81D3-F0E8BA3EE69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AB351-5B48-403B-B0F1-9F7476C43DC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23E5A-009D-46C4-AEBB-BD1E4F648F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94C45-F66E-4A13-9D6B-B10905DA71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771CC-C7F3-4F8B-B396-4894FA102B2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BDB41-E972-41F6-97CB-EA06D43D1F9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42360-F42F-4403-AFAB-31EE57EFE7B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F7E65-729B-4EA0-AF5E-2BB9B0DD1DE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F6498-9D41-4623-90C9-0DEFD3308C6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AF305-B70B-4068-937A-BA265C24EE1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21075-8535-4305-A606-BCC0D523D4F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B480B-B911-40DF-81D3-F0E8BA3EE69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AB351-5B48-403B-B0F1-9F7476C43DC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23E5A-009D-46C4-AEBB-BD1E4F648F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94C45-F66E-4A13-9D6B-B10905DA71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771CC-C7F3-4F8B-B396-4894FA102B2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20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28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6" Type="http://schemas.openxmlformats.org/officeDocument/2006/relationships/oleObject" Target="../embeddings/oleObject2.bin"/><Relationship Id="rId20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9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750800" imgH="2324100" progId="">
                  <p:embed/>
                </p:oleObj>
              </mc:Choice>
              <mc:Fallback>
                <p:oleObj r:id="rId16" imgW="12750800" imgH="2324100" progId="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22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</a:p>
        </p:txBody>
      </p:sp>
      <p:pic>
        <p:nvPicPr>
          <p:cNvPr id="1124" name="Picture 25" descr="底部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5" name="Picture 26" descr="信息与电气工程学院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" name="Picture 29" descr="河北工程大学背景"/>
          <p:cNvPicPr>
            <a:picLocks noChangeAspect="1" noChangeArrowheads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8" name="Picture 30" descr="底部-河北工程大学"/>
          <p:cNvPicPr>
            <a:picLocks noChangeAspect="1" noChangeArrowheads="1"/>
          </p:cNvPicPr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33ED00BC-65FA-4040-9BA4-A22FF567B86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9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750800" imgH="2324100" progId="">
                  <p:embed/>
                </p:oleObj>
              </mc:Choice>
              <mc:Fallback>
                <p:oleObj r:id="rId16" imgW="12750800" imgH="2324100" progId="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22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</a:p>
        </p:txBody>
      </p:sp>
      <p:pic>
        <p:nvPicPr>
          <p:cNvPr id="1124" name="Picture 25" descr="底部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5" name="Picture 26" descr="信息与电气工程学院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" name="Picture 29" descr="河北工程大学背景"/>
          <p:cNvPicPr>
            <a:picLocks noChangeAspect="1" noChangeArrowheads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8" name="Picture 30" descr="底部-河北工程大学"/>
          <p:cNvPicPr>
            <a:picLocks noChangeAspect="1" noChangeArrowheads="1"/>
          </p:cNvPicPr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fld id="{33ED00BC-65FA-4040-9BA4-A22FF567B86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38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64904" y="2523674"/>
            <a:ext cx="3814192" cy="1470025"/>
          </a:xfrm>
        </p:spPr>
        <p:txBody>
          <a:bodyPr/>
          <a:lstStyle/>
          <a:p>
            <a:pPr algn="ctr"/>
            <a:r>
              <a:rPr lang="zh-CN" altLang="en-US" sz="6000" dirty="0">
                <a:solidFill>
                  <a:schemeClr val="tx1"/>
                </a:solidFill>
              </a:rPr>
              <a:t>离散数学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32040" y="3962921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latin typeface="仿宋" panose="02010609060101010101" pitchFamily="49" charset="-122"/>
                <a:ea typeface="仿宋" panose="02010609060101010101" pitchFamily="49" charset="-122"/>
              </a:rPr>
              <a:t>—</a:t>
            </a:r>
            <a:r>
              <a:rPr lang="zh-CN" altLang="en-US" sz="3600" b="1" dirty="0">
                <a:latin typeface="仿宋" panose="02010609060101010101" pitchFamily="49" charset="-122"/>
                <a:ea typeface="仿宋" panose="02010609060101010101" pitchFamily="49" charset="-122"/>
              </a:rPr>
              <a:t>课程介绍</a:t>
            </a:r>
          </a:p>
        </p:txBody>
      </p:sp>
      <p:sp>
        <p:nvSpPr>
          <p:cNvPr id="5" name="矩形 4"/>
          <p:cNvSpPr/>
          <p:nvPr/>
        </p:nvSpPr>
        <p:spPr>
          <a:xfrm>
            <a:off x="2934372" y="4941168"/>
            <a:ext cx="32752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软件工程系 赵超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 dirty="0"/>
              <a:t>教材：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800" dirty="0"/>
              <a:t>离散数学（第</a:t>
            </a:r>
            <a:r>
              <a:rPr lang="en-US" altLang="zh-CN" sz="2800" dirty="0"/>
              <a:t>4</a:t>
            </a:r>
            <a:r>
              <a:rPr lang="zh-CN" altLang="en-US" sz="2800" dirty="0"/>
              <a:t>版）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作者：邓辉文 编著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出版社：清华大学出版社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出版时间：</a:t>
            </a:r>
            <a:r>
              <a:rPr lang="en-US" altLang="zh-CN" sz="2800" dirty="0"/>
              <a:t>2019.12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“十二五”普通高等教育本科国家级规划教材</a:t>
            </a:r>
            <a:endParaRPr lang="en-US" altLang="zh-CN" sz="2800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268413"/>
            <a:ext cx="3923928" cy="5251543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412776"/>
            <a:ext cx="8459788" cy="377612"/>
          </a:xfrm>
        </p:spPr>
        <p:txBody>
          <a:bodyPr/>
          <a:lstStyle/>
          <a:p>
            <a:r>
              <a:rPr lang="zh-CN" altLang="en-US" sz="3200" dirty="0">
                <a:solidFill>
                  <a:schemeClr val="tx1"/>
                </a:solidFill>
              </a:rPr>
              <a:t>参考书：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03906"/>
            <a:ext cx="2052336" cy="2959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489383" y="5249905"/>
            <a:ext cx="4340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作者</a:t>
            </a:r>
            <a:r>
              <a:rPr lang="en-US" altLang="zh-CN" dirty="0"/>
              <a:t>:</a:t>
            </a:r>
            <a:r>
              <a:rPr lang="zh-CN" altLang="en-US" dirty="0"/>
              <a:t>屈婉玲、耿素云、张立昂</a:t>
            </a:r>
            <a:endParaRPr lang="en-US" altLang="zh-CN" dirty="0"/>
          </a:p>
          <a:p>
            <a:r>
              <a:rPr lang="zh-CN" altLang="en-US" dirty="0"/>
              <a:t>出版社</a:t>
            </a:r>
            <a:r>
              <a:rPr lang="en-US" altLang="zh-CN" dirty="0"/>
              <a:t>:</a:t>
            </a:r>
            <a:r>
              <a:rPr lang="zh-CN" altLang="en-US" dirty="0"/>
              <a:t>清华大学出版社</a:t>
            </a:r>
            <a:endParaRPr lang="en-US" altLang="zh-CN" dirty="0"/>
          </a:p>
          <a:p>
            <a:r>
              <a:rPr lang="zh-CN" altLang="en-US" dirty="0"/>
              <a:t>出版时间</a:t>
            </a:r>
            <a:r>
              <a:rPr lang="en-US" altLang="zh-CN" dirty="0"/>
              <a:t>:2014</a:t>
            </a:r>
            <a:r>
              <a:rPr lang="zh-CN" altLang="en-US" dirty="0"/>
              <a:t>年</a:t>
            </a:r>
            <a:r>
              <a:rPr lang="en-US" altLang="zh-CN" dirty="0"/>
              <a:t>01</a:t>
            </a:r>
            <a:r>
              <a:rPr lang="zh-CN" altLang="en-US" dirty="0"/>
              <a:t>月 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988840"/>
            <a:ext cx="2100890" cy="2974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5724128" y="5228516"/>
            <a:ext cx="31683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作者</a:t>
            </a:r>
            <a:r>
              <a:rPr lang="en-US" altLang="zh-CN" dirty="0"/>
              <a:t>:</a:t>
            </a:r>
            <a:r>
              <a:rPr lang="zh-CN" altLang="en-US" dirty="0"/>
              <a:t>傅彦，顾小丰，王庆先，刘启和</a:t>
            </a:r>
            <a:endParaRPr lang="en-US" altLang="zh-CN" dirty="0"/>
          </a:p>
          <a:p>
            <a:r>
              <a:rPr lang="zh-CN" altLang="en-US" dirty="0"/>
              <a:t>出版社</a:t>
            </a:r>
            <a:r>
              <a:rPr lang="en-US" altLang="zh-CN" dirty="0"/>
              <a:t>:</a:t>
            </a:r>
            <a:r>
              <a:rPr lang="zh-CN" altLang="en-US" dirty="0"/>
              <a:t>高等教育出版社</a:t>
            </a:r>
            <a:endParaRPr lang="en-US" altLang="zh-CN" dirty="0"/>
          </a:p>
          <a:p>
            <a:r>
              <a:rPr lang="zh-CN" altLang="en-US" dirty="0"/>
              <a:t>出版时间</a:t>
            </a:r>
            <a:r>
              <a:rPr lang="en-US" altLang="zh-CN" dirty="0"/>
              <a:t>:2013</a:t>
            </a:r>
            <a:r>
              <a:rPr lang="zh-CN" altLang="en-US" dirty="0"/>
              <a:t>年</a:t>
            </a:r>
            <a:r>
              <a:rPr lang="en-US" altLang="zh-CN" dirty="0"/>
              <a:t>06</a:t>
            </a:r>
            <a:r>
              <a:rPr lang="zh-CN" altLang="en-US" dirty="0"/>
              <a:t>月 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5" y="2003906"/>
            <a:ext cx="2448272" cy="298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《</a:t>
            </a:r>
            <a:r>
              <a:rPr lang="zh-CN" altLang="en-US" dirty="0"/>
              <a:t>离散数学</a:t>
            </a:r>
            <a:r>
              <a:rPr lang="en-US" altLang="zh-CN" dirty="0"/>
              <a:t>》</a:t>
            </a:r>
          </a:p>
          <a:p>
            <a:r>
              <a:rPr lang="zh-CN" altLang="en-US" dirty="0"/>
              <a:t>学时：</a:t>
            </a:r>
            <a:r>
              <a:rPr lang="en-US" altLang="zh-CN" dirty="0"/>
              <a:t>56       </a:t>
            </a:r>
            <a:r>
              <a:rPr lang="zh-CN" altLang="en-US" dirty="0"/>
              <a:t>学分：</a:t>
            </a:r>
            <a:r>
              <a:rPr lang="en-US" altLang="zh-CN" dirty="0"/>
              <a:t>3.5</a:t>
            </a:r>
          </a:p>
          <a:p>
            <a:r>
              <a:rPr lang="zh-CN" altLang="en-US" dirty="0"/>
              <a:t>考核方式：考试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最终考核成绩计算方法如下：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）平时考核：包括课堂出勤、课后作业完成情况。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）期末考核：期末闭卷考试。</a:t>
            </a:r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72157" y="1133872"/>
            <a:ext cx="2587675" cy="1143000"/>
          </a:xfrm>
        </p:spPr>
        <p:txBody>
          <a:bodyPr/>
          <a:lstStyle/>
          <a:p>
            <a:pPr algn="l"/>
            <a:r>
              <a:rPr lang="zh-CN" altLang="en-US" b="1" dirty="0">
                <a:solidFill>
                  <a:schemeClr val="tx1"/>
                </a:solidFill>
              </a:rPr>
              <a:t>本讲内容</a:t>
            </a:r>
          </a:p>
        </p:txBody>
      </p:sp>
      <p:grpSp>
        <p:nvGrpSpPr>
          <p:cNvPr id="68612" name="Group 4"/>
          <p:cNvGrpSpPr/>
          <p:nvPr/>
        </p:nvGrpSpPr>
        <p:grpSpPr bwMode="auto">
          <a:xfrm>
            <a:off x="1646682" y="2204863"/>
            <a:ext cx="5435600" cy="657225"/>
            <a:chOff x="1136" y="1101"/>
            <a:chExt cx="3424" cy="414"/>
          </a:xfrm>
        </p:grpSpPr>
        <p:sp>
          <p:nvSpPr>
            <p:cNvPr id="68617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8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191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>
                  <a:solidFill>
                    <a:srgbClr val="FF0000"/>
                  </a:solidFill>
                </a:rPr>
                <a:t>什么是离散数学</a:t>
              </a:r>
            </a:p>
          </p:txBody>
        </p:sp>
        <p:sp>
          <p:nvSpPr>
            <p:cNvPr id="68619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20" name="Group 12"/>
          <p:cNvGrpSpPr/>
          <p:nvPr/>
        </p:nvGrpSpPr>
        <p:grpSpPr bwMode="auto">
          <a:xfrm>
            <a:off x="1653727" y="3057209"/>
            <a:ext cx="5435600" cy="676276"/>
            <a:chOff x="1136" y="1665"/>
            <a:chExt cx="3424" cy="426"/>
          </a:xfrm>
        </p:grpSpPr>
        <p:sp>
          <p:nvSpPr>
            <p:cNvPr id="68625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6" name="Text Box 18"/>
            <p:cNvSpPr txBox="1">
              <a:spLocks noChangeArrowheads="1"/>
            </p:cNvSpPr>
            <p:nvPr/>
          </p:nvSpPr>
          <p:spPr bwMode="auto">
            <a:xfrm>
              <a:off x="2108" y="1665"/>
              <a:ext cx="21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为何要学离散数学</a:t>
              </a:r>
            </a:p>
          </p:txBody>
        </p:sp>
        <p:sp>
          <p:nvSpPr>
            <p:cNvPr id="68627" name="Text Box 19"/>
            <p:cNvSpPr txBox="1">
              <a:spLocks noChangeArrowheads="1"/>
            </p:cNvSpPr>
            <p:nvPr/>
          </p:nvSpPr>
          <p:spPr bwMode="gray">
            <a:xfrm>
              <a:off x="1136" y="1708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28" name="Group 20"/>
          <p:cNvGrpSpPr/>
          <p:nvPr/>
        </p:nvGrpSpPr>
        <p:grpSpPr bwMode="auto">
          <a:xfrm>
            <a:off x="1654695" y="3868346"/>
            <a:ext cx="5437188" cy="731838"/>
            <a:chOff x="1135" y="2239"/>
            <a:chExt cx="3425" cy="461"/>
          </a:xfrm>
        </p:grpSpPr>
        <p:sp>
          <p:nvSpPr>
            <p:cNvPr id="68633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4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离散数学的基本内容</a:t>
              </a:r>
            </a:p>
          </p:txBody>
        </p:sp>
        <p:sp>
          <p:nvSpPr>
            <p:cNvPr id="68635" name="Text Box 27"/>
            <p:cNvSpPr txBox="1">
              <a:spLocks noChangeArrowheads="1"/>
            </p:cNvSpPr>
            <p:nvPr/>
          </p:nvSpPr>
          <p:spPr bwMode="gray">
            <a:xfrm>
              <a:off x="1135" y="23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3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36" name="Group 28"/>
          <p:cNvGrpSpPr/>
          <p:nvPr/>
        </p:nvGrpSpPr>
        <p:grpSpPr bwMode="auto">
          <a:xfrm>
            <a:off x="1645095" y="4752851"/>
            <a:ext cx="5437188" cy="731837"/>
            <a:chOff x="1135" y="2815"/>
            <a:chExt cx="3425" cy="461"/>
          </a:xfrm>
        </p:grpSpPr>
        <p:sp>
          <p:nvSpPr>
            <p:cNvPr id="68641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2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学习离散数学的方法</a:t>
              </a:r>
            </a:p>
          </p:txBody>
        </p:sp>
        <p:sp>
          <p:nvSpPr>
            <p:cNvPr id="68643" name="Text Box 35"/>
            <p:cNvSpPr txBox="1">
              <a:spLocks noChangeArrowheads="1"/>
            </p:cNvSpPr>
            <p:nvPr/>
          </p:nvSpPr>
          <p:spPr bwMode="gray">
            <a:xfrm>
              <a:off x="1135" y="2908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4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44" name="Group 36"/>
          <p:cNvGrpSpPr/>
          <p:nvPr/>
        </p:nvGrpSpPr>
        <p:grpSpPr bwMode="auto">
          <a:xfrm>
            <a:off x="1655092" y="5596532"/>
            <a:ext cx="5437188" cy="731838"/>
            <a:chOff x="1135" y="2239"/>
            <a:chExt cx="3425" cy="461"/>
          </a:xfrm>
        </p:grpSpPr>
        <p:sp>
          <p:nvSpPr>
            <p:cNvPr id="68649" name="Line 41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0" name="Text Box 42"/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离散数学的学习资源</a:t>
              </a:r>
            </a:p>
          </p:txBody>
        </p:sp>
        <p:sp>
          <p:nvSpPr>
            <p:cNvPr id="68651" name="Text Box 43"/>
            <p:cNvSpPr txBox="1">
              <a:spLocks noChangeArrowheads="1"/>
            </p:cNvSpPr>
            <p:nvPr/>
          </p:nvSpPr>
          <p:spPr bwMode="gray">
            <a:xfrm>
              <a:off x="1135" y="23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5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离散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</a:rPr>
              <a:t>分离、分开、拆散、分散、</a:t>
            </a:r>
            <a:r>
              <a:rPr lang="en-US" altLang="zh-CN" b="1" dirty="0">
                <a:latin typeface="Times New Roman" panose="02020603050405020304" pitchFamily="18" charset="0"/>
              </a:rPr>
              <a:t>….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例如：正整数、 土豆、 苹果、 人、计算机等。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离散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 孤立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algn="just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例如：社会网络</a:t>
            </a:r>
            <a:r>
              <a:rPr lang="en-US" altLang="zh-CN" b="1" dirty="0">
                <a:latin typeface="Times New Roman" panose="02020603050405020304" pitchFamily="18" charset="0"/>
              </a:rPr>
              <a:t>(social networks)</a:t>
            </a:r>
            <a:r>
              <a:rPr lang="zh-CN" altLang="en-US" b="1" dirty="0">
                <a:latin typeface="Times New Roman" panose="02020603050405020304" pitchFamily="18" charset="0"/>
              </a:rPr>
              <a:t>研究人与人之间的关系</a:t>
            </a:r>
            <a:r>
              <a:rPr lang="en-US" altLang="zh-CN" b="1" dirty="0">
                <a:latin typeface="Times New Roman" panose="02020603050405020304" pitchFamily="18" charset="0"/>
              </a:rPr>
              <a:t>, Internet</a:t>
            </a:r>
            <a:r>
              <a:rPr lang="zh-CN" altLang="en-US" b="1" dirty="0">
                <a:latin typeface="Times New Roman" panose="02020603050405020304" pitchFamily="18" charset="0"/>
              </a:rPr>
              <a:t>研究计算机之间的关系</a:t>
            </a:r>
            <a:r>
              <a:rPr lang="en-US" altLang="zh-CN" b="1" dirty="0">
                <a:latin typeface="Times New Roman" panose="02020603050405020304" pitchFamily="18" charset="0"/>
              </a:rPr>
              <a:t>, WWW</a:t>
            </a:r>
            <a:r>
              <a:rPr lang="zh-CN" altLang="en-US" b="1" dirty="0">
                <a:latin typeface="Times New Roman" panose="02020603050405020304" pitchFamily="18" charset="0"/>
              </a:rPr>
              <a:t>研究网页之间的关系</a:t>
            </a:r>
            <a:r>
              <a:rPr lang="en-US" altLang="zh-CN" b="1" dirty="0">
                <a:latin typeface="Times New Roman" panose="02020603050405020304" pitchFamily="18" charset="0"/>
              </a:rPr>
              <a:t>, …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离散数学就是研究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离散对象</a:t>
            </a:r>
            <a:r>
              <a:rPr lang="zh-CN" altLang="en-US" b="1" dirty="0">
                <a:latin typeface="Times New Roman" panose="02020603050405020304" pitchFamily="18" charset="0"/>
              </a:rPr>
              <a:t>及其之间的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关系</a:t>
            </a:r>
            <a:r>
              <a:rPr lang="zh-CN" altLang="en-US" b="1" dirty="0">
                <a:latin typeface="Times New Roman" panose="02020603050405020304" pitchFamily="18" charset="0"/>
              </a:rPr>
              <a:t>的学科。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+mn-ea"/>
              </a:rPr>
              <a:t>实际上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科学研究的任务就是发现对象之间的内在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关系和规律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+mn-ea"/>
              </a:rPr>
              <a:t>离散数学是现代数学的重要分支。由于可用于描述计算机学科研究对象的离散性特点，因此，成为计算机专业的基础核心课程，是一门工具性学科。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72157" y="1133872"/>
            <a:ext cx="2587675" cy="1143000"/>
          </a:xfrm>
        </p:spPr>
        <p:txBody>
          <a:bodyPr/>
          <a:lstStyle/>
          <a:p>
            <a:pPr algn="l"/>
            <a:r>
              <a:rPr lang="zh-CN" altLang="en-US" b="1" dirty="0">
                <a:solidFill>
                  <a:schemeClr val="tx1"/>
                </a:solidFill>
              </a:rPr>
              <a:t>本章内容</a:t>
            </a:r>
          </a:p>
        </p:txBody>
      </p:sp>
      <p:grpSp>
        <p:nvGrpSpPr>
          <p:cNvPr id="68612" name="Group 4"/>
          <p:cNvGrpSpPr/>
          <p:nvPr/>
        </p:nvGrpSpPr>
        <p:grpSpPr bwMode="auto">
          <a:xfrm>
            <a:off x="1646682" y="2204863"/>
            <a:ext cx="5435600" cy="657225"/>
            <a:chOff x="1136" y="1101"/>
            <a:chExt cx="3424" cy="414"/>
          </a:xfrm>
        </p:grpSpPr>
        <p:sp>
          <p:nvSpPr>
            <p:cNvPr id="68617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8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191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什么是离散数学</a:t>
              </a:r>
            </a:p>
          </p:txBody>
        </p:sp>
        <p:sp>
          <p:nvSpPr>
            <p:cNvPr id="68619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20" name="Group 12"/>
          <p:cNvGrpSpPr/>
          <p:nvPr/>
        </p:nvGrpSpPr>
        <p:grpSpPr bwMode="auto">
          <a:xfrm>
            <a:off x="1653727" y="3046095"/>
            <a:ext cx="5435600" cy="687388"/>
            <a:chOff x="1136" y="1658"/>
            <a:chExt cx="3424" cy="433"/>
          </a:xfrm>
        </p:grpSpPr>
        <p:sp>
          <p:nvSpPr>
            <p:cNvPr id="68625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6" name="Text Box 18"/>
            <p:cNvSpPr txBox="1">
              <a:spLocks noChangeArrowheads="1"/>
            </p:cNvSpPr>
            <p:nvPr/>
          </p:nvSpPr>
          <p:spPr bwMode="auto">
            <a:xfrm>
              <a:off x="2131" y="1658"/>
              <a:ext cx="21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>
                  <a:solidFill>
                    <a:srgbClr val="FF0000"/>
                  </a:solidFill>
                </a:rPr>
                <a:t>为何要学离散数学</a:t>
              </a:r>
            </a:p>
          </p:txBody>
        </p:sp>
        <p:sp>
          <p:nvSpPr>
            <p:cNvPr id="68627" name="Text Box 19"/>
            <p:cNvSpPr txBox="1">
              <a:spLocks noChangeArrowheads="1"/>
            </p:cNvSpPr>
            <p:nvPr/>
          </p:nvSpPr>
          <p:spPr bwMode="gray">
            <a:xfrm>
              <a:off x="1136" y="1708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28" name="Group 20"/>
          <p:cNvGrpSpPr/>
          <p:nvPr/>
        </p:nvGrpSpPr>
        <p:grpSpPr bwMode="auto">
          <a:xfrm>
            <a:off x="1654695" y="3868346"/>
            <a:ext cx="5437188" cy="731838"/>
            <a:chOff x="1135" y="2239"/>
            <a:chExt cx="3425" cy="461"/>
          </a:xfrm>
        </p:grpSpPr>
        <p:sp>
          <p:nvSpPr>
            <p:cNvPr id="68633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4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离散数学的基本内容</a:t>
              </a:r>
            </a:p>
          </p:txBody>
        </p:sp>
        <p:sp>
          <p:nvSpPr>
            <p:cNvPr id="68635" name="Text Box 27"/>
            <p:cNvSpPr txBox="1">
              <a:spLocks noChangeArrowheads="1"/>
            </p:cNvSpPr>
            <p:nvPr/>
          </p:nvSpPr>
          <p:spPr bwMode="gray">
            <a:xfrm>
              <a:off x="1135" y="23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3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36" name="Group 28"/>
          <p:cNvGrpSpPr/>
          <p:nvPr/>
        </p:nvGrpSpPr>
        <p:grpSpPr bwMode="auto">
          <a:xfrm>
            <a:off x="1645095" y="4752851"/>
            <a:ext cx="5437188" cy="731837"/>
            <a:chOff x="1135" y="2815"/>
            <a:chExt cx="3425" cy="461"/>
          </a:xfrm>
        </p:grpSpPr>
        <p:sp>
          <p:nvSpPr>
            <p:cNvPr id="68641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2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学习离散数学的方法</a:t>
              </a:r>
            </a:p>
          </p:txBody>
        </p:sp>
        <p:sp>
          <p:nvSpPr>
            <p:cNvPr id="68643" name="Text Box 35"/>
            <p:cNvSpPr txBox="1">
              <a:spLocks noChangeArrowheads="1"/>
            </p:cNvSpPr>
            <p:nvPr/>
          </p:nvSpPr>
          <p:spPr bwMode="gray">
            <a:xfrm>
              <a:off x="1135" y="2908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4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44" name="Group 36"/>
          <p:cNvGrpSpPr/>
          <p:nvPr/>
        </p:nvGrpSpPr>
        <p:grpSpPr bwMode="auto">
          <a:xfrm>
            <a:off x="1655092" y="5596532"/>
            <a:ext cx="5437188" cy="731838"/>
            <a:chOff x="1135" y="2239"/>
            <a:chExt cx="3425" cy="461"/>
          </a:xfrm>
        </p:grpSpPr>
        <p:sp>
          <p:nvSpPr>
            <p:cNvPr id="68649" name="Line 41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0" name="Text Box 42"/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离散数学的学习资源</a:t>
              </a:r>
            </a:p>
          </p:txBody>
        </p:sp>
        <p:sp>
          <p:nvSpPr>
            <p:cNvPr id="68651" name="Text Box 43"/>
            <p:cNvSpPr txBox="1">
              <a:spLocks noChangeArrowheads="1"/>
            </p:cNvSpPr>
            <p:nvPr/>
          </p:nvSpPr>
          <p:spPr bwMode="gray">
            <a:xfrm>
              <a:off x="1135" y="23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5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当今计算机处理的对象均离散：</a:t>
            </a:r>
            <a:r>
              <a:rPr lang="en-US" altLang="zh-CN" dirty="0"/>
              <a:t> 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/>
              <a:t>培养各种能力：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抽象思维能力，逻辑思维能力，计算思维</a:t>
            </a:r>
            <a:r>
              <a:rPr lang="en-US" altLang="zh-CN" dirty="0"/>
              <a:t>(computational thinking, 2006, Jeannette M. Wing )</a:t>
            </a:r>
            <a:r>
              <a:rPr lang="zh-CN" altLang="en-US" dirty="0"/>
              <a:t>能力，</a:t>
            </a:r>
            <a:r>
              <a:rPr lang="en-US" altLang="zh-CN" dirty="0"/>
              <a:t>….</a:t>
            </a:r>
          </a:p>
          <a:p>
            <a:r>
              <a:rPr lang="en-US" altLang="zh-CN" dirty="0"/>
              <a:t>(3) </a:t>
            </a:r>
            <a:r>
              <a:rPr lang="zh-CN" altLang="en-US" dirty="0"/>
              <a:t>离散数学是计算机相关专业的</a:t>
            </a:r>
            <a:r>
              <a:rPr lang="zh-CN" altLang="en-US" dirty="0">
                <a:solidFill>
                  <a:srgbClr val="FF0000"/>
                </a:solidFill>
              </a:rPr>
              <a:t>专业基础课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(4) </a:t>
            </a:r>
            <a:r>
              <a:rPr lang="zh-CN" altLang="en-US" dirty="0"/>
              <a:t>为后继专业课程的学习作知识上的准备，对后续课程起到</a:t>
            </a:r>
            <a:r>
              <a:rPr lang="zh-CN" altLang="en-US" dirty="0">
                <a:solidFill>
                  <a:srgbClr val="FF0000"/>
                </a:solidFill>
              </a:rPr>
              <a:t>支撑作用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224" y="1340768"/>
            <a:ext cx="4488499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2720" y="1578804"/>
            <a:ext cx="440727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ea"/>
              </a:rPr>
              <a:t>（１）基础数学的延伸；</a:t>
            </a:r>
            <a:endParaRPr lang="en-US" altLang="zh-CN" sz="2400" dirty="0">
              <a:latin typeface="+mn-ea"/>
            </a:endParaRPr>
          </a:p>
          <a:p>
            <a:endParaRPr lang="en-US" altLang="zh-CN" sz="2400" dirty="0">
              <a:latin typeface="+mn-ea"/>
            </a:endParaRPr>
          </a:p>
          <a:p>
            <a:r>
              <a:rPr lang="zh-CN" altLang="en-US" sz="2400" dirty="0">
                <a:latin typeface="+mn-ea"/>
              </a:rPr>
              <a:t>（２）算法与数据结构的理论基础；</a:t>
            </a:r>
            <a:endParaRPr lang="en-US" altLang="zh-CN" sz="2400" dirty="0">
              <a:latin typeface="+mn-ea"/>
            </a:endParaRPr>
          </a:p>
          <a:p>
            <a:endParaRPr lang="en-US" altLang="zh-CN" sz="2400" dirty="0">
              <a:latin typeface="+mn-ea"/>
            </a:endParaRPr>
          </a:p>
          <a:p>
            <a:r>
              <a:rPr lang="zh-CN" altLang="en-US" sz="2400" dirty="0">
                <a:latin typeface="+mn-ea"/>
              </a:rPr>
              <a:t>（３）其他专业课程的描述和建模工具；</a:t>
            </a:r>
            <a:endParaRPr lang="en-US" altLang="zh-CN" sz="2400" dirty="0">
              <a:latin typeface="+mn-ea"/>
            </a:endParaRPr>
          </a:p>
          <a:p>
            <a:endParaRPr lang="en-US" altLang="zh-CN" sz="2400" b="1" dirty="0">
              <a:latin typeface="+mn-ea"/>
            </a:endParaRPr>
          </a:p>
          <a:p>
            <a:pPr marL="0" lvl="1"/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4</a:t>
            </a:r>
            <a:r>
              <a:rPr lang="zh-CN" altLang="en-US" sz="2400" dirty="0">
                <a:latin typeface="+mn-ea"/>
              </a:rPr>
              <a:t>）与数据结构、操作系统、编译系统、算法分析、逻辑设计、系统结构、容错诊断、机器证明、人工智能等课程有紧密联系。</a:t>
            </a: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72157" y="1133872"/>
            <a:ext cx="2587675" cy="1143000"/>
          </a:xfrm>
        </p:spPr>
        <p:txBody>
          <a:bodyPr/>
          <a:lstStyle/>
          <a:p>
            <a:pPr algn="l"/>
            <a:r>
              <a:rPr lang="zh-CN" altLang="en-US" b="1" dirty="0">
                <a:solidFill>
                  <a:schemeClr val="tx1"/>
                </a:solidFill>
              </a:rPr>
              <a:t>本章内容</a:t>
            </a:r>
          </a:p>
        </p:txBody>
      </p:sp>
      <p:grpSp>
        <p:nvGrpSpPr>
          <p:cNvPr id="68612" name="Group 4"/>
          <p:cNvGrpSpPr/>
          <p:nvPr/>
        </p:nvGrpSpPr>
        <p:grpSpPr bwMode="auto">
          <a:xfrm>
            <a:off x="1646682" y="2204863"/>
            <a:ext cx="5435600" cy="657225"/>
            <a:chOff x="1136" y="1101"/>
            <a:chExt cx="3424" cy="414"/>
          </a:xfrm>
        </p:grpSpPr>
        <p:sp>
          <p:nvSpPr>
            <p:cNvPr id="68617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8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191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什么是离散数学</a:t>
              </a:r>
            </a:p>
          </p:txBody>
        </p:sp>
        <p:sp>
          <p:nvSpPr>
            <p:cNvPr id="68619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20" name="Group 12"/>
          <p:cNvGrpSpPr/>
          <p:nvPr/>
        </p:nvGrpSpPr>
        <p:grpSpPr bwMode="auto">
          <a:xfrm>
            <a:off x="1653727" y="3046095"/>
            <a:ext cx="5435600" cy="687388"/>
            <a:chOff x="1136" y="1658"/>
            <a:chExt cx="3424" cy="433"/>
          </a:xfrm>
        </p:grpSpPr>
        <p:sp>
          <p:nvSpPr>
            <p:cNvPr id="68625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6" name="Text Box 18"/>
            <p:cNvSpPr txBox="1">
              <a:spLocks noChangeArrowheads="1"/>
            </p:cNvSpPr>
            <p:nvPr/>
          </p:nvSpPr>
          <p:spPr bwMode="auto">
            <a:xfrm>
              <a:off x="2125" y="1658"/>
              <a:ext cx="21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为何要学离散数学</a:t>
              </a:r>
            </a:p>
          </p:txBody>
        </p:sp>
        <p:sp>
          <p:nvSpPr>
            <p:cNvPr id="68627" name="Text Box 19"/>
            <p:cNvSpPr txBox="1">
              <a:spLocks noChangeArrowheads="1"/>
            </p:cNvSpPr>
            <p:nvPr/>
          </p:nvSpPr>
          <p:spPr bwMode="gray">
            <a:xfrm>
              <a:off x="1136" y="1708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28" name="Group 20"/>
          <p:cNvGrpSpPr/>
          <p:nvPr/>
        </p:nvGrpSpPr>
        <p:grpSpPr bwMode="auto">
          <a:xfrm>
            <a:off x="1654695" y="3868346"/>
            <a:ext cx="5437188" cy="731838"/>
            <a:chOff x="1135" y="2239"/>
            <a:chExt cx="3425" cy="461"/>
          </a:xfrm>
        </p:grpSpPr>
        <p:sp>
          <p:nvSpPr>
            <p:cNvPr id="68633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4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>
                  <a:solidFill>
                    <a:srgbClr val="FF0000"/>
                  </a:solidFill>
                </a:rPr>
                <a:t>离散数学的基本内容</a:t>
              </a:r>
            </a:p>
          </p:txBody>
        </p:sp>
        <p:sp>
          <p:nvSpPr>
            <p:cNvPr id="68635" name="Text Box 27"/>
            <p:cNvSpPr txBox="1">
              <a:spLocks noChangeArrowheads="1"/>
            </p:cNvSpPr>
            <p:nvPr/>
          </p:nvSpPr>
          <p:spPr bwMode="gray">
            <a:xfrm>
              <a:off x="1135" y="23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3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36" name="Group 28"/>
          <p:cNvGrpSpPr/>
          <p:nvPr/>
        </p:nvGrpSpPr>
        <p:grpSpPr bwMode="auto">
          <a:xfrm>
            <a:off x="1645095" y="4752851"/>
            <a:ext cx="5437188" cy="731837"/>
            <a:chOff x="1135" y="2815"/>
            <a:chExt cx="3425" cy="461"/>
          </a:xfrm>
        </p:grpSpPr>
        <p:sp>
          <p:nvSpPr>
            <p:cNvPr id="68641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2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学习离散数学的方法</a:t>
              </a:r>
            </a:p>
          </p:txBody>
        </p:sp>
        <p:sp>
          <p:nvSpPr>
            <p:cNvPr id="68643" name="Text Box 35"/>
            <p:cNvSpPr txBox="1">
              <a:spLocks noChangeArrowheads="1"/>
            </p:cNvSpPr>
            <p:nvPr/>
          </p:nvSpPr>
          <p:spPr bwMode="gray">
            <a:xfrm>
              <a:off x="1135" y="2908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4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44" name="Group 36"/>
          <p:cNvGrpSpPr/>
          <p:nvPr/>
        </p:nvGrpSpPr>
        <p:grpSpPr bwMode="auto">
          <a:xfrm>
            <a:off x="1655092" y="5596532"/>
            <a:ext cx="5437188" cy="731838"/>
            <a:chOff x="1135" y="2239"/>
            <a:chExt cx="3425" cy="461"/>
          </a:xfrm>
        </p:grpSpPr>
        <p:sp>
          <p:nvSpPr>
            <p:cNvPr id="68649" name="Line 41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0" name="Text Box 42"/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离散数学的学习资源</a:t>
              </a:r>
            </a:p>
          </p:txBody>
        </p:sp>
        <p:sp>
          <p:nvSpPr>
            <p:cNvPr id="68651" name="Text Box 43"/>
            <p:cNvSpPr txBox="1">
              <a:spLocks noChangeArrowheads="1"/>
            </p:cNvSpPr>
            <p:nvPr/>
          </p:nvSpPr>
          <p:spPr bwMode="gray">
            <a:xfrm>
              <a:off x="1135" y="23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5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/>
          </p:nvPr>
        </p:nvSpPr>
        <p:spPr>
          <a:xfrm>
            <a:off x="323850" y="1196752"/>
            <a:ext cx="8459788" cy="525643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集合与关系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Chapter 1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集合、映射与运算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Chapter 2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关系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数理逻辑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Chapter 3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命题逻辑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Chapter 4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谓词逻辑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3. </a:t>
            </a:r>
            <a:r>
              <a:rPr lang="zh-CN" altLang="en-US" sz="2000" b="1" dirty="0">
                <a:latin typeface="Times New Roman" panose="02020603050405020304" pitchFamily="18" charset="0"/>
              </a:rPr>
              <a:t>初等数论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Chapter 5 </a:t>
            </a:r>
            <a:r>
              <a:rPr lang="zh-CN" altLang="en-US" sz="2000" b="1" dirty="0">
                <a:latin typeface="Times New Roman" panose="02020603050405020304" pitchFamily="18" charset="0"/>
              </a:rPr>
              <a:t>初等数论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图论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Chapter 6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图论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Chapter 7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几类特殊的图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5. </a:t>
            </a:r>
            <a:r>
              <a:rPr lang="zh-CN" altLang="en-US" sz="2000" b="1" dirty="0">
                <a:latin typeface="Times New Roman" panose="02020603050405020304" pitchFamily="18" charset="0"/>
              </a:rPr>
              <a:t>组合计数、代数结构</a:t>
            </a:r>
            <a:r>
              <a:rPr lang="en-US" altLang="zh-CN" sz="2000" b="1">
                <a:latin typeface="Times New Roman" panose="02020603050405020304" pitchFamily="18" charset="0"/>
              </a:rPr>
              <a:t>(Chapter </a:t>
            </a:r>
            <a:r>
              <a:rPr lang="en-US" altLang="zh-CN" sz="2000" b="1" dirty="0">
                <a:latin typeface="Times New Roman" panose="02020603050405020304" pitchFamily="18" charset="0"/>
              </a:rPr>
              <a:t>8</a:t>
            </a:r>
            <a:r>
              <a:rPr lang="zh-CN" altLang="en-US" sz="2000" b="1" dirty="0">
                <a:latin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</a:rPr>
              <a:t>9)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60232" y="5587499"/>
            <a:ext cx="24929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标红的是主干内容；</a:t>
            </a:r>
            <a:endParaRPr lang="en-US" altLang="zh-CN" sz="2000" dirty="0"/>
          </a:p>
          <a:p>
            <a:r>
              <a:rPr lang="zh-CN" altLang="en-US" sz="2000" dirty="0"/>
              <a:t>黑色的是扩展内容。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r>
              <a:rPr lang="zh-CN" altLang="en-US" b="1" dirty="0"/>
              <a:t>各章内容之间的框架结构</a:t>
            </a:r>
            <a:r>
              <a:rPr lang="en-US" altLang="zh-CN" b="1" dirty="0"/>
              <a:t>: </a:t>
            </a:r>
          </a:p>
          <a:p>
            <a:endParaRPr lang="en-US" altLang="zh-CN" b="1" dirty="0"/>
          </a:p>
          <a:p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8275" y="2060575"/>
            <a:ext cx="8807450" cy="39560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zh-CN" altLang="en-US" b="1" dirty="0">
                <a:latin typeface="+mj-ea"/>
                <a:ea typeface="+mj-ea"/>
              </a:rPr>
              <a:t>集合论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zh-CN" altLang="en-US" dirty="0">
                <a:latin typeface="+mn-ea"/>
              </a:rPr>
              <a:t>是数学的重要分支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发展历程</a:t>
            </a:r>
            <a:endParaRPr lang="en-US" altLang="zh-CN" dirty="0">
              <a:latin typeface="+mn-ea"/>
            </a:endParaRPr>
          </a:p>
          <a:p>
            <a:pPr marL="457200" lvl="1" indent="0">
              <a:buNone/>
            </a:pPr>
            <a:r>
              <a:rPr lang="zh-CN" altLang="en-US" dirty="0">
                <a:latin typeface="+mn-ea"/>
              </a:rPr>
              <a:t>   起源于</a:t>
            </a:r>
            <a:r>
              <a:rPr lang="en-US" altLang="zh-CN" dirty="0">
                <a:latin typeface="+mn-ea"/>
              </a:rPr>
              <a:t>16</a:t>
            </a:r>
            <a:r>
              <a:rPr lang="zh-CN" altLang="en-US" dirty="0">
                <a:latin typeface="+mn-ea"/>
              </a:rPr>
              <a:t>世纪末。</a:t>
            </a:r>
            <a:endParaRPr lang="en-US" altLang="zh-CN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dirty="0">
                <a:latin typeface="+mn-ea"/>
              </a:rPr>
              <a:t>   G.</a:t>
            </a:r>
            <a:r>
              <a:rPr lang="zh-CN" altLang="en-US" dirty="0">
                <a:latin typeface="+mn-ea"/>
              </a:rPr>
              <a:t>康托尔是作为数学分支的集合论的奠基人。</a:t>
            </a:r>
            <a:endParaRPr lang="en-US" altLang="zh-CN" dirty="0">
              <a:latin typeface="+mn-ea"/>
            </a:endParaRPr>
          </a:p>
          <a:p>
            <a:pPr marL="457200" lvl="1" indent="0">
              <a:buNone/>
            </a:pPr>
            <a:r>
              <a:rPr lang="zh-CN" altLang="en-US" dirty="0">
                <a:latin typeface="+mn-ea"/>
              </a:rPr>
              <a:t>  集合论的现代公理化开始于</a:t>
            </a:r>
            <a:r>
              <a:rPr lang="en-US" altLang="zh-CN" dirty="0">
                <a:latin typeface="+mn-ea"/>
              </a:rPr>
              <a:t>1908</a:t>
            </a:r>
            <a:r>
              <a:rPr lang="zh-CN" altLang="en-US" dirty="0">
                <a:latin typeface="+mn-ea"/>
              </a:rPr>
              <a:t>年</a:t>
            </a:r>
            <a:r>
              <a:rPr lang="en-US" altLang="zh-CN" dirty="0">
                <a:latin typeface="+mn-ea"/>
              </a:rPr>
              <a:t>E.</a:t>
            </a:r>
            <a:r>
              <a:rPr lang="zh-CN" altLang="en-US" dirty="0">
                <a:latin typeface="+mn-ea"/>
              </a:rPr>
              <a:t>策梅罗所发表的一组公理，经过</a:t>
            </a:r>
            <a:r>
              <a:rPr lang="en-US" altLang="zh-CN" dirty="0">
                <a:latin typeface="+mn-ea"/>
              </a:rPr>
              <a:t>A.</a:t>
            </a:r>
            <a:r>
              <a:rPr lang="zh-CN" altLang="en-US" dirty="0">
                <a:latin typeface="+mn-ea"/>
              </a:rPr>
              <a:t>弗兰克尔的加工，这个系统称为策梅罗</a:t>
            </a:r>
            <a:r>
              <a:rPr lang="en-US" altLang="zh-CN" dirty="0">
                <a:latin typeface="+mn-ea"/>
              </a:rPr>
              <a:t>-</a:t>
            </a:r>
            <a:r>
              <a:rPr lang="zh-CN" altLang="en-US" dirty="0">
                <a:latin typeface="+mn-ea"/>
              </a:rPr>
              <a:t>弗兰克尔集合论。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例题：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        如果某个班有四个人，分别是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d</a:t>
            </a:r>
            <a:r>
              <a:rPr lang="zh-CN" altLang="en-US" dirty="0">
                <a:latin typeface="+mn-ea"/>
              </a:rPr>
              <a:t>，其中学习兴趣小组有三个人，分别是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，则可用集合形式</a:t>
            </a:r>
            <a:r>
              <a:rPr lang="en-US" altLang="zh-CN" dirty="0">
                <a:latin typeface="+mn-ea"/>
              </a:rPr>
              <a:t>{a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c}</a:t>
            </a:r>
            <a:r>
              <a:rPr lang="zh-CN" altLang="en-US" dirty="0">
                <a:latin typeface="+mn-ea"/>
              </a:rPr>
              <a:t>表示这个小组的人员组成。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>
                <a:latin typeface="+mn-ea"/>
              </a:rPr>
              <a:t>续以上内容：</a:t>
            </a:r>
            <a:endParaRPr lang="en-US" altLang="zh-CN" kern="0" dirty="0">
              <a:latin typeface="+mn-ea"/>
            </a:endParaRPr>
          </a:p>
          <a:p>
            <a:pPr marL="0" indent="0">
              <a:buNone/>
            </a:pPr>
            <a:r>
              <a:rPr lang="zh-CN" altLang="en-US" kern="0" dirty="0">
                <a:latin typeface="+mn-ea"/>
              </a:rPr>
              <a:t>        如果这个班的</a:t>
            </a:r>
            <a:r>
              <a:rPr lang="en-US" altLang="zh-CN" kern="0" dirty="0">
                <a:latin typeface="+mn-ea"/>
              </a:rPr>
              <a:t>a</a:t>
            </a:r>
            <a:r>
              <a:rPr lang="zh-CN" altLang="en-US" kern="0" dirty="0">
                <a:latin typeface="+mn-ea"/>
              </a:rPr>
              <a:t>、</a:t>
            </a:r>
            <a:r>
              <a:rPr lang="en-US" altLang="zh-CN" kern="0" dirty="0">
                <a:latin typeface="+mn-ea"/>
              </a:rPr>
              <a:t>b</a:t>
            </a:r>
            <a:r>
              <a:rPr lang="zh-CN" altLang="en-US" kern="0" dirty="0">
                <a:latin typeface="+mn-ea"/>
              </a:rPr>
              <a:t>与</a:t>
            </a:r>
            <a:r>
              <a:rPr lang="en-US" altLang="zh-CN" kern="0" dirty="0">
                <a:latin typeface="+mn-ea"/>
              </a:rPr>
              <a:t>d</a:t>
            </a:r>
            <a:r>
              <a:rPr lang="zh-CN" altLang="en-US" kern="0" dirty="0">
                <a:latin typeface="+mn-ea"/>
              </a:rPr>
              <a:t>组成体育活动小组，则可用集合形式</a:t>
            </a:r>
            <a:r>
              <a:rPr lang="en-US" altLang="zh-CN" kern="0" dirty="0">
                <a:latin typeface="+mn-ea"/>
              </a:rPr>
              <a:t>{a</a:t>
            </a:r>
            <a:r>
              <a:rPr lang="zh-CN" altLang="en-US" kern="0" dirty="0">
                <a:latin typeface="+mn-ea"/>
              </a:rPr>
              <a:t>，</a:t>
            </a:r>
            <a:r>
              <a:rPr lang="en-US" altLang="zh-CN" kern="0" dirty="0">
                <a:latin typeface="+mn-ea"/>
              </a:rPr>
              <a:t>b</a:t>
            </a:r>
            <a:r>
              <a:rPr lang="zh-CN" altLang="en-US" kern="0" dirty="0">
                <a:latin typeface="+mn-ea"/>
              </a:rPr>
              <a:t>，</a:t>
            </a:r>
            <a:r>
              <a:rPr lang="en-US" altLang="zh-CN" kern="0" dirty="0">
                <a:latin typeface="+mn-ea"/>
              </a:rPr>
              <a:t>d}</a:t>
            </a:r>
            <a:r>
              <a:rPr lang="zh-CN" altLang="en-US" kern="0" dirty="0">
                <a:latin typeface="+mn-ea"/>
              </a:rPr>
              <a:t>表示这个体育活动小组的人员组成。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>
            <a:spLocks noGrp="1"/>
          </p:cNvSpPr>
          <p:nvPr>
            <p:ph idx="1"/>
          </p:nvPr>
        </p:nvSpPr>
        <p:spPr bwMode="auto"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>
                <a:latin typeface="+mn-ea"/>
              </a:rPr>
              <a:t>续以上内容：</a:t>
            </a:r>
            <a:endParaRPr lang="en-US" altLang="zh-CN" kern="0" dirty="0">
              <a:latin typeface="+mn-ea"/>
            </a:endParaRPr>
          </a:p>
          <a:p>
            <a:pPr marL="0" indent="0">
              <a:buNone/>
            </a:pPr>
            <a:r>
              <a:rPr lang="zh-CN" altLang="en-US" kern="0" dirty="0">
                <a:latin typeface="+mn-ea"/>
              </a:rPr>
              <a:t>    既在学习兴趣小组又在体育活动小组的有谁呢？显然是</a:t>
            </a:r>
            <a:r>
              <a:rPr lang="en-US" altLang="zh-CN" kern="0" dirty="0">
                <a:latin typeface="+mn-ea"/>
              </a:rPr>
              <a:t>a</a:t>
            </a:r>
            <a:r>
              <a:rPr lang="zh-CN" altLang="en-US" kern="0" dirty="0">
                <a:latin typeface="+mn-ea"/>
              </a:rPr>
              <a:t>与</a:t>
            </a:r>
            <a:r>
              <a:rPr lang="en-US" altLang="zh-CN" kern="0" dirty="0">
                <a:latin typeface="+mn-ea"/>
              </a:rPr>
              <a:t>b</a:t>
            </a:r>
            <a:r>
              <a:rPr lang="zh-CN" altLang="en-US" kern="0" dirty="0">
                <a:latin typeface="+mn-ea"/>
              </a:rPr>
              <a:t>，可以用集合</a:t>
            </a:r>
            <a:r>
              <a:rPr lang="en-US" altLang="zh-CN" kern="0" dirty="0">
                <a:latin typeface="+mn-ea"/>
              </a:rPr>
              <a:t>{a</a:t>
            </a:r>
            <a:r>
              <a:rPr lang="zh-CN" altLang="en-US" kern="0" dirty="0">
                <a:latin typeface="+mn-ea"/>
              </a:rPr>
              <a:t>，</a:t>
            </a:r>
            <a:r>
              <a:rPr lang="en-US" altLang="zh-CN" kern="0" dirty="0">
                <a:latin typeface="+mn-ea"/>
              </a:rPr>
              <a:t>b}</a:t>
            </a:r>
            <a:r>
              <a:rPr lang="zh-CN" altLang="en-US" kern="0" dirty="0">
                <a:latin typeface="+mn-ea"/>
              </a:rPr>
              <a:t>表示。这个集合可以看作是前两个集合的交集，表示为：</a:t>
            </a:r>
            <a:endParaRPr lang="en-US" altLang="zh-CN" kern="0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{a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c}∩ {a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d}= {a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b}</a:t>
            </a:r>
            <a:endParaRPr lang="zh-CN" altLang="en-US" kern="0" dirty="0">
              <a:latin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268760"/>
            <a:ext cx="8459788" cy="1143000"/>
          </a:xfrm>
        </p:spPr>
        <p:txBody>
          <a:bodyPr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+mj-ea"/>
              </a:rPr>
              <a:t>关　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2636912"/>
            <a:ext cx="8474770" cy="3196952"/>
          </a:xfrm>
        </p:spPr>
        <p:txBody>
          <a:bodyPr/>
          <a:lstStyle/>
          <a:p>
            <a:pPr lvl="1"/>
            <a:r>
              <a:rPr lang="zh-CN" altLang="en-US" dirty="0">
                <a:latin typeface="+mn-ea"/>
              </a:rPr>
              <a:t>数学上，关系用于讨论数学对象之间的联系。</a:t>
            </a:r>
            <a:endParaRPr lang="en-US" altLang="zh-CN" dirty="0">
              <a:latin typeface="+mn-ea"/>
            </a:endParaRPr>
          </a:p>
          <a:p>
            <a:pPr marL="457200" lvl="1" indent="0">
              <a:buNone/>
            </a:pPr>
            <a:r>
              <a:rPr lang="zh-CN" altLang="en-US" dirty="0">
                <a:latin typeface="+mn-ea"/>
              </a:rPr>
              <a:t>例题：</a:t>
            </a:r>
            <a:endParaRPr lang="en-US" altLang="zh-CN" dirty="0">
              <a:latin typeface="+mn-ea"/>
            </a:endParaRPr>
          </a:p>
          <a:p>
            <a:pPr marL="457200" lvl="1" indent="0">
              <a:buNone/>
            </a:pPr>
            <a:r>
              <a:rPr lang="zh-CN" altLang="en-US" dirty="0"/>
              <a:t>　　有四件物件 </a:t>
            </a:r>
            <a:r>
              <a:rPr lang="en-US" altLang="zh-CN" dirty="0"/>
              <a:t>{</a:t>
            </a:r>
            <a:r>
              <a:rPr lang="zh-CN" altLang="en-US" dirty="0"/>
              <a:t>球，糖，车，枪</a:t>
            </a:r>
            <a:r>
              <a:rPr lang="en-US" altLang="zh-CN" dirty="0"/>
              <a:t>} </a:t>
            </a:r>
            <a:r>
              <a:rPr lang="zh-CN" altLang="en-US" dirty="0"/>
              <a:t>及四个人 </a:t>
            </a:r>
            <a:r>
              <a:rPr lang="en-US" altLang="zh-CN" dirty="0"/>
              <a:t>{</a:t>
            </a:r>
            <a:r>
              <a:rPr lang="zh-CN" altLang="en-US" dirty="0"/>
              <a:t>甲，乙，丙，丁</a:t>
            </a:r>
            <a:r>
              <a:rPr lang="en-US" altLang="zh-CN" dirty="0"/>
              <a:t>}</a:t>
            </a:r>
            <a:r>
              <a:rPr lang="zh-CN" altLang="en-US" dirty="0"/>
              <a:t>。 若甲拥有球，乙拥有糖，及丁拥有车。若将</a:t>
            </a:r>
            <a:r>
              <a:rPr lang="en-US" altLang="zh-CN" dirty="0"/>
              <a:t>“</a:t>
            </a:r>
            <a:r>
              <a:rPr lang="zh-CN" altLang="en-US" dirty="0"/>
              <a:t>为</a:t>
            </a:r>
            <a:r>
              <a:rPr lang="en-US" altLang="zh-CN" dirty="0"/>
              <a:t>...</a:t>
            </a:r>
            <a:r>
              <a:rPr lang="zh-CN" altLang="en-US" dirty="0"/>
              <a:t>拥有</a:t>
            </a:r>
            <a:r>
              <a:rPr lang="en-US" altLang="zh-CN" dirty="0"/>
              <a:t>”</a:t>
            </a:r>
            <a:r>
              <a:rPr lang="zh-CN" altLang="en-US" dirty="0"/>
              <a:t>看作一种关系Ｒ，则</a:t>
            </a:r>
            <a:r>
              <a:rPr lang="en-US" altLang="zh-CN" dirty="0"/>
              <a:t>R={</a:t>
            </a:r>
            <a:r>
              <a:rPr lang="zh-CN" altLang="en-US" dirty="0"/>
              <a:t>＜球</a:t>
            </a:r>
            <a:r>
              <a:rPr lang="en-US" altLang="zh-CN" dirty="0"/>
              <a:t>,</a:t>
            </a:r>
            <a:r>
              <a:rPr lang="zh-CN" altLang="en-US" dirty="0"/>
              <a:t>甲＞</a:t>
            </a:r>
            <a:r>
              <a:rPr lang="en-US" altLang="zh-CN" dirty="0"/>
              <a:t>, </a:t>
            </a:r>
            <a:r>
              <a:rPr lang="zh-CN" altLang="en-US" dirty="0"/>
              <a:t>＜糖</a:t>
            </a:r>
            <a:r>
              <a:rPr lang="en-US" altLang="zh-CN" dirty="0"/>
              <a:t>,</a:t>
            </a:r>
            <a:r>
              <a:rPr lang="zh-CN" altLang="en-US" dirty="0"/>
              <a:t>乙＞</a:t>
            </a:r>
            <a:r>
              <a:rPr lang="en-US" altLang="zh-CN" dirty="0"/>
              <a:t>, </a:t>
            </a:r>
            <a:r>
              <a:rPr lang="zh-CN" altLang="en-US" dirty="0"/>
              <a:t>＜车</a:t>
            </a:r>
            <a:r>
              <a:rPr lang="en-US" altLang="zh-CN" dirty="0"/>
              <a:t>,</a:t>
            </a:r>
            <a:r>
              <a:rPr lang="zh-CN" altLang="en-US" dirty="0"/>
              <a:t>丁＞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268760"/>
            <a:ext cx="8459788" cy="1143000"/>
          </a:xfrm>
        </p:spPr>
        <p:txBody>
          <a:bodyPr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+mj-ea"/>
              </a:rPr>
              <a:t>数理逻辑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2636912"/>
            <a:ext cx="8474770" cy="3196952"/>
          </a:xfrm>
        </p:spPr>
        <p:txBody>
          <a:bodyPr/>
          <a:lstStyle/>
          <a:p>
            <a:pPr lvl="1"/>
            <a:r>
              <a:rPr lang="zh-CN" altLang="en-US" dirty="0">
                <a:latin typeface="+mn-ea"/>
              </a:rPr>
              <a:t>利用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数学方法</a:t>
            </a:r>
            <a:r>
              <a:rPr lang="zh-CN" altLang="en-US" dirty="0">
                <a:latin typeface="+mn-ea"/>
              </a:rPr>
              <a:t>来研究推理规律的学科（一套符号体系</a:t>
            </a:r>
            <a:r>
              <a:rPr lang="en-US" altLang="zh-CN" dirty="0"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一组规则）。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+mn-ea"/>
              </a:rPr>
              <a:t>数学方法</a:t>
            </a:r>
            <a:r>
              <a:rPr lang="zh-CN" altLang="en-US" dirty="0">
                <a:latin typeface="+mn-ea"/>
              </a:rPr>
              <a:t>是指引进一套符号体系的方法，数理逻辑也称符号逻辑。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包括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命题逻辑</a:t>
            </a:r>
            <a:r>
              <a:rPr lang="zh-CN" altLang="en-US" dirty="0">
                <a:latin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谓词逻辑</a:t>
            </a:r>
            <a:r>
              <a:rPr lang="zh-CN" altLang="en-US" dirty="0">
                <a:latin typeface="+mn-ea"/>
              </a:rPr>
              <a:t>两部分。</a:t>
            </a:r>
            <a:endParaRPr lang="en-US" altLang="zh-CN" dirty="0">
              <a:latin typeface="+mn-ea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例题：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960" y="2298787"/>
            <a:ext cx="2592288" cy="2066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469" y="2628936"/>
            <a:ext cx="2588352" cy="174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614169" y="4372861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“甲住在北京”</a:t>
            </a:r>
          </a:p>
        </p:txBody>
      </p:sp>
      <p:sp>
        <p:nvSpPr>
          <p:cNvPr id="9" name="矩形 8"/>
          <p:cNvSpPr/>
          <p:nvPr/>
        </p:nvSpPr>
        <p:spPr>
          <a:xfrm>
            <a:off x="4924796" y="4380091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“甲住在中国”</a:t>
            </a:r>
          </a:p>
        </p:txBody>
      </p:sp>
      <p:sp>
        <p:nvSpPr>
          <p:cNvPr id="10" name="矩形 9"/>
          <p:cNvSpPr/>
          <p:nvPr/>
        </p:nvSpPr>
        <p:spPr>
          <a:xfrm>
            <a:off x="539552" y="5136959"/>
            <a:ext cx="81836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显然有 “如果甲住在北京，则甲住在中国”成立。</a:t>
            </a:r>
          </a:p>
        </p:txBody>
      </p:sp>
      <p:sp>
        <p:nvSpPr>
          <p:cNvPr id="11" name="矩形 10"/>
          <p:cNvSpPr/>
          <p:nvPr/>
        </p:nvSpPr>
        <p:spPr>
          <a:xfrm>
            <a:off x="900940" y="2100363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设有命题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 bwMode="auto">
          <a:xfrm>
            <a:off x="318333" y="1268413"/>
            <a:ext cx="8459788" cy="51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>
                <a:latin typeface="+mn-ea"/>
              </a:rPr>
              <a:t>续以上内容：</a:t>
            </a:r>
            <a:endParaRPr lang="en-US" altLang="zh-CN" kern="0" dirty="0">
              <a:latin typeface="+mn-ea"/>
            </a:endParaRPr>
          </a:p>
          <a:p>
            <a:endParaRPr lang="en-US" altLang="zh-CN" kern="0" dirty="0">
              <a:latin typeface="+mn-ea"/>
            </a:endParaRPr>
          </a:p>
          <a:p>
            <a:r>
              <a:rPr lang="en-US" altLang="zh-CN" kern="0" dirty="0">
                <a:latin typeface="+mn-ea"/>
              </a:rPr>
              <a:t>        P</a:t>
            </a:r>
            <a:r>
              <a:rPr lang="zh-CN" altLang="en-US" kern="0" dirty="0">
                <a:latin typeface="+mn-ea"/>
              </a:rPr>
              <a:t>表示“甲住在北京”，</a:t>
            </a:r>
            <a:endParaRPr lang="en-US" altLang="zh-CN" kern="0" dirty="0">
              <a:latin typeface="+mn-ea"/>
            </a:endParaRPr>
          </a:p>
          <a:p>
            <a:r>
              <a:rPr lang="en-US" altLang="zh-CN" kern="0" dirty="0">
                <a:latin typeface="+mn-ea"/>
              </a:rPr>
              <a:t>        Q</a:t>
            </a:r>
            <a:r>
              <a:rPr lang="zh-CN" altLang="en-US" kern="0" dirty="0">
                <a:latin typeface="+mn-ea"/>
              </a:rPr>
              <a:t>表示“甲住在中国”。</a:t>
            </a:r>
            <a:endParaRPr lang="en-US" altLang="zh-CN" kern="0" dirty="0">
              <a:latin typeface="+mn-ea"/>
            </a:endParaRPr>
          </a:p>
          <a:p>
            <a:endParaRPr lang="en-US" altLang="zh-CN" kern="0" dirty="0">
              <a:latin typeface="+mn-ea"/>
            </a:endParaRPr>
          </a:p>
          <a:p>
            <a:r>
              <a:rPr lang="en-US" altLang="zh-CN" kern="0" dirty="0">
                <a:latin typeface="+mn-ea"/>
              </a:rPr>
              <a:t>        </a:t>
            </a:r>
            <a:r>
              <a:rPr lang="zh-CN" altLang="en-US" kern="0" dirty="0">
                <a:latin typeface="+mn-ea"/>
              </a:rPr>
              <a:t>用</a:t>
            </a:r>
            <a:r>
              <a:rPr lang="en-US" altLang="zh-CN" kern="0" dirty="0">
                <a:latin typeface="+mn-ea"/>
              </a:rPr>
              <a:t>P→Q</a:t>
            </a:r>
            <a:r>
              <a:rPr lang="zh-CN" altLang="en-US" kern="0" dirty="0">
                <a:latin typeface="+mn-ea"/>
              </a:rPr>
              <a:t>表示“若甲住在北京，则甲住在中国”。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 bwMode="auto">
          <a:xfrm>
            <a:off x="318333" y="1268413"/>
            <a:ext cx="8459788" cy="51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>
                <a:latin typeface="+mn-ea"/>
              </a:rPr>
              <a:t>续以上内容：</a:t>
            </a:r>
            <a:endParaRPr lang="en-US" altLang="zh-CN" kern="0" dirty="0">
              <a:latin typeface="+mn-ea"/>
            </a:endParaRPr>
          </a:p>
          <a:p>
            <a:endParaRPr lang="en-US" altLang="zh-CN" kern="0" dirty="0">
              <a:latin typeface="+mn-ea"/>
            </a:endParaRPr>
          </a:p>
          <a:p>
            <a:r>
              <a:rPr lang="en-US" altLang="zh-CN" kern="0" dirty="0">
                <a:latin typeface="+mn-ea"/>
              </a:rPr>
              <a:t>        </a:t>
            </a:r>
            <a:r>
              <a:rPr lang="zh-CN" altLang="en-US" kern="0" dirty="0">
                <a:latin typeface="+mn-ea"/>
              </a:rPr>
              <a:t>推理形式可以表示如下：</a:t>
            </a:r>
            <a:endParaRPr lang="en-US" altLang="zh-CN" kern="0" dirty="0">
              <a:latin typeface="+mn-ea"/>
            </a:endParaRPr>
          </a:p>
          <a:p>
            <a:pPr marL="0" indent="0">
              <a:buNone/>
            </a:pPr>
            <a:r>
              <a:rPr lang="en-US" altLang="zh-CN" kern="0" dirty="0">
                <a:latin typeface="+mn-ea"/>
              </a:rPr>
              <a:t>           P→Q </a:t>
            </a:r>
            <a:r>
              <a:rPr lang="zh-CN" altLang="en-US" kern="0" dirty="0">
                <a:latin typeface="+mn-ea"/>
              </a:rPr>
              <a:t>为真</a:t>
            </a:r>
            <a:endParaRPr lang="en-US" altLang="zh-CN" kern="0" dirty="0">
              <a:latin typeface="+mn-ea"/>
            </a:endParaRPr>
          </a:p>
          <a:p>
            <a:pPr marL="0" indent="0">
              <a:buNone/>
            </a:pPr>
            <a:r>
              <a:rPr lang="en-US" altLang="zh-CN" kern="0" dirty="0">
                <a:latin typeface="+mn-ea"/>
              </a:rPr>
              <a:t>           P</a:t>
            </a:r>
            <a:r>
              <a:rPr lang="zh-CN" altLang="en-US" kern="0" dirty="0">
                <a:latin typeface="+mn-ea"/>
              </a:rPr>
              <a:t>为真</a:t>
            </a:r>
            <a:endParaRPr lang="en-US" altLang="zh-CN" kern="0" dirty="0">
              <a:latin typeface="+mn-ea"/>
            </a:endParaRPr>
          </a:p>
          <a:p>
            <a:pPr marL="0" indent="0">
              <a:buNone/>
            </a:pPr>
            <a:r>
              <a:rPr lang="en-US" altLang="zh-CN" kern="0" dirty="0">
                <a:latin typeface="+mn-ea"/>
              </a:rPr>
              <a:t>           </a:t>
            </a:r>
            <a:r>
              <a:rPr lang="zh-CN" altLang="en-US" kern="0" dirty="0">
                <a:latin typeface="+mn-ea"/>
              </a:rPr>
              <a:t>则可推出</a:t>
            </a:r>
            <a:r>
              <a:rPr lang="en-US" altLang="zh-CN" kern="0" dirty="0">
                <a:latin typeface="+mn-ea"/>
              </a:rPr>
              <a:t>Q</a:t>
            </a:r>
            <a:r>
              <a:rPr lang="zh-CN" altLang="en-US" kern="0" dirty="0">
                <a:latin typeface="+mn-ea"/>
              </a:rPr>
              <a:t>为真。</a:t>
            </a:r>
            <a:endParaRPr lang="en-US" altLang="zh-CN" kern="0" dirty="0">
              <a:latin typeface="+mn-ea"/>
            </a:endParaRPr>
          </a:p>
          <a:p>
            <a:pPr marL="0" indent="0">
              <a:buNone/>
            </a:pPr>
            <a:r>
              <a:rPr lang="en-US" altLang="zh-CN" kern="0" dirty="0">
                <a:latin typeface="+mn-ea"/>
              </a:rPr>
              <a:t>           </a:t>
            </a:r>
            <a:r>
              <a:rPr lang="zh-CN" altLang="en-US" kern="0" dirty="0">
                <a:latin typeface="+mn-ea"/>
              </a:rPr>
              <a:t>可抽象地写成</a:t>
            </a:r>
            <a:endParaRPr lang="en-US" altLang="zh-CN" kern="0" dirty="0">
              <a:latin typeface="+mn-ea"/>
            </a:endParaRPr>
          </a:p>
          <a:p>
            <a:pPr marL="0" indent="0">
              <a:buNone/>
            </a:pPr>
            <a:r>
              <a:rPr lang="en-US" altLang="zh-CN" kern="0" dirty="0">
                <a:latin typeface="+mn-ea"/>
              </a:rPr>
              <a:t>           </a:t>
            </a:r>
            <a:r>
              <a:rPr lang="zh-CN" altLang="en-US" kern="0" dirty="0">
                <a:latin typeface="+mn-ea"/>
              </a:rPr>
              <a:t>（</a:t>
            </a:r>
            <a:r>
              <a:rPr lang="en-US" altLang="zh-CN" kern="0" dirty="0">
                <a:latin typeface="+mn-ea"/>
              </a:rPr>
              <a:t>P→Q</a:t>
            </a:r>
            <a:r>
              <a:rPr lang="zh-CN" altLang="en-US" kern="0" dirty="0">
                <a:latin typeface="+mn-ea"/>
              </a:rPr>
              <a:t>）∧</a:t>
            </a:r>
            <a:r>
              <a:rPr lang="en-US" altLang="zh-CN" kern="0" dirty="0">
                <a:latin typeface="+mn-ea"/>
              </a:rPr>
              <a:t>P =〉Q</a:t>
            </a:r>
            <a:endParaRPr lang="zh-CN" altLang="en-US" kern="0" dirty="0">
              <a:latin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zh-CN" b="1" dirty="0">
                <a:latin typeface="+mj-ea"/>
                <a:ea typeface="+mj-ea"/>
              </a:rPr>
              <a:t> </a:t>
            </a:r>
            <a:r>
              <a:rPr lang="zh-CN" altLang="en-US" b="1" dirty="0">
                <a:latin typeface="+mj-ea"/>
                <a:ea typeface="+mj-ea"/>
              </a:rPr>
              <a:t>图  论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n-ea"/>
              </a:rPr>
              <a:t>是一门应用广泛内容丰富的数学分支。</a:t>
            </a:r>
            <a:endParaRPr lang="en-US" altLang="zh-CN" sz="28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人们常称</a:t>
            </a:r>
            <a:r>
              <a:rPr lang="en-US" altLang="zh-CN" sz="2400" dirty="0">
                <a:latin typeface="+mn-ea"/>
              </a:rPr>
              <a:t>1736</a:t>
            </a:r>
            <a:r>
              <a:rPr lang="zh-CN" altLang="en-US" sz="2400" dirty="0">
                <a:latin typeface="+mn-ea"/>
              </a:rPr>
              <a:t>年是图论历史元年，因为在这一年瑞士数学家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欧拉（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Euler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）</a:t>
            </a:r>
            <a:r>
              <a:rPr lang="zh-CN" altLang="en-US" sz="2400" dirty="0">
                <a:latin typeface="+mn-ea"/>
              </a:rPr>
              <a:t>发表了图论的首篇论文</a:t>
            </a:r>
            <a:r>
              <a:rPr lang="en-US" altLang="zh-CN" sz="2400" dirty="0">
                <a:latin typeface="+mn-ea"/>
              </a:rPr>
              <a:t>——《</a:t>
            </a:r>
            <a:r>
              <a:rPr lang="zh-CN" altLang="en-US" sz="2400" dirty="0">
                <a:latin typeface="+mn-ea"/>
              </a:rPr>
              <a:t>哥尼斯堡七桥问题无解</a:t>
            </a:r>
            <a:r>
              <a:rPr lang="en-US" altLang="zh-CN" sz="2400" dirty="0">
                <a:latin typeface="+mn-ea"/>
              </a:rPr>
              <a:t>》</a:t>
            </a:r>
            <a:r>
              <a:rPr lang="zh-CN" altLang="en-US" sz="2400" dirty="0">
                <a:latin typeface="+mn-ea"/>
              </a:rPr>
              <a:t>，所以人们普遍认为欧拉是图论的创始人。（欧拉路问题、一笔画问题）。</a:t>
            </a:r>
            <a:endParaRPr lang="en-US" altLang="zh-CN" sz="24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图论在许多领域，诸如，计算机科学、物理学、化学、运筹学、信息论、控制论、网络通讯、社会科学以及经济管理、军事、国防、工农业生产等方面都得到广泛的应用，也正是因为在众多方面的应用中，图论自身才得到了非常迅速的发展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609" y="1844824"/>
            <a:ext cx="4671959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726" y="4103404"/>
            <a:ext cx="1656184" cy="190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539552" y="1825923"/>
            <a:ext cx="36724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800" dirty="0">
                <a:latin typeface="+mn-ea"/>
              </a:rPr>
              <a:t>1847</a:t>
            </a:r>
            <a:r>
              <a:rPr lang="zh-CN" altLang="en-US" sz="2800" dirty="0">
                <a:latin typeface="+mn-ea"/>
              </a:rPr>
              <a:t>年，基尔霍夫（</a:t>
            </a:r>
            <a:r>
              <a:rPr lang="en-US" altLang="zh-CN" sz="2800" dirty="0" err="1">
                <a:latin typeface="+mn-ea"/>
              </a:rPr>
              <a:t>Kirchhof</a:t>
            </a:r>
            <a:r>
              <a:rPr lang="zh-CN" altLang="en-US" sz="2800" dirty="0">
                <a:latin typeface="+mn-ea"/>
              </a:rPr>
              <a:t>）运用图论的方法，引进“树”的概念，解决了电路理论中求解联立方程问题。</a:t>
            </a:r>
          </a:p>
        </p:txBody>
      </p:sp>
      <p:sp>
        <p:nvSpPr>
          <p:cNvPr id="5" name="矩形 4"/>
          <p:cNvSpPr/>
          <p:nvPr/>
        </p:nvSpPr>
        <p:spPr>
          <a:xfrm>
            <a:off x="2951820" y="600094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基尔霍夫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27584" y="2204864"/>
            <a:ext cx="71287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+mn-ea"/>
              </a:rPr>
              <a:t>    1857</a:t>
            </a:r>
            <a:r>
              <a:rPr lang="zh-CN" altLang="en-US" sz="2800" dirty="0">
                <a:latin typeface="+mn-ea"/>
              </a:rPr>
              <a:t>年，凯莱（</a:t>
            </a:r>
            <a:r>
              <a:rPr lang="en-US" altLang="zh-CN" sz="2800" dirty="0">
                <a:latin typeface="+mn-ea"/>
              </a:rPr>
              <a:t>Cayley</a:t>
            </a:r>
            <a:r>
              <a:rPr lang="zh-CN" altLang="en-US" sz="2800" dirty="0">
                <a:latin typeface="+mn-ea"/>
              </a:rPr>
              <a:t>）在有机化学领域发现一族重要的图，即树，并应用树来计算饱和氢化物</a:t>
            </a:r>
            <a:r>
              <a:rPr lang="en-US" altLang="zh-CN" sz="2800" dirty="0">
                <a:latin typeface="+mn-ea"/>
              </a:rPr>
              <a:t>C</a:t>
            </a:r>
            <a:r>
              <a:rPr lang="en-US" altLang="zh-CN" dirty="0">
                <a:latin typeface="+mn-ea"/>
              </a:rPr>
              <a:t>n</a:t>
            </a:r>
            <a:r>
              <a:rPr lang="en-US" altLang="zh-CN" sz="2800" dirty="0">
                <a:latin typeface="+mn-ea"/>
              </a:rPr>
              <a:t>H</a:t>
            </a:r>
            <a:r>
              <a:rPr lang="en-US" altLang="zh-CN" dirty="0">
                <a:latin typeface="+mn-ea"/>
              </a:rPr>
              <a:t>2n+2</a:t>
            </a:r>
            <a:r>
              <a:rPr lang="zh-CN" altLang="en-US" sz="2800" dirty="0">
                <a:latin typeface="+mn-ea"/>
              </a:rPr>
              <a:t>的同分异构体数目。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123" y="3636021"/>
            <a:ext cx="1871786" cy="1944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6815960" y="558049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凯莱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6396" y="1588725"/>
            <a:ext cx="41276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 dirty="0">
                <a:latin typeface="+mn-ea"/>
              </a:rPr>
              <a:t>早期图论发展与数学游戏相关，如有汉密尔顿的“周游世界问题”、“四色问题”等。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840" y="4438764"/>
            <a:ext cx="1634480" cy="2075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7452320" y="614496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汉密尔顿</a:t>
            </a:r>
            <a:endParaRPr lang="zh-CN" altLang="en-US" dirty="0"/>
          </a:p>
        </p:txBody>
      </p:sp>
      <p:pic>
        <p:nvPicPr>
          <p:cNvPr id="7" name="Picture 2" descr="D:\My Documents\My Pictures\暴风截屏20120211160232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544" y="1268760"/>
            <a:ext cx="4104456" cy="3078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:\My Documents\My Pictures\暴风截屏20120211160308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18" y="3381781"/>
            <a:ext cx="4176682" cy="313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323850" y="1268413"/>
            <a:ext cx="8459788" cy="518477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>
                <a:latin typeface="+mn-ea"/>
              </a:rPr>
              <a:t>例题：</a:t>
            </a:r>
            <a:endParaRPr lang="en-US" altLang="zh-CN" kern="0" dirty="0">
              <a:latin typeface="+mn-ea"/>
            </a:endParaRPr>
          </a:p>
          <a:p>
            <a:pPr marL="0" indent="0">
              <a:buNone/>
            </a:pPr>
            <a:r>
              <a:rPr lang="en-US" altLang="zh-CN" kern="0" dirty="0">
                <a:latin typeface="+mn-ea"/>
              </a:rPr>
              <a:t>	</a:t>
            </a:r>
            <a:r>
              <a:rPr lang="zh-CN" altLang="en-US" kern="0" dirty="0">
                <a:latin typeface="+mn-ea"/>
              </a:rPr>
              <a:t>用一个树形图来表示家庭成员之间的辈分关系。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988440"/>
            <a:ext cx="4060931" cy="2548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323850" y="1268413"/>
            <a:ext cx="8459788" cy="518477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32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8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>
                <a:latin typeface="+mn-ea"/>
              </a:rPr>
              <a:t>例题：</a:t>
            </a:r>
            <a:endParaRPr lang="en-US" altLang="zh-CN" kern="0" dirty="0">
              <a:latin typeface="+mn-ea"/>
            </a:endParaRPr>
          </a:p>
          <a:p>
            <a:pPr marL="0" indent="0">
              <a:buNone/>
            </a:pPr>
            <a:r>
              <a:rPr lang="en-US" altLang="zh-CN" kern="0" dirty="0">
                <a:latin typeface="+mn-ea"/>
              </a:rPr>
              <a:t>	</a:t>
            </a:r>
            <a:r>
              <a:rPr lang="zh-CN" altLang="en-US" kern="0" dirty="0">
                <a:latin typeface="+mn-ea"/>
              </a:rPr>
              <a:t>城市间道路连接状况图。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181" y="2909974"/>
            <a:ext cx="5507125" cy="273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72157" y="1133872"/>
            <a:ext cx="2587675" cy="1143000"/>
          </a:xfrm>
        </p:spPr>
        <p:txBody>
          <a:bodyPr/>
          <a:lstStyle/>
          <a:p>
            <a:pPr algn="l"/>
            <a:r>
              <a:rPr lang="zh-CN" altLang="en-US" b="1" dirty="0">
                <a:solidFill>
                  <a:schemeClr val="tx1"/>
                </a:solidFill>
              </a:rPr>
              <a:t>本章内容</a:t>
            </a:r>
          </a:p>
        </p:txBody>
      </p:sp>
      <p:grpSp>
        <p:nvGrpSpPr>
          <p:cNvPr id="68612" name="Group 4"/>
          <p:cNvGrpSpPr/>
          <p:nvPr/>
        </p:nvGrpSpPr>
        <p:grpSpPr bwMode="auto">
          <a:xfrm>
            <a:off x="1646682" y="2204863"/>
            <a:ext cx="5435600" cy="657225"/>
            <a:chOff x="1136" y="1101"/>
            <a:chExt cx="3424" cy="414"/>
          </a:xfrm>
        </p:grpSpPr>
        <p:sp>
          <p:nvSpPr>
            <p:cNvPr id="68617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8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191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什么是离散数学</a:t>
              </a:r>
            </a:p>
          </p:txBody>
        </p:sp>
        <p:sp>
          <p:nvSpPr>
            <p:cNvPr id="68619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20" name="Group 12"/>
          <p:cNvGrpSpPr/>
          <p:nvPr/>
        </p:nvGrpSpPr>
        <p:grpSpPr bwMode="auto">
          <a:xfrm>
            <a:off x="1653727" y="3077845"/>
            <a:ext cx="5435600" cy="655638"/>
            <a:chOff x="1136" y="1678"/>
            <a:chExt cx="3424" cy="413"/>
          </a:xfrm>
        </p:grpSpPr>
        <p:sp>
          <p:nvSpPr>
            <p:cNvPr id="68625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6" name="Text Box 18"/>
            <p:cNvSpPr txBox="1">
              <a:spLocks noChangeArrowheads="1"/>
            </p:cNvSpPr>
            <p:nvPr/>
          </p:nvSpPr>
          <p:spPr bwMode="auto">
            <a:xfrm>
              <a:off x="2106" y="1678"/>
              <a:ext cx="21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为何要学离散数学</a:t>
              </a:r>
            </a:p>
          </p:txBody>
        </p:sp>
        <p:sp>
          <p:nvSpPr>
            <p:cNvPr id="68627" name="Text Box 19"/>
            <p:cNvSpPr txBox="1">
              <a:spLocks noChangeArrowheads="1"/>
            </p:cNvSpPr>
            <p:nvPr/>
          </p:nvSpPr>
          <p:spPr bwMode="gray">
            <a:xfrm>
              <a:off x="1136" y="1708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28" name="Group 20"/>
          <p:cNvGrpSpPr/>
          <p:nvPr/>
        </p:nvGrpSpPr>
        <p:grpSpPr bwMode="auto">
          <a:xfrm>
            <a:off x="1654695" y="3868346"/>
            <a:ext cx="5437188" cy="731838"/>
            <a:chOff x="1135" y="2239"/>
            <a:chExt cx="3425" cy="461"/>
          </a:xfrm>
        </p:grpSpPr>
        <p:sp>
          <p:nvSpPr>
            <p:cNvPr id="68633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4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离散数学的基本内容</a:t>
              </a:r>
            </a:p>
          </p:txBody>
        </p:sp>
        <p:sp>
          <p:nvSpPr>
            <p:cNvPr id="68635" name="Text Box 27"/>
            <p:cNvSpPr txBox="1">
              <a:spLocks noChangeArrowheads="1"/>
            </p:cNvSpPr>
            <p:nvPr/>
          </p:nvSpPr>
          <p:spPr bwMode="gray">
            <a:xfrm>
              <a:off x="1135" y="23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3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36" name="Group 28"/>
          <p:cNvGrpSpPr/>
          <p:nvPr/>
        </p:nvGrpSpPr>
        <p:grpSpPr bwMode="auto">
          <a:xfrm>
            <a:off x="1645095" y="4752851"/>
            <a:ext cx="5437188" cy="731837"/>
            <a:chOff x="1135" y="2815"/>
            <a:chExt cx="3425" cy="461"/>
          </a:xfrm>
        </p:grpSpPr>
        <p:sp>
          <p:nvSpPr>
            <p:cNvPr id="68641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2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>
                  <a:solidFill>
                    <a:srgbClr val="FF0000"/>
                  </a:solidFill>
                </a:rPr>
                <a:t>学习离散数学的方法</a:t>
              </a:r>
            </a:p>
          </p:txBody>
        </p:sp>
        <p:sp>
          <p:nvSpPr>
            <p:cNvPr id="68643" name="Text Box 35"/>
            <p:cNvSpPr txBox="1">
              <a:spLocks noChangeArrowheads="1"/>
            </p:cNvSpPr>
            <p:nvPr/>
          </p:nvSpPr>
          <p:spPr bwMode="gray">
            <a:xfrm>
              <a:off x="1135" y="2908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4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44" name="Group 36"/>
          <p:cNvGrpSpPr/>
          <p:nvPr/>
        </p:nvGrpSpPr>
        <p:grpSpPr bwMode="auto">
          <a:xfrm>
            <a:off x="1655092" y="5596532"/>
            <a:ext cx="5437188" cy="731838"/>
            <a:chOff x="1135" y="2239"/>
            <a:chExt cx="3425" cy="461"/>
          </a:xfrm>
        </p:grpSpPr>
        <p:sp>
          <p:nvSpPr>
            <p:cNvPr id="68649" name="Line 41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0" name="Text Box 42"/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离散数学的学习资源</a:t>
              </a:r>
            </a:p>
          </p:txBody>
        </p:sp>
        <p:sp>
          <p:nvSpPr>
            <p:cNvPr id="68651" name="Text Box 43"/>
            <p:cNvSpPr txBox="1">
              <a:spLocks noChangeArrowheads="1"/>
            </p:cNvSpPr>
            <p:nvPr/>
          </p:nvSpPr>
          <p:spPr bwMode="gray">
            <a:xfrm>
              <a:off x="1135" y="23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5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latin typeface="+mn-ea"/>
              </a:rPr>
              <a:t>总体把握课程内容的结构。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理解与掌握基本概念及其间的关联。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了解有关重要结论的含义及其应用。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完成适量的相关练习。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72157" y="1133872"/>
            <a:ext cx="2587675" cy="1143000"/>
          </a:xfrm>
        </p:spPr>
        <p:txBody>
          <a:bodyPr/>
          <a:lstStyle/>
          <a:p>
            <a:pPr algn="l"/>
            <a:r>
              <a:rPr lang="zh-CN" altLang="en-US" b="1" dirty="0">
                <a:solidFill>
                  <a:schemeClr val="tx1"/>
                </a:solidFill>
              </a:rPr>
              <a:t>本章内容</a:t>
            </a:r>
          </a:p>
        </p:txBody>
      </p:sp>
      <p:grpSp>
        <p:nvGrpSpPr>
          <p:cNvPr id="68612" name="Group 4"/>
          <p:cNvGrpSpPr/>
          <p:nvPr/>
        </p:nvGrpSpPr>
        <p:grpSpPr bwMode="auto">
          <a:xfrm>
            <a:off x="1646682" y="2204863"/>
            <a:ext cx="5435600" cy="657225"/>
            <a:chOff x="1136" y="1101"/>
            <a:chExt cx="3424" cy="414"/>
          </a:xfrm>
        </p:grpSpPr>
        <p:sp>
          <p:nvSpPr>
            <p:cNvPr id="68617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8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191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什么是离散数学</a:t>
              </a:r>
            </a:p>
          </p:txBody>
        </p:sp>
        <p:sp>
          <p:nvSpPr>
            <p:cNvPr id="68619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20" name="Group 12"/>
          <p:cNvGrpSpPr/>
          <p:nvPr/>
        </p:nvGrpSpPr>
        <p:grpSpPr bwMode="auto">
          <a:xfrm>
            <a:off x="1653727" y="3046095"/>
            <a:ext cx="5435600" cy="687388"/>
            <a:chOff x="1136" y="1658"/>
            <a:chExt cx="3424" cy="433"/>
          </a:xfrm>
        </p:grpSpPr>
        <p:sp>
          <p:nvSpPr>
            <p:cNvPr id="68625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6" name="Text Box 18"/>
            <p:cNvSpPr txBox="1">
              <a:spLocks noChangeArrowheads="1"/>
            </p:cNvSpPr>
            <p:nvPr/>
          </p:nvSpPr>
          <p:spPr bwMode="auto">
            <a:xfrm>
              <a:off x="2114" y="1658"/>
              <a:ext cx="218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为何要学离散数学</a:t>
              </a:r>
            </a:p>
          </p:txBody>
        </p:sp>
        <p:sp>
          <p:nvSpPr>
            <p:cNvPr id="68627" name="Text Box 19"/>
            <p:cNvSpPr txBox="1">
              <a:spLocks noChangeArrowheads="1"/>
            </p:cNvSpPr>
            <p:nvPr/>
          </p:nvSpPr>
          <p:spPr bwMode="gray">
            <a:xfrm>
              <a:off x="1136" y="1708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2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28" name="Group 20"/>
          <p:cNvGrpSpPr/>
          <p:nvPr/>
        </p:nvGrpSpPr>
        <p:grpSpPr bwMode="auto">
          <a:xfrm>
            <a:off x="1654695" y="3868346"/>
            <a:ext cx="5437188" cy="731838"/>
            <a:chOff x="1135" y="2239"/>
            <a:chExt cx="3425" cy="461"/>
          </a:xfrm>
        </p:grpSpPr>
        <p:sp>
          <p:nvSpPr>
            <p:cNvPr id="68633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4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离散数学的基本内容</a:t>
              </a:r>
            </a:p>
          </p:txBody>
        </p:sp>
        <p:sp>
          <p:nvSpPr>
            <p:cNvPr id="68635" name="Text Box 27"/>
            <p:cNvSpPr txBox="1">
              <a:spLocks noChangeArrowheads="1"/>
            </p:cNvSpPr>
            <p:nvPr/>
          </p:nvSpPr>
          <p:spPr bwMode="gray">
            <a:xfrm>
              <a:off x="1135" y="23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3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36" name="Group 28"/>
          <p:cNvGrpSpPr/>
          <p:nvPr/>
        </p:nvGrpSpPr>
        <p:grpSpPr bwMode="auto">
          <a:xfrm>
            <a:off x="1645095" y="4752851"/>
            <a:ext cx="5437188" cy="731837"/>
            <a:chOff x="1135" y="2815"/>
            <a:chExt cx="3425" cy="461"/>
          </a:xfrm>
        </p:grpSpPr>
        <p:sp>
          <p:nvSpPr>
            <p:cNvPr id="68641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2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/>
                <a:t>学习离散数学的方法</a:t>
              </a:r>
            </a:p>
          </p:txBody>
        </p:sp>
        <p:sp>
          <p:nvSpPr>
            <p:cNvPr id="68643" name="Text Box 35"/>
            <p:cNvSpPr txBox="1">
              <a:spLocks noChangeArrowheads="1"/>
            </p:cNvSpPr>
            <p:nvPr/>
          </p:nvSpPr>
          <p:spPr bwMode="gray">
            <a:xfrm>
              <a:off x="1135" y="2908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4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44" name="Group 36"/>
          <p:cNvGrpSpPr/>
          <p:nvPr/>
        </p:nvGrpSpPr>
        <p:grpSpPr bwMode="auto">
          <a:xfrm>
            <a:off x="1655092" y="5596532"/>
            <a:ext cx="5437188" cy="731838"/>
            <a:chOff x="1135" y="2239"/>
            <a:chExt cx="3425" cy="461"/>
          </a:xfrm>
        </p:grpSpPr>
        <p:sp>
          <p:nvSpPr>
            <p:cNvPr id="68649" name="Line 41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0" name="Text Box 42"/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3200" b="1" dirty="0">
                  <a:solidFill>
                    <a:srgbClr val="FF0000"/>
                  </a:solidFill>
                </a:rPr>
                <a:t>离散数学的学习资源</a:t>
              </a:r>
            </a:p>
          </p:txBody>
        </p:sp>
        <p:sp>
          <p:nvSpPr>
            <p:cNvPr id="68651" name="Text Box 43"/>
            <p:cNvSpPr txBox="1">
              <a:spLocks noChangeArrowheads="1"/>
            </p:cNvSpPr>
            <p:nvPr/>
          </p:nvSpPr>
          <p:spPr bwMode="gray">
            <a:xfrm>
              <a:off x="1135" y="23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3200" b="1" dirty="0">
                  <a:latin typeface="Times New Roman" panose="02020603050405020304" pitchFamily="18" charset="0"/>
                </a:rPr>
                <a:t>5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、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有关网络教学资源：</a:t>
            </a:r>
            <a:endParaRPr lang="zh-CN" altLang="de-DE" b="1" dirty="0">
              <a:latin typeface="Times New Roman" panose="02020603050405020304" pitchFamily="18" charset="0"/>
            </a:endParaRPr>
          </a:p>
          <a:p>
            <a:r>
              <a:rPr lang="de-DE" altLang="zh-CN" b="1" dirty="0">
                <a:latin typeface="Times New Roman" panose="02020603050405020304" pitchFamily="18" charset="0"/>
              </a:rPr>
              <a:t>(1) Kenneth H. Rosen website: </a:t>
            </a:r>
            <a:r>
              <a:rPr lang="de-DE" altLang="zh-CN" dirty="0">
                <a:latin typeface="Times New Roman" panose="02020603050405020304" pitchFamily="18" charset="0"/>
              </a:rPr>
              <a:t>http://www.mhhe.com/rosen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《Discrete Mathematics and Its Applications》(</a:t>
            </a:r>
            <a:r>
              <a:rPr lang="zh-CN" altLang="en-US" dirty="0">
                <a:latin typeface="Times New Roman" panose="02020603050405020304" pitchFamily="18" charset="0"/>
              </a:rPr>
              <a:t>世界上有</a:t>
            </a:r>
            <a:r>
              <a:rPr lang="en-US" altLang="zh-CN" dirty="0">
                <a:latin typeface="Times New Roman" panose="02020603050405020304" pitchFamily="18" charset="0"/>
              </a:rPr>
              <a:t>600</a:t>
            </a:r>
            <a:r>
              <a:rPr lang="zh-CN" altLang="en-US" dirty="0">
                <a:latin typeface="Times New Roman" panose="02020603050405020304" pitchFamily="18" charset="0"/>
              </a:rPr>
              <a:t>多所大学使用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有影印本和翻译本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</a:rPr>
              <a:t>(2) </a:t>
            </a:r>
            <a:r>
              <a:rPr lang="en-US" altLang="zh-CN" b="1" dirty="0" err="1">
                <a:latin typeface="Times New Roman" panose="02020603050405020304" pitchFamily="18" charset="0"/>
              </a:rPr>
              <a:t>ArsDigita</a:t>
            </a:r>
            <a:r>
              <a:rPr lang="en-US" altLang="zh-CN" b="1" dirty="0">
                <a:latin typeface="Times New Roman" panose="02020603050405020304" pitchFamily="18" charset="0"/>
              </a:rPr>
              <a:t> University: </a:t>
            </a:r>
            <a:r>
              <a:rPr lang="en-US" altLang="zh-CN" dirty="0">
                <a:latin typeface="Times New Roman" panose="02020603050405020304" pitchFamily="18" charset="0"/>
              </a:rPr>
              <a:t>http://aduni.org/courses/discrete/index.php?view=cw 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(3) </a:t>
            </a:r>
            <a:r>
              <a:rPr lang="en-US" altLang="zh-CN" b="1" dirty="0" err="1">
                <a:latin typeface="Times New Roman" panose="02020603050405020304" pitchFamily="18" charset="0"/>
              </a:rPr>
              <a:t>Harver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</a:rPr>
              <a:t>Mudd</a:t>
            </a:r>
            <a:r>
              <a:rPr lang="en-US" altLang="zh-CN" b="1" dirty="0">
                <a:latin typeface="Times New Roman" panose="02020603050405020304" pitchFamily="18" charset="0"/>
              </a:rPr>
              <a:t> College: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http://www.infocobuild.com/education/learn-through-</a:t>
            </a:r>
            <a:r>
              <a:rPr lang="en-US" altLang="zh-CN" dirty="0">
                <a:solidFill>
                  <a:srgbClr val="006600"/>
                </a:solidFill>
                <a:latin typeface="Times New Roman" panose="02020603050405020304" pitchFamily="18" charset="0"/>
              </a:rPr>
              <a:t>videos</a:t>
            </a:r>
            <a:r>
              <a:rPr lang="en-US" altLang="zh-CN" dirty="0">
                <a:latin typeface="Times New Roman" panose="02020603050405020304" pitchFamily="18" charset="0"/>
              </a:rPr>
              <a:t>/mathematics/discrete-mathematics.html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</a:rPr>
              <a:t>(4) MIT(Massachusetts Institute of Technology):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http://ocw.mit.edu/OcwWeb/Electrical-Engineering-and-Computer-Science/6-042JFall-2005/CourseHome/index.htm</a:t>
            </a:r>
            <a:r>
              <a:rPr lang="en-US" altLang="zh-CN" dirty="0"/>
              <a:t> 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en-US" altLang="zh-CN" dirty="0"/>
              <a:t>T</a:t>
            </a:r>
            <a:r>
              <a:rPr lang="zh-CN" altLang="en-US" dirty="0"/>
              <a:t>ＨＥ　ＥＮＤ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595cb39-ecac-465f-8e96-dad78bc6d39e"/>
  <p:tag name="COMMONDATA" val="eyJoZGlkIjoiY2M1NzcxMmUzMDg4OTU3OGMzMWUzNzM0ZWU4ZGJmYz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230,&quot;width&quot;:13870}"/>
</p:tagLst>
</file>

<file path=ppt/theme/theme1.xml><?xml version="1.0" encoding="utf-8"?>
<a:theme xmlns:a="http://schemas.openxmlformats.org/drawingml/2006/main" name="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26</TotalTime>
  <Words>1535</Words>
  <Application>Microsoft Office PowerPoint</Application>
  <PresentationFormat>全屏显示(4:3)</PresentationFormat>
  <Paragraphs>188</Paragraphs>
  <Slides>34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仿宋</vt:lpstr>
      <vt:lpstr>宋体</vt:lpstr>
      <vt:lpstr>Arial</vt:lpstr>
      <vt:lpstr>Calibri</vt:lpstr>
      <vt:lpstr>Times New Roman</vt:lpstr>
      <vt:lpstr>Wingdings</vt:lpstr>
      <vt:lpstr>主题2</vt:lpstr>
      <vt:lpstr>自定义设计方案</vt:lpstr>
      <vt:lpstr>1_主题2</vt:lpstr>
      <vt:lpstr>1_自定义设计方案</vt:lpstr>
      <vt:lpstr>离散数学</vt:lpstr>
      <vt:lpstr>PowerPoint 演示文稿</vt:lpstr>
      <vt:lpstr>参考书：</vt:lpstr>
      <vt:lpstr>PowerPoint 演示文稿</vt:lpstr>
      <vt:lpstr>本讲内容</vt:lpstr>
      <vt:lpstr>PowerPoint 演示文稿</vt:lpstr>
      <vt:lpstr>PowerPoint 演示文稿</vt:lpstr>
      <vt:lpstr>本章内容</vt:lpstr>
      <vt:lpstr>PowerPoint 演示文稿</vt:lpstr>
      <vt:lpstr>PowerPoint 演示文稿</vt:lpstr>
      <vt:lpstr>本章内容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关　系</vt:lpstr>
      <vt:lpstr>数理逻辑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本章内容</vt:lpstr>
      <vt:lpstr>PowerPoint 演示文稿</vt:lpstr>
      <vt:lpstr>本章内容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WangWei</dc:creator>
  <cp:lastModifiedBy>超 赵</cp:lastModifiedBy>
  <cp:revision>87</cp:revision>
  <dcterms:created xsi:type="dcterms:W3CDTF">2018-09-17T01:25:00Z</dcterms:created>
  <dcterms:modified xsi:type="dcterms:W3CDTF">2024-02-26T01:44:34Z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B0899259A56C40E7991C88077FD8F914</vt:lpwstr>
  </property>
  <property fmtid="{D5CDD505-2E9C-101B-9397-08002B2CF9AE}" pid="3" name="KSOProductBuildVer">
    <vt:lpwstr>2052-11.1.0.13703</vt:lpwstr>
  </property>
</Properties>
</file>