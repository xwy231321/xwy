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75" r:id="rId3"/>
  </p:sldMasterIdLst>
  <p:notesMasterIdLst>
    <p:notesMasterId r:id="rId39"/>
  </p:notesMasterIdLst>
  <p:sldIdLst>
    <p:sldId id="506" r:id="rId4"/>
    <p:sldId id="265" r:id="rId5"/>
    <p:sldId id="753" r:id="rId6"/>
    <p:sldId id="266" r:id="rId7"/>
    <p:sldId id="268" r:id="rId8"/>
    <p:sldId id="267" r:id="rId9"/>
    <p:sldId id="760" r:id="rId10"/>
    <p:sldId id="269" r:id="rId11"/>
    <p:sldId id="287" r:id="rId12"/>
    <p:sldId id="270" r:id="rId13"/>
    <p:sldId id="286" r:id="rId14"/>
    <p:sldId id="271" r:id="rId15"/>
    <p:sldId id="289" r:id="rId16"/>
    <p:sldId id="272" r:id="rId17"/>
    <p:sldId id="273" r:id="rId18"/>
    <p:sldId id="274" r:id="rId19"/>
    <p:sldId id="275" r:id="rId20"/>
    <p:sldId id="288" r:id="rId21"/>
    <p:sldId id="276" r:id="rId22"/>
    <p:sldId id="759" r:id="rId23"/>
    <p:sldId id="277" r:id="rId24"/>
    <p:sldId id="278" r:id="rId25"/>
    <p:sldId id="761" r:id="rId26"/>
    <p:sldId id="279" r:id="rId27"/>
    <p:sldId id="758" r:id="rId28"/>
    <p:sldId id="280" r:id="rId29"/>
    <p:sldId id="281" r:id="rId30"/>
    <p:sldId id="282" r:id="rId31"/>
    <p:sldId id="283" r:id="rId32"/>
    <p:sldId id="284" r:id="rId33"/>
    <p:sldId id="762" r:id="rId34"/>
    <p:sldId id="290" r:id="rId35"/>
    <p:sldId id="285" r:id="rId36"/>
    <p:sldId id="757" r:id="rId37"/>
    <p:sldId id="617" r:id="rId38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1657" autoAdjust="0"/>
  </p:normalViewPr>
  <p:slideViewPr>
    <p:cSldViewPr>
      <p:cViewPr varScale="1">
        <p:scale>
          <a:sx n="74" d="100"/>
          <a:sy n="74" d="100"/>
        </p:scale>
        <p:origin x="10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  <a:t>2024/5/22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</a:t>
            </a:r>
            <a:r>
              <a:rPr lang="zh-CN" altLang="en-US" dirty="0"/>
              <a:t>为边数计数器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3109E0-5DAF-4820-9E3E-6785A71E8368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28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6" Type="http://schemas.openxmlformats.org/officeDocument/2006/relationships/oleObject" Target="../embeddings/oleObject2.bin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50800" imgH="2324100" progId="">
                  <p:embed/>
                </p:oleObj>
              </mc:Choice>
              <mc:Fallback>
                <p:oleObj r:id="rId16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50800" imgH="2324100" progId="">
                  <p:embed/>
                </p:oleObj>
              </mc:Choice>
              <mc:Fallback>
                <p:oleObj r:id="rId16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22.emf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1.bin"/><Relationship Id="rId3" Type="http://schemas.openxmlformats.org/officeDocument/2006/relationships/image" Target="../media/image17.emf"/><Relationship Id="rId21" Type="http://schemas.openxmlformats.org/officeDocument/2006/relationships/image" Target="../media/image26.emf"/><Relationship Id="rId7" Type="http://schemas.openxmlformats.org/officeDocument/2006/relationships/image" Target="../media/image19.e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24.emf"/><Relationship Id="rId25" Type="http://schemas.openxmlformats.org/officeDocument/2006/relationships/image" Target="../media/image28.e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image" Target="../media/image30.e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1.emf"/><Relationship Id="rId24" Type="http://schemas.openxmlformats.org/officeDocument/2006/relationships/oleObject" Target="../embeddings/oleObject20.bin"/><Relationship Id="rId5" Type="http://schemas.openxmlformats.org/officeDocument/2006/relationships/image" Target="../media/image18.emf"/><Relationship Id="rId15" Type="http://schemas.openxmlformats.org/officeDocument/2006/relationships/image" Target="../media/image23.emf"/><Relationship Id="rId23" Type="http://schemas.openxmlformats.org/officeDocument/2006/relationships/image" Target="../media/image27.emf"/><Relationship Id="rId28" Type="http://schemas.openxmlformats.org/officeDocument/2006/relationships/oleObject" Target="../embeddings/oleObject22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25.emf"/><Relationship Id="rId31" Type="http://schemas.openxmlformats.org/officeDocument/2006/relationships/image" Target="../media/image31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Relationship Id="rId27" Type="http://schemas.openxmlformats.org/officeDocument/2006/relationships/image" Target="../media/image29.emf"/><Relationship Id="rId30" Type="http://schemas.openxmlformats.org/officeDocument/2006/relationships/oleObject" Target="../embeddings/oleObject23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35.e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2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43.e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" Type="http://schemas.openxmlformats.org/officeDocument/2006/relationships/image" Target="../media/image38.emf"/><Relationship Id="rId21" Type="http://schemas.openxmlformats.org/officeDocument/2006/relationships/image" Target="../media/image47.emf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45.emf"/><Relationship Id="rId25" Type="http://schemas.openxmlformats.org/officeDocument/2006/relationships/image" Target="../media/image49.e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51.e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2.emf"/><Relationship Id="rId24" Type="http://schemas.openxmlformats.org/officeDocument/2006/relationships/oleObject" Target="../embeddings/oleObject41.bin"/><Relationship Id="rId5" Type="http://schemas.openxmlformats.org/officeDocument/2006/relationships/image" Target="../media/image39.emf"/><Relationship Id="rId15" Type="http://schemas.openxmlformats.org/officeDocument/2006/relationships/image" Target="../media/image44.emf"/><Relationship Id="rId23" Type="http://schemas.openxmlformats.org/officeDocument/2006/relationships/image" Target="../media/image48.emf"/><Relationship Id="rId28" Type="http://schemas.openxmlformats.org/officeDocument/2006/relationships/oleObject" Target="../embeddings/oleObject43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46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50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9.e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6.emf"/><Relationship Id="rId5" Type="http://schemas.openxmlformats.org/officeDocument/2006/relationships/image" Target="../media/image53.emf"/><Relationship Id="rId15" Type="http://schemas.openxmlformats.org/officeDocument/2006/relationships/image" Target="../media/image58.e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5.emf"/><Relationship Id="rId14" Type="http://schemas.openxmlformats.org/officeDocument/2006/relationships/oleObject" Target="../embeddings/oleObject50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15816" y="2997200"/>
            <a:ext cx="2884884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7.3  </a:t>
            </a:r>
            <a:r>
              <a:rPr lang="zh-CN" altLang="en-US" sz="4400" dirty="0">
                <a:latin typeface="Times New Roman" panose="02020603050405020304" pitchFamily="18" charset="0"/>
              </a:rPr>
              <a:t>无向树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681" y="1268760"/>
            <a:ext cx="8640638" cy="5184775"/>
          </a:xfrm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树是图论中的重要内容之一：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(1)1847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Kirchhoff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提出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(2)</a:t>
            </a:r>
            <a:r>
              <a:rPr lang="en-US" altLang="zh-CN" dirty="0" err="1">
                <a:latin typeface="Times New Roman" panose="02020603050405020304" pitchFamily="18" charset="0"/>
                <a:ea typeface="华文新魏" panose="02010800040101010101" charset="-122"/>
              </a:rPr>
              <a:t>A.Cayley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1857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年利用树的概念研究了有机化学中的同分异构体，使得无向树的理论获得发展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树分为无向树和有向树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本节仅讨论无向树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树在各个领域都有重要应用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特别是在计算机科学中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55763" y="2508250"/>
            <a:ext cx="5435600" cy="685007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543" y="1132"/>
              <a:ext cx="16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无向树的定义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36" y="1086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无向树的性质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376738"/>
            <a:ext cx="5437187" cy="741362"/>
            <a:chOff x="1135" y="1048"/>
            <a:chExt cx="3425" cy="467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42" y="1048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生成树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360987"/>
            <a:ext cx="5437187" cy="673100"/>
            <a:chOff x="1135" y="1091"/>
            <a:chExt cx="3425" cy="424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42" y="1091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最小生成树</a:t>
              </a: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/>
          </p:nvPr>
        </p:nvSpPr>
        <p:spPr>
          <a:xfrm>
            <a:off x="323850" y="1268734"/>
            <a:ext cx="8459788" cy="518445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无向树的定义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不含有圈的连通无向图称为无向树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(tree = undirected tree).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Cycle: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79500" y="3789040"/>
            <a:ext cx="6948488" cy="1943100"/>
            <a:chOff x="1006475" y="3213100"/>
            <a:chExt cx="6948488" cy="1943100"/>
          </a:xfrm>
        </p:grpSpPr>
        <p:sp>
          <p:nvSpPr>
            <p:cNvPr id="15363" name="Oval 3"/>
            <p:cNvSpPr>
              <a:spLocks noChangeArrowheads="1"/>
            </p:cNvSpPr>
            <p:nvPr/>
          </p:nvSpPr>
          <p:spPr bwMode="auto">
            <a:xfrm>
              <a:off x="1763713" y="3989388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4" name="Oval 4"/>
            <p:cNvSpPr>
              <a:spLocks noChangeArrowheads="1"/>
            </p:cNvSpPr>
            <p:nvPr/>
          </p:nvSpPr>
          <p:spPr bwMode="auto">
            <a:xfrm>
              <a:off x="3276600" y="3213100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5" name="Oval 5"/>
            <p:cNvSpPr>
              <a:spLocks noChangeArrowheads="1"/>
            </p:cNvSpPr>
            <p:nvPr/>
          </p:nvSpPr>
          <p:spPr bwMode="auto">
            <a:xfrm>
              <a:off x="3276600" y="4902200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6" name="Oval 6"/>
            <p:cNvSpPr>
              <a:spLocks noChangeArrowheads="1"/>
            </p:cNvSpPr>
            <p:nvPr/>
          </p:nvSpPr>
          <p:spPr bwMode="auto">
            <a:xfrm>
              <a:off x="5003800" y="3429000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7" name="Oval 7"/>
            <p:cNvSpPr>
              <a:spLocks noChangeArrowheads="1"/>
            </p:cNvSpPr>
            <p:nvPr/>
          </p:nvSpPr>
          <p:spPr bwMode="auto">
            <a:xfrm>
              <a:off x="4572000" y="4797425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8" name="Oval 8"/>
            <p:cNvSpPr>
              <a:spLocks noChangeArrowheads="1"/>
            </p:cNvSpPr>
            <p:nvPr/>
          </p:nvSpPr>
          <p:spPr bwMode="auto">
            <a:xfrm>
              <a:off x="5508625" y="4797425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9" name="Oval 9"/>
            <p:cNvSpPr>
              <a:spLocks noChangeArrowheads="1"/>
            </p:cNvSpPr>
            <p:nvPr/>
          </p:nvSpPr>
          <p:spPr bwMode="auto">
            <a:xfrm>
              <a:off x="6732588" y="3429000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0" name="Oval 10"/>
            <p:cNvSpPr>
              <a:spLocks noChangeArrowheads="1"/>
            </p:cNvSpPr>
            <p:nvPr/>
          </p:nvSpPr>
          <p:spPr bwMode="auto">
            <a:xfrm>
              <a:off x="6443663" y="4437063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1" name="Oval 11"/>
            <p:cNvSpPr>
              <a:spLocks noChangeArrowheads="1"/>
            </p:cNvSpPr>
            <p:nvPr/>
          </p:nvSpPr>
          <p:spPr bwMode="auto">
            <a:xfrm>
              <a:off x="7164388" y="5013325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2" name="Oval 12"/>
            <p:cNvSpPr>
              <a:spLocks noChangeArrowheads="1"/>
            </p:cNvSpPr>
            <p:nvPr/>
          </p:nvSpPr>
          <p:spPr bwMode="auto">
            <a:xfrm>
              <a:off x="7812088" y="4508500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3" name="Line 13"/>
            <p:cNvSpPr>
              <a:spLocks noChangeShapeType="1"/>
            </p:cNvSpPr>
            <p:nvPr/>
          </p:nvSpPr>
          <p:spPr bwMode="auto">
            <a:xfrm flipH="1">
              <a:off x="4643438" y="3500438"/>
              <a:ext cx="433387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Line 14"/>
            <p:cNvSpPr>
              <a:spLocks noChangeShapeType="1"/>
            </p:cNvSpPr>
            <p:nvPr/>
          </p:nvSpPr>
          <p:spPr bwMode="auto">
            <a:xfrm>
              <a:off x="4643438" y="4868863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Line 15"/>
            <p:cNvSpPr>
              <a:spLocks noChangeShapeType="1"/>
            </p:cNvSpPr>
            <p:nvPr/>
          </p:nvSpPr>
          <p:spPr bwMode="auto">
            <a:xfrm>
              <a:off x="5076825" y="3500438"/>
              <a:ext cx="503238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Line 16"/>
            <p:cNvSpPr>
              <a:spLocks noChangeShapeType="1"/>
            </p:cNvSpPr>
            <p:nvPr/>
          </p:nvSpPr>
          <p:spPr bwMode="auto">
            <a:xfrm flipH="1">
              <a:off x="6516688" y="3500438"/>
              <a:ext cx="287337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Line 17"/>
            <p:cNvSpPr>
              <a:spLocks noChangeShapeType="1"/>
            </p:cNvSpPr>
            <p:nvPr/>
          </p:nvSpPr>
          <p:spPr bwMode="auto">
            <a:xfrm>
              <a:off x="6516688" y="4508500"/>
              <a:ext cx="719137" cy="576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Line 18"/>
            <p:cNvSpPr>
              <a:spLocks noChangeShapeType="1"/>
            </p:cNvSpPr>
            <p:nvPr/>
          </p:nvSpPr>
          <p:spPr bwMode="auto">
            <a:xfrm flipV="1">
              <a:off x="7235825" y="4581525"/>
              <a:ext cx="649288" cy="503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Line 19"/>
            <p:cNvSpPr>
              <a:spLocks noChangeShapeType="1"/>
            </p:cNvSpPr>
            <p:nvPr/>
          </p:nvSpPr>
          <p:spPr bwMode="auto">
            <a:xfrm>
              <a:off x="6804025" y="3500438"/>
              <a:ext cx="1081088" cy="10810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20"/>
            <p:cNvSpPr/>
            <p:nvPr/>
          </p:nvSpPr>
          <p:spPr bwMode="auto">
            <a:xfrm>
              <a:off x="2905125" y="3284538"/>
              <a:ext cx="442913" cy="1657350"/>
            </a:xfrm>
            <a:custGeom>
              <a:avLst/>
              <a:gdLst>
                <a:gd name="T0" fmla="*/ 279 w 279"/>
                <a:gd name="T1" fmla="*/ 0 h 1044"/>
                <a:gd name="T2" fmla="*/ 7 w 279"/>
                <a:gd name="T3" fmla="*/ 499 h 1044"/>
                <a:gd name="T4" fmla="*/ 234 w 279"/>
                <a:gd name="T5" fmla="*/ 1044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9" h="1044">
                  <a:moveTo>
                    <a:pt x="279" y="0"/>
                  </a:moveTo>
                  <a:cubicBezTo>
                    <a:pt x="146" y="162"/>
                    <a:pt x="14" y="325"/>
                    <a:pt x="7" y="499"/>
                  </a:cubicBezTo>
                  <a:cubicBezTo>
                    <a:pt x="0" y="673"/>
                    <a:pt x="117" y="858"/>
                    <a:pt x="234" y="10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Freeform 21"/>
            <p:cNvSpPr/>
            <p:nvPr/>
          </p:nvSpPr>
          <p:spPr bwMode="auto">
            <a:xfrm>
              <a:off x="3348038" y="3284538"/>
              <a:ext cx="576262" cy="1728787"/>
            </a:xfrm>
            <a:custGeom>
              <a:avLst/>
              <a:gdLst>
                <a:gd name="T0" fmla="*/ 0 w 363"/>
                <a:gd name="T1" fmla="*/ 0 h 1089"/>
                <a:gd name="T2" fmla="*/ 363 w 363"/>
                <a:gd name="T3" fmla="*/ 454 h 1089"/>
                <a:gd name="T4" fmla="*/ 0 w 363"/>
                <a:gd name="T5" fmla="*/ 1089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3" h="1089">
                  <a:moveTo>
                    <a:pt x="0" y="0"/>
                  </a:moveTo>
                  <a:cubicBezTo>
                    <a:pt x="181" y="136"/>
                    <a:pt x="363" y="273"/>
                    <a:pt x="363" y="454"/>
                  </a:cubicBezTo>
                  <a:cubicBezTo>
                    <a:pt x="363" y="635"/>
                    <a:pt x="181" y="862"/>
                    <a:pt x="0" y="108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Freeform 22"/>
            <p:cNvSpPr/>
            <p:nvPr/>
          </p:nvSpPr>
          <p:spPr bwMode="auto">
            <a:xfrm>
              <a:off x="1006475" y="3489325"/>
              <a:ext cx="889000" cy="1128713"/>
            </a:xfrm>
            <a:custGeom>
              <a:avLst/>
              <a:gdLst>
                <a:gd name="T0" fmla="*/ 522 w 560"/>
                <a:gd name="T1" fmla="*/ 325 h 711"/>
                <a:gd name="T2" fmla="*/ 477 w 560"/>
                <a:gd name="T3" fmla="*/ 7 h 711"/>
                <a:gd name="T4" fmla="*/ 23 w 560"/>
                <a:gd name="T5" fmla="*/ 280 h 711"/>
                <a:gd name="T6" fmla="*/ 341 w 560"/>
                <a:gd name="T7" fmla="*/ 688 h 711"/>
                <a:gd name="T8" fmla="*/ 522 w 560"/>
                <a:gd name="T9" fmla="*/ 416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0" h="711">
                  <a:moveTo>
                    <a:pt x="522" y="325"/>
                  </a:moveTo>
                  <a:cubicBezTo>
                    <a:pt x="541" y="169"/>
                    <a:pt x="560" y="14"/>
                    <a:pt x="477" y="7"/>
                  </a:cubicBezTo>
                  <a:cubicBezTo>
                    <a:pt x="394" y="0"/>
                    <a:pt x="46" y="167"/>
                    <a:pt x="23" y="280"/>
                  </a:cubicBezTo>
                  <a:cubicBezTo>
                    <a:pt x="0" y="393"/>
                    <a:pt x="258" y="665"/>
                    <a:pt x="341" y="688"/>
                  </a:cubicBezTo>
                  <a:cubicBezTo>
                    <a:pt x="424" y="711"/>
                    <a:pt x="473" y="563"/>
                    <a:pt x="522" y="4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无向树在图论中称为树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也可以称为自由树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含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≥ 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个节点的树称为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阶树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不含任意节点的图称为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空树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不同构的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阶无向树、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阶无向树、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阶无向树见下图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/>
          </p:nvPr>
        </p:nvSpPr>
        <p:spPr>
          <a:xfrm>
            <a:off x="323850" y="1265236"/>
            <a:ext cx="8459788" cy="5187951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36495" y="2110740"/>
            <a:ext cx="3881120" cy="2651760"/>
            <a:chOff x="1763713" y="549275"/>
            <a:chExt cx="3022600" cy="2014538"/>
          </a:xfrm>
        </p:grpSpPr>
        <p:sp>
          <p:nvSpPr>
            <p:cNvPr id="16387" name="Oval 3"/>
            <p:cNvSpPr>
              <a:spLocks noChangeArrowheads="1"/>
            </p:cNvSpPr>
            <p:nvPr/>
          </p:nvSpPr>
          <p:spPr bwMode="auto">
            <a:xfrm>
              <a:off x="3203575" y="2349500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8" name="Oval 4"/>
            <p:cNvSpPr>
              <a:spLocks noChangeArrowheads="1"/>
            </p:cNvSpPr>
            <p:nvPr/>
          </p:nvSpPr>
          <p:spPr bwMode="auto">
            <a:xfrm>
              <a:off x="3203575" y="620713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9" name="Line 5"/>
            <p:cNvSpPr>
              <a:spLocks noChangeShapeType="1"/>
            </p:cNvSpPr>
            <p:nvPr/>
          </p:nvSpPr>
          <p:spPr bwMode="auto">
            <a:xfrm flipV="1">
              <a:off x="3276600" y="692150"/>
              <a:ext cx="0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0" name="Oval 6"/>
            <p:cNvSpPr>
              <a:spLocks noChangeArrowheads="1"/>
            </p:cNvSpPr>
            <p:nvPr/>
          </p:nvSpPr>
          <p:spPr bwMode="auto">
            <a:xfrm>
              <a:off x="4643438" y="549275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1" name="Oval 7"/>
            <p:cNvSpPr>
              <a:spLocks noChangeArrowheads="1"/>
            </p:cNvSpPr>
            <p:nvPr/>
          </p:nvSpPr>
          <p:spPr bwMode="auto">
            <a:xfrm>
              <a:off x="4643438" y="2420938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2" name="Oval 8"/>
            <p:cNvSpPr>
              <a:spLocks noChangeArrowheads="1"/>
            </p:cNvSpPr>
            <p:nvPr/>
          </p:nvSpPr>
          <p:spPr bwMode="auto">
            <a:xfrm>
              <a:off x="4643438" y="1557338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0" name="Oval 16"/>
            <p:cNvSpPr>
              <a:spLocks noChangeArrowheads="1"/>
            </p:cNvSpPr>
            <p:nvPr/>
          </p:nvSpPr>
          <p:spPr bwMode="auto">
            <a:xfrm>
              <a:off x="1763713" y="1196975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6" name="Line 22"/>
            <p:cNvSpPr>
              <a:spLocks noChangeShapeType="1"/>
            </p:cNvSpPr>
            <p:nvPr/>
          </p:nvSpPr>
          <p:spPr bwMode="auto">
            <a:xfrm>
              <a:off x="4716463" y="620713"/>
              <a:ext cx="0" cy="935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Line 23"/>
            <p:cNvSpPr>
              <a:spLocks noChangeShapeType="1"/>
            </p:cNvSpPr>
            <p:nvPr/>
          </p:nvSpPr>
          <p:spPr bwMode="auto">
            <a:xfrm>
              <a:off x="4716463" y="1700213"/>
              <a:ext cx="0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55763" y="2508250"/>
            <a:ext cx="5435600" cy="685007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543" y="1132"/>
              <a:ext cx="16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无向树的定义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36" y="1086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无向树的性质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376738"/>
            <a:ext cx="5437187" cy="741362"/>
            <a:chOff x="1135" y="1048"/>
            <a:chExt cx="3425" cy="467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42" y="1048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生成树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360987"/>
            <a:ext cx="5437187" cy="673100"/>
            <a:chOff x="1135" y="1091"/>
            <a:chExt cx="3425" cy="424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42" y="1091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最小生成树</a:t>
              </a: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无向树的性质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无向树的基本性质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   性质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阶无向树恰有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条边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证明：对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使用数学归纳法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是显然成立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假设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–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阶无向树恰有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– 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条边</a:t>
            </a:r>
            <a:r>
              <a:rPr lang="zh-CN" altLang="en-US" i="1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阶无向树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由于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2 ,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于是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1.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若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由定理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6-3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有圈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!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 = 1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考虑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–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?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endParaRPr lang="en-US" altLang="zh-CN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94235" y="1570703"/>
            <a:ext cx="4811712" cy="2076450"/>
            <a:chOff x="1116013" y="236538"/>
            <a:chExt cx="4811712" cy="2076450"/>
          </a:xfrm>
        </p:grpSpPr>
        <p:sp>
          <p:nvSpPr>
            <p:cNvPr id="19459" name="Oval 3"/>
            <p:cNvSpPr>
              <a:spLocks noChangeArrowheads="1"/>
            </p:cNvSpPr>
            <p:nvPr/>
          </p:nvSpPr>
          <p:spPr bwMode="auto">
            <a:xfrm>
              <a:off x="2771775" y="1125538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0" name="Oval 4"/>
            <p:cNvSpPr>
              <a:spLocks noChangeArrowheads="1"/>
            </p:cNvSpPr>
            <p:nvPr/>
          </p:nvSpPr>
          <p:spPr bwMode="auto">
            <a:xfrm>
              <a:off x="4067175" y="620713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1" name="Oval 5"/>
            <p:cNvSpPr>
              <a:spLocks noChangeArrowheads="1"/>
            </p:cNvSpPr>
            <p:nvPr/>
          </p:nvSpPr>
          <p:spPr bwMode="auto">
            <a:xfrm>
              <a:off x="4067175" y="1773238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2" name="Oval 6"/>
            <p:cNvSpPr>
              <a:spLocks noChangeArrowheads="1"/>
            </p:cNvSpPr>
            <p:nvPr/>
          </p:nvSpPr>
          <p:spPr bwMode="auto">
            <a:xfrm>
              <a:off x="5148263" y="1052513"/>
              <a:ext cx="142875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" name="Oval 7"/>
            <p:cNvSpPr>
              <a:spLocks noChangeArrowheads="1"/>
            </p:cNvSpPr>
            <p:nvPr/>
          </p:nvSpPr>
          <p:spPr bwMode="auto">
            <a:xfrm>
              <a:off x="1692275" y="1125538"/>
              <a:ext cx="142875" cy="1428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" name="Line 8"/>
            <p:cNvSpPr>
              <a:spLocks noChangeShapeType="1"/>
            </p:cNvSpPr>
            <p:nvPr/>
          </p:nvSpPr>
          <p:spPr bwMode="auto">
            <a:xfrm>
              <a:off x="1763713" y="1196975"/>
              <a:ext cx="100806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5" name="Line 9"/>
            <p:cNvSpPr>
              <a:spLocks noChangeShapeType="1"/>
            </p:cNvSpPr>
            <p:nvPr/>
          </p:nvSpPr>
          <p:spPr bwMode="auto">
            <a:xfrm>
              <a:off x="2843213" y="1196975"/>
              <a:ext cx="1223962" cy="576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6" name="Line 10"/>
            <p:cNvSpPr>
              <a:spLocks noChangeShapeType="1"/>
            </p:cNvSpPr>
            <p:nvPr/>
          </p:nvSpPr>
          <p:spPr bwMode="auto">
            <a:xfrm>
              <a:off x="4140200" y="692150"/>
              <a:ext cx="1079500" cy="433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67" name="Object 11"/>
            <p:cNvGraphicFramePr>
              <a:graphicFrameLocks noChangeAspect="1"/>
            </p:cNvGraphicFramePr>
            <p:nvPr/>
          </p:nvGraphicFramePr>
          <p:xfrm>
            <a:off x="1116013" y="1052513"/>
            <a:ext cx="276225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04140" imgH="127635" progId="Equation.3">
                    <p:embed/>
                  </p:oleObj>
                </mc:Choice>
                <mc:Fallback>
                  <p:oleObj name="公式" r:id="rId2" imgW="104140" imgH="12763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013" y="1052513"/>
                          <a:ext cx="276225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8" name="Freeform 12"/>
            <p:cNvSpPr/>
            <p:nvPr/>
          </p:nvSpPr>
          <p:spPr bwMode="auto">
            <a:xfrm>
              <a:off x="2124075" y="236538"/>
              <a:ext cx="3803650" cy="2076450"/>
            </a:xfrm>
            <a:custGeom>
              <a:avLst/>
              <a:gdLst>
                <a:gd name="T0" fmla="*/ 862 w 2396"/>
                <a:gd name="T1" fmla="*/ 15 h 1308"/>
                <a:gd name="T2" fmla="*/ 317 w 2396"/>
                <a:gd name="T3" fmla="*/ 151 h 1308"/>
                <a:gd name="T4" fmla="*/ 136 w 2396"/>
                <a:gd name="T5" fmla="*/ 469 h 1308"/>
                <a:gd name="T6" fmla="*/ 91 w 2396"/>
                <a:gd name="T7" fmla="*/ 877 h 1308"/>
                <a:gd name="T8" fmla="*/ 680 w 2396"/>
                <a:gd name="T9" fmla="*/ 1240 h 1308"/>
                <a:gd name="T10" fmla="*/ 998 w 2396"/>
                <a:gd name="T11" fmla="*/ 1285 h 1308"/>
                <a:gd name="T12" fmla="*/ 1451 w 2396"/>
                <a:gd name="T13" fmla="*/ 1240 h 1308"/>
                <a:gd name="T14" fmla="*/ 1814 w 2396"/>
                <a:gd name="T15" fmla="*/ 1104 h 1308"/>
                <a:gd name="T16" fmla="*/ 2132 w 2396"/>
                <a:gd name="T17" fmla="*/ 922 h 1308"/>
                <a:gd name="T18" fmla="*/ 2358 w 2396"/>
                <a:gd name="T19" fmla="*/ 696 h 1308"/>
                <a:gd name="T20" fmla="*/ 2358 w 2396"/>
                <a:gd name="T21" fmla="*/ 560 h 1308"/>
                <a:gd name="T22" fmla="*/ 2268 w 2396"/>
                <a:gd name="T23" fmla="*/ 378 h 1308"/>
                <a:gd name="T24" fmla="*/ 2086 w 2396"/>
                <a:gd name="T25" fmla="*/ 242 h 1308"/>
                <a:gd name="T26" fmla="*/ 1905 w 2396"/>
                <a:gd name="T27" fmla="*/ 151 h 1308"/>
                <a:gd name="T28" fmla="*/ 1633 w 2396"/>
                <a:gd name="T29" fmla="*/ 106 h 1308"/>
                <a:gd name="T30" fmla="*/ 1224 w 2396"/>
                <a:gd name="T31" fmla="*/ 106 h 1308"/>
                <a:gd name="T32" fmla="*/ 1043 w 2396"/>
                <a:gd name="T33" fmla="*/ 106 h 1308"/>
                <a:gd name="T34" fmla="*/ 952 w 2396"/>
                <a:gd name="T35" fmla="*/ 15 h 1308"/>
                <a:gd name="T36" fmla="*/ 907 w 2396"/>
                <a:gd name="T37" fmla="*/ 15 h 1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96" h="1308">
                  <a:moveTo>
                    <a:pt x="862" y="15"/>
                  </a:moveTo>
                  <a:cubicBezTo>
                    <a:pt x="650" y="45"/>
                    <a:pt x="438" y="75"/>
                    <a:pt x="317" y="151"/>
                  </a:cubicBezTo>
                  <a:cubicBezTo>
                    <a:pt x="196" y="227"/>
                    <a:pt x="174" y="348"/>
                    <a:pt x="136" y="469"/>
                  </a:cubicBezTo>
                  <a:cubicBezTo>
                    <a:pt x="98" y="590"/>
                    <a:pt x="0" y="748"/>
                    <a:pt x="91" y="877"/>
                  </a:cubicBezTo>
                  <a:cubicBezTo>
                    <a:pt x="182" y="1006"/>
                    <a:pt x="529" y="1172"/>
                    <a:pt x="680" y="1240"/>
                  </a:cubicBezTo>
                  <a:cubicBezTo>
                    <a:pt x="831" y="1308"/>
                    <a:pt x="870" y="1285"/>
                    <a:pt x="998" y="1285"/>
                  </a:cubicBezTo>
                  <a:cubicBezTo>
                    <a:pt x="1126" y="1285"/>
                    <a:pt x="1315" y="1270"/>
                    <a:pt x="1451" y="1240"/>
                  </a:cubicBezTo>
                  <a:cubicBezTo>
                    <a:pt x="1587" y="1210"/>
                    <a:pt x="1701" y="1157"/>
                    <a:pt x="1814" y="1104"/>
                  </a:cubicBezTo>
                  <a:cubicBezTo>
                    <a:pt x="1927" y="1051"/>
                    <a:pt x="2041" y="990"/>
                    <a:pt x="2132" y="922"/>
                  </a:cubicBezTo>
                  <a:cubicBezTo>
                    <a:pt x="2223" y="854"/>
                    <a:pt x="2320" y="756"/>
                    <a:pt x="2358" y="696"/>
                  </a:cubicBezTo>
                  <a:cubicBezTo>
                    <a:pt x="2396" y="636"/>
                    <a:pt x="2373" y="613"/>
                    <a:pt x="2358" y="560"/>
                  </a:cubicBezTo>
                  <a:cubicBezTo>
                    <a:pt x="2343" y="507"/>
                    <a:pt x="2313" y="431"/>
                    <a:pt x="2268" y="378"/>
                  </a:cubicBezTo>
                  <a:cubicBezTo>
                    <a:pt x="2223" y="325"/>
                    <a:pt x="2146" y="280"/>
                    <a:pt x="2086" y="242"/>
                  </a:cubicBezTo>
                  <a:cubicBezTo>
                    <a:pt x="2026" y="204"/>
                    <a:pt x="1980" y="174"/>
                    <a:pt x="1905" y="151"/>
                  </a:cubicBezTo>
                  <a:cubicBezTo>
                    <a:pt x="1830" y="128"/>
                    <a:pt x="1746" y="113"/>
                    <a:pt x="1633" y="106"/>
                  </a:cubicBezTo>
                  <a:cubicBezTo>
                    <a:pt x="1520" y="99"/>
                    <a:pt x="1322" y="106"/>
                    <a:pt x="1224" y="106"/>
                  </a:cubicBezTo>
                  <a:cubicBezTo>
                    <a:pt x="1126" y="106"/>
                    <a:pt x="1088" y="121"/>
                    <a:pt x="1043" y="106"/>
                  </a:cubicBezTo>
                  <a:cubicBezTo>
                    <a:pt x="998" y="91"/>
                    <a:pt x="975" y="30"/>
                    <a:pt x="952" y="15"/>
                  </a:cubicBezTo>
                  <a:cubicBezTo>
                    <a:pt x="929" y="0"/>
                    <a:pt x="918" y="7"/>
                    <a:pt x="907" y="15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Line 13"/>
            <p:cNvSpPr>
              <a:spLocks noChangeShapeType="1"/>
            </p:cNvSpPr>
            <p:nvPr/>
          </p:nvSpPr>
          <p:spPr bwMode="auto">
            <a:xfrm flipH="1">
              <a:off x="2843213" y="692150"/>
              <a:ext cx="1296987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729235" y="3849746"/>
            <a:ext cx="4176712" cy="3106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-</a:t>
            </a:r>
            <a:r>
              <a:rPr lang="en-US" altLang="zh-CN" sz="2800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en-US" altLang="zh-CN" sz="2800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ea typeface="华文新魏" panose="02010800040101010101" charset="-122"/>
              </a:rPr>
              <a:t>阶无向图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ea typeface="华文新魏" panose="02010800040101010101" charset="-122"/>
              </a:rPr>
              <a:t>连通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ea typeface="华文新魏" panose="02010800040101010101" charset="-122"/>
              </a:rPr>
              <a:t>不含圈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</a:t>
            </a:r>
            <a:r>
              <a:rPr lang="en-US" altLang="zh-CN" sz="2800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-</a:t>
            </a:r>
            <a:r>
              <a:rPr lang="en-US" altLang="zh-CN" sz="2800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zh-CN" altLang="en-US" sz="2800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sz="2800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ea typeface="华文新魏" panose="02010800040101010101" charset="-122"/>
              </a:rPr>
              <a:t>阶无向树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               (</a:t>
            </a:r>
            <a:r>
              <a:rPr lang="zh-CN" altLang="en-US" sz="2800" dirty="0">
                <a:latin typeface="Times New Roman" panose="02020603050405020304" pitchFamily="18" charset="0"/>
                <a:ea typeface="华文新魏" panose="02010800040101010101" charset="-122"/>
              </a:rPr>
              <a:t>含有</a:t>
            </a:r>
            <a:r>
              <a:rPr lang="en-US" altLang="zh-CN" sz="2800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-2</a:t>
            </a:r>
            <a:r>
              <a:rPr lang="zh-CN" altLang="en-US" sz="2800" dirty="0">
                <a:latin typeface="Times New Roman" panose="02020603050405020304" pitchFamily="18" charset="0"/>
                <a:ea typeface="华文新魏" panose="02010800040101010101" charset="-122"/>
              </a:rPr>
              <a:t>条边</a:t>
            </a: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4"/>
          <p:cNvSpPr>
            <a:spLocks noGrp="1" noChangeArrowheads="1"/>
          </p:cNvSpPr>
          <p:nvPr>
            <p:ph/>
          </p:nvPr>
        </p:nvSpPr>
        <p:spPr>
          <a:xfrm>
            <a:off x="215677" y="1268760"/>
            <a:ext cx="8712646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7-6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是一棵无向树且有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度节点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度节点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其余均为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度节点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求出该无向树共有多少个节点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(2)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画出两棵不同构的满足上述要求的无向树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解：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个节点度数为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的节点数为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+ 3 + 1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+ 4.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由无向树的性质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恰有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+ 3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条边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握手定理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∙3 + 1∙2 +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∙ 1 = 2(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+ 3)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于是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5.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所以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9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两棵不同构的满足上述要求的无向树见图</a:t>
            </a:r>
            <a:r>
              <a:rPr lang="en-US" altLang="zh-CN">
                <a:latin typeface="Times New Roman" panose="02020603050405020304" pitchFamily="18" charset="0"/>
                <a:ea typeface="华文新魏" panose="02010800040101010101" charset="-122"/>
              </a:rPr>
              <a:t>7-19.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05" y="2060848"/>
            <a:ext cx="7096877" cy="2934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性质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阶无向树至少两片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树叶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                                                  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度为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证明：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时由性质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的证明知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至少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片树叶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只有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片树叶，则其余节点度数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由性质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和握手定理知：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2844165" y="4004692"/>
          <a:ext cx="338613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73175" imgH="312420" progId="Equation.3">
                  <p:embed/>
                </p:oleObj>
              </mc:Choice>
              <mc:Fallback>
                <p:oleObj name="公式" r:id="rId2" imgW="1273175" imgH="3124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165" y="4004692"/>
                        <a:ext cx="3386138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3059579" y="5445022"/>
          <a:ext cx="295592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11250" imgH="312420" progId="Equation.3">
                  <p:embed/>
                </p:oleObj>
              </mc:Choice>
              <mc:Fallback>
                <p:oleObj name="公式" r:id="rId4" imgW="1111250" imgH="3124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579" y="5445022"/>
                        <a:ext cx="2955925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/>
          </p:nvPr>
        </p:nvSpPr>
        <p:spPr>
          <a:xfrm>
            <a:off x="323850" y="1124744"/>
            <a:ext cx="8459788" cy="554461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7-7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不同构的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阶无向树仅为如图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7-20(a)(b).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证明：根据性质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1, 4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阶无向树恰有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条边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由握手定理知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其所有节点度数之和为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根据性质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2, 4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阶无向树至少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片叶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若恰有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片叶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则其度数序列为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2,2,1,1,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此时为图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7-20(a)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中的图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4797152"/>
            <a:ext cx="295210" cy="171101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若恰有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片叶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则其度数序列为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3, 1, 1, 1,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如图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7-20(b)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2723400"/>
            <a:ext cx="1584176" cy="227514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无向树的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个等价命题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(6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个等价命题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无向树的一些性质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4"/>
          <p:cNvSpPr>
            <a:spLocks noGrp="1" noChangeArrowheads="1"/>
          </p:cNvSpPr>
          <p:nvPr>
            <p:ph/>
          </p:nvPr>
        </p:nvSpPr>
        <p:spPr>
          <a:xfrm>
            <a:off x="89756" y="1268760"/>
            <a:ext cx="8964488" cy="525643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7-8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以下关于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个命题等价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(a)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是一棵无向树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(b)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不含有圈且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(c)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连通且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(d)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不含有圈但增加一条新边后得到一个且仅一个圈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(e)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连通但删除任意一条边后便不连通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(f)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的每一对节点有且仅有一条路径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/>
          </p:nvPr>
        </p:nvSpPr>
        <p:spPr>
          <a:xfrm>
            <a:off x="323850" y="1196752"/>
            <a:ext cx="8459788" cy="5256436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证明：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(a)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(b)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(b)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(c)(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反证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≥ 2)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个连通分支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它们都是无向树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其节点数分别为</a:t>
            </a:r>
          </a:p>
          <a:p>
            <a:pPr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(c)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(d):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先证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不含圈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归纳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 再证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添加一条边必有圈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(d)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(e);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(e)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(f);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(f)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(a).</a:t>
            </a: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3645694" y="2996952"/>
          <a:ext cx="18161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2625" imgH="208280" progId="Equation.3">
                  <p:embed/>
                </p:oleObj>
              </mc:Choice>
              <mc:Fallback>
                <p:oleObj name="Equation" r:id="rId2" imgW="682625" imgH="208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694" y="2996952"/>
                        <a:ext cx="18161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843808" y="3552577"/>
          <a:ext cx="31083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9035" imgH="208280" progId="Equation.3">
                  <p:embed/>
                </p:oleObj>
              </mc:Choice>
              <mc:Fallback>
                <p:oleObj name="Equation" r:id="rId4" imgW="1169035" imgH="20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552577"/>
                        <a:ext cx="31083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1115616" y="4108150"/>
          <a:ext cx="72009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8275" imgH="208280" progId="Equation.3">
                  <p:embed/>
                </p:oleObj>
              </mc:Choice>
              <mc:Fallback>
                <p:oleObj name="Equation" r:id="rId6" imgW="2708275" imgH="20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108150"/>
                        <a:ext cx="72009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55763" y="2508250"/>
            <a:ext cx="5435600" cy="685007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543" y="1132"/>
              <a:ext cx="16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无向树的定义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36" y="1086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无向树的性质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376738"/>
            <a:ext cx="5437187" cy="741362"/>
            <a:chOff x="1135" y="1048"/>
            <a:chExt cx="3425" cy="467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42" y="1048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生成树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360987"/>
            <a:ext cx="5437187" cy="673100"/>
            <a:chOff x="1135" y="1091"/>
            <a:chExt cx="3425" cy="424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42" y="1091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最小生成树</a:t>
              </a: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生成树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一个无向图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如下左图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不是无向树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但存在生成子图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它是无向树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46" y="3284984"/>
            <a:ext cx="7081395" cy="274990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7-4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生成子图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是一棵无向树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生成树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(spanning tree).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存在性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不一定存在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ea typeface="华文新魏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932091" y="3212639"/>
            <a:ext cx="2926894" cy="255788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唯一性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02" y="2486159"/>
            <a:ext cx="7081395" cy="27499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7-9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存在生成树的充要条件是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推论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阶连通图至少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–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条边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可见，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 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阶无向树是边数最少的连通无向图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55763" y="2508250"/>
            <a:ext cx="5435600" cy="685007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543" y="1132"/>
              <a:ext cx="16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无向树的定义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29000"/>
            <a:ext cx="5437187" cy="681038"/>
            <a:chOff x="1135" y="1086"/>
            <a:chExt cx="3425" cy="429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536" y="1086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无向树的性质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376738"/>
            <a:ext cx="5437187" cy="741362"/>
            <a:chOff x="1135" y="1048"/>
            <a:chExt cx="3425" cy="467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542" y="1048"/>
              <a:ext cx="89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生成树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8" name="Group 4"/>
          <p:cNvGrpSpPr/>
          <p:nvPr/>
        </p:nvGrpSpPr>
        <p:grpSpPr bwMode="auto">
          <a:xfrm>
            <a:off x="1655763" y="5360987"/>
            <a:ext cx="5437187" cy="673100"/>
            <a:chOff x="1135" y="1091"/>
            <a:chExt cx="3425" cy="424"/>
          </a:xfrm>
        </p:grpSpPr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1542" y="1091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最小生成树</a:t>
              </a: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/>
          </p:nvPr>
        </p:nvSpPr>
        <p:spPr>
          <a:xfrm>
            <a:off x="323850" y="1268412"/>
            <a:ext cx="8459788" cy="5184776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4.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最小生成树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对于边赋权的连通无向图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生成树的权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sp>
        <p:nvSpPr>
          <p:cNvPr id="29699" name="Oval 3"/>
          <p:cNvSpPr>
            <a:spLocks noChangeArrowheads="1"/>
          </p:cNvSpPr>
          <p:nvPr/>
        </p:nvSpPr>
        <p:spPr bwMode="auto">
          <a:xfrm>
            <a:off x="2268538" y="35734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 flipH="1">
            <a:off x="1476375" y="3644900"/>
            <a:ext cx="8636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1476375" y="4292600"/>
            <a:ext cx="165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>
            <a:off x="1476375" y="4365625"/>
            <a:ext cx="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3203575" y="4292600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1476375" y="4292600"/>
            <a:ext cx="17272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05" name="Object 9"/>
          <p:cNvGraphicFramePr>
            <a:graphicFrameLocks noChangeAspect="1"/>
          </p:cNvGraphicFramePr>
          <p:nvPr/>
        </p:nvGraphicFramePr>
        <p:xfrm>
          <a:off x="1692275" y="3500438"/>
          <a:ext cx="2762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4140" imgH="161925" progId="Equation.3">
                  <p:embed/>
                </p:oleObj>
              </mc:Choice>
              <mc:Fallback>
                <p:oleObj name="公式" r:id="rId2" imgW="104140" imgH="16192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500438"/>
                        <a:ext cx="2762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/>
          <p:cNvGraphicFramePr>
            <a:graphicFrameLocks noChangeAspect="1"/>
          </p:cNvGraphicFramePr>
          <p:nvPr/>
        </p:nvGraphicFramePr>
        <p:xfrm>
          <a:off x="2178050" y="4051300"/>
          <a:ext cx="2762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4140" imgH="161925" progId="Equation.3">
                  <p:embed/>
                </p:oleObj>
              </mc:Choice>
              <mc:Fallback>
                <p:oleObj name="公式" r:id="rId4" imgW="104140" imgH="16192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4051300"/>
                        <a:ext cx="2762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/>
        </p:nvGraphicFramePr>
        <p:xfrm>
          <a:off x="1116013" y="4797425"/>
          <a:ext cx="2143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1280" imgH="150495" progId="Equation.3">
                  <p:embed/>
                </p:oleObj>
              </mc:Choice>
              <mc:Fallback>
                <p:oleObj name="公式" r:id="rId6" imgW="81280" imgH="1504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797425"/>
                        <a:ext cx="21431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/>
        </p:nvGraphicFramePr>
        <p:xfrm>
          <a:off x="3502025" y="4800600"/>
          <a:ext cx="3063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5570" imgH="150495" progId="Equation.3">
                  <p:embed/>
                </p:oleObj>
              </mc:Choice>
              <mc:Fallback>
                <p:oleObj name="公式" r:id="rId8" imgW="115570" imgH="15049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4800600"/>
                        <a:ext cx="30638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2771775" y="3573463"/>
          <a:ext cx="3063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5570" imgH="150495" progId="Equation.3">
                  <p:embed/>
                </p:oleObj>
              </mc:Choice>
              <mc:Fallback>
                <p:oleObj name="公式" r:id="rId10" imgW="115570" imgH="15049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573463"/>
                        <a:ext cx="30638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Oval 14"/>
          <p:cNvSpPr>
            <a:spLocks noChangeArrowheads="1"/>
          </p:cNvSpPr>
          <p:nvPr/>
        </p:nvSpPr>
        <p:spPr bwMode="auto">
          <a:xfrm>
            <a:off x="1403350" y="422116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1" name="Oval 15"/>
          <p:cNvSpPr>
            <a:spLocks noChangeArrowheads="1"/>
          </p:cNvSpPr>
          <p:nvPr/>
        </p:nvSpPr>
        <p:spPr bwMode="auto">
          <a:xfrm>
            <a:off x="3059113" y="42211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2" name="Oval 16"/>
          <p:cNvSpPr>
            <a:spLocks noChangeArrowheads="1"/>
          </p:cNvSpPr>
          <p:nvPr/>
        </p:nvSpPr>
        <p:spPr bwMode="auto">
          <a:xfrm>
            <a:off x="1403350" y="551656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3" name="Oval 17"/>
          <p:cNvSpPr>
            <a:spLocks noChangeArrowheads="1"/>
          </p:cNvSpPr>
          <p:nvPr/>
        </p:nvSpPr>
        <p:spPr bwMode="auto">
          <a:xfrm>
            <a:off x="3132138" y="558958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4" name="Line 18"/>
          <p:cNvSpPr>
            <a:spLocks noChangeShapeType="1"/>
          </p:cNvSpPr>
          <p:nvPr/>
        </p:nvSpPr>
        <p:spPr bwMode="auto">
          <a:xfrm>
            <a:off x="2339975" y="3644900"/>
            <a:ext cx="792163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5" name="Line 19"/>
          <p:cNvSpPr>
            <a:spLocks noChangeShapeType="1"/>
          </p:cNvSpPr>
          <p:nvPr/>
        </p:nvSpPr>
        <p:spPr bwMode="auto">
          <a:xfrm>
            <a:off x="1487488" y="5645150"/>
            <a:ext cx="1655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16" name="Object 20"/>
          <p:cNvGraphicFramePr>
            <a:graphicFrameLocks noChangeAspect="1"/>
          </p:cNvGraphicFramePr>
          <p:nvPr/>
        </p:nvGraphicFramePr>
        <p:xfrm>
          <a:off x="2393950" y="4657725"/>
          <a:ext cx="2143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1280" imgH="150495" progId="Equation.3">
                  <p:embed/>
                </p:oleObj>
              </mc:Choice>
              <mc:Fallback>
                <p:oleObj name="公式" r:id="rId12" imgW="81280" imgH="15049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4657725"/>
                        <a:ext cx="2143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2090738" y="5449888"/>
          <a:ext cx="3079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5570" imgH="150495" progId="Equation.3">
                  <p:embed/>
                </p:oleObj>
              </mc:Choice>
              <mc:Fallback>
                <p:oleObj name="公式" r:id="rId14" imgW="115570" imgH="1504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5449888"/>
                        <a:ext cx="307975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8" name="Line 22"/>
          <p:cNvSpPr>
            <a:spLocks noChangeShapeType="1"/>
          </p:cNvSpPr>
          <p:nvPr/>
        </p:nvSpPr>
        <p:spPr bwMode="auto">
          <a:xfrm flipH="1">
            <a:off x="5310188" y="3454400"/>
            <a:ext cx="86360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9" name="Line 23"/>
          <p:cNvSpPr>
            <a:spLocks noChangeShapeType="1"/>
          </p:cNvSpPr>
          <p:nvPr/>
        </p:nvSpPr>
        <p:spPr bwMode="auto">
          <a:xfrm>
            <a:off x="5310188" y="4102100"/>
            <a:ext cx="16557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>
            <a:off x="5310188" y="4175125"/>
            <a:ext cx="0" cy="12239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>
            <a:off x="7037388" y="4102100"/>
            <a:ext cx="0" cy="13684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22" name="Object 26"/>
          <p:cNvGraphicFramePr>
            <a:graphicFrameLocks noChangeAspect="1"/>
          </p:cNvGraphicFramePr>
          <p:nvPr/>
        </p:nvGraphicFramePr>
        <p:xfrm>
          <a:off x="5526088" y="3309938"/>
          <a:ext cx="2762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4140" imgH="161925" progId="Equation.3">
                  <p:embed/>
                </p:oleObj>
              </mc:Choice>
              <mc:Fallback>
                <p:oleObj name="公式" r:id="rId16" imgW="104140" imgH="16192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6088" y="3309938"/>
                        <a:ext cx="2762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3" name="Object 27"/>
          <p:cNvGraphicFramePr>
            <a:graphicFrameLocks noChangeAspect="1"/>
          </p:cNvGraphicFramePr>
          <p:nvPr/>
        </p:nvGraphicFramePr>
        <p:xfrm>
          <a:off x="6011863" y="3860800"/>
          <a:ext cx="2762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4140" imgH="161925" progId="Equation.3">
                  <p:embed/>
                </p:oleObj>
              </mc:Choice>
              <mc:Fallback>
                <p:oleObj name="公式" r:id="rId18" imgW="104140" imgH="16192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860800"/>
                        <a:ext cx="2762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4" name="Object 28"/>
          <p:cNvGraphicFramePr>
            <a:graphicFrameLocks noChangeAspect="1"/>
          </p:cNvGraphicFramePr>
          <p:nvPr/>
        </p:nvGraphicFramePr>
        <p:xfrm>
          <a:off x="4949825" y="4606925"/>
          <a:ext cx="21431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1280" imgH="150495" progId="Equation.3">
                  <p:embed/>
                </p:oleObj>
              </mc:Choice>
              <mc:Fallback>
                <p:oleObj name="公式" r:id="rId20" imgW="81280" imgH="15049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5" y="4606925"/>
                        <a:ext cx="214313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5" name="Object 29"/>
          <p:cNvGraphicFramePr>
            <a:graphicFrameLocks noChangeAspect="1"/>
          </p:cNvGraphicFramePr>
          <p:nvPr/>
        </p:nvGraphicFramePr>
        <p:xfrm>
          <a:off x="7335838" y="4610100"/>
          <a:ext cx="3063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15570" imgH="150495" progId="Equation.3">
                  <p:embed/>
                </p:oleObj>
              </mc:Choice>
              <mc:Fallback>
                <p:oleObj name="公式" r:id="rId22" imgW="115570" imgH="15049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8" y="4610100"/>
                        <a:ext cx="30638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6" name="Object 30"/>
          <p:cNvGraphicFramePr>
            <a:graphicFrameLocks noChangeAspect="1"/>
          </p:cNvGraphicFramePr>
          <p:nvPr/>
        </p:nvGraphicFramePr>
        <p:xfrm>
          <a:off x="6605588" y="3382963"/>
          <a:ext cx="3063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5570" imgH="150495" progId="Equation.3">
                  <p:embed/>
                </p:oleObj>
              </mc:Choice>
              <mc:Fallback>
                <p:oleObj name="公式" r:id="rId24" imgW="115570" imgH="15049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5588" y="3382963"/>
                        <a:ext cx="30638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7" name="Line 31"/>
          <p:cNvSpPr>
            <a:spLocks noChangeShapeType="1"/>
          </p:cNvSpPr>
          <p:nvPr/>
        </p:nvSpPr>
        <p:spPr bwMode="auto">
          <a:xfrm>
            <a:off x="5321300" y="5454650"/>
            <a:ext cx="165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28" name="Object 32"/>
          <p:cNvGraphicFramePr>
            <a:graphicFrameLocks noChangeAspect="1"/>
          </p:cNvGraphicFramePr>
          <p:nvPr/>
        </p:nvGraphicFramePr>
        <p:xfrm>
          <a:off x="6227763" y="4467225"/>
          <a:ext cx="2143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81280" imgH="150495" progId="Equation.3">
                  <p:embed/>
                </p:oleObj>
              </mc:Choice>
              <mc:Fallback>
                <p:oleObj name="公式" r:id="rId26" imgW="81280" imgH="15049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467225"/>
                        <a:ext cx="214312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9" name="Object 33"/>
          <p:cNvGraphicFramePr>
            <a:graphicFrameLocks noChangeAspect="1"/>
          </p:cNvGraphicFramePr>
          <p:nvPr/>
        </p:nvGraphicFramePr>
        <p:xfrm>
          <a:off x="5924550" y="5259388"/>
          <a:ext cx="3079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15570" imgH="150495" progId="Equation.3">
                  <p:embed/>
                </p:oleObj>
              </mc:Choice>
              <mc:Fallback>
                <p:oleObj name="公式" r:id="rId28" imgW="115570" imgH="150495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5259388"/>
                        <a:ext cx="307975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0" name="Line 34"/>
          <p:cNvSpPr>
            <a:spLocks noChangeShapeType="1"/>
          </p:cNvSpPr>
          <p:nvPr/>
        </p:nvSpPr>
        <p:spPr bwMode="auto">
          <a:xfrm>
            <a:off x="6227763" y="3500438"/>
            <a:ext cx="7921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1" name="Oval 35"/>
          <p:cNvSpPr>
            <a:spLocks noChangeArrowheads="1"/>
          </p:cNvSpPr>
          <p:nvPr/>
        </p:nvSpPr>
        <p:spPr bwMode="auto">
          <a:xfrm>
            <a:off x="6156325" y="335756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2" name="Oval 36"/>
          <p:cNvSpPr>
            <a:spLocks noChangeArrowheads="1"/>
          </p:cNvSpPr>
          <p:nvPr/>
        </p:nvSpPr>
        <p:spPr bwMode="auto">
          <a:xfrm>
            <a:off x="5219700" y="400526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3" name="Oval 37"/>
          <p:cNvSpPr>
            <a:spLocks noChangeArrowheads="1"/>
          </p:cNvSpPr>
          <p:nvPr/>
        </p:nvSpPr>
        <p:spPr bwMode="auto">
          <a:xfrm>
            <a:off x="6948488" y="40052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4" name="Oval 38"/>
          <p:cNvSpPr>
            <a:spLocks noChangeArrowheads="1"/>
          </p:cNvSpPr>
          <p:nvPr/>
        </p:nvSpPr>
        <p:spPr bwMode="auto">
          <a:xfrm>
            <a:off x="5219700" y="537368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5" name="Oval 39"/>
          <p:cNvSpPr>
            <a:spLocks noChangeArrowheads="1"/>
          </p:cNvSpPr>
          <p:nvPr/>
        </p:nvSpPr>
        <p:spPr bwMode="auto">
          <a:xfrm>
            <a:off x="6948488" y="537368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>
            <a:off x="5292725" y="4076700"/>
            <a:ext cx="17272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37" name="Object 41"/>
          <p:cNvGraphicFramePr>
            <a:graphicFrameLocks noChangeAspect="1"/>
          </p:cNvGraphicFramePr>
          <p:nvPr/>
        </p:nvGraphicFramePr>
        <p:xfrm>
          <a:off x="2606675" y="2650072"/>
          <a:ext cx="30575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902970" imgH="161925" progId="Equation.3">
                  <p:embed/>
                </p:oleObj>
              </mc:Choice>
              <mc:Fallback>
                <p:oleObj name="公式" r:id="rId30" imgW="902970" imgH="161925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2650072"/>
                        <a:ext cx="30575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7-5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是一个边赋权的连通无向图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中权最小的生成树称为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最小生成树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(minimal spanning tree).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下面分别介绍求边赋权的连通无向图的最小生成树的几种算法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/>
          </p:nvPr>
        </p:nvSpPr>
        <p:spPr>
          <a:xfrm>
            <a:off x="215677" y="1196752"/>
            <a:ext cx="8712646" cy="5256436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算法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克鲁斯卡尔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(Kruskal, 1956)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的避圈法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先将图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条边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按权从小到大的顺序排列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按从左至右顺序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Step 1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选取第一条边  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只要     不是圈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←1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Step 2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–1,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算法结束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否则转向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Step 3.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Step 3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假定已经选取了                   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再选取     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只要                                 不构成圈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←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 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+ 1,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转向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Step 2.</a:t>
            </a:r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4211955" y="3141603"/>
          <a:ext cx="50958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0495" imgH="219710" progId="Equation.3">
                  <p:embed/>
                </p:oleObj>
              </mc:Choice>
              <mc:Fallback>
                <p:oleObj name="Equation" r:id="rId3" imgW="150495" imgH="2197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55" y="3141603"/>
                        <a:ext cx="50958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5580293" y="3141393"/>
          <a:ext cx="50958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0495" imgH="219710" progId="Equation.3">
                  <p:embed/>
                </p:oleObj>
              </mc:Choice>
              <mc:Fallback>
                <p:oleObj name="Equation" r:id="rId5" imgW="150495" imgH="2197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293" y="3141393"/>
                        <a:ext cx="50958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4553743" y="4509120"/>
          <a:ext cx="22352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59765" imgH="219710" progId="Equation.3">
                  <p:embed/>
                </p:oleObj>
              </mc:Choice>
              <mc:Fallback>
                <p:oleObj name="Equation" r:id="rId7" imgW="659765" imgH="2197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3743" y="4509120"/>
                        <a:ext cx="22352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1619672" y="5126384"/>
          <a:ext cx="34115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7110" imgH="219710" progId="Equation.3">
                  <p:embed/>
                </p:oleObj>
              </mc:Choice>
              <mc:Fallback>
                <p:oleObj name="Equation" r:id="rId9" imgW="1007110" imgH="2197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5126384"/>
                        <a:ext cx="341153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8100392" y="4509120"/>
          <a:ext cx="7461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9710" imgH="219710" progId="Equation.3">
                  <p:embed/>
                </p:oleObj>
              </mc:Choice>
              <mc:Fallback>
                <p:oleObj name="Equation" r:id="rId11" imgW="219710" imgH="2197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509120"/>
                        <a:ext cx="7461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Kruskal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的避圈法的基本思想是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以边的权从小到大的顺序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逐步选边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但必须去掉产生圈的边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即避开圈的产生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直至得到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条边为止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算法的正确性是显然的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7-10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使用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Kruskal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的避圈法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求出下图边赋权图的最小生成树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3943350" y="3717032"/>
          <a:ext cx="1257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0205" imgH="208280" progId="Equation.3">
                  <p:embed/>
                </p:oleObj>
              </mc:Choice>
              <mc:Fallback>
                <p:oleObj name="公式" r:id="rId2" imgW="370205" imgH="208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3717032"/>
                        <a:ext cx="12573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/>
          </p:nvPr>
        </p:nvSpPr>
        <p:spPr>
          <a:xfrm>
            <a:off x="323850" y="1155460"/>
            <a:ext cx="8459788" cy="52977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将边按权从小到大顺序排列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</a:p>
        </p:txBody>
      </p:sp>
      <p:graphicFrame>
        <p:nvGraphicFramePr>
          <p:cNvPr id="33824" name="Object 32"/>
          <p:cNvGraphicFramePr>
            <a:graphicFrameLocks noChangeAspect="1"/>
          </p:cNvGraphicFramePr>
          <p:nvPr/>
        </p:nvGraphicFramePr>
        <p:xfrm>
          <a:off x="2932063" y="1703128"/>
          <a:ext cx="30035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34110" imgH="208280" progId="Equation.3">
                  <p:embed/>
                </p:oleObj>
              </mc:Choice>
              <mc:Fallback>
                <p:oleObj name="公式" r:id="rId2" imgW="1134110" imgH="2082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063" y="1703128"/>
                        <a:ext cx="30035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353691" y="3779129"/>
            <a:ext cx="6160294" cy="2691908"/>
            <a:chOff x="861219" y="3429000"/>
            <a:chExt cx="6160294" cy="2691908"/>
          </a:xfrm>
        </p:grpSpPr>
        <p:sp>
          <p:nvSpPr>
            <p:cNvPr id="33795" name="Oval 3"/>
            <p:cNvSpPr>
              <a:spLocks noChangeArrowheads="1"/>
            </p:cNvSpPr>
            <p:nvPr/>
          </p:nvSpPr>
          <p:spPr bwMode="auto">
            <a:xfrm>
              <a:off x="2268538" y="3573463"/>
              <a:ext cx="144462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6" name="Oval 4"/>
            <p:cNvSpPr>
              <a:spLocks noChangeArrowheads="1"/>
            </p:cNvSpPr>
            <p:nvPr/>
          </p:nvSpPr>
          <p:spPr bwMode="auto">
            <a:xfrm>
              <a:off x="1403350" y="4221163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7" name="Oval 5"/>
            <p:cNvSpPr>
              <a:spLocks noChangeArrowheads="1"/>
            </p:cNvSpPr>
            <p:nvPr/>
          </p:nvSpPr>
          <p:spPr bwMode="auto">
            <a:xfrm>
              <a:off x="3132138" y="4222750"/>
              <a:ext cx="144462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8" name="Oval 6"/>
            <p:cNvSpPr>
              <a:spLocks noChangeArrowheads="1"/>
            </p:cNvSpPr>
            <p:nvPr/>
          </p:nvSpPr>
          <p:spPr bwMode="auto">
            <a:xfrm>
              <a:off x="1403350" y="5589588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99" name="Oval 7"/>
            <p:cNvSpPr>
              <a:spLocks noChangeArrowheads="1"/>
            </p:cNvSpPr>
            <p:nvPr/>
          </p:nvSpPr>
          <p:spPr bwMode="auto">
            <a:xfrm>
              <a:off x="3132138" y="5589588"/>
              <a:ext cx="144462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0" name="Oval 8"/>
            <p:cNvSpPr>
              <a:spLocks noChangeArrowheads="1"/>
            </p:cNvSpPr>
            <p:nvPr/>
          </p:nvSpPr>
          <p:spPr bwMode="auto">
            <a:xfrm>
              <a:off x="6084888" y="3573463"/>
              <a:ext cx="144462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1" name="Oval 9"/>
            <p:cNvSpPr>
              <a:spLocks noChangeArrowheads="1"/>
            </p:cNvSpPr>
            <p:nvPr/>
          </p:nvSpPr>
          <p:spPr bwMode="auto">
            <a:xfrm>
              <a:off x="5219700" y="4149725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2" name="Oval 10"/>
            <p:cNvSpPr>
              <a:spLocks noChangeArrowheads="1"/>
            </p:cNvSpPr>
            <p:nvPr/>
          </p:nvSpPr>
          <p:spPr bwMode="auto">
            <a:xfrm>
              <a:off x="6877050" y="4149725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3" name="Oval 11"/>
            <p:cNvSpPr>
              <a:spLocks noChangeArrowheads="1"/>
            </p:cNvSpPr>
            <p:nvPr/>
          </p:nvSpPr>
          <p:spPr bwMode="auto">
            <a:xfrm>
              <a:off x="5219700" y="5661025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4" name="Oval 12"/>
            <p:cNvSpPr>
              <a:spLocks noChangeArrowheads="1"/>
            </p:cNvSpPr>
            <p:nvPr/>
          </p:nvSpPr>
          <p:spPr bwMode="auto">
            <a:xfrm>
              <a:off x="6804025" y="5589588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5" name="Line 13"/>
            <p:cNvSpPr>
              <a:spLocks noChangeShapeType="1"/>
            </p:cNvSpPr>
            <p:nvPr/>
          </p:nvSpPr>
          <p:spPr bwMode="auto">
            <a:xfrm flipH="1">
              <a:off x="1476375" y="3644900"/>
              <a:ext cx="863600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6" name="Line 14"/>
            <p:cNvSpPr>
              <a:spLocks noChangeShapeType="1"/>
            </p:cNvSpPr>
            <p:nvPr/>
          </p:nvSpPr>
          <p:spPr bwMode="auto">
            <a:xfrm>
              <a:off x="2339975" y="3644900"/>
              <a:ext cx="863600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7" name="Line 15"/>
            <p:cNvSpPr>
              <a:spLocks noChangeShapeType="1"/>
            </p:cNvSpPr>
            <p:nvPr/>
          </p:nvSpPr>
          <p:spPr bwMode="auto">
            <a:xfrm>
              <a:off x="1476375" y="4292600"/>
              <a:ext cx="1655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8" name="Line 16"/>
            <p:cNvSpPr>
              <a:spLocks noChangeShapeType="1"/>
            </p:cNvSpPr>
            <p:nvPr/>
          </p:nvSpPr>
          <p:spPr bwMode="auto">
            <a:xfrm>
              <a:off x="1476375" y="4365625"/>
              <a:ext cx="0" cy="1223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9" name="Line 17"/>
            <p:cNvSpPr>
              <a:spLocks noChangeShapeType="1"/>
            </p:cNvSpPr>
            <p:nvPr/>
          </p:nvSpPr>
          <p:spPr bwMode="auto">
            <a:xfrm>
              <a:off x="3203575" y="4292600"/>
              <a:ext cx="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0" name="Line 18"/>
            <p:cNvSpPr>
              <a:spLocks noChangeShapeType="1"/>
            </p:cNvSpPr>
            <p:nvPr/>
          </p:nvSpPr>
          <p:spPr bwMode="auto">
            <a:xfrm>
              <a:off x="1547813" y="5661025"/>
              <a:ext cx="16557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1" name="Line 19"/>
            <p:cNvSpPr>
              <a:spLocks noChangeShapeType="1"/>
            </p:cNvSpPr>
            <p:nvPr/>
          </p:nvSpPr>
          <p:spPr bwMode="auto">
            <a:xfrm>
              <a:off x="1476375" y="4292600"/>
              <a:ext cx="172720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2" name="Line 20"/>
            <p:cNvSpPr>
              <a:spLocks noChangeShapeType="1"/>
            </p:cNvSpPr>
            <p:nvPr/>
          </p:nvSpPr>
          <p:spPr bwMode="auto">
            <a:xfrm>
              <a:off x="5292725" y="4221163"/>
              <a:ext cx="1655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3" name="Line 21"/>
            <p:cNvSpPr>
              <a:spLocks noChangeShapeType="1"/>
            </p:cNvSpPr>
            <p:nvPr/>
          </p:nvSpPr>
          <p:spPr bwMode="auto">
            <a:xfrm>
              <a:off x="5292725" y="4221163"/>
              <a:ext cx="0" cy="1512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4" name="Line 22"/>
            <p:cNvSpPr>
              <a:spLocks noChangeShapeType="1"/>
            </p:cNvSpPr>
            <p:nvPr/>
          </p:nvSpPr>
          <p:spPr bwMode="auto">
            <a:xfrm>
              <a:off x="5292725" y="4221163"/>
              <a:ext cx="151130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815" name="Object 23"/>
            <p:cNvGraphicFramePr>
              <a:graphicFrameLocks noChangeAspect="1"/>
            </p:cNvGraphicFramePr>
            <p:nvPr/>
          </p:nvGraphicFramePr>
          <p:xfrm>
            <a:off x="1335882" y="3579813"/>
            <a:ext cx="644525" cy="525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43205" imgH="196850" progId="Equation.3">
                    <p:embed/>
                  </p:oleObj>
                </mc:Choice>
                <mc:Fallback>
                  <p:oleObj name="Equation" r:id="rId4" imgW="243205" imgH="19685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5882" y="3579813"/>
                          <a:ext cx="644525" cy="525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6" name="Object 24"/>
            <p:cNvGraphicFramePr>
              <a:graphicFrameLocks noChangeAspect="1"/>
            </p:cNvGraphicFramePr>
            <p:nvPr/>
          </p:nvGraphicFramePr>
          <p:xfrm>
            <a:off x="1979613" y="4005263"/>
            <a:ext cx="674687" cy="525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54635" imgH="196850" progId="Equation.3">
                    <p:embed/>
                  </p:oleObj>
                </mc:Choice>
                <mc:Fallback>
                  <p:oleObj name="Equation" r:id="rId6" imgW="254635" imgH="19685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613" y="4005263"/>
                          <a:ext cx="674687" cy="525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7" name="Object 25"/>
            <p:cNvGraphicFramePr>
              <a:graphicFrameLocks noChangeAspect="1"/>
            </p:cNvGraphicFramePr>
            <p:nvPr/>
          </p:nvGraphicFramePr>
          <p:xfrm>
            <a:off x="1938338" y="5565283"/>
            <a:ext cx="674688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4635" imgH="208280" progId="Equation.3">
                    <p:embed/>
                  </p:oleObj>
                </mc:Choice>
                <mc:Fallback>
                  <p:oleObj name="Equation" r:id="rId8" imgW="254635" imgH="2082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8338" y="5565283"/>
                          <a:ext cx="674688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8" name="Object 26"/>
            <p:cNvGraphicFramePr>
              <a:graphicFrameLocks noChangeAspect="1"/>
            </p:cNvGraphicFramePr>
            <p:nvPr/>
          </p:nvGraphicFramePr>
          <p:xfrm>
            <a:off x="861219" y="4748675"/>
            <a:ext cx="61277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31775" imgH="196850" progId="Equation.3">
                    <p:embed/>
                  </p:oleObj>
                </mc:Choice>
                <mc:Fallback>
                  <p:oleObj name="Equation" r:id="rId10" imgW="231775" imgH="19685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1219" y="4748675"/>
                          <a:ext cx="61277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9" name="Object 27"/>
            <p:cNvGraphicFramePr>
              <a:graphicFrameLocks noChangeAspect="1"/>
            </p:cNvGraphicFramePr>
            <p:nvPr/>
          </p:nvGraphicFramePr>
          <p:xfrm>
            <a:off x="4693934" y="4836189"/>
            <a:ext cx="61277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31775" imgH="196850" progId="Equation.3">
                    <p:embed/>
                  </p:oleObj>
                </mc:Choice>
                <mc:Fallback>
                  <p:oleObj name="Equation" r:id="rId12" imgW="231775" imgH="19685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3934" y="4836189"/>
                          <a:ext cx="61277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0" name="Object 28"/>
            <p:cNvGraphicFramePr>
              <a:graphicFrameLocks noChangeAspect="1"/>
            </p:cNvGraphicFramePr>
            <p:nvPr/>
          </p:nvGraphicFramePr>
          <p:xfrm>
            <a:off x="2227263" y="4643582"/>
            <a:ext cx="612775" cy="554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31775" imgH="208280" progId="Equation.3">
                    <p:embed/>
                  </p:oleObj>
                </mc:Choice>
                <mc:Fallback>
                  <p:oleObj name="Equation" r:id="rId14" imgW="231775" imgH="20828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7263" y="4643582"/>
                          <a:ext cx="612775" cy="554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1" name="Object 29"/>
            <p:cNvGraphicFramePr>
              <a:graphicFrameLocks noChangeAspect="1"/>
            </p:cNvGraphicFramePr>
            <p:nvPr/>
          </p:nvGraphicFramePr>
          <p:xfrm>
            <a:off x="5940425" y="4581525"/>
            <a:ext cx="612775" cy="554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31775" imgH="208280" progId="Equation.3">
                    <p:embed/>
                  </p:oleObj>
                </mc:Choice>
                <mc:Fallback>
                  <p:oleObj name="Equation" r:id="rId16" imgW="231775" imgH="20828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425" y="4581525"/>
                          <a:ext cx="612775" cy="554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2" name="Object 30"/>
            <p:cNvGraphicFramePr>
              <a:graphicFrameLocks noChangeAspect="1"/>
            </p:cNvGraphicFramePr>
            <p:nvPr/>
          </p:nvGraphicFramePr>
          <p:xfrm>
            <a:off x="3236117" y="4741228"/>
            <a:ext cx="674688" cy="554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54635" imgH="208280" progId="Equation.3">
                    <p:embed/>
                  </p:oleObj>
                </mc:Choice>
                <mc:Fallback>
                  <p:oleObj name="Equation" r:id="rId18" imgW="254635" imgH="2082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6117" y="4741228"/>
                          <a:ext cx="674688" cy="554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3" name="Object 31"/>
            <p:cNvGraphicFramePr>
              <a:graphicFrameLocks noChangeAspect="1"/>
            </p:cNvGraphicFramePr>
            <p:nvPr/>
          </p:nvGraphicFramePr>
          <p:xfrm>
            <a:off x="2622940" y="3490654"/>
            <a:ext cx="704850" cy="554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66065" imgH="208280" progId="Equation.3">
                    <p:embed/>
                  </p:oleObj>
                </mc:Choice>
                <mc:Fallback>
                  <p:oleObj name="Equation" r:id="rId20" imgW="266065" imgH="2082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2940" y="3490654"/>
                          <a:ext cx="704850" cy="554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5" name="Line 33"/>
            <p:cNvSpPr>
              <a:spLocks noChangeShapeType="1"/>
            </p:cNvSpPr>
            <p:nvPr/>
          </p:nvSpPr>
          <p:spPr bwMode="auto">
            <a:xfrm flipH="1">
              <a:off x="5292725" y="3644900"/>
              <a:ext cx="792163" cy="576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826" name="Object 34"/>
            <p:cNvGraphicFramePr>
              <a:graphicFrameLocks noChangeAspect="1"/>
            </p:cNvGraphicFramePr>
            <p:nvPr/>
          </p:nvGraphicFramePr>
          <p:xfrm>
            <a:off x="5219700" y="3429000"/>
            <a:ext cx="644525" cy="525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43205" imgH="196850" progId="Equation.3">
                    <p:embed/>
                  </p:oleObj>
                </mc:Choice>
                <mc:Fallback>
                  <p:oleObj name="Equation" r:id="rId22" imgW="243205" imgH="19685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700" y="3429000"/>
                          <a:ext cx="644525" cy="525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7" name="Object 35"/>
            <p:cNvGraphicFramePr>
              <a:graphicFrameLocks noChangeAspect="1"/>
            </p:cNvGraphicFramePr>
            <p:nvPr/>
          </p:nvGraphicFramePr>
          <p:xfrm>
            <a:off x="5940425" y="3933825"/>
            <a:ext cx="674688" cy="525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54635" imgH="196850" progId="Equation.3">
                    <p:embed/>
                  </p:oleObj>
                </mc:Choice>
                <mc:Fallback>
                  <p:oleObj name="Equation" r:id="rId24" imgW="254635" imgH="19685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0425" y="3933825"/>
                          <a:ext cx="674688" cy="525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28" name="AutoShape 36"/>
          <p:cNvSpPr>
            <a:spLocks noChangeArrowheads="1"/>
          </p:cNvSpPr>
          <p:nvPr/>
        </p:nvSpPr>
        <p:spPr bwMode="auto">
          <a:xfrm>
            <a:off x="4281132" y="2241051"/>
            <a:ext cx="216024" cy="292043"/>
          </a:xfrm>
          <a:prstGeom prst="upArrow">
            <a:avLst>
              <a:gd name="adj1" fmla="val 50000"/>
              <a:gd name="adj2" fmla="val 350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3829" name="Line 37"/>
          <p:cNvSpPr>
            <a:spLocks noChangeShapeType="1"/>
          </p:cNvSpPr>
          <p:nvPr/>
        </p:nvSpPr>
        <p:spPr bwMode="auto">
          <a:xfrm>
            <a:off x="3011439" y="2241051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0" name="Line 38"/>
          <p:cNvSpPr>
            <a:spLocks noChangeShapeType="1"/>
          </p:cNvSpPr>
          <p:nvPr/>
        </p:nvSpPr>
        <p:spPr bwMode="auto">
          <a:xfrm>
            <a:off x="2996539" y="2387072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831" name="Object 39"/>
          <p:cNvGraphicFramePr>
            <a:graphicFrameLocks noChangeAspect="1"/>
          </p:cNvGraphicFramePr>
          <p:nvPr/>
        </p:nvGraphicFramePr>
        <p:xfrm>
          <a:off x="3546181" y="2621581"/>
          <a:ext cx="16859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636905" imgH="208280" progId="Equation.3">
                  <p:embed/>
                </p:oleObj>
              </mc:Choice>
              <mc:Fallback>
                <p:oleObj name="公式" r:id="rId26" imgW="636905" imgH="20828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181" y="2621581"/>
                        <a:ext cx="16859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2" name="Object 40"/>
          <p:cNvGraphicFramePr>
            <a:graphicFrameLocks noChangeAspect="1"/>
          </p:cNvGraphicFramePr>
          <p:nvPr/>
        </p:nvGraphicFramePr>
        <p:xfrm>
          <a:off x="3426273" y="3200355"/>
          <a:ext cx="20843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786765" imgH="208280" progId="Equation.3">
                  <p:embed/>
                </p:oleObj>
              </mc:Choice>
              <mc:Fallback>
                <p:oleObj name="公式" r:id="rId28" imgW="786765" imgH="20828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6273" y="3200355"/>
                        <a:ext cx="2084387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4"/>
          <p:cNvSpPr>
            <a:spLocks noGrp="1" noChangeArrowheads="1"/>
          </p:cNvSpPr>
          <p:nvPr>
            <p:ph/>
          </p:nvPr>
        </p:nvSpPr>
        <p:spPr>
          <a:xfrm>
            <a:off x="125760" y="1268760"/>
            <a:ext cx="8892480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算法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普里姆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(Prim, 1957)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算法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是边赋权连通无向图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Step 1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中任取一个节点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Step 2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算法结束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否则转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Step 3.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Step 3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在与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中所有节点关联的所有边中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选取权最小的边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且与该边关联的另一个节点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–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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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}.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1637297" y="1962681"/>
            <a:ext cx="2335630" cy="2494309"/>
            <a:chOff x="2981006" y="1628775"/>
            <a:chExt cx="2335630" cy="2494309"/>
          </a:xfrm>
        </p:grpSpPr>
        <p:sp>
          <p:nvSpPr>
            <p:cNvPr id="41989" name="Line 5"/>
            <p:cNvSpPr>
              <a:spLocks noChangeShapeType="1"/>
            </p:cNvSpPr>
            <p:nvPr/>
          </p:nvSpPr>
          <p:spPr bwMode="auto">
            <a:xfrm flipH="1">
              <a:off x="3294063" y="1727200"/>
              <a:ext cx="863600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0" name="Line 6"/>
            <p:cNvSpPr>
              <a:spLocks noChangeShapeType="1"/>
            </p:cNvSpPr>
            <p:nvPr/>
          </p:nvSpPr>
          <p:spPr bwMode="auto">
            <a:xfrm>
              <a:off x="3294063" y="2374900"/>
              <a:ext cx="16557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1" name="Line 7"/>
            <p:cNvSpPr>
              <a:spLocks noChangeShapeType="1"/>
            </p:cNvSpPr>
            <p:nvPr/>
          </p:nvSpPr>
          <p:spPr bwMode="auto">
            <a:xfrm>
              <a:off x="3294063" y="2447925"/>
              <a:ext cx="0" cy="1223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2" name="Line 8"/>
            <p:cNvSpPr>
              <a:spLocks noChangeShapeType="1"/>
            </p:cNvSpPr>
            <p:nvPr/>
          </p:nvSpPr>
          <p:spPr bwMode="auto">
            <a:xfrm>
              <a:off x="5021263" y="2374900"/>
              <a:ext cx="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3294063" y="2374900"/>
              <a:ext cx="1727200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6" name="Line 12"/>
            <p:cNvSpPr>
              <a:spLocks noChangeShapeType="1"/>
            </p:cNvSpPr>
            <p:nvPr/>
          </p:nvSpPr>
          <p:spPr bwMode="auto">
            <a:xfrm>
              <a:off x="4157663" y="1727200"/>
              <a:ext cx="792162" cy="576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13"/>
            <p:cNvSpPr>
              <a:spLocks noChangeShapeType="1"/>
            </p:cNvSpPr>
            <p:nvPr/>
          </p:nvSpPr>
          <p:spPr bwMode="auto">
            <a:xfrm>
              <a:off x="3305175" y="3727450"/>
              <a:ext cx="1655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Oval 14"/>
            <p:cNvSpPr>
              <a:spLocks noChangeArrowheads="1"/>
            </p:cNvSpPr>
            <p:nvPr/>
          </p:nvSpPr>
          <p:spPr bwMode="auto">
            <a:xfrm>
              <a:off x="4067175" y="1628775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9" name="Oval 15"/>
            <p:cNvSpPr>
              <a:spLocks noChangeArrowheads="1"/>
            </p:cNvSpPr>
            <p:nvPr/>
          </p:nvSpPr>
          <p:spPr bwMode="auto">
            <a:xfrm>
              <a:off x="4946650" y="2276475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0" name="Oval 16"/>
            <p:cNvSpPr>
              <a:spLocks noChangeArrowheads="1"/>
            </p:cNvSpPr>
            <p:nvPr/>
          </p:nvSpPr>
          <p:spPr bwMode="auto">
            <a:xfrm>
              <a:off x="4946650" y="3611563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1" name="Oval 17"/>
            <p:cNvSpPr>
              <a:spLocks noChangeArrowheads="1"/>
            </p:cNvSpPr>
            <p:nvPr/>
          </p:nvSpPr>
          <p:spPr bwMode="auto">
            <a:xfrm>
              <a:off x="3203891" y="3625850"/>
              <a:ext cx="144780" cy="1289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2" name="Oval 18"/>
            <p:cNvSpPr>
              <a:spLocks noChangeArrowheads="1"/>
            </p:cNvSpPr>
            <p:nvPr/>
          </p:nvSpPr>
          <p:spPr bwMode="auto">
            <a:xfrm>
              <a:off x="3203575" y="2311400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03" name="Object 19"/>
            <p:cNvGraphicFramePr>
              <a:graphicFrameLocks noChangeAspect="1"/>
            </p:cNvGraphicFramePr>
            <p:nvPr/>
          </p:nvGraphicFramePr>
          <p:xfrm>
            <a:off x="3444372" y="1732757"/>
            <a:ext cx="27622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04140" imgH="161925" progId="Equation.3">
                    <p:embed/>
                  </p:oleObj>
                </mc:Choice>
                <mc:Fallback>
                  <p:oleObj name="公式" r:id="rId2" imgW="104140" imgH="16192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4372" y="1732757"/>
                          <a:ext cx="27622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4" name="Object 20"/>
            <p:cNvGraphicFramePr>
              <a:graphicFrameLocks noChangeAspect="1"/>
            </p:cNvGraphicFramePr>
            <p:nvPr/>
          </p:nvGraphicFramePr>
          <p:xfrm>
            <a:off x="4016375" y="2216322"/>
            <a:ext cx="27622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04140" imgH="161925" progId="Equation.3">
                    <p:embed/>
                  </p:oleObj>
                </mc:Choice>
                <mc:Fallback>
                  <p:oleObj name="公式" r:id="rId4" imgW="104140" imgH="16192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375" y="2216322"/>
                          <a:ext cx="27622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5" name="Object 21"/>
            <p:cNvGraphicFramePr>
              <a:graphicFrameLocks noChangeAspect="1"/>
            </p:cNvGraphicFramePr>
            <p:nvPr/>
          </p:nvGraphicFramePr>
          <p:xfrm>
            <a:off x="2981006" y="2868859"/>
            <a:ext cx="2143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81280" imgH="150495" progId="Equation.3">
                    <p:embed/>
                  </p:oleObj>
                </mc:Choice>
                <mc:Fallback>
                  <p:oleObj name="公式" r:id="rId6" imgW="81280" imgH="15049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1006" y="2868859"/>
                          <a:ext cx="214312" cy="401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6" name="Object 22"/>
            <p:cNvGraphicFramePr>
              <a:graphicFrameLocks noChangeAspect="1"/>
            </p:cNvGraphicFramePr>
            <p:nvPr/>
          </p:nvGraphicFramePr>
          <p:xfrm>
            <a:off x="5010248" y="2856533"/>
            <a:ext cx="30638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5570" imgH="150495" progId="Equation.3">
                    <p:embed/>
                  </p:oleObj>
                </mc:Choice>
                <mc:Fallback>
                  <p:oleObj name="公式" r:id="rId8" imgW="115570" imgH="15049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0248" y="2856533"/>
                          <a:ext cx="306388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7" name="Object 23"/>
            <p:cNvGraphicFramePr>
              <a:graphicFrameLocks noChangeAspect="1"/>
            </p:cNvGraphicFramePr>
            <p:nvPr/>
          </p:nvGraphicFramePr>
          <p:xfrm>
            <a:off x="4518025" y="1727200"/>
            <a:ext cx="30638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15570" imgH="150495" progId="Equation.3">
                    <p:embed/>
                  </p:oleObj>
                </mc:Choice>
                <mc:Fallback>
                  <p:oleObj name="公式" r:id="rId10" imgW="115570" imgH="15049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8025" y="1727200"/>
                          <a:ext cx="306388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8" name="Object 24"/>
            <p:cNvGraphicFramePr>
              <a:graphicFrameLocks noChangeAspect="1"/>
            </p:cNvGraphicFramePr>
            <p:nvPr/>
          </p:nvGraphicFramePr>
          <p:xfrm>
            <a:off x="4025899" y="2867024"/>
            <a:ext cx="214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1280" imgH="150495" progId="Equation.3">
                    <p:embed/>
                  </p:oleObj>
                </mc:Choice>
                <mc:Fallback>
                  <p:oleObj name="公式" r:id="rId12" imgW="81280" imgH="15049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5899" y="2867024"/>
                          <a:ext cx="214313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9" name="Object 25"/>
            <p:cNvGraphicFramePr>
              <a:graphicFrameLocks noChangeAspect="1"/>
            </p:cNvGraphicFramePr>
            <p:nvPr/>
          </p:nvGraphicFramePr>
          <p:xfrm>
            <a:off x="4014788" y="3721446"/>
            <a:ext cx="307975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15570" imgH="150495" progId="Equation.3">
                    <p:embed/>
                  </p:oleObj>
                </mc:Choice>
                <mc:Fallback>
                  <p:oleObj name="公式" r:id="rId14" imgW="115570" imgH="15049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788" y="3721446"/>
                          <a:ext cx="307975" cy="401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10" name="Object 26"/>
          <p:cNvGraphicFramePr>
            <a:graphicFrameLocks noChangeAspect="1"/>
          </p:cNvGraphicFramePr>
          <p:nvPr/>
        </p:nvGraphicFramePr>
        <p:xfrm>
          <a:off x="1538079" y="4796925"/>
          <a:ext cx="243522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17550" imgH="196850" progId="Equation.3">
                  <p:embed/>
                </p:oleObj>
              </mc:Choice>
              <mc:Fallback>
                <p:oleObj name="公式" r:id="rId16" imgW="717550" imgH="19685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079" y="4796925"/>
                        <a:ext cx="2435225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18"/>
          <p:cNvSpPr>
            <a:spLocks noChangeArrowheads="1"/>
          </p:cNvSpPr>
          <p:nvPr/>
        </p:nvSpPr>
        <p:spPr bwMode="auto">
          <a:xfrm flipH="1" flipV="1">
            <a:off x="5350510" y="2649220"/>
            <a:ext cx="149225" cy="13271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H="1">
            <a:off x="5423535" y="2788285"/>
            <a:ext cx="12700" cy="12433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Oval 17"/>
          <p:cNvSpPr>
            <a:spLocks noChangeArrowheads="1"/>
          </p:cNvSpPr>
          <p:nvPr/>
        </p:nvSpPr>
        <p:spPr bwMode="auto">
          <a:xfrm>
            <a:off x="5364747" y="4004841"/>
            <a:ext cx="144780" cy="12890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6"/>
          <p:cNvSpPr>
            <a:spLocks noChangeShapeType="1"/>
          </p:cNvSpPr>
          <p:nvPr/>
        </p:nvSpPr>
        <p:spPr bwMode="auto">
          <a:xfrm>
            <a:off x="5475605" y="2720340"/>
            <a:ext cx="15240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Oval 17"/>
          <p:cNvSpPr>
            <a:spLocks noChangeArrowheads="1"/>
          </p:cNvSpPr>
          <p:nvPr/>
        </p:nvSpPr>
        <p:spPr bwMode="auto">
          <a:xfrm>
            <a:off x="6876682" y="4055006"/>
            <a:ext cx="144780" cy="12890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5473969" y="2714521"/>
            <a:ext cx="1655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Oval 17"/>
          <p:cNvSpPr>
            <a:spLocks noChangeArrowheads="1"/>
          </p:cNvSpPr>
          <p:nvPr/>
        </p:nvSpPr>
        <p:spPr bwMode="auto">
          <a:xfrm>
            <a:off x="7020827" y="2659276"/>
            <a:ext cx="144780" cy="12890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 flipH="1">
            <a:off x="5423804" y="1989351"/>
            <a:ext cx="8636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Oval 17"/>
          <p:cNvSpPr>
            <a:spLocks noChangeArrowheads="1"/>
          </p:cNvSpPr>
          <p:nvPr/>
        </p:nvSpPr>
        <p:spPr bwMode="auto">
          <a:xfrm>
            <a:off x="6228347" y="1916326"/>
            <a:ext cx="144780" cy="12890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3" grpId="0" animBg="1"/>
      <p:bldP spid="13" grpId="1" animBg="1"/>
      <p:bldP spid="16" grpId="0" animBg="1"/>
      <p:bldP spid="16" grpId="1" animBg="1"/>
      <p:bldP spid="20" grpId="0" animBg="1"/>
      <p:bldP spid="20" grpId="1" animBg="1"/>
      <p:bldP spid="22" grpId="0" animBg="1"/>
      <p:bldP spid="2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算法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管梅谷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(1975)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的破圈法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  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基本思想：在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中任意选取一个圈，去掉该圈上权最大的一条边，直到不含圈为止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667625" y="6473825"/>
            <a:ext cx="1008063" cy="33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</a:t>
            </a:r>
            <a:fld id="{7E51F110-2D54-427C-B5D9-CB965D27954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34</a:t>
            </a:fld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页</a:t>
            </a:r>
          </a:p>
        </p:txBody>
      </p:sp>
      <p:sp>
        <p:nvSpPr>
          <p:cNvPr id="2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819789" y="1884164"/>
            <a:ext cx="5181600" cy="508000"/>
            <a:chOff x="1419" y="1480"/>
            <a:chExt cx="3575" cy="363"/>
          </a:xfrm>
        </p:grpSpPr>
        <p:grpSp>
          <p:nvGrpSpPr>
            <p:cNvPr id="3484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  <a:p>
                <a:pPr eaLnBrk="1" hangingPunct="1"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</a:rPr>
                  <a:t>无向树的定义</a:t>
                </a:r>
                <a:endPara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3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21" name="Group 10"/>
          <p:cNvGrpSpPr/>
          <p:nvPr/>
        </p:nvGrpSpPr>
        <p:grpSpPr bwMode="auto">
          <a:xfrm>
            <a:off x="2113799" y="2941783"/>
            <a:ext cx="5367995" cy="508000"/>
            <a:chOff x="1419" y="1490"/>
            <a:chExt cx="3601" cy="363"/>
          </a:xfrm>
        </p:grpSpPr>
        <p:grpSp>
          <p:nvGrpSpPr>
            <p:cNvPr id="34836" name="Group 11"/>
            <p:cNvGrpSpPr/>
            <p:nvPr/>
          </p:nvGrpSpPr>
          <p:grpSpPr bwMode="auto">
            <a:xfrm>
              <a:off x="1419" y="1490"/>
              <a:ext cx="3601" cy="363"/>
              <a:chOff x="1419" y="1490"/>
              <a:chExt cx="3601" cy="363"/>
            </a:xfrm>
          </p:grpSpPr>
          <p:sp>
            <p:nvSpPr>
              <p:cNvPr id="5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829" name="AutoShape 13"/>
              <p:cNvSpPr>
                <a:spLocks noChangeArrowheads="1"/>
              </p:cNvSpPr>
              <p:nvPr/>
            </p:nvSpPr>
            <p:spPr bwMode="gray">
              <a:xfrm>
                <a:off x="1709" y="149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lvl="0" eaLnBrk="1" hangingPunct="1">
                  <a:defRPr/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无向树的性质</a:t>
                </a:r>
              </a:p>
            </p:txBody>
          </p:sp>
        </p:grpSp>
        <p:sp>
          <p:nvSpPr>
            <p:cNvPr id="348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8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822" name="AutoShape 29"/>
          <p:cNvSpPr>
            <a:spLocks noChangeArrowheads="1"/>
          </p:cNvSpPr>
          <p:nvPr/>
        </p:nvSpPr>
        <p:spPr bwMode="ltGray">
          <a:xfrm rot="5400000">
            <a:off x="931863" y="3524250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161925" y="1071563"/>
            <a:ext cx="8459788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+mj-lt"/>
                <a:ea typeface="+mj-ea"/>
                <a:cs typeface="华文新魏" panose="02010800040101010101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</a:rPr>
              <a:t>小结</a:t>
            </a:r>
          </a:p>
        </p:txBody>
      </p:sp>
      <p:grpSp>
        <p:nvGrpSpPr>
          <p:cNvPr id="34824" name="Group 10"/>
          <p:cNvGrpSpPr/>
          <p:nvPr/>
        </p:nvGrpSpPr>
        <p:grpSpPr bwMode="auto">
          <a:xfrm>
            <a:off x="2024879" y="4005293"/>
            <a:ext cx="5329238" cy="508000"/>
            <a:chOff x="1419" y="1480"/>
            <a:chExt cx="3575" cy="363"/>
          </a:xfrm>
        </p:grpSpPr>
        <p:grpSp>
          <p:nvGrpSpPr>
            <p:cNvPr id="34831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lvl="0" eaLnBrk="1" hangingPunct="1">
                  <a:defRPr/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生成树</a:t>
                </a:r>
              </a:p>
            </p:txBody>
          </p:sp>
        </p:grpSp>
        <p:sp>
          <p:nvSpPr>
            <p:cNvPr id="26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3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825" name="Group 10"/>
          <p:cNvGrpSpPr/>
          <p:nvPr/>
        </p:nvGrpSpPr>
        <p:grpSpPr bwMode="auto">
          <a:xfrm>
            <a:off x="1696221" y="5042781"/>
            <a:ext cx="5329237" cy="508000"/>
            <a:chOff x="1419" y="1480"/>
            <a:chExt cx="3575" cy="363"/>
          </a:xfrm>
        </p:grpSpPr>
        <p:grpSp>
          <p:nvGrpSpPr>
            <p:cNvPr id="34826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1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lvl="0" eaLnBrk="1" hangingPunct="1">
                  <a:defRPr/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最小生成树</a:t>
                </a:r>
              </a:p>
            </p:txBody>
          </p:sp>
        </p:grpSp>
        <p:sp>
          <p:nvSpPr>
            <p:cNvPr id="27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8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M1NzcxMmUzMDg4OTU3OGMzMWUzNzM0ZWU4ZGJmYzAifQ=="/>
  <p:tag name="KSO_WPP_MARK_KEY" val="b4c487f4-78f1-43cf-90f8-1cebfafd0a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028.1700787401574,&quot;width&quot;:4609.28188976378}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15</TotalTime>
  <Words>1562</Words>
  <Application>Microsoft Office PowerPoint</Application>
  <PresentationFormat>全屏显示(4:3)</PresentationFormat>
  <Paragraphs>153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华文新魏</vt:lpstr>
      <vt:lpstr>宋体</vt:lpstr>
      <vt:lpstr>Arial</vt:lpstr>
      <vt:lpstr>Calibri</vt:lpstr>
      <vt:lpstr>Times New Roman</vt:lpstr>
      <vt:lpstr>Wingdings</vt:lpstr>
      <vt:lpstr>主题2</vt:lpstr>
      <vt:lpstr>自定义设计方案</vt:lpstr>
      <vt:lpstr>1_主题2</vt:lpstr>
      <vt:lpstr>公式</vt:lpstr>
      <vt:lpstr>Equation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超 赵</cp:lastModifiedBy>
  <cp:revision>393</cp:revision>
  <dcterms:created xsi:type="dcterms:W3CDTF">2007-04-29T00:04:00Z</dcterms:created>
  <dcterms:modified xsi:type="dcterms:W3CDTF">2024-05-22T01:34:26Z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88BCD8B94E4F44749998C22D6E671DED</vt:lpwstr>
  </property>
  <property fmtid="{D5CDD505-2E9C-101B-9397-08002B2CF9AE}" pid="3" name="KSOProductBuildVer">
    <vt:lpwstr>2052-11.1.0.14309</vt:lpwstr>
  </property>
</Properties>
</file>