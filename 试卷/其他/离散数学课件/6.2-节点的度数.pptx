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3"/>
  </p:sldMasterIdLst>
  <p:notesMasterIdLst>
    <p:notesMasterId r:id="rId26"/>
  </p:notesMasterIdLst>
  <p:sldIdLst>
    <p:sldId id="506" r:id="rId4"/>
    <p:sldId id="753" r:id="rId5"/>
    <p:sldId id="278" r:id="rId6"/>
    <p:sldId id="754" r:id="rId7"/>
    <p:sldId id="279" r:id="rId8"/>
    <p:sldId id="755" r:id="rId9"/>
    <p:sldId id="280" r:id="rId10"/>
    <p:sldId id="756" r:id="rId11"/>
    <p:sldId id="281" r:id="rId12"/>
    <p:sldId id="282" r:id="rId13"/>
    <p:sldId id="283" r:id="rId14"/>
    <p:sldId id="292" r:id="rId15"/>
    <p:sldId id="284" r:id="rId16"/>
    <p:sldId id="285" r:id="rId17"/>
    <p:sldId id="757" r:id="rId18"/>
    <p:sldId id="293" r:id="rId19"/>
    <p:sldId id="286" r:id="rId20"/>
    <p:sldId id="287" r:id="rId21"/>
    <p:sldId id="288" r:id="rId22"/>
    <p:sldId id="289" r:id="rId23"/>
    <p:sldId id="275" r:id="rId24"/>
    <p:sldId id="617" r:id="rId25"/>
  </p:sldIdLst>
  <p:sldSz cx="9144000" cy="6858000" type="screen4x3"/>
  <p:notesSz cx="6858000" cy="9144000"/>
  <p:custDataLst>
    <p:tags r:id="rId30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61" autoAdjust="0"/>
  </p:normalViewPr>
  <p:slideViewPr>
    <p:cSldViewPr>
      <p:cViewPr varScale="1">
        <p:scale>
          <a:sx n="77" d="100"/>
          <a:sy n="77" d="100"/>
        </p:scale>
        <p:origin x="98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18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0" Type="http://schemas.openxmlformats.org/officeDocument/2006/relationships/tags" Target="tags/tag1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4" Type="http://schemas.openxmlformats.org/officeDocument/2006/relationships/image" Target="../media/image12.wmf"/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7.vml.rels><?xml version="1.0" encoding="UTF-8" standalone="yes"?>
<Relationships xmlns="http://schemas.openxmlformats.org/package/2006/relationships"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9505FF7-E130-4293-9A3B-C36394E38DF8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13109E0-5DAF-4820-9E3E-6785A71E8368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268413"/>
            <a:ext cx="4152900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268413"/>
            <a:ext cx="4154488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9088" y="0"/>
            <a:ext cx="2114550" cy="645318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0"/>
            <a:ext cx="6192838" cy="6453188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" y="0"/>
            <a:ext cx="8459788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1268413"/>
            <a:ext cx="4152900" cy="51847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268413"/>
            <a:ext cx="4154488" cy="51847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23850" y="0"/>
            <a:ext cx="8459788" cy="64531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323850" y="0"/>
            <a:ext cx="8459788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323850" y="1268413"/>
            <a:ext cx="4152900" cy="25161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29150" y="1268413"/>
            <a:ext cx="4154488" cy="25161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323850" y="3937000"/>
            <a:ext cx="4152900" cy="25161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3937000"/>
            <a:ext cx="4154488" cy="25161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1EDB1F-B615-4FA4-9589-ECC4971F846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3A24C9-AC68-4F6D-9FEA-E6C241625FF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9D541F-F17C-46A4-B775-589380DB365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294494-B8BA-4446-8863-7AF2C18936A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988AEA-AFCC-4030-A601-349A0A5DC20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BB275E-4F88-4EF4-889E-853FA6A135B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84528A-1906-409E-8994-8C3616DF783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439DE6-E6B8-45A2-A78D-F35CF4601FB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95A64C-451E-410D-AE22-6547DD6D52E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82127A-09F7-458D-BE1D-F730474DD69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AF5BFA-77F0-4330-9546-213A7F5C86C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vmlDrawing" Target="../drawings/vmlDrawing1.vml"/><Relationship Id="rId20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4.jpeg"/><Relationship Id="rId18" Type="http://schemas.openxmlformats.org/officeDocument/2006/relationships/image" Target="../media/image3.jpeg"/><Relationship Id="rId17" Type="http://schemas.openxmlformats.org/officeDocument/2006/relationships/image" Target="../media/image2.jpeg"/><Relationship Id="rId16" Type="http://schemas.openxmlformats.org/officeDocument/2006/relationships/image" Target="../media/image1.png"/><Relationship Id="rId15" Type="http://schemas.openxmlformats.org/officeDocument/2006/relationships/oleObject" Target="../embeddings/oleObject1.bin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95"/>
          <p:cNvGraphicFramePr>
            <a:graphicFrameLocks noChangeAspect="1"/>
          </p:cNvGraphicFramePr>
          <p:nvPr/>
        </p:nvGraphicFramePr>
        <p:xfrm>
          <a:off x="0" y="0"/>
          <a:ext cx="9144000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5" imgW="12750800" imgH="2324100" progId="">
                  <p:embed/>
                </p:oleObj>
              </mc:Choice>
              <mc:Fallback>
                <p:oleObj name="" r:id="rId15" imgW="12750800" imgH="2324100" progId="">
                  <p:embed/>
                  <p:pic>
                    <p:nvPicPr>
                      <p:cNvPr id="0" name="Object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105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23850" y="0"/>
            <a:ext cx="845978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9"/>
          </p:nvPr>
        </p:nvSpPr>
        <p:spPr bwMode="auto">
          <a:xfrm>
            <a:off x="323850" y="1268413"/>
            <a:ext cx="8459788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Text Box 13"/>
          <p:cNvSpPr txBox="1">
            <a:spLocks noChangeArrowheads="1"/>
          </p:cNvSpPr>
          <p:nvPr/>
        </p:nvSpPr>
        <p:spPr bwMode="auto">
          <a:xfrm>
            <a:off x="6875463" y="0"/>
            <a:ext cx="2268537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1pPr>
            <a:lvl2pPr marL="742950" indent="-28575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2pPr>
            <a:lvl3pPr marL="1143000" indent="-22860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3pPr>
            <a:lvl4pPr marL="1600200" indent="-22860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4pPr>
            <a:lvl5pPr marL="2057400" indent="-22860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1800" i="1">
                <a:solidFill>
                  <a:srgbClr val="CC99FF"/>
                </a:solidFill>
                <a:ea typeface="华文彩云" panose="02010800040101010101" charset="-122"/>
                <a:cs typeface="华文彩云" panose="02010800040101010101" charset="-122"/>
              </a:rPr>
              <a:t>成</a:t>
            </a:r>
            <a:r>
              <a:rPr lang="zh-CN" altLang="en-US" sz="1800" i="1">
                <a:solidFill>
                  <a:srgbClr val="CC99FF"/>
                </a:solidFill>
                <a:ea typeface="华文行楷" panose="02010800040101010101" charset="-122"/>
                <a:cs typeface="华文行楷" panose="02010800040101010101" charset="-122"/>
              </a:rPr>
              <a:t>于大气    </a:t>
            </a:r>
            <a:r>
              <a:rPr lang="zh-CN" altLang="en-US" sz="1800" i="1">
                <a:solidFill>
                  <a:srgbClr val="CC99FF"/>
                </a:solidFill>
                <a:ea typeface="华文彩云" panose="02010800040101010101" charset="-122"/>
                <a:cs typeface="华文彩云" panose="02010800040101010101" charset="-122"/>
              </a:rPr>
              <a:t>信</a:t>
            </a:r>
            <a:r>
              <a:rPr lang="zh-CN" altLang="en-US" sz="1800" i="1">
                <a:solidFill>
                  <a:srgbClr val="CC99FF"/>
                </a:solidFill>
                <a:ea typeface="华文行楷" panose="02010800040101010101" charset="-122"/>
                <a:cs typeface="华文行楷" panose="02010800040101010101" charset="-122"/>
              </a:rPr>
              <a:t>达天下</a:t>
            </a:r>
            <a:endParaRPr lang="zh-CN" altLang="en-US" sz="1800" i="1">
              <a:solidFill>
                <a:srgbClr val="CC99FF"/>
              </a:solidFill>
              <a:ea typeface="华文行楷" panose="02010800040101010101" charset="-122"/>
              <a:cs typeface="华文行楷" panose="02010800040101010101" charset="-122"/>
            </a:endParaRPr>
          </a:p>
        </p:txBody>
      </p:sp>
      <p:pic>
        <p:nvPicPr>
          <p:cNvPr id="1030" name="Picture 25" descr="底部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25"/>
            <a:ext cx="91440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26" descr="信息与电气工程学院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02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29" descr="河北工程大学背景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24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30" descr="底部-河北工程大学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10338"/>
            <a:ext cx="9144000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+mj-lt"/>
          <a:ea typeface="+mj-ea"/>
          <a:cs typeface="华文新魏" panose="02010800040101010101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32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8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4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0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0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9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836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ClrTx/>
              <a:buFontTx/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36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spcBef>
                <a:spcPct val="0"/>
              </a:spcBef>
              <a:buClrTx/>
              <a:buFontTx/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36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/>
            </a:lvl1pPr>
          </a:lstStyle>
          <a:p>
            <a:pPr>
              <a:defRPr/>
            </a:pPr>
            <a:fld id="{F54C75E0-2E59-4159-8858-67A1F145963A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宋体" panose="02010600030101010101" pitchFamily="2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wmf"/><Relationship Id="rId2" Type="http://schemas.openxmlformats.org/officeDocument/2006/relationships/oleObject" Target="../embeddings/oleObject2.bin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image" Target="../media/image12.wmf"/><Relationship Id="rId7" Type="http://schemas.openxmlformats.org/officeDocument/2006/relationships/oleObject" Target="../embeddings/oleObject6.bin"/><Relationship Id="rId6" Type="http://schemas.openxmlformats.org/officeDocument/2006/relationships/image" Target="../media/image11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0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9.wmf"/><Relationship Id="rId10" Type="http://schemas.openxmlformats.org/officeDocument/2006/relationships/vmlDrawing" Target="../drawings/vmlDrawing3.vml"/><Relationship Id="rId1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3.wmf"/><Relationship Id="rId1" Type="http://schemas.openxmlformats.org/officeDocument/2006/relationships/oleObject" Target="../embeddings/oleObject7.bin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4.wmf"/><Relationship Id="rId1" Type="http://schemas.openxmlformats.org/officeDocument/2006/relationships/oleObject" Target="../embeddings/oleObject8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6.vml"/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8.wmf"/><Relationship Id="rId3" Type="http://schemas.openxmlformats.org/officeDocument/2006/relationships/oleObject" Target="../embeddings/oleObject10.bin"/><Relationship Id="rId2" Type="http://schemas.openxmlformats.org/officeDocument/2006/relationships/image" Target="../media/image17.wmf"/><Relationship Id="rId1" Type="http://schemas.openxmlformats.org/officeDocument/2006/relationships/oleObject" Target="../embeddings/oleObject9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.bin"/><Relationship Id="rId8" Type="http://schemas.openxmlformats.org/officeDocument/2006/relationships/image" Target="../media/image23.wmf"/><Relationship Id="rId7" Type="http://schemas.openxmlformats.org/officeDocument/2006/relationships/oleObject" Target="../embeddings/oleObject15.bin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21.wmf"/><Relationship Id="rId3" Type="http://schemas.openxmlformats.org/officeDocument/2006/relationships/oleObject" Target="../embeddings/oleObject13.bin"/><Relationship Id="rId2" Type="http://schemas.openxmlformats.org/officeDocument/2006/relationships/image" Target="../media/image20.wmf"/><Relationship Id="rId14" Type="http://schemas.openxmlformats.org/officeDocument/2006/relationships/vmlDrawing" Target="../drawings/vmlDrawing7.vml"/><Relationship Id="rId13" Type="http://schemas.openxmlformats.org/officeDocument/2006/relationships/slideLayout" Target="../slideLayouts/slideLayout13.xml"/><Relationship Id="rId12" Type="http://schemas.openxmlformats.org/officeDocument/2006/relationships/image" Target="../media/image25.wmf"/><Relationship Id="rId11" Type="http://schemas.openxmlformats.org/officeDocument/2006/relationships/oleObject" Target="../embeddings/oleObject17.bin"/><Relationship Id="rId10" Type="http://schemas.openxmlformats.org/officeDocument/2006/relationships/image" Target="../media/image24.wmf"/><Relationship Id="rId1" Type="http://schemas.openxmlformats.org/officeDocument/2006/relationships/oleObject" Target="../embeddings/oleObject12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14600" y="2997200"/>
            <a:ext cx="4914800" cy="863600"/>
          </a:xfrm>
        </p:spPr>
        <p:txBody>
          <a:bodyPr/>
          <a:lstStyle/>
          <a:p>
            <a:pPr eaLnBrk="1" hangingPunct="1"/>
            <a:r>
              <a:rPr lang="en-US" altLang="zh-CN" sz="4400" dirty="0">
                <a:latin typeface="Times New Roman" panose="02020603050405020304" pitchFamily="18" charset="0"/>
              </a:rPr>
              <a:t>6.2  </a:t>
            </a:r>
            <a:r>
              <a:rPr lang="zh-CN" altLang="en-US" sz="4400" dirty="0">
                <a:latin typeface="Times New Roman" panose="02020603050405020304" pitchFamily="18" charset="0"/>
              </a:rPr>
              <a:t>节点的度数</a:t>
            </a:r>
            <a:endParaRPr lang="zh-CN" altLang="en-US" sz="4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8013" y="1341438"/>
            <a:ext cx="2587625" cy="1143000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chemeClr val="tx1"/>
                </a:solidFill>
              </a:rPr>
              <a:t>本讲内容</a:t>
            </a:r>
            <a:endParaRPr lang="zh-CN" altLang="en-US" b="1">
              <a:solidFill>
                <a:schemeClr val="tx1"/>
              </a:solidFill>
            </a:endParaRPr>
          </a:p>
        </p:txBody>
      </p:sp>
      <p:grpSp>
        <p:nvGrpSpPr>
          <p:cNvPr id="8195" name="Group 4"/>
          <p:cNvGrpSpPr/>
          <p:nvPr/>
        </p:nvGrpSpPr>
        <p:grpSpPr bwMode="auto">
          <a:xfrm>
            <a:off x="1646238" y="2566988"/>
            <a:ext cx="5435600" cy="608012"/>
            <a:chOff x="1136" y="1132"/>
            <a:chExt cx="3424" cy="383"/>
          </a:xfrm>
        </p:grpSpPr>
        <p:sp>
          <p:nvSpPr>
            <p:cNvPr id="8208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9" name="Text Box 10"/>
            <p:cNvSpPr txBox="1">
              <a:spLocks noChangeArrowheads="1"/>
            </p:cNvSpPr>
            <p:nvPr/>
          </p:nvSpPr>
          <p:spPr bwMode="auto">
            <a:xfrm>
              <a:off x="1640" y="1145"/>
              <a:ext cx="2192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无向图节点的度数</a:t>
              </a:r>
              <a:endParaRPr kumimoji="0" lang="zh-CN" altLang="en-US" b="1" dirty="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10" name="Text Box 11"/>
            <p:cNvSpPr txBox="1">
              <a:spLocks noChangeArrowheads="1"/>
            </p:cNvSpPr>
            <p:nvPr/>
          </p:nvSpPr>
          <p:spPr bwMode="gray">
            <a:xfrm>
              <a:off x="1136" y="1132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6" name="Group 4"/>
          <p:cNvGrpSpPr/>
          <p:nvPr/>
        </p:nvGrpSpPr>
        <p:grpSpPr bwMode="auto">
          <a:xfrm>
            <a:off x="1655763" y="3478214"/>
            <a:ext cx="5505450" cy="631826"/>
            <a:chOff x="1135" y="1117"/>
            <a:chExt cx="3468" cy="398"/>
          </a:xfrm>
        </p:grpSpPr>
        <p:sp>
          <p:nvSpPr>
            <p:cNvPr id="8205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6" name="Text Box 10"/>
            <p:cNvSpPr txBox="1">
              <a:spLocks noChangeArrowheads="1"/>
            </p:cNvSpPr>
            <p:nvPr/>
          </p:nvSpPr>
          <p:spPr bwMode="auto">
            <a:xfrm>
              <a:off x="1632" y="1117"/>
              <a:ext cx="2971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None/>
              </a:pPr>
              <a:r>
                <a:rPr kumimoji="0" lang="zh-CN" altLang="en-US" b="1" dirty="0">
                  <a:ea typeface="宋体" panose="02010600030101010101" pitchFamily="2" charset="-122"/>
                </a:rPr>
                <a:t>有向图节点的出度、入度</a:t>
              </a:r>
              <a:endParaRPr kumimoji="0" lang="zh-CN" altLang="en-US" b="1" dirty="0">
                <a:ea typeface="宋体" panose="02010600030101010101" pitchFamily="2" charset="-122"/>
              </a:endParaRPr>
            </a:p>
          </p:txBody>
        </p:sp>
        <p:sp>
          <p:nvSpPr>
            <p:cNvPr id="8207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7" name="Group 4"/>
          <p:cNvGrpSpPr/>
          <p:nvPr/>
        </p:nvGrpSpPr>
        <p:grpSpPr bwMode="auto">
          <a:xfrm>
            <a:off x="1655763" y="4437063"/>
            <a:ext cx="5437187" cy="681037"/>
            <a:chOff x="1135" y="1086"/>
            <a:chExt cx="3425" cy="429"/>
          </a:xfrm>
        </p:grpSpPr>
        <p:sp>
          <p:nvSpPr>
            <p:cNvPr id="8202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3" name="Text Box 10"/>
            <p:cNvSpPr txBox="1">
              <a:spLocks noChangeArrowheads="1"/>
            </p:cNvSpPr>
            <p:nvPr/>
          </p:nvSpPr>
          <p:spPr bwMode="auto">
            <a:xfrm>
              <a:off x="1640" y="1086"/>
              <a:ext cx="115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zh-CN" altLang="en-US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握手定理</a:t>
              </a:r>
              <a:endPara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204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8" name="Group 4"/>
          <p:cNvGrpSpPr/>
          <p:nvPr/>
        </p:nvGrpSpPr>
        <p:grpSpPr bwMode="auto">
          <a:xfrm>
            <a:off x="1655763" y="5429250"/>
            <a:ext cx="7156449" cy="696913"/>
            <a:chOff x="1135" y="1076"/>
            <a:chExt cx="4508" cy="439"/>
          </a:xfrm>
        </p:grpSpPr>
        <p:sp>
          <p:nvSpPr>
            <p:cNvPr id="8199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0" name="Text Box 10"/>
            <p:cNvSpPr txBox="1">
              <a:spLocks noChangeArrowheads="1"/>
            </p:cNvSpPr>
            <p:nvPr/>
          </p:nvSpPr>
          <p:spPr bwMode="auto">
            <a:xfrm>
              <a:off x="1632" y="1076"/>
              <a:ext cx="4011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k-</a:t>
              </a:r>
              <a:r>
                <a:rPr lang="zh-CN" altLang="en-US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正则图、最大</a:t>
              </a:r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(</a:t>
              </a:r>
              <a:r>
                <a:rPr lang="zh-CN" altLang="en-US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小</a:t>
              </a:r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)</a:t>
              </a:r>
              <a:r>
                <a:rPr lang="zh-CN" altLang="en-US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度、度数序列</a:t>
              </a:r>
              <a:endPara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201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5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2F6FE9FE-F312-497B-B0FE-1A788DD80DE1}" type="slidenum">
              <a:rPr lang="en-US" altLang="zh-CN" smtClean="0"/>
            </a:fld>
            <a:endParaRPr lang="en-US" altLang="zh-CN"/>
          </a:p>
        </p:txBody>
      </p:sp>
      <p:sp>
        <p:nvSpPr>
          <p:cNvPr id="3789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42106" y="1340768"/>
            <a:ext cx="8459788" cy="5184775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在七桥问题中，从一个地方出发的桥的数目就是对应节点的度数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5383" y="2708920"/>
            <a:ext cx="2093233" cy="20162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5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2F6FE9FE-F312-497B-B0FE-1A788DD80DE1}" type="slidenum">
              <a:rPr lang="en-US" altLang="zh-CN" smtClean="0"/>
            </a:fld>
            <a:endParaRPr lang="en-US" altLang="zh-CN"/>
          </a:p>
        </p:txBody>
      </p:sp>
      <p:sp>
        <p:nvSpPr>
          <p:cNvPr id="3789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42106" y="1340768"/>
            <a:ext cx="8459788" cy="5184775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+mn-ea"/>
              </a:rPr>
              <a:t>在任意图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中，每一条边</a:t>
            </a:r>
            <a:r>
              <a:rPr lang="en-US" altLang="zh-CN" i="1" dirty="0" err="1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，都要关联两个端点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u,v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，若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u=v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，则称边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与节点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的关联次数为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；若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u≠v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，称边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与节点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的关联次数为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；若</a:t>
            </a:r>
            <a:r>
              <a:rPr lang="en-US" altLang="zh-CN" i="1" dirty="0" err="1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与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不关联，称边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与节点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的关联次数为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dirty="0">
                <a:latin typeface="+mn-ea"/>
                <a:sym typeface="Symbol" panose="05050102010706020507" pitchFamily="18" charset="2"/>
              </a:rPr>
              <a:t>.</a:t>
            </a:r>
            <a:endParaRPr lang="en-US" altLang="zh-CN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8064" y="4229001"/>
            <a:ext cx="2093233" cy="20162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灯片编号占位符 5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2F6FE9FE-F312-497B-B0FE-1A788DD80DE1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8914" name="Rectangle 2"/>
          <p:cNvSpPr>
            <a:spLocks noGrp="1" noRot="1" noChangeArrowheads="1"/>
          </p:cNvSpPr>
          <p:nvPr>
            <p:ph type="body" idx="1"/>
          </p:nvPr>
        </p:nvSpPr>
        <p:spPr>
          <a:xfrm>
            <a:off x="318356" y="1340768"/>
            <a:ext cx="8507288" cy="511256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定义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是无向图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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称与节点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关联的所有边的关联次数之和为节点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</a:t>
            </a:r>
            <a:r>
              <a:rPr lang="zh-CN" altLang="en-US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度数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(degree),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记为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deg(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一个环算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2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度？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5117" y="3068960"/>
            <a:ext cx="2006363" cy="2678495"/>
          </a:xfrm>
          <a:prstGeom prst="rect">
            <a:avLst/>
          </a:prstGeom>
        </p:spPr>
      </p:pic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718745" y="3332165"/>
          <a:ext cx="1872208" cy="1903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2" imgW="17983200" imgH="18288000" progId="Equation.DSMT4">
                  <p:embed/>
                </p:oleObj>
              </mc:Choice>
              <mc:Fallback>
                <p:oleObj name="Equation" r:id="rId2" imgW="17983200" imgH="18288000" progId="Equation.DSMT4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18745" y="3332165"/>
                        <a:ext cx="1872208" cy="19039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8013" y="1341438"/>
            <a:ext cx="2587625" cy="1143000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chemeClr val="tx1"/>
                </a:solidFill>
              </a:rPr>
              <a:t>本讲内容</a:t>
            </a:r>
            <a:endParaRPr lang="zh-CN" altLang="en-US" b="1">
              <a:solidFill>
                <a:schemeClr val="tx1"/>
              </a:solidFill>
            </a:endParaRPr>
          </a:p>
        </p:txBody>
      </p:sp>
      <p:grpSp>
        <p:nvGrpSpPr>
          <p:cNvPr id="8195" name="Group 4"/>
          <p:cNvGrpSpPr/>
          <p:nvPr/>
        </p:nvGrpSpPr>
        <p:grpSpPr bwMode="auto">
          <a:xfrm>
            <a:off x="1646238" y="2566988"/>
            <a:ext cx="5435600" cy="608012"/>
            <a:chOff x="1136" y="1132"/>
            <a:chExt cx="3424" cy="383"/>
          </a:xfrm>
        </p:grpSpPr>
        <p:sp>
          <p:nvSpPr>
            <p:cNvPr id="8208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9" name="Text Box 10"/>
            <p:cNvSpPr txBox="1">
              <a:spLocks noChangeArrowheads="1"/>
            </p:cNvSpPr>
            <p:nvPr/>
          </p:nvSpPr>
          <p:spPr bwMode="auto">
            <a:xfrm>
              <a:off x="1640" y="1145"/>
              <a:ext cx="2192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b="1" dirty="0">
                  <a:ea typeface="宋体" panose="02010600030101010101" pitchFamily="2" charset="-122"/>
                </a:rPr>
                <a:t>无向图节点的度数</a:t>
              </a:r>
              <a:endParaRPr kumimoji="0" lang="zh-CN" altLang="en-US" b="1" dirty="0">
                <a:ea typeface="宋体" panose="02010600030101010101" pitchFamily="2" charset="-122"/>
              </a:endParaRPr>
            </a:p>
          </p:txBody>
        </p:sp>
        <p:sp>
          <p:nvSpPr>
            <p:cNvPr id="8210" name="Text Box 11"/>
            <p:cNvSpPr txBox="1">
              <a:spLocks noChangeArrowheads="1"/>
            </p:cNvSpPr>
            <p:nvPr/>
          </p:nvSpPr>
          <p:spPr bwMode="gray">
            <a:xfrm>
              <a:off x="1136" y="1132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6" name="Group 4"/>
          <p:cNvGrpSpPr/>
          <p:nvPr/>
        </p:nvGrpSpPr>
        <p:grpSpPr bwMode="auto">
          <a:xfrm>
            <a:off x="1655763" y="3478214"/>
            <a:ext cx="5505450" cy="631826"/>
            <a:chOff x="1135" y="1117"/>
            <a:chExt cx="3468" cy="398"/>
          </a:xfrm>
        </p:grpSpPr>
        <p:sp>
          <p:nvSpPr>
            <p:cNvPr id="8205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6" name="Text Box 10"/>
            <p:cNvSpPr txBox="1">
              <a:spLocks noChangeArrowheads="1"/>
            </p:cNvSpPr>
            <p:nvPr/>
          </p:nvSpPr>
          <p:spPr bwMode="auto">
            <a:xfrm>
              <a:off x="1632" y="1117"/>
              <a:ext cx="2971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None/>
              </a:pPr>
              <a:r>
                <a:rPr kumimoji="0" lang="zh-CN" altLang="en-US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有向图节点的出度、入度</a:t>
              </a:r>
              <a:endParaRPr kumimoji="0" lang="zh-CN" altLang="en-US" b="1" dirty="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07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7" name="Group 4"/>
          <p:cNvGrpSpPr/>
          <p:nvPr/>
        </p:nvGrpSpPr>
        <p:grpSpPr bwMode="auto">
          <a:xfrm>
            <a:off x="1655763" y="4437063"/>
            <a:ext cx="5437187" cy="681037"/>
            <a:chOff x="1135" y="1086"/>
            <a:chExt cx="3425" cy="429"/>
          </a:xfrm>
        </p:grpSpPr>
        <p:sp>
          <p:nvSpPr>
            <p:cNvPr id="8202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3" name="Text Box 10"/>
            <p:cNvSpPr txBox="1">
              <a:spLocks noChangeArrowheads="1"/>
            </p:cNvSpPr>
            <p:nvPr/>
          </p:nvSpPr>
          <p:spPr bwMode="auto">
            <a:xfrm>
              <a:off x="1640" y="1086"/>
              <a:ext cx="115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zh-CN" altLang="en-US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握手定理</a:t>
              </a:r>
              <a:endPara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204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8" name="Group 4"/>
          <p:cNvGrpSpPr/>
          <p:nvPr/>
        </p:nvGrpSpPr>
        <p:grpSpPr bwMode="auto">
          <a:xfrm>
            <a:off x="1655763" y="5429250"/>
            <a:ext cx="7156449" cy="696913"/>
            <a:chOff x="1135" y="1076"/>
            <a:chExt cx="4508" cy="439"/>
          </a:xfrm>
        </p:grpSpPr>
        <p:sp>
          <p:nvSpPr>
            <p:cNvPr id="8199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0" name="Text Box 10"/>
            <p:cNvSpPr txBox="1">
              <a:spLocks noChangeArrowheads="1"/>
            </p:cNvSpPr>
            <p:nvPr/>
          </p:nvSpPr>
          <p:spPr bwMode="auto">
            <a:xfrm>
              <a:off x="1632" y="1076"/>
              <a:ext cx="4011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k-</a:t>
              </a:r>
              <a:r>
                <a:rPr lang="zh-CN" altLang="en-US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正则图、最大</a:t>
              </a:r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(</a:t>
              </a:r>
              <a:r>
                <a:rPr lang="zh-CN" altLang="en-US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小</a:t>
              </a:r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)</a:t>
              </a:r>
              <a:r>
                <a:rPr lang="zh-CN" altLang="en-US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度、度数序列</a:t>
              </a:r>
              <a:endPara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201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6C0EA713-AE25-4E49-BE9F-EAE017134A64}" type="slidenum">
              <a:rPr lang="en-US" altLang="zh-CN" smtClean="0"/>
            </a:fld>
            <a:endParaRPr lang="en-US" altLang="zh-CN"/>
          </a:p>
        </p:txBody>
      </p:sp>
      <p:sp>
        <p:nvSpPr>
          <p:cNvPr id="39938" name="Rectangle 2"/>
          <p:cNvSpPr>
            <a:spLocks noGrp="1" noRot="1" noChangeArrowheads="1"/>
          </p:cNvSpPr>
          <p:nvPr>
            <p:ph/>
          </p:nvPr>
        </p:nvSpPr>
        <p:spPr>
          <a:xfrm>
            <a:off x="342106" y="1296890"/>
            <a:ext cx="8459788" cy="520858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定义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是有向图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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: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out-degree: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以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为起点的边的数目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od(v)</a:t>
            </a:r>
            <a:endParaRPr lang="en-US" altLang="zh-CN" i="1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in-degree:  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以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为终点的边的数目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id(v)</a:t>
            </a:r>
            <a:endParaRPr lang="en-US" altLang="zh-CN" i="1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deg</a:t>
            </a:r>
            <a:r>
              <a:rPr lang="en-US" altLang="zh-CN" i="1" baseline="30000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  <a:r>
              <a:rPr lang="en-US" altLang="zh-CN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(</a:t>
            </a:r>
            <a:r>
              <a:rPr lang="en-US" altLang="zh-CN" i="1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od(v)+ id(v).</a:t>
            </a:r>
            <a:endParaRPr lang="en-US" altLang="zh-CN" i="1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一个环算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2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度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?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796136" y="3606703"/>
            <a:ext cx="2740397" cy="2661443"/>
            <a:chOff x="3007941" y="2981574"/>
            <a:chExt cx="2740397" cy="2661443"/>
          </a:xfrm>
        </p:grpSpPr>
        <p:sp>
          <p:nvSpPr>
            <p:cNvPr id="39939" name="Oval 3"/>
            <p:cNvSpPr>
              <a:spLocks noChangeArrowheads="1"/>
            </p:cNvSpPr>
            <p:nvPr/>
          </p:nvSpPr>
          <p:spPr bwMode="auto">
            <a:xfrm>
              <a:off x="3492500" y="3284538"/>
              <a:ext cx="144463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40" name="Oval 4"/>
            <p:cNvSpPr>
              <a:spLocks noChangeArrowheads="1"/>
            </p:cNvSpPr>
            <p:nvPr/>
          </p:nvSpPr>
          <p:spPr bwMode="auto">
            <a:xfrm>
              <a:off x="5219700" y="3284538"/>
              <a:ext cx="144463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41" name="Oval 5"/>
            <p:cNvSpPr>
              <a:spLocks noChangeArrowheads="1"/>
            </p:cNvSpPr>
            <p:nvPr/>
          </p:nvSpPr>
          <p:spPr bwMode="auto">
            <a:xfrm>
              <a:off x="3490913" y="4868863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42" name="Oval 6"/>
            <p:cNvSpPr>
              <a:spLocks noChangeArrowheads="1"/>
            </p:cNvSpPr>
            <p:nvPr/>
          </p:nvSpPr>
          <p:spPr bwMode="auto">
            <a:xfrm>
              <a:off x="5219700" y="4868863"/>
              <a:ext cx="144463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43" name="Line 7"/>
            <p:cNvSpPr>
              <a:spLocks noChangeShapeType="1"/>
            </p:cNvSpPr>
            <p:nvPr/>
          </p:nvSpPr>
          <p:spPr bwMode="auto">
            <a:xfrm>
              <a:off x="3563938" y="3429000"/>
              <a:ext cx="0" cy="1439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44" name="Line 8"/>
            <p:cNvSpPr>
              <a:spLocks noChangeShapeType="1"/>
            </p:cNvSpPr>
            <p:nvPr/>
          </p:nvSpPr>
          <p:spPr bwMode="auto">
            <a:xfrm flipV="1">
              <a:off x="5292725" y="3500438"/>
              <a:ext cx="0" cy="1368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46" name="Freeform 10"/>
            <p:cNvSpPr/>
            <p:nvPr/>
          </p:nvSpPr>
          <p:spPr bwMode="auto">
            <a:xfrm>
              <a:off x="3619315" y="4655024"/>
              <a:ext cx="1584325" cy="287338"/>
            </a:xfrm>
            <a:custGeom>
              <a:avLst/>
              <a:gdLst>
                <a:gd name="T0" fmla="*/ 0 w 998"/>
                <a:gd name="T1" fmla="*/ 181 h 181"/>
                <a:gd name="T2" fmla="*/ 499 w 998"/>
                <a:gd name="T3" fmla="*/ 0 h 181"/>
                <a:gd name="T4" fmla="*/ 998 w 998"/>
                <a:gd name="T5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8" h="181">
                  <a:moveTo>
                    <a:pt x="0" y="181"/>
                  </a:moveTo>
                  <a:cubicBezTo>
                    <a:pt x="166" y="90"/>
                    <a:pt x="333" y="0"/>
                    <a:pt x="499" y="0"/>
                  </a:cubicBezTo>
                  <a:cubicBezTo>
                    <a:pt x="665" y="0"/>
                    <a:pt x="831" y="90"/>
                    <a:pt x="998" y="181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47" name="Freeform 11"/>
            <p:cNvSpPr/>
            <p:nvPr/>
          </p:nvSpPr>
          <p:spPr bwMode="auto">
            <a:xfrm>
              <a:off x="3671093" y="4953000"/>
              <a:ext cx="1511299" cy="227012"/>
            </a:xfrm>
            <a:custGeom>
              <a:avLst/>
              <a:gdLst>
                <a:gd name="T0" fmla="*/ 0 w 908"/>
                <a:gd name="T1" fmla="*/ 0 h 143"/>
                <a:gd name="T2" fmla="*/ 409 w 908"/>
                <a:gd name="T3" fmla="*/ 136 h 143"/>
                <a:gd name="T4" fmla="*/ 908 w 908"/>
                <a:gd name="T5" fmla="*/ 45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08" h="143">
                  <a:moveTo>
                    <a:pt x="0" y="0"/>
                  </a:moveTo>
                  <a:cubicBezTo>
                    <a:pt x="129" y="64"/>
                    <a:pt x="258" y="129"/>
                    <a:pt x="409" y="136"/>
                  </a:cubicBezTo>
                  <a:cubicBezTo>
                    <a:pt x="560" y="143"/>
                    <a:pt x="734" y="94"/>
                    <a:pt x="908" y="45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48" name="Freeform 12"/>
            <p:cNvSpPr/>
            <p:nvPr/>
          </p:nvSpPr>
          <p:spPr bwMode="auto">
            <a:xfrm>
              <a:off x="3571640" y="2981574"/>
              <a:ext cx="1655762" cy="457200"/>
            </a:xfrm>
            <a:custGeom>
              <a:avLst/>
              <a:gdLst>
                <a:gd name="T0" fmla="*/ 0 w 1043"/>
                <a:gd name="T1" fmla="*/ 288 h 288"/>
                <a:gd name="T2" fmla="*/ 544 w 1043"/>
                <a:gd name="T3" fmla="*/ 15 h 288"/>
                <a:gd name="T4" fmla="*/ 1043 w 1043"/>
                <a:gd name="T5" fmla="*/ 197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43" h="288">
                  <a:moveTo>
                    <a:pt x="0" y="288"/>
                  </a:moveTo>
                  <a:cubicBezTo>
                    <a:pt x="185" y="159"/>
                    <a:pt x="370" y="30"/>
                    <a:pt x="544" y="15"/>
                  </a:cubicBezTo>
                  <a:cubicBezTo>
                    <a:pt x="718" y="0"/>
                    <a:pt x="880" y="98"/>
                    <a:pt x="1043" y="197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49" name="Freeform 13"/>
            <p:cNvSpPr/>
            <p:nvPr/>
          </p:nvSpPr>
          <p:spPr bwMode="auto">
            <a:xfrm>
              <a:off x="3657415" y="3339215"/>
              <a:ext cx="1511300" cy="371475"/>
            </a:xfrm>
            <a:custGeom>
              <a:avLst/>
              <a:gdLst>
                <a:gd name="T0" fmla="*/ 952 w 952"/>
                <a:gd name="T1" fmla="*/ 0 h 234"/>
                <a:gd name="T2" fmla="*/ 453 w 952"/>
                <a:gd name="T3" fmla="*/ 227 h 234"/>
                <a:gd name="T4" fmla="*/ 0 w 952"/>
                <a:gd name="T5" fmla="*/ 45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52" h="234">
                  <a:moveTo>
                    <a:pt x="952" y="0"/>
                  </a:moveTo>
                  <a:cubicBezTo>
                    <a:pt x="782" y="110"/>
                    <a:pt x="612" y="220"/>
                    <a:pt x="453" y="227"/>
                  </a:cubicBezTo>
                  <a:cubicBezTo>
                    <a:pt x="294" y="234"/>
                    <a:pt x="147" y="139"/>
                    <a:pt x="0" y="45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9950" name="Object 14"/>
            <p:cNvGraphicFramePr>
              <a:graphicFrameLocks noChangeAspect="1"/>
            </p:cNvGraphicFramePr>
            <p:nvPr/>
          </p:nvGraphicFramePr>
          <p:xfrm>
            <a:off x="3058741" y="4421436"/>
            <a:ext cx="361950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0" name="Equation" r:id="rId1" imgW="3352800" imgH="5486400" progId="Equation.DSMT4">
                    <p:embed/>
                  </p:oleObj>
                </mc:Choice>
                <mc:Fallback>
                  <p:oleObj name="Equation" r:id="rId1" imgW="3352800" imgH="548640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58741" y="4421436"/>
                          <a:ext cx="361950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1" name="Object 15"/>
            <p:cNvGraphicFramePr>
              <a:graphicFrameLocks noChangeAspect="1"/>
            </p:cNvGraphicFramePr>
            <p:nvPr/>
          </p:nvGraphicFramePr>
          <p:xfrm>
            <a:off x="5354638" y="4716711"/>
            <a:ext cx="393700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Equation" r:id="rId3" imgW="3657600" imgH="5486400" progId="Equation.DSMT4">
                    <p:embed/>
                  </p:oleObj>
                </mc:Choice>
                <mc:Fallback>
                  <p:oleObj name="Equation" r:id="rId3" imgW="3657600" imgH="5486400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54638" y="4716711"/>
                          <a:ext cx="393700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2" name="Object 16"/>
            <p:cNvGraphicFramePr>
              <a:graphicFrameLocks noChangeAspect="1"/>
            </p:cNvGraphicFramePr>
            <p:nvPr/>
          </p:nvGraphicFramePr>
          <p:xfrm>
            <a:off x="5331433" y="2989263"/>
            <a:ext cx="395288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Equation" r:id="rId5" imgW="3657600" imgH="5486400" progId="Equation.DSMT4">
                    <p:embed/>
                  </p:oleObj>
                </mc:Choice>
                <mc:Fallback>
                  <p:oleObj name="Equation" r:id="rId5" imgW="3657600" imgH="548640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31433" y="2989263"/>
                          <a:ext cx="395288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3" name="Object 17"/>
            <p:cNvGraphicFramePr>
              <a:graphicFrameLocks noChangeAspect="1"/>
            </p:cNvGraphicFramePr>
            <p:nvPr/>
          </p:nvGraphicFramePr>
          <p:xfrm>
            <a:off x="3007941" y="2981574"/>
            <a:ext cx="393700" cy="588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Equation" r:id="rId7" imgW="3657600" imgH="5486400" progId="Equation.DSMT4">
                    <p:embed/>
                  </p:oleObj>
                </mc:Choice>
                <mc:Fallback>
                  <p:oleObj name="Equation" r:id="rId7" imgW="3657600" imgH="548640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07941" y="2981574"/>
                          <a:ext cx="393700" cy="5889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54" name="Freeform 18"/>
            <p:cNvSpPr/>
            <p:nvPr/>
          </p:nvSpPr>
          <p:spPr bwMode="auto">
            <a:xfrm>
              <a:off x="3029372" y="4971505"/>
              <a:ext cx="744538" cy="671512"/>
            </a:xfrm>
            <a:custGeom>
              <a:avLst/>
              <a:gdLst>
                <a:gd name="T0" fmla="*/ 288 w 469"/>
                <a:gd name="T1" fmla="*/ 0 h 423"/>
                <a:gd name="T2" fmla="*/ 15 w 469"/>
                <a:gd name="T3" fmla="*/ 272 h 423"/>
                <a:gd name="T4" fmla="*/ 378 w 469"/>
                <a:gd name="T5" fmla="*/ 408 h 423"/>
                <a:gd name="T6" fmla="*/ 469 w 469"/>
                <a:gd name="T7" fmla="*/ 181 h 423"/>
                <a:gd name="T8" fmla="*/ 378 w 469"/>
                <a:gd name="T9" fmla="*/ 90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9" h="423">
                  <a:moveTo>
                    <a:pt x="288" y="0"/>
                  </a:moveTo>
                  <a:cubicBezTo>
                    <a:pt x="144" y="102"/>
                    <a:pt x="0" y="204"/>
                    <a:pt x="15" y="272"/>
                  </a:cubicBezTo>
                  <a:cubicBezTo>
                    <a:pt x="30" y="340"/>
                    <a:pt x="302" y="423"/>
                    <a:pt x="378" y="408"/>
                  </a:cubicBezTo>
                  <a:cubicBezTo>
                    <a:pt x="454" y="393"/>
                    <a:pt x="469" y="234"/>
                    <a:pt x="469" y="181"/>
                  </a:cubicBezTo>
                  <a:cubicBezTo>
                    <a:pt x="469" y="128"/>
                    <a:pt x="423" y="109"/>
                    <a:pt x="378" y="90"/>
                  </a:cubicBezTo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17000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8013" y="1341438"/>
            <a:ext cx="2587625" cy="1143000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chemeClr val="tx1"/>
                </a:solidFill>
              </a:rPr>
              <a:t>本讲内容</a:t>
            </a:r>
            <a:endParaRPr lang="zh-CN" altLang="en-US" b="1">
              <a:solidFill>
                <a:schemeClr val="tx1"/>
              </a:solidFill>
            </a:endParaRPr>
          </a:p>
        </p:txBody>
      </p:sp>
      <p:grpSp>
        <p:nvGrpSpPr>
          <p:cNvPr id="8195" name="Group 4"/>
          <p:cNvGrpSpPr/>
          <p:nvPr/>
        </p:nvGrpSpPr>
        <p:grpSpPr bwMode="auto">
          <a:xfrm>
            <a:off x="1646238" y="2566988"/>
            <a:ext cx="5435600" cy="608012"/>
            <a:chOff x="1136" y="1132"/>
            <a:chExt cx="3424" cy="383"/>
          </a:xfrm>
        </p:grpSpPr>
        <p:sp>
          <p:nvSpPr>
            <p:cNvPr id="8208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9" name="Text Box 10"/>
            <p:cNvSpPr txBox="1">
              <a:spLocks noChangeArrowheads="1"/>
            </p:cNvSpPr>
            <p:nvPr/>
          </p:nvSpPr>
          <p:spPr bwMode="auto">
            <a:xfrm>
              <a:off x="1640" y="1145"/>
              <a:ext cx="2192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b="1" dirty="0">
                  <a:ea typeface="宋体" panose="02010600030101010101" pitchFamily="2" charset="-122"/>
                </a:rPr>
                <a:t>无向图节点的度数</a:t>
              </a:r>
              <a:endParaRPr kumimoji="0" lang="zh-CN" altLang="en-US" b="1" dirty="0">
                <a:ea typeface="宋体" panose="02010600030101010101" pitchFamily="2" charset="-122"/>
              </a:endParaRPr>
            </a:p>
          </p:txBody>
        </p:sp>
        <p:sp>
          <p:nvSpPr>
            <p:cNvPr id="8210" name="Text Box 11"/>
            <p:cNvSpPr txBox="1">
              <a:spLocks noChangeArrowheads="1"/>
            </p:cNvSpPr>
            <p:nvPr/>
          </p:nvSpPr>
          <p:spPr bwMode="gray">
            <a:xfrm>
              <a:off x="1136" y="1132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6" name="Group 4"/>
          <p:cNvGrpSpPr/>
          <p:nvPr/>
        </p:nvGrpSpPr>
        <p:grpSpPr bwMode="auto">
          <a:xfrm>
            <a:off x="1655763" y="3478214"/>
            <a:ext cx="5505450" cy="631826"/>
            <a:chOff x="1135" y="1117"/>
            <a:chExt cx="3468" cy="398"/>
          </a:xfrm>
        </p:grpSpPr>
        <p:sp>
          <p:nvSpPr>
            <p:cNvPr id="8205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6" name="Text Box 10"/>
            <p:cNvSpPr txBox="1">
              <a:spLocks noChangeArrowheads="1"/>
            </p:cNvSpPr>
            <p:nvPr/>
          </p:nvSpPr>
          <p:spPr bwMode="auto">
            <a:xfrm>
              <a:off x="1632" y="1117"/>
              <a:ext cx="2971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None/>
              </a:pPr>
              <a:r>
                <a:rPr kumimoji="0" lang="zh-CN" altLang="en-US" b="1" dirty="0">
                  <a:ea typeface="宋体" panose="02010600030101010101" pitchFamily="2" charset="-122"/>
                </a:rPr>
                <a:t>有向图节点的出度、入度</a:t>
              </a:r>
              <a:endParaRPr kumimoji="0" lang="zh-CN" altLang="en-US" b="1" dirty="0">
                <a:ea typeface="宋体" panose="02010600030101010101" pitchFamily="2" charset="-122"/>
              </a:endParaRPr>
            </a:p>
          </p:txBody>
        </p:sp>
        <p:sp>
          <p:nvSpPr>
            <p:cNvPr id="8207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7" name="Group 4"/>
          <p:cNvGrpSpPr/>
          <p:nvPr/>
        </p:nvGrpSpPr>
        <p:grpSpPr bwMode="auto">
          <a:xfrm>
            <a:off x="1655763" y="4437063"/>
            <a:ext cx="5437187" cy="681037"/>
            <a:chOff x="1135" y="1086"/>
            <a:chExt cx="3425" cy="429"/>
          </a:xfrm>
        </p:grpSpPr>
        <p:sp>
          <p:nvSpPr>
            <p:cNvPr id="8202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3" name="Text Box 10"/>
            <p:cNvSpPr txBox="1">
              <a:spLocks noChangeArrowheads="1"/>
            </p:cNvSpPr>
            <p:nvPr/>
          </p:nvSpPr>
          <p:spPr bwMode="auto">
            <a:xfrm>
              <a:off x="1640" y="1086"/>
              <a:ext cx="115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zh-CN" altLang="en-US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握手定理</a:t>
              </a:r>
              <a:endPara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204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8" name="Group 4"/>
          <p:cNvGrpSpPr/>
          <p:nvPr/>
        </p:nvGrpSpPr>
        <p:grpSpPr bwMode="auto">
          <a:xfrm>
            <a:off x="1655763" y="5429250"/>
            <a:ext cx="7156449" cy="696913"/>
            <a:chOff x="1135" y="1076"/>
            <a:chExt cx="4508" cy="439"/>
          </a:xfrm>
        </p:grpSpPr>
        <p:sp>
          <p:nvSpPr>
            <p:cNvPr id="8199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0" name="Text Box 10"/>
            <p:cNvSpPr txBox="1">
              <a:spLocks noChangeArrowheads="1"/>
            </p:cNvSpPr>
            <p:nvPr/>
          </p:nvSpPr>
          <p:spPr bwMode="auto">
            <a:xfrm>
              <a:off x="1632" y="1076"/>
              <a:ext cx="4011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k-</a:t>
              </a:r>
              <a:r>
                <a:rPr lang="zh-CN" altLang="en-US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正则图、最大</a:t>
              </a:r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(</a:t>
              </a:r>
              <a:r>
                <a:rPr lang="zh-CN" altLang="en-US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小</a:t>
              </a:r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)</a:t>
              </a:r>
              <a:r>
                <a:rPr lang="zh-CN" altLang="en-US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度、度数序列</a:t>
              </a:r>
              <a:endPara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201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6C0EA713-AE25-4E49-BE9F-EAE017134A64}" type="slidenum">
              <a:rPr lang="en-US" altLang="zh-CN" smtClean="0"/>
            </a:fld>
            <a:endParaRPr lang="en-US" altLang="zh-CN"/>
          </a:p>
        </p:txBody>
      </p:sp>
      <p:sp>
        <p:nvSpPr>
          <p:cNvPr id="40962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下面的定理是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L. Euler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在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1736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年证明的图论中的第一定理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常称为“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握手定理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”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一条边表示两只手握在一起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定理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6-1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在任何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其所有节点度数之和等于边数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m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倍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即</a:t>
            </a:r>
            <a:endParaRPr lang="zh-CN" altLang="en-US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zh-CN" altLang="en-US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zh-CN" altLang="en-US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3061919" y="4548683"/>
          <a:ext cx="2983650" cy="9685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" imgW="24079200" imgH="8229600" progId="Equation.DSMT4">
                  <p:embed/>
                </p:oleObj>
              </mc:Choice>
              <mc:Fallback>
                <p:oleObj name="Equation" r:id="rId1" imgW="24079200" imgH="8229600" progId="Equation.DSMT4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61919" y="4548683"/>
                        <a:ext cx="2983650" cy="9685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6C0EA713-AE25-4E49-BE9F-EAE017134A64}" type="slidenum">
              <a:rPr lang="en-US" altLang="zh-CN" smtClean="0"/>
            </a:fld>
            <a:endParaRPr lang="en-US" altLang="zh-CN"/>
          </a:p>
        </p:txBody>
      </p:sp>
      <p:sp>
        <p:nvSpPr>
          <p:cNvPr id="41986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推论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在任意图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度数为奇数的节点个数必为偶数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   证明：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graphicFrame>
        <p:nvGraphicFramePr>
          <p:cNvPr id="41987" name="Object 3"/>
          <p:cNvGraphicFramePr>
            <a:graphicFrameLocks noChangeAspect="1"/>
          </p:cNvGraphicFramePr>
          <p:nvPr/>
        </p:nvGraphicFramePr>
        <p:xfrm>
          <a:off x="646906" y="3429000"/>
          <a:ext cx="7850187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1" imgW="72847200" imgH="8534400" progId="Equation.DSMT4">
                  <p:embed/>
                </p:oleObj>
              </mc:Choice>
              <mc:Fallback>
                <p:oleObj name="Equation" r:id="rId1" imgW="72847200" imgH="8534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906" y="3429000"/>
                        <a:ext cx="7850187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6C0EA713-AE25-4E49-BE9F-EAE017134A64}" type="slidenum">
              <a:rPr lang="en-US" altLang="zh-CN" smtClean="0"/>
            </a:fld>
            <a:endParaRPr lang="en-US" altLang="zh-CN"/>
          </a:p>
        </p:txBody>
      </p:sp>
      <p:sp>
        <p:nvSpPr>
          <p:cNvPr id="43010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由定理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6-1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及其推论很容易知道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在任何一次聚会上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所有人握手次数之和必为偶数并且握了奇数次手的人数必为偶数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   在任意有向图中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显然有：</a:t>
            </a:r>
            <a:endParaRPr lang="zh-CN" altLang="en-US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定理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6-2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在任意有向图中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所有节点的出度之和等于入度之和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6C0EA713-AE25-4E49-BE9F-EAE017134A64}" type="slidenum">
              <a:rPr lang="en-US" altLang="zh-CN" smtClean="0"/>
            </a:fld>
            <a:endParaRPr lang="en-US" altLang="zh-CN"/>
          </a:p>
        </p:txBody>
      </p:sp>
      <p:sp>
        <p:nvSpPr>
          <p:cNvPr id="58372" name="Rectangle 4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在任意图中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度数为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0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的节点称为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孤立点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(isolated vertex),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度数为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的节点称为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悬挂点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(pendant vertex).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30975" y="6215063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6C0EA713-AE25-4E49-BE9F-EAE017134A64}" type="slidenum">
              <a:rPr lang="en-US" altLang="zh-CN" smtClean="0"/>
            </a:fld>
            <a:endParaRPr lang="en-US" altLang="zh-CN"/>
          </a:p>
        </p:txBody>
      </p:sp>
      <p:sp>
        <p:nvSpPr>
          <p:cNvPr id="44034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6-1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证明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: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对于任意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≥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个人的组里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必有两个人有相同个数的朋友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   证明：将组里的每个人看作节点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两个人是朋友当且仅当对应的节点邻接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于是得到一个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阶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简单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无向图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进而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中每节点的度数可能为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0, 1, 2, …,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- 1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中一个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23928" y="4653136"/>
            <a:ext cx="2231925" cy="17281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6C0EA713-AE25-4E49-BE9F-EAE017134A64}" type="slidenum">
              <a:rPr lang="en-US" altLang="zh-CN" smtClean="0"/>
            </a:fld>
            <a:endParaRPr lang="en-US" altLang="zh-CN"/>
          </a:p>
        </p:txBody>
      </p:sp>
      <p:sp>
        <p:nvSpPr>
          <p:cNvPr id="45058" name="Rectangle 2"/>
          <p:cNvSpPr>
            <a:spLocks noGrp="1" noRot="1" noChangeArrowheads="1"/>
          </p:cNvSpPr>
          <p:nvPr>
            <p:ph/>
          </p:nvPr>
        </p:nvSpPr>
        <p:spPr>
          <a:xfrm>
            <a:off x="251681" y="1298922"/>
            <a:ext cx="864063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当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中无孤立点时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于是每节点的度数可能为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1, 2, …,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- 1.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由于共有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个节点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于是必有两节点度数相同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当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中有孤立点时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这时每节点的度数只可能为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0, 1, 2, …,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- 2.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同样由于共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有个节点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因此必有两节点度数相同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8013" y="1341438"/>
            <a:ext cx="2587625" cy="1143000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chemeClr val="tx1"/>
                </a:solidFill>
              </a:rPr>
              <a:t>本讲内容</a:t>
            </a:r>
            <a:endParaRPr lang="zh-CN" altLang="en-US" b="1">
              <a:solidFill>
                <a:schemeClr val="tx1"/>
              </a:solidFill>
            </a:endParaRPr>
          </a:p>
        </p:txBody>
      </p:sp>
      <p:grpSp>
        <p:nvGrpSpPr>
          <p:cNvPr id="8195" name="Group 4"/>
          <p:cNvGrpSpPr/>
          <p:nvPr/>
        </p:nvGrpSpPr>
        <p:grpSpPr bwMode="auto">
          <a:xfrm>
            <a:off x="1646238" y="2566988"/>
            <a:ext cx="5435600" cy="608012"/>
            <a:chOff x="1136" y="1132"/>
            <a:chExt cx="3424" cy="383"/>
          </a:xfrm>
        </p:grpSpPr>
        <p:sp>
          <p:nvSpPr>
            <p:cNvPr id="8208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9" name="Text Box 10"/>
            <p:cNvSpPr txBox="1">
              <a:spLocks noChangeArrowheads="1"/>
            </p:cNvSpPr>
            <p:nvPr/>
          </p:nvSpPr>
          <p:spPr bwMode="auto">
            <a:xfrm>
              <a:off x="1640" y="1145"/>
              <a:ext cx="2192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b="1" dirty="0">
                  <a:ea typeface="宋体" panose="02010600030101010101" pitchFamily="2" charset="-122"/>
                </a:rPr>
                <a:t>无向图节点的度数</a:t>
              </a:r>
              <a:endParaRPr kumimoji="0" lang="zh-CN" altLang="en-US" b="1" dirty="0">
                <a:ea typeface="宋体" panose="02010600030101010101" pitchFamily="2" charset="-122"/>
              </a:endParaRPr>
            </a:p>
          </p:txBody>
        </p:sp>
        <p:sp>
          <p:nvSpPr>
            <p:cNvPr id="8210" name="Text Box 11"/>
            <p:cNvSpPr txBox="1">
              <a:spLocks noChangeArrowheads="1"/>
            </p:cNvSpPr>
            <p:nvPr/>
          </p:nvSpPr>
          <p:spPr bwMode="gray">
            <a:xfrm>
              <a:off x="1136" y="1132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6" name="Group 4"/>
          <p:cNvGrpSpPr/>
          <p:nvPr/>
        </p:nvGrpSpPr>
        <p:grpSpPr bwMode="auto">
          <a:xfrm>
            <a:off x="1655763" y="3478214"/>
            <a:ext cx="5505450" cy="631826"/>
            <a:chOff x="1135" y="1117"/>
            <a:chExt cx="3468" cy="398"/>
          </a:xfrm>
        </p:grpSpPr>
        <p:sp>
          <p:nvSpPr>
            <p:cNvPr id="8205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6" name="Text Box 10"/>
            <p:cNvSpPr txBox="1">
              <a:spLocks noChangeArrowheads="1"/>
            </p:cNvSpPr>
            <p:nvPr/>
          </p:nvSpPr>
          <p:spPr bwMode="auto">
            <a:xfrm>
              <a:off x="1632" y="1117"/>
              <a:ext cx="2971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None/>
              </a:pPr>
              <a:r>
                <a:rPr kumimoji="0" lang="zh-CN" altLang="en-US" b="1" dirty="0">
                  <a:ea typeface="宋体" panose="02010600030101010101" pitchFamily="2" charset="-122"/>
                </a:rPr>
                <a:t>有向图节点的出度、入度</a:t>
              </a:r>
              <a:endParaRPr kumimoji="0" lang="zh-CN" altLang="en-US" b="1" dirty="0">
                <a:ea typeface="宋体" panose="02010600030101010101" pitchFamily="2" charset="-122"/>
              </a:endParaRPr>
            </a:p>
          </p:txBody>
        </p:sp>
        <p:sp>
          <p:nvSpPr>
            <p:cNvPr id="8207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7" name="Group 4"/>
          <p:cNvGrpSpPr/>
          <p:nvPr/>
        </p:nvGrpSpPr>
        <p:grpSpPr bwMode="auto">
          <a:xfrm>
            <a:off x="1655763" y="4437063"/>
            <a:ext cx="5437187" cy="681037"/>
            <a:chOff x="1135" y="1086"/>
            <a:chExt cx="3425" cy="429"/>
          </a:xfrm>
        </p:grpSpPr>
        <p:sp>
          <p:nvSpPr>
            <p:cNvPr id="8202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3" name="Text Box 10"/>
            <p:cNvSpPr txBox="1">
              <a:spLocks noChangeArrowheads="1"/>
            </p:cNvSpPr>
            <p:nvPr/>
          </p:nvSpPr>
          <p:spPr bwMode="auto">
            <a:xfrm>
              <a:off x="1640" y="1086"/>
              <a:ext cx="115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zh-CN" altLang="en-US" b="1" dirty="0">
                  <a:latin typeface="宋体" panose="02010600030101010101" pitchFamily="2" charset="-122"/>
                  <a:ea typeface="宋体" panose="02010600030101010101" pitchFamily="2" charset="-122"/>
                </a:rPr>
                <a:t>握手定理</a:t>
              </a:r>
              <a:endParaRPr lang="zh-CN" altLang="en-US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204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8" name="Group 4"/>
          <p:cNvGrpSpPr/>
          <p:nvPr/>
        </p:nvGrpSpPr>
        <p:grpSpPr bwMode="auto">
          <a:xfrm>
            <a:off x="1655763" y="5429250"/>
            <a:ext cx="7156449" cy="696913"/>
            <a:chOff x="1135" y="1076"/>
            <a:chExt cx="4508" cy="439"/>
          </a:xfrm>
        </p:grpSpPr>
        <p:sp>
          <p:nvSpPr>
            <p:cNvPr id="8199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0" name="Text Box 10"/>
            <p:cNvSpPr txBox="1">
              <a:spLocks noChangeArrowheads="1"/>
            </p:cNvSpPr>
            <p:nvPr/>
          </p:nvSpPr>
          <p:spPr bwMode="auto">
            <a:xfrm>
              <a:off x="1632" y="1076"/>
              <a:ext cx="4011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en-US" altLang="zh-CN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k-</a:t>
              </a:r>
              <a:r>
                <a:rPr lang="zh-CN" altLang="en-US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正则图、最大</a:t>
              </a:r>
              <a:r>
                <a:rPr lang="en-US" altLang="zh-CN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(</a:t>
              </a:r>
              <a:r>
                <a:rPr lang="zh-CN" altLang="en-US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小</a:t>
              </a:r>
              <a:r>
                <a:rPr lang="en-US" altLang="zh-CN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)</a:t>
              </a:r>
              <a:r>
                <a:rPr lang="zh-CN" altLang="en-US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度、度数序列</a:t>
              </a:r>
              <a:endPara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201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6C0EA713-AE25-4E49-BE9F-EAE017134A64}" type="slidenum">
              <a:rPr lang="en-US" altLang="zh-CN" smtClean="0"/>
            </a:fld>
            <a:endParaRPr lang="en-US" altLang="zh-CN"/>
          </a:p>
        </p:txBody>
      </p:sp>
      <p:sp>
        <p:nvSpPr>
          <p:cNvPr id="60420" name="Rectangle 4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若一个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无向图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的每节点度数均为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k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则称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k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正则图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k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-regular graph). 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9315" y="2996952"/>
            <a:ext cx="5568858" cy="202858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6C0EA713-AE25-4E49-BE9F-EAE017134A64}" type="slidenum">
              <a:rPr lang="en-US" altLang="zh-CN" smtClean="0"/>
            </a:fld>
            <a:endParaRPr lang="en-US" altLang="zh-CN"/>
          </a:p>
        </p:txBody>
      </p:sp>
      <p:sp>
        <p:nvSpPr>
          <p:cNvPr id="46082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6-2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设无向图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是一个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3-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正则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且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2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– 3 =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求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m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各是多少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? 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   提示：根据握手定理有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graphicFrame>
        <p:nvGraphicFramePr>
          <p:cNvPr id="46083" name="Object 3"/>
          <p:cNvGraphicFramePr>
            <a:graphicFrameLocks noChangeAspect="1"/>
          </p:cNvGraphicFramePr>
          <p:nvPr/>
        </p:nvGraphicFramePr>
        <p:xfrm>
          <a:off x="3569885" y="3420719"/>
          <a:ext cx="1379538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1" imgW="12801600" imgH="4267200" progId="Equation.DSMT4">
                  <p:embed/>
                </p:oleObj>
              </mc:Choice>
              <mc:Fallback>
                <p:oleObj name="Equation" r:id="rId1" imgW="12801600" imgH="4267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9885" y="3420719"/>
                        <a:ext cx="1379538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4" name="Object 4"/>
          <p:cNvGraphicFramePr>
            <a:graphicFrameLocks noChangeAspect="1"/>
          </p:cNvGraphicFramePr>
          <p:nvPr/>
        </p:nvGraphicFramePr>
        <p:xfrm>
          <a:off x="3569885" y="4095913"/>
          <a:ext cx="1739900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16154400" imgH="4267200" progId="Equation.DSMT4">
                  <p:embed/>
                </p:oleObj>
              </mc:Choice>
              <mc:Fallback>
                <p:oleObj name="Equation" r:id="rId3" imgW="16154400" imgH="4267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9885" y="4095913"/>
                        <a:ext cx="1739900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5" name="Object 5"/>
          <p:cNvGraphicFramePr>
            <a:graphicFrameLocks noChangeAspect="1"/>
          </p:cNvGraphicFramePr>
          <p:nvPr/>
        </p:nvGraphicFramePr>
        <p:xfrm>
          <a:off x="3569885" y="5507591"/>
          <a:ext cx="1903412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17678400" imgH="4876800" progId="Equation.DSMT4">
                  <p:embed/>
                </p:oleObj>
              </mc:Choice>
              <mc:Fallback>
                <p:oleObj name="Equation" r:id="rId5" imgW="17678400" imgH="4876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9885" y="5507591"/>
                        <a:ext cx="1903412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6" name="AutoShape 6"/>
          <p:cNvSpPr>
            <a:spLocks noChangeArrowheads="1"/>
          </p:cNvSpPr>
          <p:nvPr/>
        </p:nvSpPr>
        <p:spPr bwMode="auto">
          <a:xfrm>
            <a:off x="4223935" y="4798531"/>
            <a:ext cx="431800" cy="574675"/>
          </a:xfrm>
          <a:prstGeom prst="downArrow">
            <a:avLst>
              <a:gd name="adj1" fmla="val 50000"/>
              <a:gd name="adj2" fmla="val 3327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6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6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6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6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60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6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6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60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6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6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6C0EA713-AE25-4E49-BE9F-EAE017134A64}" type="slidenum">
              <a:rPr lang="en-US" altLang="zh-CN" smtClean="0"/>
            </a:fld>
            <a:endParaRPr lang="en-US" altLang="zh-CN"/>
          </a:p>
        </p:txBody>
      </p:sp>
      <p:sp>
        <p:nvSpPr>
          <p:cNvPr id="47106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定义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6-9 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最大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(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小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度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   任意图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):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有向图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):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graphicFrame>
        <p:nvGraphicFramePr>
          <p:cNvPr id="47107" name="Object 3"/>
          <p:cNvGraphicFramePr>
            <a:graphicFrameLocks noChangeAspect="1"/>
          </p:cNvGraphicFramePr>
          <p:nvPr/>
        </p:nvGraphicFramePr>
        <p:xfrm>
          <a:off x="4067944" y="1886260"/>
          <a:ext cx="3089275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1" imgW="28651200" imgH="6705600" progId="Equation.DSMT4">
                  <p:embed/>
                </p:oleObj>
              </mc:Choice>
              <mc:Fallback>
                <p:oleObj name="Equation" r:id="rId1" imgW="28651200" imgH="6705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944" y="1886260"/>
                        <a:ext cx="3089275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8" name="Object 4"/>
          <p:cNvGraphicFramePr>
            <a:graphicFrameLocks noChangeAspect="1"/>
          </p:cNvGraphicFramePr>
          <p:nvPr/>
        </p:nvGraphicFramePr>
        <p:xfrm>
          <a:off x="4067944" y="2582862"/>
          <a:ext cx="302260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28041600" imgH="6705600" progId="Equation.DSMT4">
                  <p:embed/>
                </p:oleObj>
              </mc:Choice>
              <mc:Fallback>
                <p:oleObj name="Equation" r:id="rId3" imgW="28041600" imgH="6705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944" y="2582862"/>
                        <a:ext cx="3022600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9" name="Object 5"/>
          <p:cNvGraphicFramePr>
            <a:graphicFrameLocks noChangeAspect="1"/>
          </p:cNvGraphicFramePr>
          <p:nvPr/>
        </p:nvGraphicFramePr>
        <p:xfrm>
          <a:off x="1252538" y="4335463"/>
          <a:ext cx="3154362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29260800" imgH="7010400" progId="Equation.DSMT4">
                  <p:embed/>
                </p:oleObj>
              </mc:Choice>
              <mc:Fallback>
                <p:oleObj name="Equation" r:id="rId5" imgW="29260800" imgH="7010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2538" y="4335463"/>
                        <a:ext cx="3154362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0" name="Object 6"/>
          <p:cNvGraphicFramePr>
            <a:graphicFrameLocks noChangeAspect="1"/>
          </p:cNvGraphicFramePr>
          <p:nvPr/>
        </p:nvGraphicFramePr>
        <p:xfrm>
          <a:off x="5132388" y="4335463"/>
          <a:ext cx="3090862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28651200" imgH="7010400" progId="Equation.DSMT4">
                  <p:embed/>
                </p:oleObj>
              </mc:Choice>
              <mc:Fallback>
                <p:oleObj name="Equation" r:id="rId7" imgW="28651200" imgH="7010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2388" y="4335463"/>
                        <a:ext cx="3090862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1" name="Object 7"/>
          <p:cNvGraphicFramePr>
            <a:graphicFrameLocks noChangeAspect="1"/>
          </p:cNvGraphicFramePr>
          <p:nvPr/>
        </p:nvGraphicFramePr>
        <p:xfrm>
          <a:off x="1279525" y="5089525"/>
          <a:ext cx="3087688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28651200" imgH="7010400" progId="Equation.DSMT4">
                  <p:embed/>
                </p:oleObj>
              </mc:Choice>
              <mc:Fallback>
                <p:oleObj name="Equation" r:id="rId9" imgW="28651200" imgH="7010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9525" y="5089525"/>
                        <a:ext cx="3087688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2" name="Object 8"/>
          <p:cNvGraphicFramePr>
            <a:graphicFrameLocks noChangeAspect="1"/>
          </p:cNvGraphicFramePr>
          <p:nvPr/>
        </p:nvGraphicFramePr>
        <p:xfrm>
          <a:off x="5116513" y="5089525"/>
          <a:ext cx="3021012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1" imgW="28041600" imgH="7010400" progId="Equation.DSMT4">
                  <p:embed/>
                </p:oleObj>
              </mc:Choice>
              <mc:Fallback>
                <p:oleObj name="Equation" r:id="rId11" imgW="28041600" imgH="70104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6513" y="5089525"/>
                        <a:ext cx="3021012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6C0EA713-AE25-4E49-BE9F-EAE017134A64}" type="slidenum">
              <a:rPr lang="en-US" altLang="zh-CN" smtClean="0"/>
            </a:fld>
            <a:endParaRPr lang="en-US" altLang="zh-CN"/>
          </a:p>
        </p:txBody>
      </p:sp>
      <p:sp>
        <p:nvSpPr>
          <p:cNvPr id="48130" name="Rectangle 2"/>
          <p:cNvSpPr>
            <a:spLocks noGrp="1" noRot="1" noChangeArrowheads="1"/>
          </p:cNvSpPr>
          <p:nvPr>
            <p:ph/>
          </p:nvPr>
        </p:nvSpPr>
        <p:spPr>
          <a:xfrm>
            <a:off x="177688" y="1298922"/>
            <a:ext cx="8788623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对于无向图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{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…, </a:t>
            </a:r>
            <a:r>
              <a:rPr lang="en-US" altLang="zh-CN" i="1" dirty="0" err="1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},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称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deg(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), deg(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),  …, deg(</a:t>
            </a:r>
            <a:r>
              <a:rPr lang="en-US" altLang="zh-CN" i="1" dirty="0" err="1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度数序列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对于有向图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还可以定义其出度序列和入度序列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6-3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是否存在一个无向图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其度数序列分别为</a:t>
            </a:r>
            <a:endParaRPr lang="zh-CN" altLang="en-US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   (1) 7, 5, 4, 2, 2, 1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   (2) 4, 4, 3, 3, 2, 2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6C0EA713-AE25-4E49-BE9F-EAE017134A64}" type="slidenum">
              <a:rPr lang="en-US" altLang="zh-CN" smtClean="0"/>
            </a:fld>
            <a:endParaRPr lang="en-US" altLang="zh-CN"/>
          </a:p>
        </p:txBody>
      </p:sp>
      <p:sp>
        <p:nvSpPr>
          <p:cNvPr id="49154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解：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(1)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由于序列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7, 5, 4, 2, 2, 1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奇数个数为奇数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根据握手定理的推论知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不可能存在一个图其度数序列为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7, 5, 4, 2, 2, 1.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因为序列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4, 4, 3, 3, 2, 2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奇数个数为偶数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可以得到一个无向图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其度数序列为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4, 4, 3, 3, 2, 2.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ea typeface="华文新魏" panose="020108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0216" y="4509728"/>
            <a:ext cx="2583568" cy="19434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灯片编号占位符 5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2F6FE9FE-F312-497B-B0FE-1A788DD80DE1}" type="slidenum">
              <a:rPr lang="en-US" altLang="zh-CN" smtClean="0"/>
            </a:fld>
            <a:endParaRPr lang="en-US" altLang="zh-CN"/>
          </a:p>
        </p:txBody>
      </p:sp>
      <p:sp>
        <p:nvSpPr>
          <p:cNvPr id="34818" name="AutoShape 2"/>
          <p:cNvSpPr>
            <a:spLocks noChangeArrowheads="1"/>
          </p:cNvSpPr>
          <p:nvPr/>
        </p:nvSpPr>
        <p:spPr bwMode="ltGray">
          <a:xfrm rot="5400000">
            <a:off x="-2412207" y="1337686"/>
            <a:ext cx="4824413" cy="4646613"/>
          </a:xfrm>
          <a:custGeom>
            <a:avLst/>
            <a:gdLst>
              <a:gd name="G0" fmla="+- 10594 0 0"/>
              <a:gd name="G1" fmla="+- -10553582 0 0"/>
              <a:gd name="G2" fmla="+- 0 0 -10553582"/>
              <a:gd name="T0" fmla="*/ 0 256 1"/>
              <a:gd name="T1" fmla="*/ 180 256 1"/>
              <a:gd name="G3" fmla="+- -10553582 T0 T1"/>
              <a:gd name="T2" fmla="*/ 0 256 1"/>
              <a:gd name="T3" fmla="*/ 90 256 1"/>
              <a:gd name="G4" fmla="+- -10553582 T2 T3"/>
              <a:gd name="G5" fmla="*/ G4 2 1"/>
              <a:gd name="T4" fmla="*/ 90 256 1"/>
              <a:gd name="T5" fmla="*/ 0 256 1"/>
              <a:gd name="G6" fmla="+- -10553582 T4 T5"/>
              <a:gd name="G7" fmla="*/ G6 2 1"/>
              <a:gd name="G8" fmla="abs -10553582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594"/>
              <a:gd name="G18" fmla="*/ 10594 1 2"/>
              <a:gd name="G19" fmla="+- G18 5400 0"/>
              <a:gd name="G20" fmla="cos G19 -10553582"/>
              <a:gd name="G21" fmla="sin G19 -10553582"/>
              <a:gd name="G22" fmla="+- G20 10800 0"/>
              <a:gd name="G23" fmla="+- G21 10800 0"/>
              <a:gd name="G24" fmla="+- 10800 0 G20"/>
              <a:gd name="G25" fmla="+- 10594 10800 0"/>
              <a:gd name="G26" fmla="?: G9 G17 G25"/>
              <a:gd name="G27" fmla="?: G9 0 21600"/>
              <a:gd name="G28" fmla="cos 10800 -10553582"/>
              <a:gd name="G29" fmla="sin 10800 -10553582"/>
              <a:gd name="G30" fmla="sin 10594 -10553582"/>
              <a:gd name="G31" fmla="+- G28 10800 0"/>
              <a:gd name="G32" fmla="+- G29 10800 0"/>
              <a:gd name="G33" fmla="+- G30 10800 0"/>
              <a:gd name="G34" fmla="?: G4 0 G31"/>
              <a:gd name="G35" fmla="?: -10553582 G34 0"/>
              <a:gd name="G36" fmla="?: G6 G35 G31"/>
              <a:gd name="G37" fmla="+- 21600 0 G36"/>
              <a:gd name="G38" fmla="?: G4 0 G33"/>
              <a:gd name="G39" fmla="?: -10553582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683 w 21600"/>
              <a:gd name="T15" fmla="*/ 7323 h 21600"/>
              <a:gd name="T16" fmla="*/ 10800 w 21600"/>
              <a:gd name="T17" fmla="*/ 206 h 21600"/>
              <a:gd name="T18" fmla="*/ 20917 w 21600"/>
              <a:gd name="T19" fmla="*/ 7323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781" y="7357"/>
                </a:moveTo>
                <a:cubicBezTo>
                  <a:pt x="2251" y="3078"/>
                  <a:pt x="6276" y="206"/>
                  <a:pt x="10800" y="206"/>
                </a:cubicBezTo>
                <a:cubicBezTo>
                  <a:pt x="15323" y="206"/>
                  <a:pt x="19348" y="3078"/>
                  <a:pt x="20818" y="7357"/>
                </a:cubicBezTo>
                <a:lnTo>
                  <a:pt x="21013" y="7290"/>
                </a:lnTo>
                <a:cubicBezTo>
                  <a:pt x="19514" y="2928"/>
                  <a:pt x="15411" y="0"/>
                  <a:pt x="10799" y="0"/>
                </a:cubicBezTo>
                <a:cubicBezTo>
                  <a:pt x="6188" y="0"/>
                  <a:pt x="2085" y="2928"/>
                  <a:pt x="586" y="7290"/>
                </a:cubicBez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tint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4820" name="Group 4"/>
          <p:cNvGrpSpPr/>
          <p:nvPr/>
        </p:nvGrpSpPr>
        <p:grpSpPr bwMode="auto">
          <a:xfrm>
            <a:off x="1641058" y="1798827"/>
            <a:ext cx="5181600" cy="508000"/>
            <a:chOff x="1419" y="1480"/>
            <a:chExt cx="3575" cy="363"/>
          </a:xfrm>
        </p:grpSpPr>
        <p:grpSp>
          <p:nvGrpSpPr>
            <p:cNvPr id="34821" name="Group 5"/>
            <p:cNvGrpSpPr/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34822" name="Oval 6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23" name="AutoShape 7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zh-CN" altLang="en-US" dirty="0">
                    <a:solidFill>
                      <a:srgbClr val="003300"/>
                    </a:solidFill>
                  </a:rPr>
                  <a:t>无向图节点的度数</a:t>
                </a:r>
                <a:endParaRPr lang="zh-CN" altLang="en-US" dirty="0">
                  <a:solidFill>
                    <a:srgbClr val="003300"/>
                  </a:solidFill>
                </a:endParaRPr>
              </a:p>
            </p:txBody>
          </p:sp>
        </p:grpSp>
        <p:sp>
          <p:nvSpPr>
            <p:cNvPr id="34824" name="Oval 8"/>
            <p:cNvSpPr>
              <a:spLocks noChangeArrowheads="1"/>
            </p:cNvSpPr>
            <p:nvPr/>
          </p:nvSpPr>
          <p:spPr bwMode="gray">
            <a:xfrm>
              <a:off x="1470" y="1541"/>
              <a:ext cx="239" cy="24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25" name="Oval 9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E9940B">
                    <a:gamma/>
                    <a:tint val="0"/>
                    <a:invGamma/>
                  </a:srgbClr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889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4826" name="Group 10"/>
          <p:cNvGrpSpPr/>
          <p:nvPr/>
        </p:nvGrpSpPr>
        <p:grpSpPr bwMode="auto">
          <a:xfrm>
            <a:off x="2072279" y="2880733"/>
            <a:ext cx="5181600" cy="508000"/>
            <a:chOff x="1419" y="1480"/>
            <a:chExt cx="3575" cy="363"/>
          </a:xfrm>
        </p:grpSpPr>
        <p:grpSp>
          <p:nvGrpSpPr>
            <p:cNvPr id="34827" name="Group 11"/>
            <p:cNvGrpSpPr/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34828" name="Oval 12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29" name="AutoShape 13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zh-CN" altLang="en-US" dirty="0">
                    <a:solidFill>
                      <a:srgbClr val="003300"/>
                    </a:solidFill>
                  </a:rPr>
                  <a:t>有向图节点的出度、入度</a:t>
                </a:r>
                <a:endParaRPr lang="zh-CN" altLang="en-US" dirty="0">
                  <a:solidFill>
                    <a:srgbClr val="003300"/>
                  </a:solidFill>
                </a:endParaRPr>
              </a:p>
            </p:txBody>
          </p:sp>
        </p:grpSp>
        <p:sp>
          <p:nvSpPr>
            <p:cNvPr id="34830" name="Oval 14"/>
            <p:cNvSpPr>
              <a:spLocks noChangeArrowheads="1"/>
            </p:cNvSpPr>
            <p:nvPr/>
          </p:nvSpPr>
          <p:spPr bwMode="gray">
            <a:xfrm>
              <a:off x="1470" y="1541"/>
              <a:ext cx="239" cy="24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31" name="Oval 15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E9940B">
                    <a:gamma/>
                    <a:tint val="0"/>
                    <a:invGamma/>
                  </a:srgbClr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889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4832" name="Group 16"/>
          <p:cNvGrpSpPr/>
          <p:nvPr/>
        </p:nvGrpSpPr>
        <p:grpSpPr bwMode="auto">
          <a:xfrm>
            <a:off x="2019142" y="3959142"/>
            <a:ext cx="5181600" cy="508000"/>
            <a:chOff x="1419" y="1480"/>
            <a:chExt cx="3575" cy="363"/>
          </a:xfrm>
        </p:grpSpPr>
        <p:grpSp>
          <p:nvGrpSpPr>
            <p:cNvPr id="34833" name="Group 17"/>
            <p:cNvGrpSpPr/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34834" name="Oval 18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35" name="AutoShape 19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spcBef>
                    <a:spcPct val="0"/>
                  </a:spcBef>
                  <a:buFontTx/>
                  <a:buNone/>
                </a:pPr>
                <a:r>
                  <a:rPr lang="zh-CN" altLang="en-US" dirty="0">
                    <a:solidFill>
                      <a:srgbClr val="003300"/>
                    </a:solidFill>
                  </a:rPr>
                  <a:t>握手定理</a:t>
                </a:r>
                <a:endParaRPr lang="zh-CN" altLang="en-US" dirty="0">
                  <a:solidFill>
                    <a:srgbClr val="003300"/>
                  </a:solidFill>
                </a:endParaRPr>
              </a:p>
            </p:txBody>
          </p:sp>
        </p:grpSp>
        <p:sp>
          <p:nvSpPr>
            <p:cNvPr id="34836" name="Oval 20"/>
            <p:cNvSpPr>
              <a:spLocks noChangeArrowheads="1"/>
            </p:cNvSpPr>
            <p:nvPr/>
          </p:nvSpPr>
          <p:spPr bwMode="gray">
            <a:xfrm>
              <a:off x="1470" y="1541"/>
              <a:ext cx="239" cy="24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37" name="Oval 21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E9940B">
                    <a:gamma/>
                    <a:tint val="0"/>
                    <a:invGamma/>
                  </a:srgbClr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889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4838" name="Group 22"/>
          <p:cNvGrpSpPr/>
          <p:nvPr/>
        </p:nvGrpSpPr>
        <p:grpSpPr bwMode="auto">
          <a:xfrm>
            <a:off x="1714977" y="5035467"/>
            <a:ext cx="5181600" cy="508000"/>
            <a:chOff x="1419" y="1480"/>
            <a:chExt cx="3575" cy="363"/>
          </a:xfrm>
        </p:grpSpPr>
        <p:grpSp>
          <p:nvGrpSpPr>
            <p:cNvPr id="34839" name="Group 23"/>
            <p:cNvGrpSpPr/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34840" name="Oval 24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41" name="AutoShape 25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spcBef>
                    <a:spcPct val="0"/>
                  </a:spcBef>
                  <a:buFontTx/>
                  <a:buNone/>
                </a:pPr>
                <a:r>
                  <a:rPr lang="en-US" altLang="zh-CN" i="1" dirty="0">
                    <a:solidFill>
                      <a:srgbClr val="003300"/>
                    </a:solidFill>
                    <a:latin typeface="Times New Roman" panose="02020603050405020304" pitchFamily="18" charset="0"/>
                  </a:rPr>
                  <a:t>k</a:t>
                </a:r>
                <a:r>
                  <a:rPr lang="en-US" altLang="zh-CN" dirty="0">
                    <a:solidFill>
                      <a:srgbClr val="003300"/>
                    </a:solidFill>
                    <a:latin typeface="Times New Roman" panose="02020603050405020304" pitchFamily="18" charset="0"/>
                  </a:rPr>
                  <a:t>-</a:t>
                </a:r>
                <a:r>
                  <a:rPr lang="zh-CN" altLang="en-US" dirty="0">
                    <a:solidFill>
                      <a:srgbClr val="003300"/>
                    </a:solidFill>
                  </a:rPr>
                  <a:t>正则图、最大</a:t>
                </a:r>
                <a:r>
                  <a:rPr lang="en-US" altLang="zh-CN" dirty="0">
                    <a:solidFill>
                      <a:srgbClr val="003300"/>
                    </a:solidFill>
                  </a:rPr>
                  <a:t>(</a:t>
                </a:r>
                <a:r>
                  <a:rPr lang="zh-CN" altLang="en-US" dirty="0">
                    <a:solidFill>
                      <a:srgbClr val="003300"/>
                    </a:solidFill>
                  </a:rPr>
                  <a:t>小</a:t>
                </a:r>
                <a:r>
                  <a:rPr lang="en-US" altLang="zh-CN" dirty="0">
                    <a:solidFill>
                      <a:srgbClr val="003300"/>
                    </a:solidFill>
                  </a:rPr>
                  <a:t>)</a:t>
                </a:r>
                <a:r>
                  <a:rPr lang="zh-CN" altLang="en-US" dirty="0">
                    <a:solidFill>
                      <a:srgbClr val="003300"/>
                    </a:solidFill>
                  </a:rPr>
                  <a:t>度、度数序列</a:t>
                </a:r>
                <a:endParaRPr lang="zh-CN" altLang="zh-CN" dirty="0">
                  <a:solidFill>
                    <a:srgbClr val="003300"/>
                  </a:solidFill>
                </a:endParaRPr>
              </a:p>
            </p:txBody>
          </p:sp>
        </p:grpSp>
        <p:sp>
          <p:nvSpPr>
            <p:cNvPr id="34842" name="Oval 26"/>
            <p:cNvSpPr>
              <a:spLocks noChangeArrowheads="1"/>
            </p:cNvSpPr>
            <p:nvPr/>
          </p:nvSpPr>
          <p:spPr bwMode="gray">
            <a:xfrm>
              <a:off x="1470" y="1541"/>
              <a:ext cx="239" cy="24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43" name="Oval 27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E9940B">
                    <a:gamma/>
                    <a:tint val="0"/>
                    <a:invGamma/>
                  </a:srgbClr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889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4844" name="AutoShape 28"/>
          <p:cNvSpPr>
            <a:spLocks noChangeArrowheads="1"/>
          </p:cNvSpPr>
          <p:nvPr/>
        </p:nvSpPr>
        <p:spPr bwMode="gray">
          <a:xfrm>
            <a:off x="2660650" y="5300663"/>
            <a:ext cx="4665663" cy="31591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prstShdw prst="shdw17" dist="12700">
              <a:schemeClr val="bg2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round/>
              </a14:hiddenLine>
            </a:ext>
          </a:extLst>
        </p:spPr>
        <p:txBody>
          <a:bodyPr wrap="none" anchor="ctr"/>
          <a:lstStyle/>
          <a:p>
            <a:pPr latinLnBrk="1">
              <a:spcBef>
                <a:spcPct val="0"/>
              </a:spcBef>
              <a:buFontTx/>
              <a:buNone/>
            </a:pPr>
            <a:endParaRPr kumimoji="1" lang="zh-CN" altLang="zh-CN" sz="2400">
              <a:solidFill>
                <a:schemeClr val="tx2"/>
              </a:solidFill>
              <a:ea typeface="Gulim" panose="020B0600000101010101" pitchFamily="34" charset="-127"/>
            </a:endParaRPr>
          </a:p>
        </p:txBody>
      </p:sp>
      <p:sp>
        <p:nvSpPr>
          <p:cNvPr id="34845" name="AutoShape 29"/>
          <p:cNvSpPr>
            <a:spLocks noChangeArrowheads="1"/>
          </p:cNvSpPr>
          <p:nvPr/>
        </p:nvSpPr>
        <p:spPr bwMode="ltGray">
          <a:xfrm rot="5400000">
            <a:off x="935038" y="3178175"/>
            <a:ext cx="301625" cy="949325"/>
          </a:xfrm>
          <a:prstGeom prst="moon">
            <a:avLst>
              <a:gd name="adj" fmla="val 14597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0" hangingPunct="0">
              <a:spcBef>
                <a:spcPct val="0"/>
              </a:spcBef>
              <a:buFontTx/>
              <a:buNone/>
            </a:pPr>
            <a:endParaRPr lang="en-US" altLang="zh-CN" sz="1800">
              <a:solidFill>
                <a:schemeClr val="tx2"/>
              </a:solidFill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  <p:sp>
        <p:nvSpPr>
          <p:cNvPr id="32" name="Rectangle 3"/>
          <p:cNvSpPr txBox="1">
            <a:spLocks noChangeArrowheads="1"/>
          </p:cNvSpPr>
          <p:nvPr/>
        </p:nvSpPr>
        <p:spPr bwMode="auto">
          <a:xfrm>
            <a:off x="35496" y="1022760"/>
            <a:ext cx="8459788" cy="1143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bg1"/>
                </a:solidFill>
                <a:latin typeface="+mj-lt"/>
                <a:ea typeface="+mj-ea"/>
                <a:cs typeface="华文新魏" panose="02010800040101010101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charset="-122"/>
              </a:defRPr>
            </a:lvl9pPr>
          </a:lstStyle>
          <a:p>
            <a:pPr eaLnBrk="1" hangingPunct="1">
              <a:defRPr/>
            </a:pPr>
            <a:r>
              <a:rPr lang="zh-CN" altLang="en-US" sz="4000" b="1" kern="0" dirty="0">
                <a:solidFill>
                  <a:schemeClr val="tx1"/>
                </a:solidFill>
              </a:rPr>
              <a:t>小结</a:t>
            </a:r>
            <a:endParaRPr lang="zh-CN" altLang="en-US" sz="4000" b="1" kern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内容占位符 1"/>
          <p:cNvSpPr>
            <a:spLocks noGrp="1" noChangeArrowheads="1"/>
          </p:cNvSpPr>
          <p:nvPr>
            <p:ph/>
          </p:nvPr>
        </p:nvSpPr>
        <p:spPr>
          <a:xfrm>
            <a:off x="323850" y="1268413"/>
            <a:ext cx="8459788" cy="5184775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endParaRPr lang="en-US" altLang="zh-CN"/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en-US" altLang="zh-CN"/>
          </a:p>
          <a:p>
            <a:pPr marL="0" indent="0" algn="ctr" eaLnBrk="1" hangingPunct="1">
              <a:buFont typeface="Wingdings" panose="05000000000000000000" pitchFamily="2" charset="2"/>
              <a:buNone/>
            </a:pPr>
            <a:endParaRPr lang="en-US" altLang="zh-CN"/>
          </a:p>
          <a:p>
            <a:pPr marL="0" indent="0" algn="ctr" eaLnBrk="1" hangingPunct="1">
              <a:buFont typeface="Wingdings" panose="05000000000000000000" pitchFamily="2" charset="2"/>
              <a:buNone/>
            </a:pPr>
            <a:r>
              <a:rPr lang="en-US" altLang="zh-CN"/>
              <a:t>T</a:t>
            </a:r>
            <a:r>
              <a:rPr lang="zh-CN" altLang="en-US"/>
              <a:t>ＨＥ　ＥＮＤ</a:t>
            </a:r>
            <a:endParaRPr lang="zh-CN" altLang="en-US"/>
          </a:p>
        </p:txBody>
      </p:sp>
    </p:spTree>
  </p:cSld>
  <p:clrMapOvr>
    <a:masterClrMapping/>
  </p:clrMapOvr>
  <p:transition spd="slow"/>
</p:sld>
</file>

<file path=ppt/tags/tag1.xml><?xml version="1.0" encoding="utf-8"?>
<p:tagLst xmlns:p="http://schemas.openxmlformats.org/presentationml/2006/main">
  <p:tag name="COMMONDATA" val="eyJoZGlkIjoiY2M1NzcxMmUzMDg4OTU3OGMzMWUzNzM0ZWU4ZGJmYzAifQ=="/>
</p:tagLst>
</file>

<file path=ppt/theme/theme1.xml><?xml version="1.0" encoding="utf-8"?>
<a:theme xmlns:a="http://schemas.openxmlformats.org/drawingml/2006/main" name="主题2">
  <a:themeElements>
    <a:clrScheme name="默认设计模板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FFFFFF"/>
      </a:hlink>
      <a:folHlink>
        <a:srgbClr val="C0C0C0"/>
      </a:folHlink>
    </a:clrScheme>
    <a:fontScheme name="默认设计模板">
      <a:majorFont>
        <a:latin typeface="Arial"/>
        <a:ea typeface="华文新魏"/>
        <a:cs typeface=""/>
      </a:majorFont>
      <a:minorFont>
        <a:latin typeface="Arial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FFFFFF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FFFFFF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0</TotalTime>
  <Words>1669</Words>
  <Application>WPS 演示</Application>
  <PresentationFormat>全屏显示(4:3)</PresentationFormat>
  <Paragraphs>198</Paragraphs>
  <Slides>22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16</vt:i4>
      </vt:variant>
      <vt:variant>
        <vt:lpstr>幻灯片标题</vt:lpstr>
      </vt:variant>
      <vt:variant>
        <vt:i4>22</vt:i4>
      </vt:variant>
    </vt:vector>
  </HeadingPairs>
  <TitlesOfParts>
    <vt:vector size="55" baseType="lpstr">
      <vt:lpstr>Arial</vt:lpstr>
      <vt:lpstr>宋体</vt:lpstr>
      <vt:lpstr>Wingdings</vt:lpstr>
      <vt:lpstr>华文新魏</vt:lpstr>
      <vt:lpstr>华文彩云</vt:lpstr>
      <vt:lpstr>华文行楷</vt:lpstr>
      <vt:lpstr>Times New Roman</vt:lpstr>
      <vt:lpstr>楷体_GB2312</vt:lpstr>
      <vt:lpstr>新宋体</vt:lpstr>
      <vt:lpstr>Symbol</vt:lpstr>
      <vt:lpstr>微软雅黑</vt:lpstr>
      <vt:lpstr>Arial Unicode MS</vt:lpstr>
      <vt:lpstr>Calibri</vt:lpstr>
      <vt:lpstr>Gulim</vt:lpstr>
      <vt:lpstr>Malgun Gothic</vt:lpstr>
      <vt:lpstr>主题2</vt:lpstr>
      <vt:lpstr>自定义设计方案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本讲内容</vt:lpstr>
      <vt:lpstr>PowerPoint 演示文稿</vt:lpstr>
      <vt:lpstr>PowerPoint 演示文稿</vt:lpstr>
      <vt:lpstr>PowerPoint 演示文稿</vt:lpstr>
      <vt:lpstr>本讲内容</vt:lpstr>
      <vt:lpstr>PowerPoint 演示文稿</vt:lpstr>
      <vt:lpstr>本讲内容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本讲内容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swu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前言</dc:title>
  <dc:creator>邓辉文</dc:creator>
  <cp:lastModifiedBy>赵超</cp:lastModifiedBy>
  <cp:revision>372</cp:revision>
  <dcterms:created xsi:type="dcterms:W3CDTF">2007-04-29T00:04:00Z</dcterms:created>
  <dcterms:modified xsi:type="dcterms:W3CDTF">2022-04-26T14:39:31Z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50C8295176104DE48C2892F31DC90007</vt:lpwstr>
  </property>
  <property fmtid="{D5CDD505-2E9C-101B-9397-08002B2CF9AE}" pid="3" name="KSOProductBuildVer">
    <vt:lpwstr>2052-11.1.0.11636</vt:lpwstr>
  </property>
</Properties>
</file>