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26"/>
  </p:notesMasterIdLst>
  <p:sldIdLst>
    <p:sldId id="506" r:id="rId4"/>
    <p:sldId id="278" r:id="rId5"/>
    <p:sldId id="753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761" r:id="rId14"/>
    <p:sldId id="286" r:id="rId15"/>
    <p:sldId id="287" r:id="rId16"/>
    <p:sldId id="288" r:id="rId17"/>
    <p:sldId id="762" r:id="rId18"/>
    <p:sldId id="289" r:id="rId19"/>
    <p:sldId id="290" r:id="rId20"/>
    <p:sldId id="291" r:id="rId21"/>
    <p:sldId id="295" r:id="rId22"/>
    <p:sldId id="292" r:id="rId23"/>
    <p:sldId id="760" r:id="rId24"/>
    <p:sldId id="617" r:id="rId25"/>
  </p:sldIdLst>
  <p:sldSz cx="9144000" cy="6858000" type="screen4x3"/>
  <p:notesSz cx="6858000" cy="9144000"/>
  <p:custDataLst>
    <p:tags r:id="rId3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1" autoAdjust="0"/>
  </p:normalViewPr>
  <p:slideViewPr>
    <p:cSldViewPr>
      <p:cViewPr varScale="1">
        <p:scale>
          <a:sx n="77" d="100"/>
          <a:sy n="77" d="100"/>
        </p:scale>
        <p:origin x="9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0" Type="http://schemas.openxmlformats.org/officeDocument/2006/relationships/tags" Target="tags/tag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.wmf"/><Relationship Id="rId8" Type="http://schemas.openxmlformats.org/officeDocument/2006/relationships/image" Target="../media/image14.wmf"/><Relationship Id="rId7" Type="http://schemas.openxmlformats.org/officeDocument/2006/relationships/image" Target="../media/image13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0" Type="http://schemas.openxmlformats.org/officeDocument/2006/relationships/image" Target="../media/image16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7" Type="http://schemas.openxmlformats.org/officeDocument/2006/relationships/image" Target="../media/image24.wmf"/><Relationship Id="rId6" Type="http://schemas.openxmlformats.org/officeDocument/2006/relationships/image" Target="../media/image23.emf"/><Relationship Id="rId5" Type="http://schemas.openxmlformats.org/officeDocument/2006/relationships/image" Target="../media/image22.wmf"/><Relationship Id="rId4" Type="http://schemas.openxmlformats.org/officeDocument/2006/relationships/image" Target="../media/image21.wmf"/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51.wmf"/><Relationship Id="rId8" Type="http://schemas.openxmlformats.org/officeDocument/2006/relationships/image" Target="../media/image50.wmf"/><Relationship Id="rId7" Type="http://schemas.openxmlformats.org/officeDocument/2006/relationships/image" Target="../media/image49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0" Type="http://schemas.openxmlformats.org/officeDocument/2006/relationships/image" Target="../media/image52.wmf"/><Relationship Id="rId1" Type="http://schemas.openxmlformats.org/officeDocument/2006/relationships/image" Target="../media/image43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9505FF7-E130-4293-9A3B-C36394E38DF8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13109E0-5DAF-4820-9E3E-6785A71E8368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9088" y="0"/>
            <a:ext cx="2114550" cy="645318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0"/>
            <a:ext cx="6192838" cy="645318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268413"/>
            <a:ext cx="4152900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68413"/>
            <a:ext cx="4154488" cy="51847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850" y="0"/>
            <a:ext cx="8459788" cy="6453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323850" y="0"/>
            <a:ext cx="8459788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23850" y="1268413"/>
            <a:ext cx="4152900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268413"/>
            <a:ext cx="4154488" cy="25161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23850" y="3937000"/>
            <a:ext cx="4152900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3937000"/>
            <a:ext cx="4154488" cy="25161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EDB1F-B615-4FA4-9589-ECC4971F846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A24C9-AC68-4F6D-9FEA-E6C241625FF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D541F-F17C-46A4-B775-589380DB36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94494-B8BA-4446-8863-7AF2C18936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88AEA-AFCC-4030-A601-349A0A5DC20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B275E-4F88-4EF4-889E-853FA6A135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4528A-1906-409E-8994-8C3616DF78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39DE6-E6B8-45A2-A78D-F35CF4601FB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5A64C-451E-410D-AE22-6547DD6D52E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2127A-09F7-458D-BE1D-F730474DD69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F5BFA-77F0-4330-9546-213A7F5C86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vmlDrawing" Target="../drawings/vmlDrawing1.vml"/><Relationship Id="rId20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4.jpeg"/><Relationship Id="rId18" Type="http://schemas.openxmlformats.org/officeDocument/2006/relationships/image" Target="../media/image3.jpeg"/><Relationship Id="rId17" Type="http://schemas.openxmlformats.org/officeDocument/2006/relationships/image" Target="../media/image2.jpeg"/><Relationship Id="rId16" Type="http://schemas.openxmlformats.org/officeDocument/2006/relationships/image" Target="../media/image1.png"/><Relationship Id="rId15" Type="http://schemas.openxmlformats.org/officeDocument/2006/relationships/oleObject" Target="../embeddings/oleObject1.bin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95"/>
          <p:cNvGraphicFramePr>
            <a:graphicFrameLocks noChangeAspect="1"/>
          </p:cNvGraphicFramePr>
          <p:nvPr/>
        </p:nvGraphicFramePr>
        <p:xfrm>
          <a:off x="0" y="0"/>
          <a:ext cx="91440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" name="" r:id="rId15" imgW="12750800" imgH="2324100" progId="">
                  <p:embed/>
                </p:oleObj>
              </mc:Choice>
              <mc:Fallback>
                <p:oleObj name="" r:id="rId15" imgW="12750800" imgH="2324100" progId="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0"/>
            <a:ext cx="84597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323850" y="1268413"/>
            <a:ext cx="8459788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6875463" y="0"/>
            <a:ext cx="2268537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1pPr>
            <a:lvl2pPr marL="742950" indent="-28575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2pPr>
            <a:lvl3pPr marL="11430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3pPr>
            <a:lvl4pPr marL="16002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4pPr>
            <a:lvl5pPr marL="2057400" indent="-228600" eaLnBrk="0" hangingPunct="0"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charset="-122"/>
                <a:cs typeface="华文新魏" panose="02010800040101010101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成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于大气    </a:t>
            </a:r>
            <a:r>
              <a:rPr lang="zh-CN" altLang="en-US" sz="1800" i="1">
                <a:solidFill>
                  <a:srgbClr val="CC99FF"/>
                </a:solidFill>
                <a:ea typeface="华文彩云" panose="02010800040101010101" charset="-122"/>
                <a:cs typeface="华文彩云" panose="02010800040101010101" charset="-122"/>
              </a:rPr>
              <a:t>信</a:t>
            </a:r>
            <a:r>
              <a:rPr lang="zh-CN" altLang="en-US" sz="1800" i="1">
                <a:solidFill>
                  <a:srgbClr val="CC99FF"/>
                </a:solidFill>
                <a:ea typeface="华文行楷" panose="02010800040101010101" charset="-122"/>
                <a:cs typeface="华文行楷" panose="02010800040101010101" charset="-122"/>
              </a:rPr>
              <a:t>达天下</a:t>
            </a:r>
            <a:endParaRPr lang="zh-CN" altLang="en-US" sz="1800" i="1">
              <a:solidFill>
                <a:srgbClr val="CC99FF"/>
              </a:solidFill>
              <a:ea typeface="华文行楷" panose="02010800040101010101" charset="-122"/>
              <a:cs typeface="华文行楷" panose="02010800040101010101" charset="-122"/>
            </a:endParaRPr>
          </a:p>
        </p:txBody>
      </p:sp>
      <p:pic>
        <p:nvPicPr>
          <p:cNvPr id="1030" name="Picture 25" descr="底部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4625"/>
            <a:ext cx="91440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26" descr="信息与电气工程学院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9" descr="河北工程大学背景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4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30" descr="底部-河北工程大学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10338"/>
            <a:ext cx="9144000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+mj-lt"/>
          <a:ea typeface="+mj-ea"/>
          <a:cs typeface="华文新魏" panose="0201080004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  <a:cs typeface="华文新魏" panose="02010800040101010101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华文新魏" panose="0201080004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32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8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4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  <a:cs typeface="华文新魏" panose="02010800040101010101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anose="05000000000000000000" pitchFamily="2" charset="2"/>
        <a:buChar char="ü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83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ClrTx/>
              <a:buFontTx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36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fld id="{F54C75E0-2E59-4159-8858-67A1F145963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4.bin"/><Relationship Id="rId23" Type="http://schemas.openxmlformats.org/officeDocument/2006/relationships/vmlDrawing" Target="../drawings/vmlDrawing3.vml"/><Relationship Id="rId22" Type="http://schemas.openxmlformats.org/officeDocument/2006/relationships/slideLayout" Target="../slideLayouts/slideLayout13.xml"/><Relationship Id="rId21" Type="http://schemas.openxmlformats.org/officeDocument/2006/relationships/image" Target="../media/image17.png"/><Relationship Id="rId20" Type="http://schemas.openxmlformats.org/officeDocument/2006/relationships/image" Target="../media/image16.wmf"/><Relationship Id="rId2" Type="http://schemas.openxmlformats.org/officeDocument/2006/relationships/image" Target="../media/image7.wmf"/><Relationship Id="rId19" Type="http://schemas.openxmlformats.org/officeDocument/2006/relationships/oleObject" Target="../embeddings/oleObject12.bin"/><Relationship Id="rId18" Type="http://schemas.openxmlformats.org/officeDocument/2006/relationships/image" Target="../media/image15.wmf"/><Relationship Id="rId17" Type="http://schemas.openxmlformats.org/officeDocument/2006/relationships/oleObject" Target="../embeddings/oleObject11.bin"/><Relationship Id="rId16" Type="http://schemas.openxmlformats.org/officeDocument/2006/relationships/image" Target="../media/image14.wmf"/><Relationship Id="rId15" Type="http://schemas.openxmlformats.org/officeDocument/2006/relationships/oleObject" Target="../embeddings/oleObject10.bin"/><Relationship Id="rId14" Type="http://schemas.openxmlformats.org/officeDocument/2006/relationships/image" Target="../media/image13.wmf"/><Relationship Id="rId13" Type="http://schemas.openxmlformats.org/officeDocument/2006/relationships/oleObject" Target="../embeddings/oleObject9.bin"/><Relationship Id="rId12" Type="http://schemas.openxmlformats.org/officeDocument/2006/relationships/image" Target="../media/image12.wmf"/><Relationship Id="rId11" Type="http://schemas.openxmlformats.org/officeDocument/2006/relationships/oleObject" Target="../embeddings/oleObject8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.bin"/><Relationship Id="rId8" Type="http://schemas.openxmlformats.org/officeDocument/2006/relationships/image" Target="../media/image21.w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9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8.wmf"/><Relationship Id="rId16" Type="http://schemas.openxmlformats.org/officeDocument/2006/relationships/vmlDrawing" Target="../drawings/vmlDrawing4.vml"/><Relationship Id="rId15" Type="http://schemas.openxmlformats.org/officeDocument/2006/relationships/slideLayout" Target="../slideLayouts/slideLayout13.xml"/><Relationship Id="rId14" Type="http://schemas.openxmlformats.org/officeDocument/2006/relationships/image" Target="../media/image24.wmf"/><Relationship Id="rId13" Type="http://schemas.openxmlformats.org/officeDocument/2006/relationships/oleObject" Target="../embeddings/oleObject19.bin"/><Relationship Id="rId12" Type="http://schemas.openxmlformats.org/officeDocument/2006/relationships/image" Target="../media/image23.emf"/><Relationship Id="rId11" Type="http://schemas.openxmlformats.org/officeDocument/2006/relationships/oleObject" Target="../embeddings/oleObject18.bin"/><Relationship Id="rId10" Type="http://schemas.openxmlformats.org/officeDocument/2006/relationships/image" Target="../media/image22.wmf"/><Relationship Id="rId1" Type="http://schemas.openxmlformats.org/officeDocument/2006/relationships/oleObject" Target="../embeddings/oleObject13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28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25.wmf"/><Relationship Id="rId14" Type="http://schemas.openxmlformats.org/officeDocument/2006/relationships/vmlDrawing" Target="../drawings/vmlDrawing5.vml"/><Relationship Id="rId13" Type="http://schemas.openxmlformats.org/officeDocument/2006/relationships/slideLayout" Target="../slideLayouts/slideLayout13.xml"/><Relationship Id="rId12" Type="http://schemas.openxmlformats.org/officeDocument/2006/relationships/image" Target="../media/image30.wmf"/><Relationship Id="rId11" Type="http://schemas.openxmlformats.org/officeDocument/2006/relationships/oleObject" Target="../embeddings/oleObject25.bin"/><Relationship Id="rId10" Type="http://schemas.openxmlformats.org/officeDocument/2006/relationships/image" Target="../media/image29.wmf"/><Relationship Id="rId1" Type="http://schemas.openxmlformats.org/officeDocument/2006/relationships/oleObject" Target="../embeddings/oleObject20.bin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2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31.wmf"/><Relationship Id="rId1" Type="http://schemas.openxmlformats.org/officeDocument/2006/relationships/oleObject" Target="../embeddings/oleObject26.bin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34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33.wmf"/><Relationship Id="rId1" Type="http://schemas.openxmlformats.org/officeDocument/2006/relationships/oleObject" Target="../embeddings/oleObject28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5.wmf"/><Relationship Id="rId1" Type="http://schemas.openxmlformats.org/officeDocument/2006/relationships/oleObject" Target="../embeddings/oleObject30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36.wmf"/><Relationship Id="rId14" Type="http://schemas.openxmlformats.org/officeDocument/2006/relationships/vmlDrawing" Target="../drawings/vmlDrawing9.vml"/><Relationship Id="rId13" Type="http://schemas.openxmlformats.org/officeDocument/2006/relationships/slideLayout" Target="../slideLayouts/slideLayout13.xml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36.bin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31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2.wmf"/><Relationship Id="rId1" Type="http://schemas.openxmlformats.org/officeDocument/2006/relationships/oleObject" Target="../embeddings/oleObject37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.bin"/><Relationship Id="rId8" Type="http://schemas.openxmlformats.org/officeDocument/2006/relationships/image" Target="../media/image46.wmf"/><Relationship Id="rId7" Type="http://schemas.openxmlformats.org/officeDocument/2006/relationships/oleObject" Target="../embeddings/oleObject41.bin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44.wmf"/><Relationship Id="rId3" Type="http://schemas.openxmlformats.org/officeDocument/2006/relationships/oleObject" Target="../embeddings/oleObject39.bin"/><Relationship Id="rId23" Type="http://schemas.openxmlformats.org/officeDocument/2006/relationships/vmlDrawing" Target="../drawings/vmlDrawing11.vml"/><Relationship Id="rId22" Type="http://schemas.openxmlformats.org/officeDocument/2006/relationships/slideLayout" Target="../slideLayouts/slideLayout13.xml"/><Relationship Id="rId21" Type="http://schemas.openxmlformats.org/officeDocument/2006/relationships/image" Target="../media/image53.png"/><Relationship Id="rId20" Type="http://schemas.openxmlformats.org/officeDocument/2006/relationships/image" Target="../media/image52.wmf"/><Relationship Id="rId2" Type="http://schemas.openxmlformats.org/officeDocument/2006/relationships/image" Target="../media/image43.wmf"/><Relationship Id="rId19" Type="http://schemas.openxmlformats.org/officeDocument/2006/relationships/oleObject" Target="../embeddings/oleObject47.bin"/><Relationship Id="rId18" Type="http://schemas.openxmlformats.org/officeDocument/2006/relationships/image" Target="../media/image51.wmf"/><Relationship Id="rId17" Type="http://schemas.openxmlformats.org/officeDocument/2006/relationships/oleObject" Target="../embeddings/oleObject46.bin"/><Relationship Id="rId16" Type="http://schemas.openxmlformats.org/officeDocument/2006/relationships/image" Target="../media/image50.wmf"/><Relationship Id="rId15" Type="http://schemas.openxmlformats.org/officeDocument/2006/relationships/oleObject" Target="../embeddings/oleObject45.bin"/><Relationship Id="rId14" Type="http://schemas.openxmlformats.org/officeDocument/2006/relationships/image" Target="../media/image49.wmf"/><Relationship Id="rId13" Type="http://schemas.openxmlformats.org/officeDocument/2006/relationships/oleObject" Target="../embeddings/oleObject44.bin"/><Relationship Id="rId12" Type="http://schemas.openxmlformats.org/officeDocument/2006/relationships/image" Target="../media/image48.wmf"/><Relationship Id="rId11" Type="http://schemas.openxmlformats.org/officeDocument/2006/relationships/oleObject" Target="../embeddings/oleObject43.bin"/><Relationship Id="rId10" Type="http://schemas.openxmlformats.org/officeDocument/2006/relationships/image" Target="../media/image47.wmf"/><Relationship Id="rId1" Type="http://schemas.openxmlformats.org/officeDocument/2006/relationships/oleObject" Target="../embeddings/oleObject38.bin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55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54.wmf"/><Relationship Id="rId1" Type="http://schemas.openxmlformats.org/officeDocument/2006/relationships/oleObject" Target="../embeddings/oleObject48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49742" y="2997200"/>
            <a:ext cx="4644516" cy="863600"/>
          </a:xfrm>
        </p:spPr>
        <p:txBody>
          <a:bodyPr/>
          <a:lstStyle/>
          <a:p>
            <a:pPr eaLnBrk="1" hangingPunct="1"/>
            <a:r>
              <a:rPr lang="en-US" altLang="zh-CN" sz="4400" dirty="0">
                <a:latin typeface="Times New Roman" panose="02020603050405020304" pitchFamily="18" charset="0"/>
              </a:rPr>
              <a:t>6.6  </a:t>
            </a:r>
            <a:r>
              <a:rPr lang="zh-CN" altLang="en-US" sz="4400" dirty="0">
                <a:latin typeface="Times New Roman" panose="02020603050405020304" pitchFamily="18" charset="0"/>
              </a:rPr>
              <a:t>图的矩阵表示</a:t>
            </a:r>
            <a:endParaRPr lang="zh-CN" altLang="en-US" sz="4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A962E251-7FC9-4DD6-A476-AF5699ABAEA8}" type="slidenum">
              <a:rPr lang="en-US" altLang="zh-CN" smtClean="0"/>
            </a:fld>
            <a:endParaRPr lang="en-US" altLang="zh-CN"/>
          </a:p>
        </p:txBody>
      </p:sp>
      <p:sp>
        <p:nvSpPr>
          <p:cNvPr id="37891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为了便于使用计算机存储和处理图，更为了借助于完善的矩阵理论研究图的有关性质，有必要学习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图的矩阵表示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4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本节简单介绍图的常见的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种矩阵表示及一些简单结论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  <a:endParaRPr lang="zh-CN" altLang="en-US" b="1">
              <a:solidFill>
                <a:schemeClr val="tx1"/>
              </a:solidFill>
            </a:endParaRP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167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图的邻接矩阵</a:t>
              </a:r>
              <a:endParaRPr kumimoji="0" lang="zh-CN" altLang="en-US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78214"/>
            <a:ext cx="5437188" cy="631826"/>
            <a:chOff x="1135" y="1117"/>
            <a:chExt cx="3425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167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图的可达矩阵</a:t>
              </a:r>
              <a:endParaRPr kumimoji="0"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640" y="1086"/>
              <a:ext cx="167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图的关联矩阵</a:t>
              </a:r>
              <a:endPara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E3483F3B-2AF6-4443-A120-161B3E8403C2}" type="slidenum">
              <a:rPr lang="en-US" altLang="zh-CN" smtClean="0"/>
            </a:fld>
            <a:endParaRPr lang="en-US" altLang="zh-CN"/>
          </a:p>
        </p:txBody>
      </p:sp>
      <p:sp>
        <p:nvSpPr>
          <p:cNvPr id="38914" name="Rectangle 2"/>
          <p:cNvSpPr>
            <a:spLocks noGrp="1" noRot="1" noChangeArrowheads="1"/>
          </p:cNvSpPr>
          <p:nvPr>
            <p:ph/>
          </p:nvPr>
        </p:nvSpPr>
        <p:spPr>
          <a:xfrm>
            <a:off x="342106" y="1168296"/>
            <a:ext cx="8459788" cy="5328592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图的邻接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(adjacency)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矩阵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图的邻接矩阵表示图中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节点间的邻接关系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6-29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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对节点编号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}.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其中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a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ij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华文新魏" panose="02010800040101010101" charset="-12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邻接到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的边数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1, 2, …,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2483768" y="3429000"/>
          <a:ext cx="4541838" cy="241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Equation" r:id="rId1" imgW="42062400" imgH="22555200" progId="Equation.DSMT4">
                  <p:embed/>
                </p:oleObj>
              </mc:Choice>
              <mc:Fallback>
                <p:oleObj name="Equation" r:id="rId1" imgW="42062400" imgH="22555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3429000"/>
                        <a:ext cx="4541838" cy="241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E3483F3B-2AF6-4443-A120-161B3E8403C2}" type="slidenum">
              <a:rPr lang="en-US" altLang="zh-CN" smtClean="0"/>
            </a:fld>
            <a:endParaRPr lang="en-US" altLang="zh-CN"/>
          </a:p>
        </p:txBody>
      </p:sp>
      <p:sp>
        <p:nvSpPr>
          <p:cNvPr id="39938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442682"/>
            <a:ext cx="8459788" cy="6010506"/>
          </a:xfrm>
        </p:spPr>
        <p:txBody>
          <a:bodyPr/>
          <a:lstStyle/>
          <a:p>
            <a:endParaRPr lang="en-US" altLang="zh-CN"/>
          </a:p>
          <a:p>
            <a:endParaRPr lang="en-US" altLang="zh-CN"/>
          </a:p>
        </p:txBody>
      </p:sp>
      <p:grpSp>
        <p:nvGrpSpPr>
          <p:cNvPr id="2" name="组合 1"/>
          <p:cNvGrpSpPr/>
          <p:nvPr/>
        </p:nvGrpSpPr>
        <p:grpSpPr>
          <a:xfrm>
            <a:off x="1367963" y="1226922"/>
            <a:ext cx="2853531" cy="2952520"/>
            <a:chOff x="1299369" y="260350"/>
            <a:chExt cx="2853531" cy="2952520"/>
          </a:xfrm>
        </p:grpSpPr>
        <p:sp>
          <p:nvSpPr>
            <p:cNvPr id="39939" name="Oval 3"/>
            <p:cNvSpPr>
              <a:spLocks noChangeArrowheads="1"/>
            </p:cNvSpPr>
            <p:nvPr/>
          </p:nvSpPr>
          <p:spPr bwMode="auto">
            <a:xfrm>
              <a:off x="1692275" y="90805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0" name="Oval 4"/>
            <p:cNvSpPr>
              <a:spLocks noChangeArrowheads="1"/>
            </p:cNvSpPr>
            <p:nvPr/>
          </p:nvSpPr>
          <p:spPr bwMode="auto">
            <a:xfrm>
              <a:off x="3276600" y="90805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9941" name="Object 5"/>
            <p:cNvGraphicFramePr>
              <a:graphicFrameLocks noChangeAspect="1"/>
            </p:cNvGraphicFramePr>
            <p:nvPr/>
          </p:nvGraphicFramePr>
          <p:xfrm>
            <a:off x="1299369" y="659448"/>
            <a:ext cx="363537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4" name="Equation" r:id="rId1" imgW="3352800" imgH="5486400" progId="Equation.DSMT4">
                    <p:embed/>
                  </p:oleObj>
                </mc:Choice>
                <mc:Fallback>
                  <p:oleObj name="Equation" r:id="rId1" imgW="3352800" imgH="54864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9369" y="659448"/>
                          <a:ext cx="363537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2" name="Oval 6"/>
            <p:cNvSpPr>
              <a:spLocks noChangeArrowheads="1"/>
            </p:cNvSpPr>
            <p:nvPr/>
          </p:nvSpPr>
          <p:spPr bwMode="auto">
            <a:xfrm>
              <a:off x="1692275" y="25654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3" name="Oval 7"/>
            <p:cNvSpPr>
              <a:spLocks noChangeArrowheads="1"/>
            </p:cNvSpPr>
            <p:nvPr/>
          </p:nvSpPr>
          <p:spPr bwMode="auto">
            <a:xfrm>
              <a:off x="3275013" y="256381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8" name="Freeform 12"/>
            <p:cNvSpPr/>
            <p:nvPr/>
          </p:nvSpPr>
          <p:spPr bwMode="auto">
            <a:xfrm>
              <a:off x="1763713" y="1052513"/>
              <a:ext cx="298450" cy="1512887"/>
            </a:xfrm>
            <a:custGeom>
              <a:avLst/>
              <a:gdLst>
                <a:gd name="T0" fmla="*/ 0 w 188"/>
                <a:gd name="T1" fmla="*/ 0 h 953"/>
                <a:gd name="T2" fmla="*/ 181 w 188"/>
                <a:gd name="T3" fmla="*/ 408 h 953"/>
                <a:gd name="T4" fmla="*/ 45 w 188"/>
                <a:gd name="T5" fmla="*/ 953 h 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953">
                  <a:moveTo>
                    <a:pt x="0" y="0"/>
                  </a:moveTo>
                  <a:cubicBezTo>
                    <a:pt x="87" y="124"/>
                    <a:pt x="174" y="249"/>
                    <a:pt x="181" y="408"/>
                  </a:cubicBezTo>
                  <a:cubicBezTo>
                    <a:pt x="188" y="567"/>
                    <a:pt x="68" y="862"/>
                    <a:pt x="45" y="95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949" name="Freeform 13"/>
            <p:cNvSpPr/>
            <p:nvPr/>
          </p:nvSpPr>
          <p:spPr bwMode="auto">
            <a:xfrm>
              <a:off x="1392238" y="1052513"/>
              <a:ext cx="371475" cy="1584325"/>
            </a:xfrm>
            <a:custGeom>
              <a:avLst/>
              <a:gdLst>
                <a:gd name="T0" fmla="*/ 234 w 234"/>
                <a:gd name="T1" fmla="*/ 998 h 998"/>
                <a:gd name="T2" fmla="*/ 7 w 234"/>
                <a:gd name="T3" fmla="*/ 499 h 998"/>
                <a:gd name="T4" fmla="*/ 189 w 234"/>
                <a:gd name="T5" fmla="*/ 0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4" h="998">
                  <a:moveTo>
                    <a:pt x="234" y="998"/>
                  </a:moveTo>
                  <a:cubicBezTo>
                    <a:pt x="124" y="831"/>
                    <a:pt x="14" y="665"/>
                    <a:pt x="7" y="499"/>
                  </a:cubicBezTo>
                  <a:cubicBezTo>
                    <a:pt x="0" y="333"/>
                    <a:pt x="94" y="166"/>
                    <a:pt x="189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0" name="Line 14"/>
            <p:cNvSpPr>
              <a:spLocks noChangeShapeType="1"/>
            </p:cNvSpPr>
            <p:nvPr/>
          </p:nvSpPr>
          <p:spPr bwMode="auto">
            <a:xfrm>
              <a:off x="1763713" y="2636838"/>
              <a:ext cx="1584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1" name="Line 15"/>
            <p:cNvSpPr>
              <a:spLocks noChangeShapeType="1"/>
            </p:cNvSpPr>
            <p:nvPr/>
          </p:nvSpPr>
          <p:spPr bwMode="auto">
            <a:xfrm flipV="1">
              <a:off x="3348038" y="1052513"/>
              <a:ext cx="0" cy="1584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2" name="Line 16"/>
            <p:cNvSpPr>
              <a:spLocks noChangeShapeType="1"/>
            </p:cNvSpPr>
            <p:nvPr/>
          </p:nvSpPr>
          <p:spPr bwMode="auto">
            <a:xfrm>
              <a:off x="1763713" y="981075"/>
              <a:ext cx="1584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3" name="Freeform 17"/>
            <p:cNvSpPr/>
            <p:nvPr/>
          </p:nvSpPr>
          <p:spPr bwMode="auto">
            <a:xfrm>
              <a:off x="2916238" y="260350"/>
              <a:ext cx="1236662" cy="995363"/>
            </a:xfrm>
            <a:custGeom>
              <a:avLst/>
              <a:gdLst>
                <a:gd name="T0" fmla="*/ 242 w 779"/>
                <a:gd name="T1" fmla="*/ 363 h 627"/>
                <a:gd name="T2" fmla="*/ 60 w 779"/>
                <a:gd name="T3" fmla="*/ 45 h 627"/>
                <a:gd name="T4" fmla="*/ 605 w 779"/>
                <a:gd name="T5" fmla="*/ 91 h 627"/>
                <a:gd name="T6" fmla="*/ 741 w 779"/>
                <a:gd name="T7" fmla="*/ 544 h 627"/>
                <a:gd name="T8" fmla="*/ 378 w 779"/>
                <a:gd name="T9" fmla="*/ 590 h 627"/>
                <a:gd name="T10" fmla="*/ 333 w 779"/>
                <a:gd name="T11" fmla="*/ 499 h 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9" h="627">
                  <a:moveTo>
                    <a:pt x="242" y="363"/>
                  </a:moveTo>
                  <a:cubicBezTo>
                    <a:pt x="121" y="226"/>
                    <a:pt x="0" y="90"/>
                    <a:pt x="60" y="45"/>
                  </a:cubicBezTo>
                  <a:cubicBezTo>
                    <a:pt x="120" y="0"/>
                    <a:pt x="492" y="8"/>
                    <a:pt x="605" y="91"/>
                  </a:cubicBezTo>
                  <a:cubicBezTo>
                    <a:pt x="718" y="174"/>
                    <a:pt x="779" y="461"/>
                    <a:pt x="741" y="544"/>
                  </a:cubicBezTo>
                  <a:cubicBezTo>
                    <a:pt x="703" y="627"/>
                    <a:pt x="446" y="597"/>
                    <a:pt x="378" y="590"/>
                  </a:cubicBezTo>
                  <a:cubicBezTo>
                    <a:pt x="310" y="583"/>
                    <a:pt x="321" y="541"/>
                    <a:pt x="333" y="49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9961" name="Object 25"/>
            <p:cNvGraphicFramePr>
              <a:graphicFrameLocks noChangeAspect="1"/>
            </p:cNvGraphicFramePr>
            <p:nvPr/>
          </p:nvGraphicFramePr>
          <p:xfrm>
            <a:off x="1358540" y="2557693"/>
            <a:ext cx="396875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5" name="Equation" r:id="rId3" imgW="3657600" imgH="5486400" progId="Equation.DSMT4">
                    <p:embed/>
                  </p:oleObj>
                </mc:Choice>
                <mc:Fallback>
                  <p:oleObj name="Equation" r:id="rId3" imgW="3657600" imgH="54864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8540" y="2557693"/>
                          <a:ext cx="396875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3" name="Object 27"/>
            <p:cNvGraphicFramePr>
              <a:graphicFrameLocks noChangeAspect="1"/>
            </p:cNvGraphicFramePr>
            <p:nvPr/>
          </p:nvGraphicFramePr>
          <p:xfrm>
            <a:off x="3384478" y="536575"/>
            <a:ext cx="396875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6" name="Equation" r:id="rId5" imgW="3657600" imgH="5486400" progId="Equation.DSMT4">
                    <p:embed/>
                  </p:oleObj>
                </mc:Choice>
                <mc:Fallback>
                  <p:oleObj name="Equation" r:id="rId5" imgW="3657600" imgH="54864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4478" y="536575"/>
                          <a:ext cx="396875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5" name="Object 29"/>
            <p:cNvGraphicFramePr>
              <a:graphicFrameLocks noChangeAspect="1"/>
            </p:cNvGraphicFramePr>
            <p:nvPr/>
          </p:nvGraphicFramePr>
          <p:xfrm>
            <a:off x="3364634" y="2526001"/>
            <a:ext cx="396875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7" name="Equation" r:id="rId7" imgW="3657600" imgH="5486400" progId="Equation.DSMT4">
                    <p:embed/>
                  </p:oleObj>
                </mc:Choice>
                <mc:Fallback>
                  <p:oleObj name="Equation" r:id="rId7" imgW="3657600" imgH="54864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4634" y="2526001"/>
                          <a:ext cx="396875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7" name="Object 31"/>
            <p:cNvGraphicFramePr>
              <a:graphicFrameLocks noChangeAspect="1"/>
            </p:cNvGraphicFramePr>
            <p:nvPr/>
          </p:nvGraphicFramePr>
          <p:xfrm>
            <a:off x="2341563" y="2622320"/>
            <a:ext cx="463550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8" name="Equation" r:id="rId9" imgW="4267200" imgH="5486400" progId="Equation.DSMT4">
                    <p:embed/>
                  </p:oleObj>
                </mc:Choice>
                <mc:Fallback>
                  <p:oleObj name="Equation" r:id="rId9" imgW="4267200" imgH="548640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1563" y="2622320"/>
                          <a:ext cx="463550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5367566" y="1241022"/>
            <a:ext cx="3346450" cy="2970328"/>
            <a:chOff x="5208588" y="333375"/>
            <a:chExt cx="3346450" cy="2970328"/>
          </a:xfrm>
        </p:grpSpPr>
        <p:sp>
          <p:nvSpPr>
            <p:cNvPr id="39944" name="Oval 8"/>
            <p:cNvSpPr>
              <a:spLocks noChangeArrowheads="1"/>
            </p:cNvSpPr>
            <p:nvPr/>
          </p:nvSpPr>
          <p:spPr bwMode="auto">
            <a:xfrm>
              <a:off x="5651500" y="90805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5" name="Oval 9"/>
            <p:cNvSpPr>
              <a:spLocks noChangeArrowheads="1"/>
            </p:cNvSpPr>
            <p:nvPr/>
          </p:nvSpPr>
          <p:spPr bwMode="auto">
            <a:xfrm>
              <a:off x="7380288" y="90805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6" name="Oval 10"/>
            <p:cNvSpPr>
              <a:spLocks noChangeArrowheads="1"/>
            </p:cNvSpPr>
            <p:nvPr/>
          </p:nvSpPr>
          <p:spPr bwMode="auto">
            <a:xfrm>
              <a:off x="5651500" y="263683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7" name="Oval 11"/>
            <p:cNvSpPr>
              <a:spLocks noChangeArrowheads="1"/>
            </p:cNvSpPr>
            <p:nvPr/>
          </p:nvSpPr>
          <p:spPr bwMode="auto">
            <a:xfrm>
              <a:off x="7380288" y="25654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4" name="Freeform 18"/>
            <p:cNvSpPr/>
            <p:nvPr/>
          </p:nvSpPr>
          <p:spPr bwMode="auto">
            <a:xfrm>
              <a:off x="5208588" y="981075"/>
              <a:ext cx="442912" cy="1655763"/>
            </a:xfrm>
            <a:custGeom>
              <a:avLst/>
              <a:gdLst>
                <a:gd name="T0" fmla="*/ 279 w 279"/>
                <a:gd name="T1" fmla="*/ 0 h 1043"/>
                <a:gd name="T2" fmla="*/ 7 w 279"/>
                <a:gd name="T3" fmla="*/ 499 h 1043"/>
                <a:gd name="T4" fmla="*/ 234 w 279"/>
                <a:gd name="T5" fmla="*/ 1043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9" h="1043">
                  <a:moveTo>
                    <a:pt x="279" y="0"/>
                  </a:moveTo>
                  <a:cubicBezTo>
                    <a:pt x="146" y="162"/>
                    <a:pt x="14" y="325"/>
                    <a:pt x="7" y="499"/>
                  </a:cubicBezTo>
                  <a:cubicBezTo>
                    <a:pt x="0" y="673"/>
                    <a:pt x="196" y="952"/>
                    <a:pt x="234" y="104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5" name="Freeform 19"/>
            <p:cNvSpPr/>
            <p:nvPr/>
          </p:nvSpPr>
          <p:spPr bwMode="auto">
            <a:xfrm>
              <a:off x="5867400" y="1052513"/>
              <a:ext cx="360363" cy="1584325"/>
            </a:xfrm>
            <a:custGeom>
              <a:avLst/>
              <a:gdLst>
                <a:gd name="T0" fmla="*/ 0 w 227"/>
                <a:gd name="T1" fmla="*/ 0 h 998"/>
                <a:gd name="T2" fmla="*/ 227 w 227"/>
                <a:gd name="T3" fmla="*/ 544 h 998"/>
                <a:gd name="T4" fmla="*/ 0 w 227"/>
                <a:gd name="T5" fmla="*/ 998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7" h="998">
                  <a:moveTo>
                    <a:pt x="0" y="0"/>
                  </a:moveTo>
                  <a:cubicBezTo>
                    <a:pt x="113" y="189"/>
                    <a:pt x="227" y="378"/>
                    <a:pt x="227" y="544"/>
                  </a:cubicBezTo>
                  <a:cubicBezTo>
                    <a:pt x="227" y="710"/>
                    <a:pt x="113" y="854"/>
                    <a:pt x="0" y="99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6" name="Line 20"/>
            <p:cNvSpPr>
              <a:spLocks noChangeShapeType="1"/>
            </p:cNvSpPr>
            <p:nvPr/>
          </p:nvSpPr>
          <p:spPr bwMode="auto">
            <a:xfrm>
              <a:off x="5867400" y="2708275"/>
              <a:ext cx="1441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7" name="Line 21"/>
            <p:cNvSpPr>
              <a:spLocks noChangeShapeType="1"/>
            </p:cNvSpPr>
            <p:nvPr/>
          </p:nvSpPr>
          <p:spPr bwMode="auto">
            <a:xfrm flipH="1">
              <a:off x="5867400" y="981075"/>
              <a:ext cx="15128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8" name="Line 22"/>
            <p:cNvSpPr>
              <a:spLocks noChangeShapeType="1"/>
            </p:cNvSpPr>
            <p:nvPr/>
          </p:nvSpPr>
          <p:spPr bwMode="auto">
            <a:xfrm flipV="1">
              <a:off x="7451725" y="1125538"/>
              <a:ext cx="0" cy="13668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9" name="Freeform 23"/>
            <p:cNvSpPr/>
            <p:nvPr/>
          </p:nvSpPr>
          <p:spPr bwMode="auto">
            <a:xfrm>
              <a:off x="7164388" y="333375"/>
              <a:ext cx="1390650" cy="1031875"/>
            </a:xfrm>
            <a:custGeom>
              <a:avLst/>
              <a:gdLst>
                <a:gd name="T0" fmla="*/ 113 w 876"/>
                <a:gd name="T1" fmla="*/ 317 h 650"/>
                <a:gd name="T2" fmla="*/ 113 w 876"/>
                <a:gd name="T3" fmla="*/ 45 h 650"/>
                <a:gd name="T4" fmla="*/ 793 w 876"/>
                <a:gd name="T5" fmla="*/ 91 h 650"/>
                <a:gd name="T6" fmla="*/ 612 w 876"/>
                <a:gd name="T7" fmla="*/ 590 h 650"/>
                <a:gd name="T8" fmla="*/ 294 w 876"/>
                <a:gd name="T9" fmla="*/ 454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6" h="650">
                  <a:moveTo>
                    <a:pt x="113" y="317"/>
                  </a:moveTo>
                  <a:cubicBezTo>
                    <a:pt x="56" y="200"/>
                    <a:pt x="0" y="83"/>
                    <a:pt x="113" y="45"/>
                  </a:cubicBezTo>
                  <a:cubicBezTo>
                    <a:pt x="226" y="7"/>
                    <a:pt x="710" y="0"/>
                    <a:pt x="793" y="91"/>
                  </a:cubicBezTo>
                  <a:cubicBezTo>
                    <a:pt x="876" y="182"/>
                    <a:pt x="695" y="530"/>
                    <a:pt x="612" y="590"/>
                  </a:cubicBezTo>
                  <a:cubicBezTo>
                    <a:pt x="529" y="650"/>
                    <a:pt x="411" y="552"/>
                    <a:pt x="294" y="45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9960" name="Object 24"/>
            <p:cNvGraphicFramePr>
              <a:graphicFrameLocks noChangeAspect="1"/>
            </p:cNvGraphicFramePr>
            <p:nvPr/>
          </p:nvGraphicFramePr>
          <p:xfrm>
            <a:off x="5310548" y="479627"/>
            <a:ext cx="36353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9" name="Equation" r:id="rId11" imgW="3352800" imgH="5486400" progId="Equation.DSMT4">
                    <p:embed/>
                  </p:oleObj>
                </mc:Choice>
                <mc:Fallback>
                  <p:oleObj name="Equation" r:id="rId11" imgW="3352800" imgH="54864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0548" y="479627"/>
                          <a:ext cx="36353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2" name="Object 26"/>
            <p:cNvGraphicFramePr>
              <a:graphicFrameLocks noChangeAspect="1"/>
            </p:cNvGraphicFramePr>
            <p:nvPr/>
          </p:nvGraphicFramePr>
          <p:xfrm>
            <a:off x="5366319" y="2633692"/>
            <a:ext cx="39528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0" name="Equation" r:id="rId13" imgW="3657600" imgH="5486400" progId="Equation.DSMT4">
                    <p:embed/>
                  </p:oleObj>
                </mc:Choice>
                <mc:Fallback>
                  <p:oleObj name="Equation" r:id="rId13" imgW="3657600" imgH="54864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6319" y="2633692"/>
                          <a:ext cx="39528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4" name="Object 28"/>
            <p:cNvGraphicFramePr>
              <a:graphicFrameLocks noChangeAspect="1"/>
            </p:cNvGraphicFramePr>
            <p:nvPr/>
          </p:nvGraphicFramePr>
          <p:xfrm>
            <a:off x="7428612" y="473681"/>
            <a:ext cx="396875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1" name="Equation" r:id="rId15" imgW="3657600" imgH="5486400" progId="Equation.DSMT4">
                    <p:embed/>
                  </p:oleObj>
                </mc:Choice>
                <mc:Fallback>
                  <p:oleObj name="Equation" r:id="rId15" imgW="3657600" imgH="548640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28612" y="473681"/>
                          <a:ext cx="396875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6" name="Object 30"/>
            <p:cNvGraphicFramePr>
              <a:graphicFrameLocks noChangeAspect="1"/>
            </p:cNvGraphicFramePr>
            <p:nvPr/>
          </p:nvGraphicFramePr>
          <p:xfrm>
            <a:off x="7376621" y="2622781"/>
            <a:ext cx="398463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2" name="Equation" r:id="rId17" imgW="3657600" imgH="5486400" progId="Equation.DSMT4">
                    <p:embed/>
                  </p:oleObj>
                </mc:Choice>
                <mc:Fallback>
                  <p:oleObj name="Equation" r:id="rId17" imgW="3657600" imgH="54864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76621" y="2622781"/>
                          <a:ext cx="398463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8" name="Object 32"/>
            <p:cNvGraphicFramePr>
              <a:graphicFrameLocks noChangeAspect="1"/>
            </p:cNvGraphicFramePr>
            <p:nvPr/>
          </p:nvGraphicFramePr>
          <p:xfrm>
            <a:off x="6368067" y="2713153"/>
            <a:ext cx="49688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3" name="Equation" r:id="rId19" imgW="4572000" imgH="5486400" progId="Equation.DSMT4">
                    <p:embed/>
                  </p:oleObj>
                </mc:Choice>
                <mc:Fallback>
                  <p:oleObj name="Equation" r:id="rId19" imgW="4572000" imgH="54864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8067" y="2713153"/>
                          <a:ext cx="49688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1499" y="4299741"/>
            <a:ext cx="7072966" cy="18157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E3483F3B-2AF6-4443-A120-161B3E8403C2}" type="slidenum">
              <a:rPr lang="en-US" altLang="zh-CN" smtClean="0"/>
            </a:fld>
            <a:endParaRPr lang="en-US" altLang="zh-CN"/>
          </a:p>
        </p:txBody>
      </p:sp>
      <p:sp>
        <p:nvSpPr>
          <p:cNvPr id="40962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无向图的邻接矩阵是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对称矩阵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一个图与其邻接矩阵是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一一对应的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从一个图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的邻接矩阵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容易得出每个节点的度数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以有向图为例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中第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行元素之和为第个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节点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的出度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1, 2, …,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第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列元素之和为第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个节点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的入度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1, 2, …,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E3483F3B-2AF6-4443-A120-161B3E8403C2}" type="slidenum">
              <a:rPr lang="en-US" altLang="zh-CN" smtClean="0"/>
            </a:fld>
            <a:endParaRPr lang="en-US" altLang="zh-CN"/>
          </a:p>
        </p:txBody>
      </p:sp>
      <p:sp>
        <p:nvSpPr>
          <p:cNvPr id="41986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88185"/>
            <a:ext cx="8459788" cy="516500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6-10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的邻接矩阵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A</a:t>
            </a:r>
            <a:r>
              <a:rPr lang="en-US" altLang="zh-CN" i="1" baseline="30000" dirty="0">
                <a:latin typeface="Times New Roman" panose="02020603050405020304" pitchFamily="18" charset="0"/>
                <a:ea typeface="华文新魏" panose="02010800040101010101" charset="-122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位置元素为从节点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华文新魏" panose="02010800040101010101" charset="-12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到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长度为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≥1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的路的数目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证明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对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归纳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1,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显然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A</a:t>
            </a:r>
            <a:r>
              <a:rPr lang="en-US" altLang="zh-CN" i="1" baseline="30000" dirty="0">
                <a:latin typeface="Times New Roman" panose="02020603050405020304" pitchFamily="18" charset="0"/>
                <a:ea typeface="华文新魏" panose="02010800040101010101" charset="-122"/>
              </a:rPr>
              <a:t>l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A</a:t>
            </a:r>
            <a:r>
              <a:rPr lang="en-US" altLang="zh-CN" i="1" baseline="30000" dirty="0">
                <a:latin typeface="Times New Roman" panose="02020603050405020304" pitchFamily="18" charset="0"/>
                <a:ea typeface="华文新魏" panose="02010800040101010101" charset="-122"/>
              </a:rPr>
              <a:t>l</a:t>
            </a:r>
            <a:r>
              <a:rPr lang="en-US" altLang="zh-CN" baseline="30000" dirty="0">
                <a:latin typeface="Times New Roman" panose="02020603050405020304" pitchFamily="18" charset="0"/>
                <a:ea typeface="华文新魏" panose="02010800040101010101" charset="-122"/>
              </a:rPr>
              <a:t>-1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∙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41988" name="Object 4"/>
          <p:cNvGraphicFramePr>
            <a:graphicFrameLocks noChangeAspect="1"/>
          </p:cNvGraphicFramePr>
          <p:nvPr/>
        </p:nvGraphicFramePr>
        <p:xfrm>
          <a:off x="339651" y="3647948"/>
          <a:ext cx="8602663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2" name="Equation" r:id="rId1" imgW="79248000" imgH="10363200" progId="Equation.DSMT4">
                  <p:embed/>
                </p:oleObj>
              </mc:Choice>
              <mc:Fallback>
                <p:oleObj name="Equation" r:id="rId1" imgW="79248000" imgH="10363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651" y="3647948"/>
                        <a:ext cx="8602663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2267744" y="4472538"/>
            <a:ext cx="3764378" cy="2145940"/>
            <a:chOff x="1671060" y="3628592"/>
            <a:chExt cx="3907414" cy="2280084"/>
          </a:xfrm>
        </p:grpSpPr>
        <p:sp>
          <p:nvSpPr>
            <p:cNvPr id="41987" name="Oval 3"/>
            <p:cNvSpPr>
              <a:spLocks noChangeArrowheads="1"/>
            </p:cNvSpPr>
            <p:nvPr/>
          </p:nvSpPr>
          <p:spPr bwMode="auto">
            <a:xfrm>
              <a:off x="1979613" y="465296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89" name="Oval 5"/>
            <p:cNvSpPr>
              <a:spLocks noChangeArrowheads="1"/>
            </p:cNvSpPr>
            <p:nvPr/>
          </p:nvSpPr>
          <p:spPr bwMode="auto">
            <a:xfrm>
              <a:off x="3995738" y="40767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90" name="Oval 6"/>
            <p:cNvSpPr>
              <a:spLocks noChangeArrowheads="1"/>
            </p:cNvSpPr>
            <p:nvPr/>
          </p:nvSpPr>
          <p:spPr bwMode="auto">
            <a:xfrm>
              <a:off x="3995738" y="4508500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91" name="Oval 7"/>
            <p:cNvSpPr>
              <a:spLocks noChangeArrowheads="1"/>
            </p:cNvSpPr>
            <p:nvPr/>
          </p:nvSpPr>
          <p:spPr bwMode="auto">
            <a:xfrm>
              <a:off x="3995738" y="530066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92" name="Oval 8"/>
            <p:cNvSpPr>
              <a:spLocks noChangeArrowheads="1"/>
            </p:cNvSpPr>
            <p:nvPr/>
          </p:nvSpPr>
          <p:spPr bwMode="auto">
            <a:xfrm>
              <a:off x="5003800" y="4652963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993" name="Line 9"/>
            <p:cNvSpPr>
              <a:spLocks noChangeShapeType="1"/>
            </p:cNvSpPr>
            <p:nvPr/>
          </p:nvSpPr>
          <p:spPr bwMode="auto">
            <a:xfrm flipV="1">
              <a:off x="2051050" y="4149725"/>
              <a:ext cx="2016125" cy="574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4" name="Line 10"/>
            <p:cNvSpPr>
              <a:spLocks noChangeShapeType="1"/>
            </p:cNvSpPr>
            <p:nvPr/>
          </p:nvSpPr>
          <p:spPr bwMode="auto">
            <a:xfrm flipV="1">
              <a:off x="2051050" y="4581525"/>
              <a:ext cx="2016125" cy="142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5" name="Line 11"/>
            <p:cNvSpPr>
              <a:spLocks noChangeShapeType="1"/>
            </p:cNvSpPr>
            <p:nvPr/>
          </p:nvSpPr>
          <p:spPr bwMode="auto">
            <a:xfrm>
              <a:off x="2051050" y="4724400"/>
              <a:ext cx="2016125" cy="649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6" name="Line 12"/>
            <p:cNvSpPr>
              <a:spLocks noChangeShapeType="1"/>
            </p:cNvSpPr>
            <p:nvPr/>
          </p:nvSpPr>
          <p:spPr bwMode="auto">
            <a:xfrm>
              <a:off x="4067175" y="4149725"/>
              <a:ext cx="1009650" cy="574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7" name="Line 13"/>
            <p:cNvSpPr>
              <a:spLocks noChangeShapeType="1"/>
            </p:cNvSpPr>
            <p:nvPr/>
          </p:nvSpPr>
          <p:spPr bwMode="auto">
            <a:xfrm>
              <a:off x="4067175" y="4581525"/>
              <a:ext cx="1009650" cy="142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8" name="Line 14"/>
            <p:cNvSpPr>
              <a:spLocks noChangeShapeType="1"/>
            </p:cNvSpPr>
            <p:nvPr/>
          </p:nvSpPr>
          <p:spPr bwMode="auto">
            <a:xfrm flipV="1">
              <a:off x="4067175" y="4724400"/>
              <a:ext cx="936625" cy="649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1999" name="Object 15"/>
            <p:cNvGraphicFramePr>
              <a:graphicFrameLocks noChangeAspect="1"/>
            </p:cNvGraphicFramePr>
            <p:nvPr/>
          </p:nvGraphicFramePr>
          <p:xfrm>
            <a:off x="5148262" y="4413250"/>
            <a:ext cx="430212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53" name="Equation" r:id="rId3" imgW="3962400" imgH="5791200" progId="Equation.DSMT4">
                    <p:embed/>
                  </p:oleObj>
                </mc:Choice>
                <mc:Fallback>
                  <p:oleObj name="Equation" r:id="rId3" imgW="3962400" imgH="57912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262" y="4413250"/>
                          <a:ext cx="430212" cy="622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0" name="Object 16"/>
            <p:cNvGraphicFramePr>
              <a:graphicFrameLocks noChangeAspect="1"/>
            </p:cNvGraphicFramePr>
            <p:nvPr/>
          </p:nvGraphicFramePr>
          <p:xfrm>
            <a:off x="1671060" y="4508500"/>
            <a:ext cx="363538" cy="588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54" name="Equation" r:id="rId5" imgW="3352800" imgH="5486400" progId="Equation.DSMT4">
                    <p:embed/>
                  </p:oleObj>
                </mc:Choice>
                <mc:Fallback>
                  <p:oleObj name="Equation" r:id="rId5" imgW="3352800" imgH="54864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1060" y="4508500"/>
                          <a:ext cx="363538" cy="588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1" name="Object 17"/>
            <p:cNvGraphicFramePr>
              <a:graphicFrameLocks noChangeAspect="1"/>
            </p:cNvGraphicFramePr>
            <p:nvPr/>
          </p:nvGraphicFramePr>
          <p:xfrm>
            <a:off x="4006850" y="3628592"/>
            <a:ext cx="36353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55" name="Equation" r:id="rId7" imgW="3352800" imgH="5486400" progId="Equation.DSMT4">
                    <p:embed/>
                  </p:oleObj>
                </mc:Choice>
                <mc:Fallback>
                  <p:oleObj name="Equation" r:id="rId7" imgW="3352800" imgH="54864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6850" y="3628592"/>
                          <a:ext cx="36353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2" name="Object 18"/>
            <p:cNvGraphicFramePr>
              <a:graphicFrameLocks noChangeAspect="1"/>
            </p:cNvGraphicFramePr>
            <p:nvPr/>
          </p:nvGraphicFramePr>
          <p:xfrm>
            <a:off x="4110442" y="4464410"/>
            <a:ext cx="396875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56" name="Equation" r:id="rId9" imgW="3657600" imgH="5486400" progId="Equation.DSMT4">
                    <p:embed/>
                  </p:oleObj>
                </mc:Choice>
                <mc:Fallback>
                  <p:oleObj name="Equation" r:id="rId9" imgW="3657600" imgH="54864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0442" y="4464410"/>
                          <a:ext cx="396875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3" name="Object 19"/>
            <p:cNvGraphicFramePr>
              <a:graphicFrameLocks noChangeAspect="1"/>
            </p:cNvGraphicFramePr>
            <p:nvPr/>
          </p:nvGraphicFramePr>
          <p:xfrm>
            <a:off x="4006850" y="4684713"/>
            <a:ext cx="198438" cy="492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57" name="Equation" r:id="rId11" imgW="69215" imgH="173355" progId="Equation.3">
                    <p:embed/>
                  </p:oleObj>
                </mc:Choice>
                <mc:Fallback>
                  <p:oleObj name="Equation" r:id="rId11" imgW="69215" imgH="17335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6850" y="4684713"/>
                          <a:ext cx="198438" cy="492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4" name="Object 20"/>
            <p:cNvGraphicFramePr>
              <a:graphicFrameLocks noChangeAspect="1"/>
            </p:cNvGraphicFramePr>
            <p:nvPr/>
          </p:nvGraphicFramePr>
          <p:xfrm>
            <a:off x="3996531" y="5319713"/>
            <a:ext cx="430212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58" name="Equation" r:id="rId13" imgW="3962400" imgH="5486400" progId="Equation.DSMT4">
                    <p:embed/>
                  </p:oleObj>
                </mc:Choice>
                <mc:Fallback>
                  <p:oleObj name="Equation" r:id="rId13" imgW="3962400" imgH="54864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6531" y="5319713"/>
                          <a:ext cx="430212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E3483F3B-2AF6-4443-A120-161B3E8403C2}" type="slidenum">
              <a:rPr lang="en-US" altLang="zh-CN" smtClean="0"/>
            </a:fld>
            <a:endParaRPr lang="en-US" altLang="zh-CN"/>
          </a:p>
        </p:txBody>
      </p:sp>
      <p:sp>
        <p:nvSpPr>
          <p:cNvPr id="43010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73968"/>
            <a:ext cx="8459788" cy="5179220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6-7</a:t>
            </a:r>
            <a:endParaRPr lang="en-US" altLang="zh-CN" dirty="0"/>
          </a:p>
          <a:p>
            <a:endParaRPr lang="en-US" altLang="zh-CN" dirty="0"/>
          </a:p>
        </p:txBody>
      </p:sp>
      <p:grpSp>
        <p:nvGrpSpPr>
          <p:cNvPr id="2" name="组合 1"/>
          <p:cNvGrpSpPr/>
          <p:nvPr/>
        </p:nvGrpSpPr>
        <p:grpSpPr>
          <a:xfrm>
            <a:off x="3203848" y="1273968"/>
            <a:ext cx="2514990" cy="2313421"/>
            <a:chOff x="3246048" y="467086"/>
            <a:chExt cx="2514990" cy="2313421"/>
          </a:xfrm>
        </p:grpSpPr>
        <p:sp>
          <p:nvSpPr>
            <p:cNvPr id="43011" name="Oval 3"/>
            <p:cNvSpPr>
              <a:spLocks noChangeArrowheads="1"/>
            </p:cNvSpPr>
            <p:nvPr/>
          </p:nvSpPr>
          <p:spPr bwMode="auto">
            <a:xfrm>
              <a:off x="3563938" y="22764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2" name="Oval 4"/>
            <p:cNvSpPr>
              <a:spLocks noChangeArrowheads="1"/>
            </p:cNvSpPr>
            <p:nvPr/>
          </p:nvSpPr>
          <p:spPr bwMode="auto">
            <a:xfrm>
              <a:off x="5219700" y="23495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3" name="Oval 5"/>
            <p:cNvSpPr>
              <a:spLocks noChangeArrowheads="1"/>
            </p:cNvSpPr>
            <p:nvPr/>
          </p:nvSpPr>
          <p:spPr bwMode="auto">
            <a:xfrm>
              <a:off x="3635375" y="7651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4" name="Oval 6"/>
            <p:cNvSpPr>
              <a:spLocks noChangeArrowheads="1"/>
            </p:cNvSpPr>
            <p:nvPr/>
          </p:nvSpPr>
          <p:spPr bwMode="auto">
            <a:xfrm>
              <a:off x="5148263" y="7651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5" name="Oval 7"/>
            <p:cNvSpPr>
              <a:spLocks noChangeArrowheads="1"/>
            </p:cNvSpPr>
            <p:nvPr/>
          </p:nvSpPr>
          <p:spPr bwMode="auto">
            <a:xfrm>
              <a:off x="4356100" y="155733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16" name="Line 8"/>
            <p:cNvSpPr>
              <a:spLocks noChangeShapeType="1"/>
            </p:cNvSpPr>
            <p:nvPr/>
          </p:nvSpPr>
          <p:spPr bwMode="auto">
            <a:xfrm>
              <a:off x="3708400" y="2349500"/>
              <a:ext cx="14398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7" name="Line 9"/>
            <p:cNvSpPr>
              <a:spLocks noChangeShapeType="1"/>
            </p:cNvSpPr>
            <p:nvPr/>
          </p:nvSpPr>
          <p:spPr bwMode="auto">
            <a:xfrm flipH="1" flipV="1">
              <a:off x="4500563" y="1700213"/>
              <a:ext cx="719137" cy="576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 flipH="1">
              <a:off x="5219700" y="908050"/>
              <a:ext cx="0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 flipH="1">
              <a:off x="3779838" y="836613"/>
              <a:ext cx="1439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0" name="Line 12"/>
            <p:cNvSpPr>
              <a:spLocks noChangeShapeType="1"/>
            </p:cNvSpPr>
            <p:nvPr/>
          </p:nvSpPr>
          <p:spPr bwMode="auto">
            <a:xfrm flipV="1">
              <a:off x="3635375" y="981075"/>
              <a:ext cx="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3779838" y="908050"/>
              <a:ext cx="576262" cy="649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2" name="Line 14"/>
            <p:cNvSpPr>
              <a:spLocks noChangeShapeType="1"/>
            </p:cNvSpPr>
            <p:nvPr/>
          </p:nvSpPr>
          <p:spPr bwMode="auto">
            <a:xfrm flipH="1">
              <a:off x="3708400" y="1700213"/>
              <a:ext cx="647700" cy="576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3" name="Line 15"/>
            <p:cNvSpPr>
              <a:spLocks noChangeShapeType="1"/>
            </p:cNvSpPr>
            <p:nvPr/>
          </p:nvSpPr>
          <p:spPr bwMode="auto">
            <a:xfrm flipV="1">
              <a:off x="4500563" y="908050"/>
              <a:ext cx="647700" cy="649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3024" name="Object 16"/>
            <p:cNvGraphicFramePr>
              <a:graphicFrameLocks noChangeAspect="1"/>
            </p:cNvGraphicFramePr>
            <p:nvPr/>
          </p:nvGraphicFramePr>
          <p:xfrm>
            <a:off x="3246048" y="2189957"/>
            <a:ext cx="36353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4" name="Equation" r:id="rId1" imgW="3352800" imgH="5486400" progId="Equation.DSMT4">
                    <p:embed/>
                  </p:oleObj>
                </mc:Choice>
                <mc:Fallback>
                  <p:oleObj name="Equation" r:id="rId1" imgW="3352800" imgH="54864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6048" y="2189957"/>
                          <a:ext cx="36353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5" name="Object 17"/>
            <p:cNvGraphicFramePr>
              <a:graphicFrameLocks noChangeAspect="1"/>
            </p:cNvGraphicFramePr>
            <p:nvPr/>
          </p:nvGraphicFramePr>
          <p:xfrm>
            <a:off x="5364163" y="2110582"/>
            <a:ext cx="396875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5" name="Equation" r:id="rId3" imgW="3657600" imgH="5486400" progId="Equation.DSMT4">
                    <p:embed/>
                  </p:oleObj>
                </mc:Choice>
                <mc:Fallback>
                  <p:oleObj name="Equation" r:id="rId3" imgW="3657600" imgH="54864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4163" y="2110582"/>
                          <a:ext cx="396875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6" name="Object 18"/>
            <p:cNvGraphicFramePr>
              <a:graphicFrameLocks noChangeAspect="1"/>
            </p:cNvGraphicFramePr>
            <p:nvPr/>
          </p:nvGraphicFramePr>
          <p:xfrm>
            <a:off x="5260368" y="467086"/>
            <a:ext cx="396875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6" name="Equation" r:id="rId5" imgW="3657600" imgH="5486400" progId="Equation.DSMT4">
                    <p:embed/>
                  </p:oleObj>
                </mc:Choice>
                <mc:Fallback>
                  <p:oleObj name="Equation" r:id="rId5" imgW="3657600" imgH="54864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0368" y="467086"/>
                          <a:ext cx="396875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7" name="Object 19"/>
            <p:cNvGraphicFramePr>
              <a:graphicFrameLocks noChangeAspect="1"/>
            </p:cNvGraphicFramePr>
            <p:nvPr/>
          </p:nvGraphicFramePr>
          <p:xfrm>
            <a:off x="3251619" y="542130"/>
            <a:ext cx="398462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7" name="Equation" r:id="rId7" imgW="3657600" imgH="5486400" progId="Equation.DSMT4">
                    <p:embed/>
                  </p:oleObj>
                </mc:Choice>
                <mc:Fallback>
                  <p:oleObj name="Equation" r:id="rId7" imgW="3657600" imgH="54864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1619" y="542130"/>
                          <a:ext cx="398462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8" name="Object 20"/>
            <p:cNvGraphicFramePr>
              <a:graphicFrameLocks noChangeAspect="1"/>
            </p:cNvGraphicFramePr>
            <p:nvPr/>
          </p:nvGraphicFramePr>
          <p:xfrm>
            <a:off x="4260777" y="967581"/>
            <a:ext cx="396875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8" name="Equation" r:id="rId9" imgW="3657600" imgH="5486400" progId="Equation.DSMT4">
                    <p:embed/>
                  </p:oleObj>
                </mc:Choice>
                <mc:Fallback>
                  <p:oleObj name="Equation" r:id="rId9" imgW="3657600" imgH="54864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0777" y="967581"/>
                          <a:ext cx="396875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3029" name="Object 21"/>
          <p:cNvGraphicFramePr>
            <a:graphicFrameLocks noChangeAspect="1"/>
          </p:cNvGraphicFramePr>
          <p:nvPr/>
        </p:nvGraphicFramePr>
        <p:xfrm>
          <a:off x="2319467" y="3654064"/>
          <a:ext cx="3798220" cy="2666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9" name="Equation" r:id="rId11" imgW="33832800" imgH="27432000" progId="Equation.DSMT4">
                  <p:embed/>
                </p:oleObj>
              </mc:Choice>
              <mc:Fallback>
                <p:oleObj name="Equation" r:id="rId11" imgW="33832800" imgH="274320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467" y="3654064"/>
                        <a:ext cx="3798220" cy="2666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E3483F3B-2AF6-4443-A120-161B3E8403C2}" type="slidenum">
              <a:rPr lang="en-US" altLang="zh-CN" smtClean="0"/>
            </a:fld>
            <a:endParaRPr lang="en-US" altLang="zh-CN"/>
          </a:p>
        </p:txBody>
      </p:sp>
      <p:sp>
        <p:nvSpPr>
          <p:cNvPr id="44034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endParaRPr lang="en-US" altLang="zh-CN">
              <a:latin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44035" name="Object 3"/>
          <p:cNvGraphicFramePr>
            <a:graphicFrameLocks noChangeAspect="1"/>
          </p:cNvGraphicFramePr>
          <p:nvPr/>
        </p:nvGraphicFramePr>
        <p:xfrm>
          <a:off x="1475656" y="1239175"/>
          <a:ext cx="5844622" cy="2519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0" name="Equation" r:id="rId1" imgW="63093600" imgH="27432000" progId="Equation.DSMT4">
                  <p:embed/>
                </p:oleObj>
              </mc:Choice>
              <mc:Fallback>
                <p:oleObj name="Equation" r:id="rId1" imgW="63093600" imgH="27432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239175"/>
                        <a:ext cx="5844622" cy="25195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6" name="Line 4"/>
          <p:cNvSpPr>
            <a:spLocks noChangeShapeType="1"/>
          </p:cNvSpPr>
          <p:nvPr/>
        </p:nvSpPr>
        <p:spPr bwMode="auto">
          <a:xfrm>
            <a:off x="2339752" y="1700808"/>
            <a:ext cx="2303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auto">
          <a:xfrm>
            <a:off x="5004048" y="1340768"/>
            <a:ext cx="0" cy="24179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4038" name="Object 6"/>
          <p:cNvGraphicFramePr>
            <a:graphicFrameLocks noChangeAspect="1"/>
          </p:cNvGraphicFramePr>
          <p:nvPr/>
        </p:nvGraphicFramePr>
        <p:xfrm>
          <a:off x="1907704" y="3787082"/>
          <a:ext cx="2875624" cy="259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" name="Equation" r:id="rId3" imgW="30175200" imgH="27432000" progId="Equation.DSMT4">
                  <p:embed/>
                </p:oleObj>
              </mc:Choice>
              <mc:Fallback>
                <p:oleObj name="Equation" r:id="rId3" imgW="30175200" imgH="27432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3787082"/>
                        <a:ext cx="2875624" cy="259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E3483F3B-2AF6-4443-A120-161B3E8403C2}" type="slidenum">
              <a:rPr lang="en-US" altLang="zh-CN" smtClean="0"/>
            </a:fld>
            <a:endParaRPr lang="en-US" altLang="zh-CN"/>
          </a:p>
        </p:txBody>
      </p:sp>
      <p:sp>
        <p:nvSpPr>
          <p:cNvPr id="45058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endParaRPr lang="en-US" altLang="zh-CN"/>
          </a:p>
          <a:p>
            <a:endParaRPr lang="en-US" altLang="zh-CN"/>
          </a:p>
        </p:txBody>
      </p:sp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559246" y="2071687"/>
          <a:ext cx="3833813" cy="294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4" name="Equation" r:id="rId1" imgW="35356800" imgH="27432000" progId="Equation.DSMT4">
                  <p:embed/>
                </p:oleObj>
              </mc:Choice>
              <mc:Fallback>
                <p:oleObj name="Equation" r:id="rId1" imgW="35356800" imgH="27432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246" y="2071687"/>
                        <a:ext cx="3833813" cy="294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0" name="Object 4"/>
          <p:cNvGraphicFramePr>
            <a:graphicFrameLocks noChangeAspect="1"/>
          </p:cNvGraphicFramePr>
          <p:nvPr/>
        </p:nvGraphicFramePr>
        <p:xfrm>
          <a:off x="4716016" y="2071688"/>
          <a:ext cx="3868738" cy="294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" name="Equation" r:id="rId3" imgW="35661600" imgH="27432000" progId="Equation.DSMT4">
                  <p:embed/>
                </p:oleObj>
              </mc:Choice>
              <mc:Fallback>
                <p:oleObj name="Equation" r:id="rId3" imgW="35661600" imgH="27432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2071688"/>
                        <a:ext cx="3868738" cy="294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Line 5"/>
          <p:cNvSpPr>
            <a:spLocks noChangeShapeType="1"/>
          </p:cNvSpPr>
          <p:nvPr/>
        </p:nvSpPr>
        <p:spPr bwMode="auto">
          <a:xfrm>
            <a:off x="1708885" y="2284412"/>
            <a:ext cx="2503075" cy="258474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  <a:endParaRPr lang="zh-CN" altLang="en-US" b="1">
              <a:solidFill>
                <a:schemeClr val="tx1"/>
              </a:solidFill>
            </a:endParaRP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167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图的邻接矩阵</a:t>
              </a:r>
              <a:endParaRPr kumimoji="0"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78214"/>
            <a:ext cx="5437188" cy="631826"/>
            <a:chOff x="1135" y="1117"/>
            <a:chExt cx="3425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167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图的可达矩阵</a:t>
              </a:r>
              <a:endParaRPr kumimoji="0" lang="zh-CN" altLang="en-US" b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640" y="1086"/>
              <a:ext cx="167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图的关联矩阵</a:t>
              </a:r>
              <a:endPara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rrowheads="1"/>
          </p:cNvSpPr>
          <p:nvPr>
            <p:ph/>
          </p:nvPr>
        </p:nvSpPr>
        <p:spPr>
          <a:xfrm>
            <a:off x="107504" y="1268760"/>
            <a:ext cx="8928992" cy="532859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2.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图的可达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(accessible)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矩阵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 图的可达矩阵表示图中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节点间的可达关系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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),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}.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其中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p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= 1,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华文新魏" panose="02010800040101010101" charset="-12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可达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否则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p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= 0, 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= 1, 2, …,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46083" name="Object 3"/>
          <p:cNvGraphicFramePr>
            <a:graphicFrameLocks noChangeAspect="1"/>
          </p:cNvGraphicFramePr>
          <p:nvPr/>
        </p:nvGraphicFramePr>
        <p:xfrm>
          <a:off x="1763688" y="3356992"/>
          <a:ext cx="4536504" cy="241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" name="Equation" r:id="rId1" imgW="43281600" imgH="22555200" progId="Equation.DSMT4">
                  <p:embed/>
                </p:oleObj>
              </mc:Choice>
              <mc:Fallback>
                <p:oleObj name="Equation" r:id="rId1" imgW="43281600" imgH="22555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356992"/>
                        <a:ext cx="4536504" cy="241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E3483F3B-2AF6-4443-A120-161B3E8403C2}" type="slidenum">
              <a:rPr lang="en-US" altLang="zh-CN" smtClean="0"/>
            </a:fld>
            <a:endParaRPr lang="en-US" altLang="zh-CN"/>
          </a:p>
        </p:txBody>
      </p:sp>
      <p:sp>
        <p:nvSpPr>
          <p:cNvPr id="47106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38250"/>
            <a:ext cx="8459788" cy="5214938"/>
          </a:xfrm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18" charset="0"/>
                <a:ea typeface="华文新魏" panose="02010800040101010101" charset="-122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charset="-122"/>
              </a:rPr>
              <a:t>6-7</a:t>
            </a:r>
            <a:endParaRPr lang="en-US" altLang="zh-CN" b="1" dirty="0"/>
          </a:p>
        </p:txBody>
      </p:sp>
      <p:grpSp>
        <p:nvGrpSpPr>
          <p:cNvPr id="2" name="组合 1"/>
          <p:cNvGrpSpPr/>
          <p:nvPr/>
        </p:nvGrpSpPr>
        <p:grpSpPr>
          <a:xfrm>
            <a:off x="1259632" y="2492896"/>
            <a:ext cx="2808312" cy="2520280"/>
            <a:chOff x="3286125" y="479033"/>
            <a:chExt cx="2460438" cy="2302268"/>
          </a:xfrm>
        </p:grpSpPr>
        <p:sp>
          <p:nvSpPr>
            <p:cNvPr id="47107" name="Oval 3"/>
            <p:cNvSpPr>
              <a:spLocks noChangeArrowheads="1"/>
            </p:cNvSpPr>
            <p:nvPr/>
          </p:nvSpPr>
          <p:spPr bwMode="auto">
            <a:xfrm>
              <a:off x="3563938" y="22764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08" name="Oval 4"/>
            <p:cNvSpPr>
              <a:spLocks noChangeArrowheads="1"/>
            </p:cNvSpPr>
            <p:nvPr/>
          </p:nvSpPr>
          <p:spPr bwMode="auto">
            <a:xfrm>
              <a:off x="5219700" y="23495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09" name="Oval 5"/>
            <p:cNvSpPr>
              <a:spLocks noChangeArrowheads="1"/>
            </p:cNvSpPr>
            <p:nvPr/>
          </p:nvSpPr>
          <p:spPr bwMode="auto">
            <a:xfrm>
              <a:off x="3635375" y="765175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0" name="Oval 6"/>
            <p:cNvSpPr>
              <a:spLocks noChangeArrowheads="1"/>
            </p:cNvSpPr>
            <p:nvPr/>
          </p:nvSpPr>
          <p:spPr bwMode="auto">
            <a:xfrm>
              <a:off x="5148263" y="765175"/>
              <a:ext cx="144462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1" name="Oval 7"/>
            <p:cNvSpPr>
              <a:spLocks noChangeArrowheads="1"/>
            </p:cNvSpPr>
            <p:nvPr/>
          </p:nvSpPr>
          <p:spPr bwMode="auto">
            <a:xfrm>
              <a:off x="4356100" y="1557338"/>
              <a:ext cx="144463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2" name="Line 8"/>
            <p:cNvSpPr>
              <a:spLocks noChangeShapeType="1"/>
            </p:cNvSpPr>
            <p:nvPr/>
          </p:nvSpPr>
          <p:spPr bwMode="auto">
            <a:xfrm>
              <a:off x="3708400" y="2349500"/>
              <a:ext cx="14398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3" name="Line 9"/>
            <p:cNvSpPr>
              <a:spLocks noChangeShapeType="1"/>
            </p:cNvSpPr>
            <p:nvPr/>
          </p:nvSpPr>
          <p:spPr bwMode="auto">
            <a:xfrm flipH="1" flipV="1">
              <a:off x="4500563" y="1700213"/>
              <a:ext cx="719137" cy="576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4" name="Line 10"/>
            <p:cNvSpPr>
              <a:spLocks noChangeShapeType="1"/>
            </p:cNvSpPr>
            <p:nvPr/>
          </p:nvSpPr>
          <p:spPr bwMode="auto">
            <a:xfrm flipH="1">
              <a:off x="5219700" y="908050"/>
              <a:ext cx="0" cy="129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5" name="Line 11"/>
            <p:cNvSpPr>
              <a:spLocks noChangeShapeType="1"/>
            </p:cNvSpPr>
            <p:nvPr/>
          </p:nvSpPr>
          <p:spPr bwMode="auto">
            <a:xfrm flipH="1">
              <a:off x="3779838" y="836613"/>
              <a:ext cx="1439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6" name="Line 12"/>
            <p:cNvSpPr>
              <a:spLocks noChangeShapeType="1"/>
            </p:cNvSpPr>
            <p:nvPr/>
          </p:nvSpPr>
          <p:spPr bwMode="auto">
            <a:xfrm flipV="1">
              <a:off x="3635375" y="981075"/>
              <a:ext cx="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7" name="Line 13"/>
            <p:cNvSpPr>
              <a:spLocks noChangeShapeType="1"/>
            </p:cNvSpPr>
            <p:nvPr/>
          </p:nvSpPr>
          <p:spPr bwMode="auto">
            <a:xfrm>
              <a:off x="3779838" y="908050"/>
              <a:ext cx="576262" cy="649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8" name="Line 14"/>
            <p:cNvSpPr>
              <a:spLocks noChangeShapeType="1"/>
            </p:cNvSpPr>
            <p:nvPr/>
          </p:nvSpPr>
          <p:spPr bwMode="auto">
            <a:xfrm flipH="1">
              <a:off x="3708400" y="1700213"/>
              <a:ext cx="647700" cy="576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9" name="Line 15"/>
            <p:cNvSpPr>
              <a:spLocks noChangeShapeType="1"/>
            </p:cNvSpPr>
            <p:nvPr/>
          </p:nvSpPr>
          <p:spPr bwMode="auto">
            <a:xfrm flipV="1">
              <a:off x="4500563" y="908050"/>
              <a:ext cx="647700" cy="649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7120" name="Object 16"/>
            <p:cNvGraphicFramePr>
              <a:graphicFrameLocks noChangeAspect="1"/>
            </p:cNvGraphicFramePr>
            <p:nvPr/>
          </p:nvGraphicFramePr>
          <p:xfrm>
            <a:off x="3286125" y="2154238"/>
            <a:ext cx="36353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50" name="Equation" r:id="rId1" imgW="3352800" imgH="5486400" progId="Equation.DSMT4">
                    <p:embed/>
                  </p:oleObj>
                </mc:Choice>
                <mc:Fallback>
                  <p:oleObj name="Equation" r:id="rId1" imgW="3352800" imgH="54864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6125" y="2154238"/>
                          <a:ext cx="36353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21" name="Object 17"/>
            <p:cNvGraphicFramePr>
              <a:graphicFrameLocks noChangeAspect="1"/>
            </p:cNvGraphicFramePr>
            <p:nvPr/>
          </p:nvGraphicFramePr>
          <p:xfrm>
            <a:off x="5349688" y="2190751"/>
            <a:ext cx="396875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51" name="Equation" r:id="rId3" imgW="3657600" imgH="5486400" progId="Equation.DSMT4">
                    <p:embed/>
                  </p:oleObj>
                </mc:Choice>
                <mc:Fallback>
                  <p:oleObj name="Equation" r:id="rId3" imgW="3657600" imgH="54864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9688" y="2190751"/>
                          <a:ext cx="396875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22" name="Object 18"/>
            <p:cNvGraphicFramePr>
              <a:graphicFrameLocks noChangeAspect="1"/>
            </p:cNvGraphicFramePr>
            <p:nvPr/>
          </p:nvGraphicFramePr>
          <p:xfrm>
            <a:off x="5221057" y="479033"/>
            <a:ext cx="396875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52" name="Equation" r:id="rId5" imgW="3657600" imgH="5486400" progId="Equation.DSMT4">
                    <p:embed/>
                  </p:oleObj>
                </mc:Choice>
                <mc:Fallback>
                  <p:oleObj name="Equation" r:id="rId5" imgW="3657600" imgH="54864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1057" y="479033"/>
                          <a:ext cx="396875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23" name="Object 19"/>
            <p:cNvGraphicFramePr>
              <a:graphicFrameLocks noChangeAspect="1"/>
            </p:cNvGraphicFramePr>
            <p:nvPr/>
          </p:nvGraphicFramePr>
          <p:xfrm>
            <a:off x="3286125" y="486569"/>
            <a:ext cx="396875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53" name="Equation" r:id="rId7" imgW="3657600" imgH="5486400" progId="Equation.DSMT4">
                    <p:embed/>
                  </p:oleObj>
                </mc:Choice>
                <mc:Fallback>
                  <p:oleObj name="Equation" r:id="rId7" imgW="3657600" imgH="54864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6125" y="486569"/>
                          <a:ext cx="396875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24" name="Object 20"/>
            <p:cNvGraphicFramePr>
              <a:graphicFrameLocks noChangeAspect="1"/>
            </p:cNvGraphicFramePr>
            <p:nvPr/>
          </p:nvGraphicFramePr>
          <p:xfrm>
            <a:off x="4266407" y="997745"/>
            <a:ext cx="396875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54" name="Equation" r:id="rId9" imgW="3657600" imgH="5486400" progId="Equation.DSMT4">
                    <p:embed/>
                  </p:oleObj>
                </mc:Choice>
                <mc:Fallback>
                  <p:oleObj name="Equation" r:id="rId9" imgW="3657600" imgH="54864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6407" y="997745"/>
                          <a:ext cx="396875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7125" name="Object 21"/>
          <p:cNvGraphicFramePr>
            <a:graphicFrameLocks noChangeAspect="1"/>
          </p:cNvGraphicFramePr>
          <p:nvPr/>
        </p:nvGraphicFramePr>
        <p:xfrm>
          <a:off x="4704846" y="2369407"/>
          <a:ext cx="3552911" cy="294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5" name="Equation" r:id="rId11" imgW="30175200" imgH="27432000" progId="Equation.DSMT4">
                  <p:embed/>
                </p:oleObj>
              </mc:Choice>
              <mc:Fallback>
                <p:oleObj name="Equation" r:id="rId11" imgW="30175200" imgH="274320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4846" y="2369407"/>
                        <a:ext cx="3552911" cy="294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E3483F3B-2AF6-4443-A120-161B3E8403C2}" type="slidenum">
              <a:rPr lang="en-US" altLang="zh-CN" smtClean="0"/>
            </a:fld>
            <a:endParaRPr lang="en-US" altLang="zh-CN"/>
          </a:p>
        </p:txBody>
      </p:sp>
      <p:sp>
        <p:nvSpPr>
          <p:cNvPr id="48130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容易由图的邻接矩阵得出其可达矩阵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一个非常有效的算法是</a:t>
            </a:r>
            <a:r>
              <a:rPr lang="en-US" altLang="zh-CN" dirty="0" err="1">
                <a:latin typeface="Times New Roman" panose="02020603050405020304" pitchFamily="18" charset="0"/>
                <a:ea typeface="华文新魏" panose="02010800040101010101" charset="-122"/>
              </a:rPr>
              <a:t>Warshall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算法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根据可达矩阵的定义知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P(G)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中所有主对角线上的元素全为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1,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这是由于任意节点可达自身所致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更容易从图的可达矩阵得出图的连通性质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8013" y="1341438"/>
            <a:ext cx="2587625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本讲内容</a:t>
            </a:r>
            <a:endParaRPr lang="zh-CN" altLang="en-US" b="1">
              <a:solidFill>
                <a:schemeClr val="tx1"/>
              </a:solidFill>
            </a:endParaRPr>
          </a:p>
        </p:txBody>
      </p:sp>
      <p:grpSp>
        <p:nvGrpSpPr>
          <p:cNvPr id="8195" name="Group 4"/>
          <p:cNvGrpSpPr/>
          <p:nvPr/>
        </p:nvGrpSpPr>
        <p:grpSpPr bwMode="auto">
          <a:xfrm>
            <a:off x="1646238" y="2566988"/>
            <a:ext cx="5435600" cy="608012"/>
            <a:chOff x="1136" y="1132"/>
            <a:chExt cx="3424" cy="383"/>
          </a:xfrm>
        </p:grpSpPr>
        <p:sp>
          <p:nvSpPr>
            <p:cNvPr id="8208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9" name="Text Box 10"/>
            <p:cNvSpPr txBox="1">
              <a:spLocks noChangeArrowheads="1"/>
            </p:cNvSpPr>
            <p:nvPr/>
          </p:nvSpPr>
          <p:spPr bwMode="auto">
            <a:xfrm>
              <a:off x="1640" y="1145"/>
              <a:ext cx="167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图的邻接矩阵</a:t>
              </a:r>
              <a:endParaRPr kumimoji="0"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8210" name="Text Box 11"/>
            <p:cNvSpPr txBox="1">
              <a:spLocks noChangeArrowheads="1"/>
            </p:cNvSpPr>
            <p:nvPr/>
          </p:nvSpPr>
          <p:spPr bwMode="gray">
            <a:xfrm>
              <a:off x="1136" y="1132"/>
              <a:ext cx="5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6" name="Group 4"/>
          <p:cNvGrpSpPr/>
          <p:nvPr/>
        </p:nvGrpSpPr>
        <p:grpSpPr bwMode="auto">
          <a:xfrm>
            <a:off x="1655763" y="3478214"/>
            <a:ext cx="5437188" cy="631826"/>
            <a:chOff x="1135" y="1117"/>
            <a:chExt cx="3425" cy="398"/>
          </a:xfrm>
        </p:grpSpPr>
        <p:sp>
          <p:nvSpPr>
            <p:cNvPr id="8205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6" name="Text Box 10"/>
            <p:cNvSpPr txBox="1">
              <a:spLocks noChangeArrowheads="1"/>
            </p:cNvSpPr>
            <p:nvPr/>
          </p:nvSpPr>
          <p:spPr bwMode="auto">
            <a:xfrm>
              <a:off x="1632" y="1117"/>
              <a:ext cx="167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None/>
              </a:pPr>
              <a:r>
                <a:rPr kumimoji="0" lang="zh-CN" altLang="en-US" b="1" dirty="0">
                  <a:ea typeface="宋体" panose="02010600030101010101" pitchFamily="2" charset="-122"/>
                </a:rPr>
                <a:t>图的可达矩阵</a:t>
              </a:r>
              <a:endParaRPr kumimoji="0" lang="zh-CN" altLang="en-US" b="1" dirty="0">
                <a:ea typeface="宋体" panose="02010600030101010101" pitchFamily="2" charset="-122"/>
              </a:endParaRPr>
            </a:p>
          </p:txBody>
        </p:sp>
        <p:sp>
          <p:nvSpPr>
            <p:cNvPr id="8207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97" name="Group 4"/>
          <p:cNvGrpSpPr/>
          <p:nvPr/>
        </p:nvGrpSpPr>
        <p:grpSpPr bwMode="auto">
          <a:xfrm>
            <a:off x="1655763" y="4437063"/>
            <a:ext cx="5437187" cy="681037"/>
            <a:chOff x="1135" y="1086"/>
            <a:chExt cx="3425" cy="429"/>
          </a:xfrm>
        </p:grpSpPr>
        <p:sp>
          <p:nvSpPr>
            <p:cNvPr id="8202" name="Line 9"/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03" name="Text Box 10"/>
            <p:cNvSpPr txBox="1">
              <a:spLocks noChangeArrowheads="1"/>
            </p:cNvSpPr>
            <p:nvPr/>
          </p:nvSpPr>
          <p:spPr bwMode="auto">
            <a:xfrm>
              <a:off x="1640" y="1086"/>
              <a:ext cx="167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图的关联矩阵</a:t>
              </a:r>
              <a:endPara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04" name="Text Box 11"/>
            <p:cNvSpPr txBox="1">
              <a:spLocks noChangeArrowheads="1"/>
            </p:cNvSpPr>
            <p:nvPr/>
          </p:nvSpPr>
          <p:spPr bwMode="gray">
            <a:xfrm>
              <a:off x="1135" y="1132"/>
              <a:ext cx="50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kumimoji="0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endParaRPr kumimoji="0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E3483F3B-2AF6-4443-A120-161B3E8403C2}" type="slidenum">
              <a:rPr lang="en-US" altLang="zh-CN" smtClean="0"/>
            </a:fld>
            <a:endParaRPr lang="en-US" altLang="zh-CN"/>
          </a:p>
        </p:txBody>
      </p:sp>
      <p:sp>
        <p:nvSpPr>
          <p:cNvPr id="49154" name="Rectangle 2"/>
          <p:cNvSpPr>
            <a:spLocks noGrp="1" noRot="1" noChangeArrowheads="1"/>
          </p:cNvSpPr>
          <p:nvPr>
            <p:ph/>
          </p:nvPr>
        </p:nvSpPr>
        <p:spPr>
          <a:xfrm>
            <a:off x="342106" y="1159983"/>
            <a:ext cx="8459788" cy="5328592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3.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图的关联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(incidence)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矩阵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图的关联矩阵表示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节点与边之间的关联关系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无向图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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无向图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对节点编号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},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对边编号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}.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   其中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m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ij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v</a:t>
            </a:r>
            <a:r>
              <a:rPr lang="en-US" altLang="zh-CN" i="1" baseline="-25000" dirty="0">
                <a:latin typeface="Times New Roman" panose="02020603050405020304" pitchFamily="18" charset="0"/>
                <a:ea typeface="华文新魏" panose="02010800040101010101" charset="-12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与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e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的关联次数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49155" name="Object 3"/>
          <p:cNvGraphicFramePr>
            <a:graphicFrameLocks noChangeAspect="1"/>
          </p:cNvGraphicFramePr>
          <p:nvPr/>
        </p:nvGraphicFramePr>
        <p:xfrm>
          <a:off x="3347864" y="4891708"/>
          <a:ext cx="2776909" cy="697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Equation" r:id="rId1" imgW="24688800" imgH="7010400" progId="Equation.DSMT4">
                  <p:embed/>
                </p:oleObj>
              </mc:Choice>
              <mc:Fallback>
                <p:oleObj name="Equation" r:id="rId1" imgW="24688800" imgH="7010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4891708"/>
                        <a:ext cx="2776909" cy="697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E3483F3B-2AF6-4443-A120-161B3E8403C2}" type="slidenum">
              <a:rPr lang="en-US" altLang="zh-CN" smtClean="0"/>
            </a:fld>
            <a:endParaRPr lang="en-US" altLang="zh-CN"/>
          </a:p>
        </p:txBody>
      </p:sp>
      <p:sp>
        <p:nvSpPr>
          <p:cNvPr id="50178" name="Rectangle 2"/>
          <p:cNvSpPr>
            <a:spLocks noGrp="1" noRot="1" noChangeArrowheads="1"/>
          </p:cNvSpPr>
          <p:nvPr>
            <p:ph/>
          </p:nvPr>
        </p:nvSpPr>
        <p:spPr/>
        <p:txBody>
          <a:bodyPr/>
          <a:lstStyle/>
          <a:p>
            <a:endParaRPr lang="en-US" altLang="zh-CN"/>
          </a:p>
          <a:p>
            <a:endParaRPr lang="en-US" altLang="zh-CN"/>
          </a:p>
        </p:txBody>
      </p:sp>
      <p:grpSp>
        <p:nvGrpSpPr>
          <p:cNvPr id="2" name="组合 1"/>
          <p:cNvGrpSpPr/>
          <p:nvPr/>
        </p:nvGrpSpPr>
        <p:grpSpPr>
          <a:xfrm>
            <a:off x="1077913" y="1916832"/>
            <a:ext cx="2846388" cy="3431205"/>
            <a:chOff x="1314450" y="180975"/>
            <a:chExt cx="2846388" cy="3431205"/>
          </a:xfrm>
        </p:grpSpPr>
        <p:sp>
          <p:nvSpPr>
            <p:cNvPr id="50179" name="Oval 3"/>
            <p:cNvSpPr>
              <a:spLocks noChangeArrowheads="1"/>
            </p:cNvSpPr>
            <p:nvPr/>
          </p:nvSpPr>
          <p:spPr bwMode="auto">
            <a:xfrm>
              <a:off x="1692275" y="90805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0" name="Oval 4"/>
            <p:cNvSpPr>
              <a:spLocks noChangeArrowheads="1"/>
            </p:cNvSpPr>
            <p:nvPr/>
          </p:nvSpPr>
          <p:spPr bwMode="auto">
            <a:xfrm>
              <a:off x="3276600" y="90805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0181" name="Object 5"/>
            <p:cNvGraphicFramePr>
              <a:graphicFrameLocks noChangeAspect="1"/>
            </p:cNvGraphicFramePr>
            <p:nvPr/>
          </p:nvGraphicFramePr>
          <p:xfrm>
            <a:off x="1416441" y="784226"/>
            <a:ext cx="363537" cy="588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6" name="Equation" r:id="rId1" imgW="3352800" imgH="5486400" progId="Equation.DSMT4">
                    <p:embed/>
                  </p:oleObj>
                </mc:Choice>
                <mc:Fallback>
                  <p:oleObj name="Equation" r:id="rId1" imgW="3352800" imgH="54864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6441" y="784226"/>
                          <a:ext cx="363537" cy="588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82" name="Oval 6"/>
            <p:cNvSpPr>
              <a:spLocks noChangeArrowheads="1"/>
            </p:cNvSpPr>
            <p:nvPr/>
          </p:nvSpPr>
          <p:spPr bwMode="auto">
            <a:xfrm>
              <a:off x="1692275" y="2565400"/>
              <a:ext cx="144463" cy="14446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3" name="Oval 7"/>
            <p:cNvSpPr>
              <a:spLocks noChangeArrowheads="1"/>
            </p:cNvSpPr>
            <p:nvPr/>
          </p:nvSpPr>
          <p:spPr bwMode="auto">
            <a:xfrm>
              <a:off x="3275013" y="2563813"/>
              <a:ext cx="144462" cy="14446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188" name="Freeform 12"/>
            <p:cNvSpPr/>
            <p:nvPr/>
          </p:nvSpPr>
          <p:spPr bwMode="auto">
            <a:xfrm>
              <a:off x="3295650" y="1033463"/>
              <a:ext cx="441325" cy="1512887"/>
            </a:xfrm>
            <a:custGeom>
              <a:avLst/>
              <a:gdLst>
                <a:gd name="T0" fmla="*/ 0 w 188"/>
                <a:gd name="T1" fmla="*/ 0 h 953"/>
                <a:gd name="T2" fmla="*/ 181 w 188"/>
                <a:gd name="T3" fmla="*/ 408 h 953"/>
                <a:gd name="T4" fmla="*/ 45 w 188"/>
                <a:gd name="T5" fmla="*/ 953 h 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953">
                  <a:moveTo>
                    <a:pt x="0" y="0"/>
                  </a:moveTo>
                  <a:cubicBezTo>
                    <a:pt x="87" y="124"/>
                    <a:pt x="174" y="249"/>
                    <a:pt x="181" y="408"/>
                  </a:cubicBezTo>
                  <a:cubicBezTo>
                    <a:pt x="188" y="567"/>
                    <a:pt x="68" y="862"/>
                    <a:pt x="45" y="95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9" name="Freeform 13"/>
            <p:cNvSpPr/>
            <p:nvPr/>
          </p:nvSpPr>
          <p:spPr bwMode="auto">
            <a:xfrm>
              <a:off x="2987675" y="1052513"/>
              <a:ext cx="371475" cy="1584325"/>
            </a:xfrm>
            <a:custGeom>
              <a:avLst/>
              <a:gdLst>
                <a:gd name="T0" fmla="*/ 234 w 234"/>
                <a:gd name="T1" fmla="*/ 998 h 998"/>
                <a:gd name="T2" fmla="*/ 7 w 234"/>
                <a:gd name="T3" fmla="*/ 499 h 998"/>
                <a:gd name="T4" fmla="*/ 189 w 234"/>
                <a:gd name="T5" fmla="*/ 0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4" h="998">
                  <a:moveTo>
                    <a:pt x="234" y="998"/>
                  </a:moveTo>
                  <a:cubicBezTo>
                    <a:pt x="124" y="831"/>
                    <a:pt x="14" y="665"/>
                    <a:pt x="7" y="499"/>
                  </a:cubicBezTo>
                  <a:cubicBezTo>
                    <a:pt x="0" y="333"/>
                    <a:pt x="94" y="166"/>
                    <a:pt x="189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0" name="Line 14"/>
            <p:cNvSpPr>
              <a:spLocks noChangeShapeType="1"/>
            </p:cNvSpPr>
            <p:nvPr/>
          </p:nvSpPr>
          <p:spPr bwMode="auto">
            <a:xfrm>
              <a:off x="1763713" y="2636838"/>
              <a:ext cx="1584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1" name="Line 15"/>
            <p:cNvSpPr>
              <a:spLocks noChangeShapeType="1"/>
            </p:cNvSpPr>
            <p:nvPr/>
          </p:nvSpPr>
          <p:spPr bwMode="auto">
            <a:xfrm flipV="1">
              <a:off x="1763713" y="1052513"/>
              <a:ext cx="0" cy="1584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0198" name="Object 22"/>
            <p:cNvGraphicFramePr>
              <a:graphicFrameLocks noChangeAspect="1"/>
            </p:cNvGraphicFramePr>
            <p:nvPr/>
          </p:nvGraphicFramePr>
          <p:xfrm>
            <a:off x="3404394" y="573882"/>
            <a:ext cx="396875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7" name="Equation" r:id="rId3" imgW="3657600" imgH="5486400" progId="Equation.DSMT4">
                    <p:embed/>
                  </p:oleObj>
                </mc:Choice>
                <mc:Fallback>
                  <p:oleObj name="Equation" r:id="rId3" imgW="3657600" imgH="54864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4394" y="573882"/>
                          <a:ext cx="396875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00" name="Object 24"/>
            <p:cNvGraphicFramePr>
              <a:graphicFrameLocks noChangeAspect="1"/>
            </p:cNvGraphicFramePr>
            <p:nvPr/>
          </p:nvGraphicFramePr>
          <p:xfrm>
            <a:off x="3492499" y="2413000"/>
            <a:ext cx="396875" cy="588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8" name="Equation" r:id="rId5" imgW="3657600" imgH="5486400" progId="Equation.DSMT4">
                    <p:embed/>
                  </p:oleObj>
                </mc:Choice>
                <mc:Fallback>
                  <p:oleObj name="Equation" r:id="rId5" imgW="3657600" imgH="54864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2499" y="2413000"/>
                          <a:ext cx="396875" cy="588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02" name="Object 26"/>
            <p:cNvGraphicFramePr>
              <a:graphicFrameLocks noChangeAspect="1"/>
            </p:cNvGraphicFramePr>
            <p:nvPr/>
          </p:nvGraphicFramePr>
          <p:xfrm>
            <a:off x="1314450" y="2349545"/>
            <a:ext cx="396875" cy="588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89" name="Equation" r:id="rId7" imgW="3657600" imgH="5486400" progId="Equation.DSMT4">
                    <p:embed/>
                  </p:oleObj>
                </mc:Choice>
                <mc:Fallback>
                  <p:oleObj name="Equation" r:id="rId7" imgW="3657600" imgH="54864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4450" y="2349545"/>
                          <a:ext cx="396875" cy="588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04" name="Object 28"/>
            <p:cNvGraphicFramePr>
              <a:graphicFrameLocks noChangeAspect="1"/>
            </p:cNvGraphicFramePr>
            <p:nvPr/>
          </p:nvGraphicFramePr>
          <p:xfrm>
            <a:off x="2468563" y="3023218"/>
            <a:ext cx="463550" cy="588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0" name="Equation" r:id="rId9" imgW="4267200" imgH="5486400" progId="Equation.DSMT4">
                    <p:embed/>
                  </p:oleObj>
                </mc:Choice>
                <mc:Fallback>
                  <p:oleObj name="Equation" r:id="rId9" imgW="4267200" imgH="548640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8563" y="3023218"/>
                          <a:ext cx="463550" cy="588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07" name="Freeform 31"/>
            <p:cNvSpPr/>
            <p:nvPr/>
          </p:nvSpPr>
          <p:spPr bwMode="auto">
            <a:xfrm>
              <a:off x="1365250" y="227013"/>
              <a:ext cx="901700" cy="755650"/>
            </a:xfrm>
            <a:custGeom>
              <a:avLst/>
              <a:gdLst>
                <a:gd name="T0" fmla="*/ 182 w 568"/>
                <a:gd name="T1" fmla="*/ 476 h 476"/>
                <a:gd name="T2" fmla="*/ 0 w 568"/>
                <a:gd name="T3" fmla="*/ 295 h 476"/>
                <a:gd name="T4" fmla="*/ 182 w 568"/>
                <a:gd name="T5" fmla="*/ 23 h 476"/>
                <a:gd name="T6" fmla="*/ 545 w 568"/>
                <a:gd name="T7" fmla="*/ 159 h 476"/>
                <a:gd name="T8" fmla="*/ 318 w 568"/>
                <a:gd name="T9" fmla="*/ 431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8" h="476">
                  <a:moveTo>
                    <a:pt x="182" y="476"/>
                  </a:moveTo>
                  <a:cubicBezTo>
                    <a:pt x="91" y="423"/>
                    <a:pt x="0" y="370"/>
                    <a:pt x="0" y="295"/>
                  </a:cubicBezTo>
                  <a:cubicBezTo>
                    <a:pt x="0" y="220"/>
                    <a:pt x="91" y="46"/>
                    <a:pt x="182" y="23"/>
                  </a:cubicBezTo>
                  <a:cubicBezTo>
                    <a:pt x="273" y="0"/>
                    <a:pt x="522" y="91"/>
                    <a:pt x="545" y="159"/>
                  </a:cubicBezTo>
                  <a:cubicBezTo>
                    <a:pt x="568" y="227"/>
                    <a:pt x="356" y="386"/>
                    <a:pt x="318" y="43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0208" name="Object 32"/>
            <p:cNvGraphicFramePr>
              <a:graphicFrameLocks noChangeAspect="1"/>
            </p:cNvGraphicFramePr>
            <p:nvPr/>
          </p:nvGraphicFramePr>
          <p:xfrm>
            <a:off x="2177904" y="180975"/>
            <a:ext cx="363538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1" name="Equation" r:id="rId11" imgW="3352800" imgH="5486400" progId="Equation.DSMT4">
                    <p:embed/>
                  </p:oleObj>
                </mc:Choice>
                <mc:Fallback>
                  <p:oleObj name="Equation" r:id="rId11" imgW="3352800" imgH="54864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7904" y="180975"/>
                          <a:ext cx="363538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10" name="Object 34"/>
            <p:cNvGraphicFramePr>
              <a:graphicFrameLocks noChangeAspect="1"/>
            </p:cNvGraphicFramePr>
            <p:nvPr/>
          </p:nvGraphicFramePr>
          <p:xfrm>
            <a:off x="3763963" y="1468438"/>
            <a:ext cx="396875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2" name="Equation" r:id="rId13" imgW="3657600" imgH="5486400" progId="Equation.DSMT4">
                    <p:embed/>
                  </p:oleObj>
                </mc:Choice>
                <mc:Fallback>
                  <p:oleObj name="Equation" r:id="rId13" imgW="3657600" imgH="5486400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3963" y="1468438"/>
                          <a:ext cx="396875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12" name="Object 36"/>
            <p:cNvGraphicFramePr>
              <a:graphicFrameLocks noChangeAspect="1"/>
            </p:cNvGraphicFramePr>
            <p:nvPr/>
          </p:nvGraphicFramePr>
          <p:xfrm>
            <a:off x="2650997" y="1477962"/>
            <a:ext cx="396875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3" name="Equation" r:id="rId15" imgW="3657600" imgH="5486400" progId="Equation.DSMT4">
                    <p:embed/>
                  </p:oleObj>
                </mc:Choice>
                <mc:Fallback>
                  <p:oleObj name="Equation" r:id="rId15" imgW="3657600" imgH="5486400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0997" y="1477962"/>
                          <a:ext cx="396875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14" name="Object 38"/>
            <p:cNvGraphicFramePr>
              <a:graphicFrameLocks noChangeAspect="1"/>
            </p:cNvGraphicFramePr>
            <p:nvPr/>
          </p:nvGraphicFramePr>
          <p:xfrm>
            <a:off x="1366838" y="1566092"/>
            <a:ext cx="396875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4" name="Equation" r:id="rId17" imgW="3657600" imgH="5486400" progId="Equation.DSMT4">
                    <p:embed/>
                  </p:oleObj>
                </mc:Choice>
                <mc:Fallback>
                  <p:oleObj name="Equation" r:id="rId17" imgW="3657600" imgH="54864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6838" y="1566092"/>
                          <a:ext cx="396875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16" name="Object 40"/>
            <p:cNvGraphicFramePr>
              <a:graphicFrameLocks noChangeAspect="1"/>
            </p:cNvGraphicFramePr>
            <p:nvPr/>
          </p:nvGraphicFramePr>
          <p:xfrm>
            <a:off x="2303463" y="2115862"/>
            <a:ext cx="396875" cy="590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5" name="Equation" r:id="rId19" imgW="3657600" imgH="5486400" progId="Equation.DSMT4">
                    <p:embed/>
                  </p:oleObj>
                </mc:Choice>
                <mc:Fallback>
                  <p:oleObj name="Equation" r:id="rId19" imgW="3657600" imgH="5486400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3463" y="2115862"/>
                          <a:ext cx="396875" cy="590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50221" name="Picture 45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4534" y="2089567"/>
            <a:ext cx="3799097" cy="268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E3483F3B-2AF6-4443-A120-161B3E8403C2}" type="slidenum">
              <a:rPr lang="en-US" altLang="zh-CN" smtClean="0"/>
            </a:fld>
            <a:endParaRPr lang="en-US" altLang="zh-CN"/>
          </a:p>
        </p:txBody>
      </p:sp>
      <p:sp>
        <p:nvSpPr>
          <p:cNvPr id="51202" name="Rectangle 2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有向图</a:t>
            </a:r>
            <a:endParaRPr lang="zh-CN" altLang="en-US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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无环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(loop)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有向图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= (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),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},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e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  <a:sym typeface="Symbol" panose="05050102010706020507" pitchFamily="18" charset="2"/>
              </a:rPr>
              <a:t>}: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graphicFrame>
        <p:nvGraphicFramePr>
          <p:cNvPr id="51203" name="Object 3"/>
          <p:cNvGraphicFramePr>
            <a:graphicFrameLocks noChangeAspect="1"/>
          </p:cNvGraphicFramePr>
          <p:nvPr/>
        </p:nvGraphicFramePr>
        <p:xfrm>
          <a:off x="3149600" y="3429000"/>
          <a:ext cx="28448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4" name="Equation" r:id="rId1" imgW="26212800" imgH="7010400" progId="Equation.DSMT4">
                  <p:embed/>
                </p:oleObj>
              </mc:Choice>
              <mc:Fallback>
                <p:oleObj name="Equation" r:id="rId1" imgW="26212800" imgH="7010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3429000"/>
                        <a:ext cx="28448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4" name="Object 4"/>
          <p:cNvGraphicFramePr>
            <a:graphicFrameLocks noChangeAspect="1"/>
          </p:cNvGraphicFramePr>
          <p:nvPr/>
        </p:nvGraphicFramePr>
        <p:xfrm>
          <a:off x="2411760" y="4251631"/>
          <a:ext cx="3903662" cy="189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5" name="Equation" r:id="rId3" imgW="35966400" imgH="17678400" progId="Equation.DSMT4">
                  <p:embed/>
                </p:oleObj>
              </mc:Choice>
              <mc:Fallback>
                <p:oleObj name="Equation" r:id="rId3" imgW="35966400" imgH="17678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4251631"/>
                        <a:ext cx="3903662" cy="189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E3483F3B-2AF6-4443-A120-161B3E8403C2}" type="slidenum">
              <a:rPr lang="en-US" altLang="zh-CN" smtClean="0"/>
            </a:fld>
            <a:endParaRPr lang="en-US" altLang="zh-CN"/>
          </a:p>
        </p:txBody>
      </p:sp>
      <p:sp>
        <p:nvSpPr>
          <p:cNvPr id="61444" name="Rectangle 4"/>
          <p:cNvSpPr>
            <a:spLocks noGrp="1" noRot="1" noChangeArrowheads="1"/>
          </p:cNvSpPr>
          <p:nvPr>
            <p:ph/>
          </p:nvPr>
        </p:nvSpPr>
        <p:spPr>
          <a:xfrm>
            <a:off x="323850" y="1268760"/>
            <a:ext cx="8459788" cy="518442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例子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?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图与其关联矩阵是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一一对应的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.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  <p:sp>
        <p:nvSpPr>
          <p:cNvPr id="61447" name="AutoShape 7"/>
          <p:cNvSpPr>
            <a:spLocks noChangeArrowheads="1"/>
          </p:cNvSpPr>
          <p:nvPr/>
        </p:nvSpPr>
        <p:spPr bwMode="auto">
          <a:xfrm>
            <a:off x="3726189" y="3321047"/>
            <a:ext cx="456738" cy="215900"/>
          </a:xfrm>
          <a:prstGeom prst="leftRightArrow">
            <a:avLst>
              <a:gd name="adj1" fmla="val 50000"/>
              <a:gd name="adj2" fmla="val 33309"/>
            </a:avLst>
          </a:prstGeom>
          <a:solidFill>
            <a:srgbClr val="FF0000">
              <a:alpha val="0"/>
            </a:srgbClr>
          </a:solidFill>
          <a:ln w="57150" cmpd="thinThick" algn="ctr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3823" y="2554304"/>
            <a:ext cx="4711625" cy="17493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71" y="2356233"/>
            <a:ext cx="2866867" cy="214552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E3483F3B-2AF6-4443-A120-161B3E8403C2}" type="slidenum">
              <a:rPr lang="en-US" altLang="zh-CN" smtClean="0"/>
            </a:fld>
            <a:endParaRPr lang="en-US" altLang="zh-CN"/>
          </a:p>
        </p:txBody>
      </p:sp>
      <p:sp>
        <p:nvSpPr>
          <p:cNvPr id="52226" name="Rectangle 2"/>
          <p:cNvSpPr>
            <a:spLocks noGrp="1" noRot="1" noChangeArrowheads="1"/>
          </p:cNvSpPr>
          <p:nvPr>
            <p:ph/>
          </p:nvPr>
        </p:nvSpPr>
        <p:spPr>
          <a:xfrm>
            <a:off x="299139" y="1268760"/>
            <a:ext cx="8459788" cy="5184428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图的其他矩阵表示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如距离矩阵、</a:t>
            </a: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路径矩阵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、</a:t>
            </a:r>
            <a:r>
              <a:rPr lang="en-US" altLang="zh-CN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Laplace</a:t>
            </a:r>
            <a:r>
              <a:rPr lang="zh-CN" altLang="en-US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矩阵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、圈矩阵、以及割集矩阵等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可参考如下文献：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1.《</a:t>
            </a:r>
            <a:r>
              <a:rPr lang="zh-CN" altLang="en-US" dirty="0">
                <a:latin typeface="Times New Roman" panose="02020603050405020304" pitchFamily="18" charset="0"/>
                <a:ea typeface="华文新魏" panose="02010800040101010101" charset="-122"/>
              </a:rPr>
              <a:t>电路分析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》.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2.  Ted G. Lewis.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3.《</a:t>
            </a:r>
            <a:r>
              <a:rPr lang="en-US" altLang="zh-CN" i="1" dirty="0">
                <a:solidFill>
                  <a:srgbClr val="003300"/>
                </a:solidFill>
                <a:latin typeface="Times New Roman" panose="02020603050405020304" pitchFamily="18" charset="0"/>
                <a:ea typeface="华文新魏" panose="02010800040101010101" charset="-122"/>
              </a:rPr>
              <a:t>Network Science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:</a:t>
            </a:r>
            <a:r>
              <a:rPr lang="en-US" altLang="zh-CN" i="1" dirty="0">
                <a:latin typeface="Times New Roman" panose="02020603050405020304" pitchFamily="18" charset="0"/>
                <a:ea typeface="华文新魏" panose="02010800040101010101" charset="-122"/>
              </a:rPr>
              <a:t> Theory and Application</a:t>
            </a: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》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新魏" panose="02010800040101010101" charset="-122"/>
              </a:rPr>
              <a:t>   4. John Wiley &amp; Sons, Inc. 2009</a:t>
            </a:r>
            <a:endParaRPr lang="en-US" altLang="zh-CN" dirty="0">
              <a:latin typeface="Times New Roman" panose="02020603050405020304" pitchFamily="18" charset="0"/>
              <a:ea typeface="华文新魏" panose="0201080004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FontTx/>
              <a:buNone/>
              <a:defRPr sz="14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3200" b="1" kern="1200">
                <a:solidFill>
                  <a:srgbClr val="FFFF99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fld id="{4ADB9389-3AFF-490D-81CD-792A5D5C91AD}" type="slidenum">
              <a:rPr lang="en-US" altLang="zh-CN" smtClean="0"/>
            </a:fld>
            <a:endParaRPr lang="en-US" altLang="zh-CN"/>
          </a:p>
        </p:txBody>
      </p:sp>
      <p:sp>
        <p:nvSpPr>
          <p:cNvPr id="34818" name="AutoShape 2"/>
          <p:cNvSpPr>
            <a:spLocks noChangeArrowheads="1"/>
          </p:cNvSpPr>
          <p:nvPr/>
        </p:nvSpPr>
        <p:spPr bwMode="ltGray">
          <a:xfrm rot="5400000">
            <a:off x="-2413000" y="1285875"/>
            <a:ext cx="4824413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6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0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19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-794" y="1252242"/>
            <a:ext cx="1561307" cy="838386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chemeClr val="tx1"/>
                </a:solidFill>
              </a:rPr>
              <a:t>小结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34820" name="Group 4"/>
          <p:cNvGrpSpPr/>
          <p:nvPr/>
        </p:nvGrpSpPr>
        <p:grpSpPr bwMode="auto">
          <a:xfrm>
            <a:off x="1692275" y="2133600"/>
            <a:ext cx="5616575" cy="508000"/>
            <a:chOff x="1419" y="1480"/>
            <a:chExt cx="3575" cy="363"/>
          </a:xfrm>
        </p:grpSpPr>
        <p:grpSp>
          <p:nvGrpSpPr>
            <p:cNvPr id="34821" name="Group 5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4822" name="Oval 6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23" name="AutoShape 7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dirty="0">
                    <a:solidFill>
                      <a:srgbClr val="003300"/>
                    </a:solidFill>
                  </a:rPr>
                  <a:t>图的邻接矩阵</a:t>
                </a:r>
                <a:endParaRPr lang="zh-CN" altLang="en-US" dirty="0">
                  <a:solidFill>
                    <a:srgbClr val="003300"/>
                  </a:solidFill>
                </a:endParaRPr>
              </a:p>
            </p:txBody>
          </p:sp>
        </p:grpSp>
        <p:sp>
          <p:nvSpPr>
            <p:cNvPr id="34824" name="Oval 8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5" name="Oval 9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4826" name="Group 10"/>
          <p:cNvGrpSpPr/>
          <p:nvPr/>
        </p:nvGrpSpPr>
        <p:grpSpPr bwMode="auto">
          <a:xfrm>
            <a:off x="2069502" y="3507564"/>
            <a:ext cx="5181600" cy="508000"/>
            <a:chOff x="1419" y="1480"/>
            <a:chExt cx="3575" cy="363"/>
          </a:xfrm>
        </p:grpSpPr>
        <p:grpSp>
          <p:nvGrpSpPr>
            <p:cNvPr id="34827" name="Group 11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4828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29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dirty="0">
                    <a:solidFill>
                      <a:srgbClr val="003300"/>
                    </a:solidFill>
                  </a:rPr>
                  <a:t>图的可达矩阵</a:t>
                </a:r>
                <a:endParaRPr lang="zh-CN" altLang="en-US" dirty="0">
                  <a:solidFill>
                    <a:srgbClr val="003300"/>
                  </a:solidFill>
                </a:endParaRPr>
              </a:p>
            </p:txBody>
          </p:sp>
        </p:grpSp>
        <p:sp>
          <p:nvSpPr>
            <p:cNvPr id="3483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1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844" name="AutoShape 28"/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latinLnBrk="1">
              <a:spcBef>
                <a:spcPct val="0"/>
              </a:spcBef>
              <a:buFontTx/>
              <a:buNone/>
            </a:pPr>
            <a:endParaRPr kumimoji="1" lang="zh-CN" altLang="zh-CN" sz="2400">
              <a:solidFill>
                <a:schemeClr val="tx2"/>
              </a:solidFill>
              <a:ea typeface="Gulim" panose="020B0600000101010101" pitchFamily="34" charset="-127"/>
            </a:endParaRPr>
          </a:p>
        </p:txBody>
      </p:sp>
      <p:sp>
        <p:nvSpPr>
          <p:cNvPr id="34845" name="AutoShape 29"/>
          <p:cNvSpPr>
            <a:spLocks noChangeArrowheads="1"/>
          </p:cNvSpPr>
          <p:nvPr/>
        </p:nvSpPr>
        <p:spPr bwMode="ltGray">
          <a:xfrm rot="5400000">
            <a:off x="935038" y="3178175"/>
            <a:ext cx="301625" cy="949325"/>
          </a:xfrm>
          <a:prstGeom prst="moon">
            <a:avLst>
              <a:gd name="adj" fmla="val 1459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0" hangingPunct="0">
              <a:spcBef>
                <a:spcPct val="0"/>
              </a:spcBef>
              <a:buFontTx/>
              <a:buNone/>
            </a:pPr>
            <a:endParaRPr lang="en-US" altLang="zh-CN" sz="1800">
              <a:solidFill>
                <a:schemeClr val="tx2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grpSp>
        <p:nvGrpSpPr>
          <p:cNvPr id="28" name="Group 10"/>
          <p:cNvGrpSpPr/>
          <p:nvPr/>
        </p:nvGrpSpPr>
        <p:grpSpPr bwMode="auto">
          <a:xfrm>
            <a:off x="1697823" y="4854938"/>
            <a:ext cx="5181600" cy="508000"/>
            <a:chOff x="1419" y="1480"/>
            <a:chExt cx="3575" cy="363"/>
          </a:xfrm>
        </p:grpSpPr>
        <p:grpSp>
          <p:nvGrpSpPr>
            <p:cNvPr id="29" name="Group 11"/>
            <p:cNvGrpSpPr/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2" name="Oval 12"/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AutoShape 13"/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76200" dir="10800000" kx="-3284103" algn="b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dirty="0">
                    <a:solidFill>
                      <a:srgbClr val="003300"/>
                    </a:solidFill>
                  </a:rPr>
                  <a:t>图的关联矩阵</a:t>
                </a:r>
                <a:endParaRPr lang="zh-CN" altLang="en-US" dirty="0">
                  <a:solidFill>
                    <a:srgbClr val="003300"/>
                  </a:solidFill>
                </a:endParaRPr>
              </a:p>
            </p:txBody>
          </p:sp>
        </p:grpSp>
        <p:sp>
          <p:nvSpPr>
            <p:cNvPr id="30" name="Oval 14"/>
            <p:cNvSpPr>
              <a:spLocks noChangeArrowheads="1"/>
            </p:cNvSpPr>
            <p:nvPr/>
          </p:nvSpPr>
          <p:spPr bwMode="gray">
            <a:xfrm>
              <a:off x="1470" y="1541"/>
              <a:ext cx="239" cy="24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76078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15"/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E9940B">
                    <a:gamma/>
                    <a:tint val="0"/>
                    <a:invGamma/>
                  </a:srgbClr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89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1"/>
          <p:cNvSpPr>
            <a:spLocks noGrp="1" noChangeArrowheads="1"/>
          </p:cNvSpPr>
          <p:nvPr>
            <p:ph/>
          </p:nvPr>
        </p:nvSpPr>
        <p:spPr>
          <a:xfrm>
            <a:off x="323850" y="1268413"/>
            <a:ext cx="8459788" cy="518477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zh-CN" altLang="en-US"/>
              <a:t>ＨＥ　ＥＮＤ</a:t>
            </a:r>
            <a:endParaRPr lang="zh-CN" altLang="en-US"/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COMMONDATA" val="eyJoZGlkIjoiY2M1NzcxMmUzMDg4OTU3OGMzMWUzNzM0ZWU4ZGJmYzAifQ=="/>
  <p:tag name="KSO_WPP_MARK_KEY" val="ae2e2293-277b-4f59-990e-16a9fde42ea2"/>
</p:tagLst>
</file>

<file path=ppt/theme/theme1.xml><?xml version="1.0" encoding="utf-8"?>
<a:theme xmlns:a="http://schemas.openxmlformats.org/drawingml/2006/main" name="主题2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C0C0C0"/>
      </a:folHlink>
    </a:clrScheme>
    <a:fontScheme name="默认设计模板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009900"/>
          </a:buClr>
          <a:buSzTx/>
          <a:buFont typeface="Wingdings" panose="05000000000000000000" pitchFamily="2" charset="2"/>
          <a:buNone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panose="020B0604020202020204" pitchFamily="34" charset="0"/>
            <a:ea typeface="华文新魏" panose="02010800040101010101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FFFFFF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0</TotalTime>
  <Words>1226</Words>
  <Application>WPS 演示</Application>
  <PresentationFormat>全屏显示(4:3)</PresentationFormat>
  <Paragraphs>167</Paragraphs>
  <Slides>22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48</vt:i4>
      </vt:variant>
      <vt:variant>
        <vt:lpstr>幻灯片标题</vt:lpstr>
      </vt:variant>
      <vt:variant>
        <vt:i4>22</vt:i4>
      </vt:variant>
    </vt:vector>
  </HeadingPairs>
  <TitlesOfParts>
    <vt:vector size="87" baseType="lpstr">
      <vt:lpstr>Arial</vt:lpstr>
      <vt:lpstr>宋体</vt:lpstr>
      <vt:lpstr>Wingdings</vt:lpstr>
      <vt:lpstr>华文新魏</vt:lpstr>
      <vt:lpstr>华文彩云</vt:lpstr>
      <vt:lpstr>华文行楷</vt:lpstr>
      <vt:lpstr>Times New Roman</vt:lpstr>
      <vt:lpstr>楷体_GB2312</vt:lpstr>
      <vt:lpstr>新宋体</vt:lpstr>
      <vt:lpstr>Symbol</vt:lpstr>
      <vt:lpstr>微软雅黑</vt:lpstr>
      <vt:lpstr>Arial Unicode MS</vt:lpstr>
      <vt:lpstr>Calibri</vt:lpstr>
      <vt:lpstr>Gulim</vt:lpstr>
      <vt:lpstr>Malgun Gothic</vt:lpstr>
      <vt:lpstr>主题2</vt:lpstr>
      <vt:lpstr>自定义设计方案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本讲内容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PowerPoint 演示文稿</vt:lpstr>
    </vt:vector>
  </TitlesOfParts>
  <Company>swu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前言</dc:title>
  <dc:creator>邓辉文</dc:creator>
  <cp:lastModifiedBy>赵超</cp:lastModifiedBy>
  <cp:revision>429</cp:revision>
  <dcterms:created xsi:type="dcterms:W3CDTF">2007-04-29T00:04:00Z</dcterms:created>
  <dcterms:modified xsi:type="dcterms:W3CDTF">2023-05-09T01:40:02Z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9A1F317BB5B9498E97A721E95A1E8C31</vt:lpwstr>
  </property>
  <property fmtid="{D5CDD505-2E9C-101B-9397-08002B2CF9AE}" pid="3" name="KSOProductBuildVer">
    <vt:lpwstr>2052-11.1.0.14309</vt:lpwstr>
  </property>
</Properties>
</file>