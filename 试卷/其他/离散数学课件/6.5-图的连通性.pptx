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46"/>
  </p:notesMasterIdLst>
  <p:sldIdLst>
    <p:sldId id="506" r:id="rId3"/>
    <p:sldId id="753" r:id="rId4"/>
    <p:sldId id="278" r:id="rId5"/>
    <p:sldId id="300" r:id="rId6"/>
    <p:sldId id="279" r:id="rId7"/>
    <p:sldId id="280" r:id="rId8"/>
    <p:sldId id="301" r:id="rId9"/>
    <p:sldId id="302" r:id="rId10"/>
    <p:sldId id="281" r:id="rId11"/>
    <p:sldId id="282" r:id="rId12"/>
    <p:sldId id="303" r:id="rId13"/>
    <p:sldId id="761" r:id="rId14"/>
    <p:sldId id="283" r:id="rId15"/>
    <p:sldId id="763" r:id="rId16"/>
    <p:sldId id="764" r:id="rId17"/>
    <p:sldId id="284" r:id="rId18"/>
    <p:sldId id="285" r:id="rId19"/>
    <p:sldId id="286" r:id="rId20"/>
    <p:sldId id="287" r:id="rId21"/>
    <p:sldId id="288" r:id="rId22"/>
    <p:sldId id="765" r:id="rId23"/>
    <p:sldId id="766" r:id="rId24"/>
    <p:sldId id="304" r:id="rId25"/>
    <p:sldId id="289" r:id="rId26"/>
    <p:sldId id="305" r:id="rId27"/>
    <p:sldId id="767" r:id="rId28"/>
    <p:sldId id="291" r:id="rId29"/>
    <p:sldId id="768" r:id="rId30"/>
    <p:sldId id="292" r:id="rId31"/>
    <p:sldId id="293" r:id="rId32"/>
    <p:sldId id="769" r:id="rId33"/>
    <p:sldId id="294" r:id="rId34"/>
    <p:sldId id="770" r:id="rId35"/>
    <p:sldId id="295" r:id="rId36"/>
    <p:sldId id="777" r:id="rId37"/>
    <p:sldId id="771" r:id="rId38"/>
    <p:sldId id="296" r:id="rId39"/>
    <p:sldId id="773" r:id="rId40"/>
    <p:sldId id="297" r:id="rId41"/>
    <p:sldId id="774" r:id="rId42"/>
    <p:sldId id="776" r:id="rId43"/>
    <p:sldId id="760" r:id="rId44"/>
    <p:sldId id="617" r:id="rId45"/>
  </p:sldIdLst>
  <p:sldSz cx="9144000" cy="6858000" type="screen4x3"/>
  <p:notesSz cx="6858000" cy="9144000"/>
  <p:custDataLst>
    <p:tags r:id="rId4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1" autoAdjust="0"/>
  </p:normalViewPr>
  <p:slideViewPr>
    <p:cSldViewPr>
      <p:cViewPr varScale="1">
        <p:scale>
          <a:sx n="77" d="100"/>
          <a:sy n="77" d="100"/>
        </p:scale>
        <p:origin x="9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  <a:t>2024/5/13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750800" imgH="2324100" progId="">
                  <p:embed/>
                </p:oleObj>
              </mc:Choice>
              <mc:Fallback>
                <p:oleObj r:id="rId16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8.w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10" Type="http://schemas.openxmlformats.org/officeDocument/2006/relationships/image" Target="../media/image12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1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22.bin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0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40.bin"/><Relationship Id="rId3" Type="http://schemas.openxmlformats.org/officeDocument/2006/relationships/image" Target="../media/image30.wmf"/><Relationship Id="rId21" Type="http://schemas.openxmlformats.org/officeDocument/2006/relationships/image" Target="../media/image39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37.w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8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43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33.wmf"/><Relationship Id="rId3" Type="http://schemas.openxmlformats.org/officeDocument/2006/relationships/image" Target="../media/image40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35.wmf"/><Relationship Id="rId2" Type="http://schemas.openxmlformats.org/officeDocument/2006/relationships/oleObject" Target="../embeddings/oleObject45.bin"/><Relationship Id="rId16" Type="http://schemas.openxmlformats.org/officeDocument/2006/relationships/oleObject" Target="../embeddings/oleObject5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32.wmf"/><Relationship Id="rId5" Type="http://schemas.openxmlformats.org/officeDocument/2006/relationships/image" Target="../media/image41.wmf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51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54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73778" y="2997200"/>
            <a:ext cx="3996444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6.5  </a:t>
            </a:r>
            <a:r>
              <a:rPr lang="zh-CN" altLang="en-US" sz="4400" dirty="0">
                <a:latin typeface="Times New Roman" panose="02020603050405020304" pitchFamily="18" charset="0"/>
              </a:rPr>
              <a:t>图的连通性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19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无向图的连通性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7153276" cy="631826"/>
            <a:chOff x="1135" y="1117"/>
            <a:chExt cx="4506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400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无向连通图的点连通度与边连通度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9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有向图的连通性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A90A14EB-27E9-40CC-8AA3-8C99C6488D75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3789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图的基本性质之一是其连通性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它与图中从节点到节点的路密切相关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图的连通性讨论节点与节点之间的另外一种关系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DD30902-178E-4D6D-A13A-61EB2BC6BDC8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66564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为了讨论方便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先给出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6-16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在任何图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若从节点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存在一条路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可达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(accessible).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由于节点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总存在一条长度为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因此任意节点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自身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先讨论无向图的连通性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DD30902-178E-4D6D-A13A-61EB2BC6BDC8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3891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无向图的连通性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6-17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中任意两个节点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均可达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(connected graph).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789040"/>
            <a:ext cx="1944216" cy="265405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416" y="3860974"/>
            <a:ext cx="2926894" cy="2557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DD30902-178E-4D6D-A13A-61EB2BC6BDC8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3993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中极大的连通子图称为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连通分支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(connected component),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的连通分支数记为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由定义知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的连通分支满足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个条件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(1)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连通分支是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的子图；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该子图本身是连通图；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在该子图中再添加原图的任意边或节点都不连通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DD30902-178E-4D6D-A13A-61EB2BC6BDC8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68612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6-26(a)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中图仅一个连通分支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6-26(b)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中图有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个连通分支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endParaRPr lang="en-US" altLang="zh-CN" dirty="0">
              <a:ea typeface="华文新魏" panose="020108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996952"/>
            <a:ext cx="1944216" cy="26540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44" y="3011290"/>
            <a:ext cx="2926894" cy="255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DD30902-178E-4D6D-A13A-61EB2BC6BDC8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70660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6-4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是连通图当且仅当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= 1.</a:t>
            </a:r>
          </a:p>
          <a:p>
            <a:pPr>
              <a:lnSpc>
                <a:spcPct val="130000"/>
              </a:lnSpc>
            </a:pPr>
            <a:endParaRPr lang="en-US" altLang="zh-CN" i="1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是非连通图当且仅当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</a:t>
            </a:r>
          </a:p>
          <a:p>
            <a:pPr>
              <a:lnSpc>
                <a:spcPct val="13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DD30902-178E-4D6D-A13A-61EB2BC6BDC8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4096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6-5  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不连通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    连通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  证明：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   (1)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中不邻接；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   (2)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中邻接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4013200" y="1312396"/>
          <a:ext cx="428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62400" imgH="5181600" progId="Equation.DSMT4">
                  <p:embed/>
                </p:oleObj>
              </mc:Choice>
              <mc:Fallback>
                <p:oleObj name="Equation" r:id="rId2" imgW="3962400" imgH="518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1312396"/>
                        <a:ext cx="4286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580112" y="2563639"/>
            <a:ext cx="2482850" cy="1439862"/>
            <a:chOff x="2339975" y="3716338"/>
            <a:chExt cx="2482850" cy="1439862"/>
          </a:xfrm>
        </p:grpSpPr>
        <p:sp>
          <p:nvSpPr>
            <p:cNvPr id="40964" name="Oval 4"/>
            <p:cNvSpPr>
              <a:spLocks noChangeArrowheads="1"/>
            </p:cNvSpPr>
            <p:nvPr/>
          </p:nvSpPr>
          <p:spPr bwMode="auto">
            <a:xfrm>
              <a:off x="4227513" y="431165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5" name="Oval 5"/>
            <p:cNvSpPr>
              <a:spLocks noChangeArrowheads="1"/>
            </p:cNvSpPr>
            <p:nvPr/>
          </p:nvSpPr>
          <p:spPr bwMode="auto">
            <a:xfrm>
              <a:off x="2339975" y="3716338"/>
              <a:ext cx="719138" cy="143986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Oval 6"/>
            <p:cNvSpPr>
              <a:spLocks noChangeArrowheads="1"/>
            </p:cNvSpPr>
            <p:nvPr/>
          </p:nvSpPr>
          <p:spPr bwMode="auto">
            <a:xfrm>
              <a:off x="2771775" y="40052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7" name="Oval 7"/>
            <p:cNvSpPr>
              <a:spLocks noChangeArrowheads="1"/>
            </p:cNvSpPr>
            <p:nvPr/>
          </p:nvSpPr>
          <p:spPr bwMode="auto">
            <a:xfrm>
              <a:off x="2771775" y="47244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8" name="Line 8"/>
            <p:cNvSpPr>
              <a:spLocks noChangeShapeType="1"/>
            </p:cNvSpPr>
            <p:nvPr/>
          </p:nvSpPr>
          <p:spPr bwMode="auto">
            <a:xfrm>
              <a:off x="2916238" y="4076700"/>
              <a:ext cx="1439862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9" name="Line 9"/>
            <p:cNvSpPr>
              <a:spLocks noChangeShapeType="1"/>
            </p:cNvSpPr>
            <p:nvPr/>
          </p:nvSpPr>
          <p:spPr bwMode="auto">
            <a:xfrm flipV="1">
              <a:off x="2843213" y="4365625"/>
              <a:ext cx="1512887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0970" name="Object 10"/>
            <p:cNvGraphicFramePr>
              <a:graphicFrameLocks noChangeAspect="1"/>
            </p:cNvGraphicFramePr>
            <p:nvPr/>
          </p:nvGraphicFramePr>
          <p:xfrm>
            <a:off x="4427538" y="4221163"/>
            <a:ext cx="395287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57600" imgH="3352800" progId="Equation.DSMT4">
                    <p:embed/>
                  </p:oleObj>
                </mc:Choice>
                <mc:Fallback>
                  <p:oleObj name="Equation" r:id="rId4" imgW="3657600" imgH="33528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538" y="4221163"/>
                          <a:ext cx="395287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1" name="Object 11"/>
            <p:cNvGraphicFramePr>
              <a:graphicFrameLocks noChangeAspect="1"/>
            </p:cNvGraphicFramePr>
            <p:nvPr/>
          </p:nvGraphicFramePr>
          <p:xfrm>
            <a:off x="2411413" y="3933825"/>
            <a:ext cx="328612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5570" imgH="127635" progId="Equation.3">
                    <p:embed/>
                  </p:oleObj>
                </mc:Choice>
                <mc:Fallback>
                  <p:oleObj name="Equation" r:id="rId6" imgW="115570" imgH="12763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413" y="3933825"/>
                          <a:ext cx="328612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2" name="Object 12"/>
            <p:cNvGraphicFramePr>
              <a:graphicFrameLocks noChangeAspect="1"/>
            </p:cNvGraphicFramePr>
            <p:nvPr/>
          </p:nvGraphicFramePr>
          <p:xfrm>
            <a:off x="2411413" y="4652963"/>
            <a:ext cx="295275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4140" imgH="127635" progId="Equation.3">
                    <p:embed/>
                  </p:oleObj>
                </mc:Choice>
                <mc:Fallback>
                  <p:oleObj name="Equation" r:id="rId8" imgW="104140" imgH="127635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413" y="4652963"/>
                          <a:ext cx="295275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535" y="4287583"/>
            <a:ext cx="8560929" cy="18815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DD30902-178E-4D6D-A13A-61EB2BC6BDC8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4198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6-6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阶简单无向图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若对于任意的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中不相邻的节点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+ 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- 1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89" y="3501008"/>
            <a:ext cx="8788222" cy="18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DD30902-178E-4D6D-A13A-61EB2BC6BDC8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72708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6-5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去掉简单回路上的一条边或度为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图的连通性不变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19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无向图的连通性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7153276" cy="631826"/>
            <a:chOff x="1135" y="1117"/>
            <a:chExt cx="4506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400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无向连通图的点连通度与边连通度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9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有向图的连通性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4301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无向连通图的点连通度与边连通度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对于无向连通图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其连通的程度是不同的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有些很“脆弱”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有的则相反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66564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点割集与点连通度</a:t>
            </a:r>
            <a:r>
              <a:rPr lang="el-GR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是连通无向图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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若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   (</a:t>
            </a:r>
            <a:r>
              <a:rPr lang="en-US" altLang="zh-CN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)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–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W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不连通或是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阶图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   (ii)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删除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W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的任意真子集均连通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  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W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点割集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(cut-set of vertices).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68612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割”是分割、分离、分开的意思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恰使得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不连通或是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阶图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所要去掉的节点集合称为的点割集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若点割集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W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为的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割点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(cut point)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关节点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点割集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};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}; 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l-GR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2.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547664" y="1412776"/>
            <a:ext cx="6553200" cy="3384550"/>
            <a:chOff x="827088" y="404813"/>
            <a:chExt cx="6553200" cy="3384550"/>
          </a:xfrm>
        </p:grpSpPr>
        <p:sp>
          <p:nvSpPr>
            <p:cNvPr id="44035" name="Oval 3"/>
            <p:cNvSpPr>
              <a:spLocks noChangeArrowheads="1"/>
            </p:cNvSpPr>
            <p:nvPr/>
          </p:nvSpPr>
          <p:spPr bwMode="auto">
            <a:xfrm>
              <a:off x="1547813" y="4048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6" name="Oval 4"/>
            <p:cNvSpPr>
              <a:spLocks noChangeArrowheads="1"/>
            </p:cNvSpPr>
            <p:nvPr/>
          </p:nvSpPr>
          <p:spPr bwMode="auto">
            <a:xfrm>
              <a:off x="2916238" y="13414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7" name="Oval 5"/>
            <p:cNvSpPr>
              <a:spLocks noChangeArrowheads="1"/>
            </p:cNvSpPr>
            <p:nvPr/>
          </p:nvSpPr>
          <p:spPr bwMode="auto">
            <a:xfrm>
              <a:off x="2916238" y="27082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8" name="Oval 6"/>
            <p:cNvSpPr>
              <a:spLocks noChangeArrowheads="1"/>
            </p:cNvSpPr>
            <p:nvPr/>
          </p:nvSpPr>
          <p:spPr bwMode="auto">
            <a:xfrm>
              <a:off x="1547813" y="33575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9" name="Oval 7"/>
            <p:cNvSpPr>
              <a:spLocks noChangeArrowheads="1"/>
            </p:cNvSpPr>
            <p:nvPr/>
          </p:nvSpPr>
          <p:spPr bwMode="auto">
            <a:xfrm>
              <a:off x="827088" y="17732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0" name="Oval 8"/>
            <p:cNvSpPr>
              <a:spLocks noChangeArrowheads="1"/>
            </p:cNvSpPr>
            <p:nvPr/>
          </p:nvSpPr>
          <p:spPr bwMode="auto">
            <a:xfrm>
              <a:off x="4859338" y="13414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1" name="Oval 9"/>
            <p:cNvSpPr>
              <a:spLocks noChangeArrowheads="1"/>
            </p:cNvSpPr>
            <p:nvPr/>
          </p:nvSpPr>
          <p:spPr bwMode="auto">
            <a:xfrm>
              <a:off x="4859338" y="27082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2" name="Oval 10"/>
            <p:cNvSpPr>
              <a:spLocks noChangeArrowheads="1"/>
            </p:cNvSpPr>
            <p:nvPr/>
          </p:nvSpPr>
          <p:spPr bwMode="auto">
            <a:xfrm>
              <a:off x="6227763" y="4048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3" name="Oval 11"/>
            <p:cNvSpPr>
              <a:spLocks noChangeArrowheads="1"/>
            </p:cNvSpPr>
            <p:nvPr/>
          </p:nvSpPr>
          <p:spPr bwMode="auto">
            <a:xfrm>
              <a:off x="7235825" y="18446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4" name="Oval 12"/>
            <p:cNvSpPr>
              <a:spLocks noChangeArrowheads="1"/>
            </p:cNvSpPr>
            <p:nvPr/>
          </p:nvSpPr>
          <p:spPr bwMode="auto">
            <a:xfrm>
              <a:off x="6227763" y="36449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5" name="Line 13"/>
            <p:cNvSpPr>
              <a:spLocks noChangeShapeType="1"/>
            </p:cNvSpPr>
            <p:nvPr/>
          </p:nvSpPr>
          <p:spPr bwMode="auto">
            <a:xfrm flipH="1">
              <a:off x="900113" y="476250"/>
              <a:ext cx="7191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Line 14"/>
            <p:cNvSpPr>
              <a:spLocks noChangeShapeType="1"/>
            </p:cNvSpPr>
            <p:nvPr/>
          </p:nvSpPr>
          <p:spPr bwMode="auto">
            <a:xfrm>
              <a:off x="1619250" y="476250"/>
              <a:ext cx="0" cy="2952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Line 15"/>
            <p:cNvSpPr>
              <a:spLocks noChangeShapeType="1"/>
            </p:cNvSpPr>
            <p:nvPr/>
          </p:nvSpPr>
          <p:spPr bwMode="auto">
            <a:xfrm>
              <a:off x="1619250" y="476250"/>
              <a:ext cx="1368425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8" name="Line 16"/>
            <p:cNvSpPr>
              <a:spLocks noChangeShapeType="1"/>
            </p:cNvSpPr>
            <p:nvPr/>
          </p:nvSpPr>
          <p:spPr bwMode="auto">
            <a:xfrm>
              <a:off x="1619250" y="476250"/>
              <a:ext cx="1368425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Line 17"/>
            <p:cNvSpPr>
              <a:spLocks noChangeShapeType="1"/>
            </p:cNvSpPr>
            <p:nvPr/>
          </p:nvSpPr>
          <p:spPr bwMode="auto">
            <a:xfrm flipV="1">
              <a:off x="900113" y="1412875"/>
              <a:ext cx="2016125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0" name="Line 18"/>
            <p:cNvSpPr>
              <a:spLocks noChangeShapeType="1"/>
            </p:cNvSpPr>
            <p:nvPr/>
          </p:nvSpPr>
          <p:spPr bwMode="auto">
            <a:xfrm>
              <a:off x="900113" y="1844675"/>
              <a:ext cx="2159000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19"/>
            <p:cNvSpPr>
              <a:spLocks noChangeShapeType="1"/>
            </p:cNvSpPr>
            <p:nvPr/>
          </p:nvSpPr>
          <p:spPr bwMode="auto">
            <a:xfrm>
              <a:off x="900113" y="1844675"/>
              <a:ext cx="647700" cy="158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2" name="Line 20"/>
            <p:cNvSpPr>
              <a:spLocks noChangeShapeType="1"/>
            </p:cNvSpPr>
            <p:nvPr/>
          </p:nvSpPr>
          <p:spPr bwMode="auto">
            <a:xfrm flipV="1">
              <a:off x="1619250" y="2852738"/>
              <a:ext cx="13684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3" name="Line 21"/>
            <p:cNvSpPr>
              <a:spLocks noChangeShapeType="1"/>
            </p:cNvSpPr>
            <p:nvPr/>
          </p:nvSpPr>
          <p:spPr bwMode="auto">
            <a:xfrm>
              <a:off x="2987675" y="1412875"/>
              <a:ext cx="1871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4" name="Line 22"/>
            <p:cNvSpPr>
              <a:spLocks noChangeShapeType="1"/>
            </p:cNvSpPr>
            <p:nvPr/>
          </p:nvSpPr>
          <p:spPr bwMode="auto">
            <a:xfrm>
              <a:off x="2987675" y="2781300"/>
              <a:ext cx="1871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5" name="Line 23"/>
            <p:cNvSpPr>
              <a:spLocks noChangeShapeType="1"/>
            </p:cNvSpPr>
            <p:nvPr/>
          </p:nvSpPr>
          <p:spPr bwMode="auto">
            <a:xfrm flipV="1">
              <a:off x="2987675" y="1412875"/>
              <a:ext cx="1944688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6" name="Line 24"/>
            <p:cNvSpPr>
              <a:spLocks noChangeShapeType="1"/>
            </p:cNvSpPr>
            <p:nvPr/>
          </p:nvSpPr>
          <p:spPr bwMode="auto">
            <a:xfrm flipV="1">
              <a:off x="4932363" y="476250"/>
              <a:ext cx="129540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7" name="Line 25"/>
            <p:cNvSpPr>
              <a:spLocks noChangeShapeType="1"/>
            </p:cNvSpPr>
            <p:nvPr/>
          </p:nvSpPr>
          <p:spPr bwMode="auto">
            <a:xfrm flipH="1">
              <a:off x="4932363" y="476250"/>
              <a:ext cx="1368425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8" name="Line 26"/>
            <p:cNvSpPr>
              <a:spLocks noChangeShapeType="1"/>
            </p:cNvSpPr>
            <p:nvPr/>
          </p:nvSpPr>
          <p:spPr bwMode="auto">
            <a:xfrm>
              <a:off x="6300788" y="476250"/>
              <a:ext cx="0" cy="3240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9" name="Line 27"/>
            <p:cNvSpPr>
              <a:spLocks noChangeShapeType="1"/>
            </p:cNvSpPr>
            <p:nvPr/>
          </p:nvSpPr>
          <p:spPr bwMode="auto">
            <a:xfrm>
              <a:off x="6372225" y="476250"/>
              <a:ext cx="936625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0" name="Line 28"/>
            <p:cNvSpPr>
              <a:spLocks noChangeShapeType="1"/>
            </p:cNvSpPr>
            <p:nvPr/>
          </p:nvSpPr>
          <p:spPr bwMode="auto">
            <a:xfrm>
              <a:off x="4932363" y="1412875"/>
              <a:ext cx="2303462" cy="503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1" name="Line 29"/>
            <p:cNvSpPr>
              <a:spLocks noChangeShapeType="1"/>
            </p:cNvSpPr>
            <p:nvPr/>
          </p:nvSpPr>
          <p:spPr bwMode="auto">
            <a:xfrm flipH="1">
              <a:off x="4932363" y="1916113"/>
              <a:ext cx="2376487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2" name="Line 30"/>
            <p:cNvSpPr>
              <a:spLocks noChangeShapeType="1"/>
            </p:cNvSpPr>
            <p:nvPr/>
          </p:nvSpPr>
          <p:spPr bwMode="auto">
            <a:xfrm flipH="1">
              <a:off x="6300788" y="1916113"/>
              <a:ext cx="1008062" cy="1728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3" name="Line 31"/>
            <p:cNvSpPr>
              <a:spLocks noChangeShapeType="1"/>
            </p:cNvSpPr>
            <p:nvPr/>
          </p:nvSpPr>
          <p:spPr bwMode="auto">
            <a:xfrm>
              <a:off x="4932363" y="2781300"/>
              <a:ext cx="13684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4064" name="Object 32"/>
            <p:cNvGraphicFramePr>
              <a:graphicFrameLocks noChangeAspect="1"/>
            </p:cNvGraphicFramePr>
            <p:nvPr/>
          </p:nvGraphicFramePr>
          <p:xfrm>
            <a:off x="2897982" y="994569"/>
            <a:ext cx="328612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048000" imgH="3352800" progId="Equation.DSMT4">
                    <p:embed/>
                  </p:oleObj>
                </mc:Choice>
                <mc:Fallback>
                  <p:oleObj name="Equation" r:id="rId2" imgW="3048000" imgH="33528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7982" y="994569"/>
                          <a:ext cx="328612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5" name="Object 33"/>
            <p:cNvGraphicFramePr>
              <a:graphicFrameLocks noChangeAspect="1"/>
            </p:cNvGraphicFramePr>
            <p:nvPr/>
          </p:nvGraphicFramePr>
          <p:xfrm>
            <a:off x="2844369" y="2851151"/>
            <a:ext cx="328612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048000" imgH="4267200" progId="Equation.DSMT4">
                    <p:embed/>
                  </p:oleObj>
                </mc:Choice>
                <mc:Fallback>
                  <p:oleObj name="Equation" r:id="rId4" imgW="3048000" imgH="42672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369" y="2851151"/>
                          <a:ext cx="328612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6" name="Object 34"/>
            <p:cNvGraphicFramePr>
              <a:graphicFrameLocks noChangeAspect="1"/>
            </p:cNvGraphicFramePr>
            <p:nvPr/>
          </p:nvGraphicFramePr>
          <p:xfrm>
            <a:off x="4731413" y="994569"/>
            <a:ext cx="296863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43200" imgH="3352800" progId="Equation.DSMT4">
                    <p:embed/>
                  </p:oleObj>
                </mc:Choice>
                <mc:Fallback>
                  <p:oleObj name="Equation" r:id="rId6" imgW="2743200" imgH="335280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1413" y="994569"/>
                          <a:ext cx="296863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7" name="Object 35"/>
            <p:cNvGraphicFramePr>
              <a:graphicFrameLocks noChangeAspect="1"/>
            </p:cNvGraphicFramePr>
            <p:nvPr/>
          </p:nvGraphicFramePr>
          <p:xfrm>
            <a:off x="4693444" y="2840038"/>
            <a:ext cx="360363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352800" imgH="4267200" progId="Equation.DSMT4">
                    <p:embed/>
                  </p:oleObj>
                </mc:Choice>
                <mc:Fallback>
                  <p:oleObj name="Equation" r:id="rId8" imgW="3352800" imgH="42672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3444" y="2840038"/>
                          <a:ext cx="360363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8" name="Object 36"/>
            <p:cNvGraphicFramePr>
              <a:graphicFrameLocks noChangeAspect="1"/>
            </p:cNvGraphicFramePr>
            <p:nvPr/>
          </p:nvGraphicFramePr>
          <p:xfrm>
            <a:off x="3792327" y="865980"/>
            <a:ext cx="360363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52800" imgH="5486400" progId="Equation.DSMT4">
                    <p:embed/>
                  </p:oleObj>
                </mc:Choice>
                <mc:Fallback>
                  <p:oleObj name="Equation" r:id="rId10" imgW="3352800" imgH="54864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327" y="865980"/>
                          <a:ext cx="360363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9" name="Object 37"/>
            <p:cNvGraphicFramePr>
              <a:graphicFrameLocks noChangeAspect="1"/>
            </p:cNvGraphicFramePr>
            <p:nvPr/>
          </p:nvGraphicFramePr>
          <p:xfrm>
            <a:off x="3548063" y="1684338"/>
            <a:ext cx="39370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657600" imgH="5486400" progId="Equation.DSMT4">
                    <p:embed/>
                  </p:oleObj>
                </mc:Choice>
                <mc:Fallback>
                  <p:oleObj name="Equation" r:id="rId12" imgW="3657600" imgH="54864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8063" y="1684338"/>
                          <a:ext cx="39370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0" name="Object 38"/>
            <p:cNvGraphicFramePr>
              <a:graphicFrameLocks noChangeAspect="1"/>
            </p:cNvGraphicFramePr>
            <p:nvPr/>
          </p:nvGraphicFramePr>
          <p:xfrm>
            <a:off x="3759994" y="2708275"/>
            <a:ext cx="392113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657600" imgH="5486400" progId="Equation.DSMT4">
                    <p:embed/>
                  </p:oleObj>
                </mc:Choice>
                <mc:Fallback>
                  <p:oleObj name="Equation" r:id="rId14" imgW="3657600" imgH="5486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9994" y="2708275"/>
                          <a:ext cx="392113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4505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196752"/>
            <a:ext cx="8459788" cy="5256436"/>
          </a:xfrm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割点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l-GR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1.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563888" y="1268760"/>
            <a:ext cx="2232025" cy="3313113"/>
            <a:chOff x="2555875" y="765175"/>
            <a:chExt cx="2232025" cy="3313113"/>
          </a:xfrm>
        </p:grpSpPr>
        <p:sp>
          <p:nvSpPr>
            <p:cNvPr id="45059" name="Oval 3"/>
            <p:cNvSpPr>
              <a:spLocks noChangeArrowheads="1"/>
            </p:cNvSpPr>
            <p:nvPr/>
          </p:nvSpPr>
          <p:spPr bwMode="auto">
            <a:xfrm>
              <a:off x="255587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0" name="Oval 4"/>
            <p:cNvSpPr>
              <a:spLocks noChangeArrowheads="1"/>
            </p:cNvSpPr>
            <p:nvPr/>
          </p:nvSpPr>
          <p:spPr bwMode="auto">
            <a:xfrm>
              <a:off x="4284663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1" name="Oval 5"/>
            <p:cNvSpPr>
              <a:spLocks noChangeArrowheads="1"/>
            </p:cNvSpPr>
            <p:nvPr/>
          </p:nvSpPr>
          <p:spPr bwMode="auto">
            <a:xfrm>
              <a:off x="3492500" y="18446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2" name="Oval 6"/>
            <p:cNvSpPr>
              <a:spLocks noChangeArrowheads="1"/>
            </p:cNvSpPr>
            <p:nvPr/>
          </p:nvSpPr>
          <p:spPr bwMode="auto">
            <a:xfrm>
              <a:off x="3492500" y="29972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3" name="Oval 7"/>
            <p:cNvSpPr>
              <a:spLocks noChangeArrowheads="1"/>
            </p:cNvSpPr>
            <p:nvPr/>
          </p:nvSpPr>
          <p:spPr bwMode="auto">
            <a:xfrm>
              <a:off x="2627313" y="393382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4" name="Oval 8"/>
            <p:cNvSpPr>
              <a:spLocks noChangeArrowheads="1"/>
            </p:cNvSpPr>
            <p:nvPr/>
          </p:nvSpPr>
          <p:spPr bwMode="auto">
            <a:xfrm>
              <a:off x="4643438" y="393382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5" name="Line 9"/>
            <p:cNvSpPr>
              <a:spLocks noChangeShapeType="1"/>
            </p:cNvSpPr>
            <p:nvPr/>
          </p:nvSpPr>
          <p:spPr bwMode="auto">
            <a:xfrm>
              <a:off x="2627313" y="836613"/>
              <a:ext cx="936625" cy="1079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6" name="Line 10"/>
            <p:cNvSpPr>
              <a:spLocks noChangeShapeType="1"/>
            </p:cNvSpPr>
            <p:nvPr/>
          </p:nvSpPr>
          <p:spPr bwMode="auto">
            <a:xfrm flipH="1">
              <a:off x="3563938" y="836613"/>
              <a:ext cx="792162" cy="1079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7" name="Line 11"/>
            <p:cNvSpPr>
              <a:spLocks noChangeShapeType="1"/>
            </p:cNvSpPr>
            <p:nvPr/>
          </p:nvSpPr>
          <p:spPr bwMode="auto">
            <a:xfrm>
              <a:off x="3563938" y="1916113"/>
              <a:ext cx="0" cy="1152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8" name="Line 12"/>
            <p:cNvSpPr>
              <a:spLocks noChangeShapeType="1"/>
            </p:cNvSpPr>
            <p:nvPr/>
          </p:nvSpPr>
          <p:spPr bwMode="auto">
            <a:xfrm flipH="1">
              <a:off x="2700338" y="3068638"/>
              <a:ext cx="86360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Line 13"/>
            <p:cNvSpPr>
              <a:spLocks noChangeShapeType="1"/>
            </p:cNvSpPr>
            <p:nvPr/>
          </p:nvSpPr>
          <p:spPr bwMode="auto">
            <a:xfrm>
              <a:off x="3563938" y="3068638"/>
              <a:ext cx="1152525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5070" name="Object 14"/>
            <p:cNvGraphicFramePr>
              <a:graphicFrameLocks noChangeAspect="1"/>
            </p:cNvGraphicFramePr>
            <p:nvPr/>
          </p:nvGraphicFramePr>
          <p:xfrm>
            <a:off x="3148013" y="2205038"/>
            <a:ext cx="295275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43200" imgH="3352800" progId="Equation.DSMT4">
                    <p:embed/>
                  </p:oleObj>
                </mc:Choice>
                <mc:Fallback>
                  <p:oleObj name="Equation" r:id="rId2" imgW="2743200" imgH="33528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8013" y="2205038"/>
                          <a:ext cx="295275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1" name="Object 15"/>
            <p:cNvGraphicFramePr>
              <a:graphicFrameLocks noChangeAspect="1"/>
            </p:cNvGraphicFramePr>
            <p:nvPr/>
          </p:nvGraphicFramePr>
          <p:xfrm>
            <a:off x="3601243" y="1703388"/>
            <a:ext cx="3952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57600" imgH="3962400" progId="Equation.DSMT4">
                    <p:embed/>
                  </p:oleObj>
                </mc:Choice>
                <mc:Fallback>
                  <p:oleObj name="Equation" r:id="rId4" imgW="3657600" imgH="39624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1243" y="1703388"/>
                          <a:ext cx="395288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2" name="Object 16"/>
            <p:cNvGraphicFramePr>
              <a:graphicFrameLocks noChangeAspect="1"/>
            </p:cNvGraphicFramePr>
            <p:nvPr/>
          </p:nvGraphicFramePr>
          <p:xfrm>
            <a:off x="3655754" y="2801144"/>
            <a:ext cx="3952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57600" imgH="3962400" progId="Equation.DSMT4">
                    <p:embed/>
                  </p:oleObj>
                </mc:Choice>
                <mc:Fallback>
                  <p:oleObj name="Equation" r:id="rId6" imgW="3657600" imgH="39624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5754" y="2801144"/>
                          <a:ext cx="395288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18</a:t>
            </a:fld>
            <a:endParaRPr lang="en-US" altLang="zh-CN"/>
          </a:p>
        </p:txBody>
      </p:sp>
      <p:sp>
        <p:nvSpPr>
          <p:cNvPr id="46082" name="Rectangle 2"/>
          <p:cNvSpPr>
            <a:spLocks noGrp="1" noRot="1" noChangeArrowheads="1"/>
          </p:cNvSpPr>
          <p:nvPr>
            <p:ph/>
          </p:nvPr>
        </p:nvSpPr>
        <p:spPr>
          <a:xfrm>
            <a:off x="342106" y="1268760"/>
            <a:ext cx="8459788" cy="519207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6-20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点连通度，简称连通度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一个连通无向图的点连通度是使得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不连通或为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阶图所要删去的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最少的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节点个数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阶图的点连通度为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0,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而完全无向图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的点连通度为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1674019" y="2204864"/>
          <a:ext cx="579596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644800" imgH="4876800" progId="Equation.DSMT4">
                  <p:embed/>
                </p:oleObj>
              </mc:Choice>
              <mc:Fallback>
                <p:oleObj name="Equation" r:id="rId2" imgW="53644800" imgH="4876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019" y="2204864"/>
                        <a:ext cx="579596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4710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点连通度为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称为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2-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连通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重连通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(bi-connected graph).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确定一个无向图是否重连通具有重要的意义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假定无向图的节点表示电话交换站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边表示电话线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则在点连通度为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的通讯网络系统中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一个站发生故障系统仍可正常工作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4813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边割集与边连通度</a:t>
            </a:r>
            <a:r>
              <a:rPr lang="el-GR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是连通无向图且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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中删除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的所有边所得到的子图不连通或是平凡图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而删除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的任意真子集都连通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边割集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(cut-set of edges).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70660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908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恰使得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不连通或是平凡图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所要去掉的边的集合称为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的边割集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若边割集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},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割边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(bridge).</a:t>
            </a:r>
          </a:p>
          <a:p>
            <a:endParaRPr lang="en-US" altLang="zh-CN" dirty="0"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22</a:t>
            </a:fld>
            <a:endParaRPr lang="en-US" altLang="zh-CN"/>
          </a:p>
        </p:txBody>
      </p:sp>
      <p:sp>
        <p:nvSpPr>
          <p:cNvPr id="7270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边割集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}; 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... </a:t>
            </a:r>
          </a:p>
          <a:p>
            <a:pPr>
              <a:lnSpc>
                <a:spcPct val="120000"/>
              </a:lnSpc>
            </a:pPr>
            <a:r>
              <a:rPr lang="el-GR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3.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475656" y="1340768"/>
            <a:ext cx="6553200" cy="3384550"/>
            <a:chOff x="827088" y="404813"/>
            <a:chExt cx="6553200" cy="3384550"/>
          </a:xfrm>
        </p:grpSpPr>
        <p:sp>
          <p:nvSpPr>
            <p:cNvPr id="42" name="Oval 3"/>
            <p:cNvSpPr>
              <a:spLocks noChangeArrowheads="1"/>
            </p:cNvSpPr>
            <p:nvPr/>
          </p:nvSpPr>
          <p:spPr bwMode="auto">
            <a:xfrm>
              <a:off x="1547813" y="4048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Oval 4"/>
            <p:cNvSpPr>
              <a:spLocks noChangeArrowheads="1"/>
            </p:cNvSpPr>
            <p:nvPr/>
          </p:nvSpPr>
          <p:spPr bwMode="auto">
            <a:xfrm>
              <a:off x="2916238" y="13414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Oval 5"/>
            <p:cNvSpPr>
              <a:spLocks noChangeArrowheads="1"/>
            </p:cNvSpPr>
            <p:nvPr/>
          </p:nvSpPr>
          <p:spPr bwMode="auto">
            <a:xfrm>
              <a:off x="2916238" y="27082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6"/>
            <p:cNvSpPr>
              <a:spLocks noChangeArrowheads="1"/>
            </p:cNvSpPr>
            <p:nvPr/>
          </p:nvSpPr>
          <p:spPr bwMode="auto">
            <a:xfrm>
              <a:off x="1547813" y="33575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Oval 7"/>
            <p:cNvSpPr>
              <a:spLocks noChangeArrowheads="1"/>
            </p:cNvSpPr>
            <p:nvPr/>
          </p:nvSpPr>
          <p:spPr bwMode="auto">
            <a:xfrm>
              <a:off x="827088" y="17732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Oval 8"/>
            <p:cNvSpPr>
              <a:spLocks noChangeArrowheads="1"/>
            </p:cNvSpPr>
            <p:nvPr/>
          </p:nvSpPr>
          <p:spPr bwMode="auto">
            <a:xfrm>
              <a:off x="4859338" y="13414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Oval 9"/>
            <p:cNvSpPr>
              <a:spLocks noChangeArrowheads="1"/>
            </p:cNvSpPr>
            <p:nvPr/>
          </p:nvSpPr>
          <p:spPr bwMode="auto">
            <a:xfrm>
              <a:off x="4859338" y="27082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Oval 10"/>
            <p:cNvSpPr>
              <a:spLocks noChangeArrowheads="1"/>
            </p:cNvSpPr>
            <p:nvPr/>
          </p:nvSpPr>
          <p:spPr bwMode="auto">
            <a:xfrm>
              <a:off x="6227763" y="4048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Oval 11"/>
            <p:cNvSpPr>
              <a:spLocks noChangeArrowheads="1"/>
            </p:cNvSpPr>
            <p:nvPr/>
          </p:nvSpPr>
          <p:spPr bwMode="auto">
            <a:xfrm>
              <a:off x="7235825" y="18446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Oval 12"/>
            <p:cNvSpPr>
              <a:spLocks noChangeArrowheads="1"/>
            </p:cNvSpPr>
            <p:nvPr/>
          </p:nvSpPr>
          <p:spPr bwMode="auto">
            <a:xfrm>
              <a:off x="6227763" y="36449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13"/>
            <p:cNvSpPr>
              <a:spLocks noChangeShapeType="1"/>
            </p:cNvSpPr>
            <p:nvPr/>
          </p:nvSpPr>
          <p:spPr bwMode="auto">
            <a:xfrm flipH="1">
              <a:off x="900113" y="476250"/>
              <a:ext cx="7191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>
              <a:off x="1619250" y="476250"/>
              <a:ext cx="0" cy="2952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5"/>
            <p:cNvSpPr>
              <a:spLocks noChangeShapeType="1"/>
            </p:cNvSpPr>
            <p:nvPr/>
          </p:nvSpPr>
          <p:spPr bwMode="auto">
            <a:xfrm>
              <a:off x="1619250" y="476250"/>
              <a:ext cx="1368425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6"/>
            <p:cNvSpPr>
              <a:spLocks noChangeShapeType="1"/>
            </p:cNvSpPr>
            <p:nvPr/>
          </p:nvSpPr>
          <p:spPr bwMode="auto">
            <a:xfrm>
              <a:off x="1619250" y="476250"/>
              <a:ext cx="1368425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7"/>
            <p:cNvSpPr>
              <a:spLocks noChangeShapeType="1"/>
            </p:cNvSpPr>
            <p:nvPr/>
          </p:nvSpPr>
          <p:spPr bwMode="auto">
            <a:xfrm flipV="1">
              <a:off x="900113" y="1412875"/>
              <a:ext cx="2016125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8"/>
            <p:cNvSpPr>
              <a:spLocks noChangeShapeType="1"/>
            </p:cNvSpPr>
            <p:nvPr/>
          </p:nvSpPr>
          <p:spPr bwMode="auto">
            <a:xfrm>
              <a:off x="900113" y="1844675"/>
              <a:ext cx="2159000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>
              <a:off x="900113" y="1844675"/>
              <a:ext cx="647700" cy="158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20"/>
            <p:cNvSpPr>
              <a:spLocks noChangeShapeType="1"/>
            </p:cNvSpPr>
            <p:nvPr/>
          </p:nvSpPr>
          <p:spPr bwMode="auto">
            <a:xfrm flipV="1">
              <a:off x="1619250" y="2852738"/>
              <a:ext cx="13684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21"/>
            <p:cNvSpPr>
              <a:spLocks noChangeShapeType="1"/>
            </p:cNvSpPr>
            <p:nvPr/>
          </p:nvSpPr>
          <p:spPr bwMode="auto">
            <a:xfrm>
              <a:off x="2987675" y="1412875"/>
              <a:ext cx="1871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22"/>
            <p:cNvSpPr>
              <a:spLocks noChangeShapeType="1"/>
            </p:cNvSpPr>
            <p:nvPr/>
          </p:nvSpPr>
          <p:spPr bwMode="auto">
            <a:xfrm>
              <a:off x="2987675" y="2781300"/>
              <a:ext cx="1871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23"/>
            <p:cNvSpPr>
              <a:spLocks noChangeShapeType="1"/>
            </p:cNvSpPr>
            <p:nvPr/>
          </p:nvSpPr>
          <p:spPr bwMode="auto">
            <a:xfrm flipV="1">
              <a:off x="2987675" y="1412875"/>
              <a:ext cx="1944688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24"/>
            <p:cNvSpPr>
              <a:spLocks noChangeShapeType="1"/>
            </p:cNvSpPr>
            <p:nvPr/>
          </p:nvSpPr>
          <p:spPr bwMode="auto">
            <a:xfrm flipV="1">
              <a:off x="4932363" y="476250"/>
              <a:ext cx="129540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25"/>
            <p:cNvSpPr>
              <a:spLocks noChangeShapeType="1"/>
            </p:cNvSpPr>
            <p:nvPr/>
          </p:nvSpPr>
          <p:spPr bwMode="auto">
            <a:xfrm flipH="1">
              <a:off x="4932363" y="476250"/>
              <a:ext cx="1368425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26"/>
            <p:cNvSpPr>
              <a:spLocks noChangeShapeType="1"/>
            </p:cNvSpPr>
            <p:nvPr/>
          </p:nvSpPr>
          <p:spPr bwMode="auto">
            <a:xfrm>
              <a:off x="6300788" y="476250"/>
              <a:ext cx="0" cy="3240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27"/>
            <p:cNvSpPr>
              <a:spLocks noChangeShapeType="1"/>
            </p:cNvSpPr>
            <p:nvPr/>
          </p:nvSpPr>
          <p:spPr bwMode="auto">
            <a:xfrm>
              <a:off x="6372225" y="476250"/>
              <a:ext cx="936625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28"/>
            <p:cNvSpPr>
              <a:spLocks noChangeShapeType="1"/>
            </p:cNvSpPr>
            <p:nvPr/>
          </p:nvSpPr>
          <p:spPr bwMode="auto">
            <a:xfrm>
              <a:off x="4932363" y="1412875"/>
              <a:ext cx="2303462" cy="503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29"/>
            <p:cNvSpPr>
              <a:spLocks noChangeShapeType="1"/>
            </p:cNvSpPr>
            <p:nvPr/>
          </p:nvSpPr>
          <p:spPr bwMode="auto">
            <a:xfrm flipH="1">
              <a:off x="4932363" y="1916113"/>
              <a:ext cx="2376487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30"/>
            <p:cNvSpPr>
              <a:spLocks noChangeShapeType="1"/>
            </p:cNvSpPr>
            <p:nvPr/>
          </p:nvSpPr>
          <p:spPr bwMode="auto">
            <a:xfrm flipH="1">
              <a:off x="6300788" y="1916113"/>
              <a:ext cx="1008062" cy="1728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31"/>
            <p:cNvSpPr>
              <a:spLocks noChangeShapeType="1"/>
            </p:cNvSpPr>
            <p:nvPr/>
          </p:nvSpPr>
          <p:spPr bwMode="auto">
            <a:xfrm>
              <a:off x="4932363" y="2781300"/>
              <a:ext cx="13684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1" name="Object 32"/>
            <p:cNvGraphicFramePr>
              <a:graphicFrameLocks noChangeAspect="1"/>
            </p:cNvGraphicFramePr>
            <p:nvPr/>
          </p:nvGraphicFramePr>
          <p:xfrm>
            <a:off x="2897982" y="994569"/>
            <a:ext cx="328612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048000" imgH="3352800" progId="Equation.DSMT4">
                    <p:embed/>
                  </p:oleObj>
                </mc:Choice>
                <mc:Fallback>
                  <p:oleObj name="Equation" r:id="rId2" imgW="3048000" imgH="33528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7982" y="994569"/>
                          <a:ext cx="328612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33"/>
            <p:cNvGraphicFramePr>
              <a:graphicFrameLocks noChangeAspect="1"/>
            </p:cNvGraphicFramePr>
            <p:nvPr/>
          </p:nvGraphicFramePr>
          <p:xfrm>
            <a:off x="2844369" y="2851151"/>
            <a:ext cx="328612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048000" imgH="4267200" progId="Equation.DSMT4">
                    <p:embed/>
                  </p:oleObj>
                </mc:Choice>
                <mc:Fallback>
                  <p:oleObj name="Equation" r:id="rId4" imgW="3048000" imgH="42672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369" y="2851151"/>
                          <a:ext cx="328612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34"/>
            <p:cNvGraphicFramePr>
              <a:graphicFrameLocks noChangeAspect="1"/>
            </p:cNvGraphicFramePr>
            <p:nvPr/>
          </p:nvGraphicFramePr>
          <p:xfrm>
            <a:off x="4731413" y="994569"/>
            <a:ext cx="296863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43200" imgH="3352800" progId="Equation.DSMT4">
                    <p:embed/>
                  </p:oleObj>
                </mc:Choice>
                <mc:Fallback>
                  <p:oleObj name="Equation" r:id="rId6" imgW="2743200" imgH="335280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1413" y="994569"/>
                          <a:ext cx="296863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35"/>
            <p:cNvGraphicFramePr>
              <a:graphicFrameLocks noChangeAspect="1"/>
            </p:cNvGraphicFramePr>
            <p:nvPr/>
          </p:nvGraphicFramePr>
          <p:xfrm>
            <a:off x="4693444" y="2840038"/>
            <a:ext cx="360363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352800" imgH="4267200" progId="Equation.DSMT4">
                    <p:embed/>
                  </p:oleObj>
                </mc:Choice>
                <mc:Fallback>
                  <p:oleObj name="Equation" r:id="rId8" imgW="3352800" imgH="42672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3444" y="2840038"/>
                          <a:ext cx="360363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Object 36"/>
            <p:cNvGraphicFramePr>
              <a:graphicFrameLocks noChangeAspect="1"/>
            </p:cNvGraphicFramePr>
            <p:nvPr/>
          </p:nvGraphicFramePr>
          <p:xfrm>
            <a:off x="3792327" y="865980"/>
            <a:ext cx="360363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52800" imgH="5486400" progId="Equation.DSMT4">
                    <p:embed/>
                  </p:oleObj>
                </mc:Choice>
                <mc:Fallback>
                  <p:oleObj name="Equation" r:id="rId10" imgW="3352800" imgH="54864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327" y="865980"/>
                          <a:ext cx="360363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Object 37"/>
            <p:cNvGraphicFramePr>
              <a:graphicFrameLocks noChangeAspect="1"/>
            </p:cNvGraphicFramePr>
            <p:nvPr/>
          </p:nvGraphicFramePr>
          <p:xfrm>
            <a:off x="3548063" y="1684338"/>
            <a:ext cx="39370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657600" imgH="5486400" progId="Equation.DSMT4">
                    <p:embed/>
                  </p:oleObj>
                </mc:Choice>
                <mc:Fallback>
                  <p:oleObj name="Equation" r:id="rId12" imgW="3657600" imgH="54864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8063" y="1684338"/>
                          <a:ext cx="39370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38"/>
            <p:cNvGraphicFramePr>
              <a:graphicFrameLocks noChangeAspect="1"/>
            </p:cNvGraphicFramePr>
            <p:nvPr/>
          </p:nvGraphicFramePr>
          <p:xfrm>
            <a:off x="3759994" y="2708275"/>
            <a:ext cx="392113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657600" imgH="5486400" progId="Equation.DSMT4">
                    <p:embed/>
                  </p:oleObj>
                </mc:Choice>
                <mc:Fallback>
                  <p:oleObj name="Equation" r:id="rId14" imgW="3657600" imgH="5486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9994" y="2708275"/>
                          <a:ext cx="392113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23</a:t>
            </a:fld>
            <a:endParaRPr lang="en-US" altLang="zh-CN"/>
          </a:p>
        </p:txBody>
      </p:sp>
      <p:sp>
        <p:nvSpPr>
          <p:cNvPr id="7373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割边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l-GR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1.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563888" y="1298924"/>
            <a:ext cx="2232025" cy="3313113"/>
            <a:chOff x="2555875" y="765175"/>
            <a:chExt cx="2232025" cy="3313113"/>
          </a:xfrm>
        </p:grpSpPr>
        <p:sp>
          <p:nvSpPr>
            <p:cNvPr id="20" name="Oval 3"/>
            <p:cNvSpPr>
              <a:spLocks noChangeArrowheads="1"/>
            </p:cNvSpPr>
            <p:nvPr/>
          </p:nvSpPr>
          <p:spPr bwMode="auto">
            <a:xfrm>
              <a:off x="255587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4"/>
            <p:cNvSpPr>
              <a:spLocks noChangeArrowheads="1"/>
            </p:cNvSpPr>
            <p:nvPr/>
          </p:nvSpPr>
          <p:spPr bwMode="auto">
            <a:xfrm>
              <a:off x="4284663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5"/>
            <p:cNvSpPr>
              <a:spLocks noChangeArrowheads="1"/>
            </p:cNvSpPr>
            <p:nvPr/>
          </p:nvSpPr>
          <p:spPr bwMode="auto">
            <a:xfrm>
              <a:off x="3492500" y="18446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3492500" y="29972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2627313" y="393382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643438" y="393382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9"/>
            <p:cNvSpPr>
              <a:spLocks noChangeShapeType="1"/>
            </p:cNvSpPr>
            <p:nvPr/>
          </p:nvSpPr>
          <p:spPr bwMode="auto">
            <a:xfrm>
              <a:off x="2627313" y="836613"/>
              <a:ext cx="936625" cy="1079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H="1">
              <a:off x="3563938" y="836613"/>
              <a:ext cx="792162" cy="1079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3563938" y="1916113"/>
              <a:ext cx="0" cy="1152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2"/>
            <p:cNvSpPr>
              <a:spLocks noChangeShapeType="1"/>
            </p:cNvSpPr>
            <p:nvPr/>
          </p:nvSpPr>
          <p:spPr bwMode="auto">
            <a:xfrm flipH="1">
              <a:off x="2700338" y="3068638"/>
              <a:ext cx="86360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3"/>
            <p:cNvSpPr>
              <a:spLocks noChangeShapeType="1"/>
            </p:cNvSpPr>
            <p:nvPr/>
          </p:nvSpPr>
          <p:spPr bwMode="auto">
            <a:xfrm>
              <a:off x="3563938" y="3068638"/>
              <a:ext cx="1152525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" name="Object 14"/>
            <p:cNvGraphicFramePr>
              <a:graphicFrameLocks noChangeAspect="1"/>
            </p:cNvGraphicFramePr>
            <p:nvPr/>
          </p:nvGraphicFramePr>
          <p:xfrm>
            <a:off x="3264717" y="2321417"/>
            <a:ext cx="295275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743200" imgH="3352800" progId="Equation.DSMT4">
                    <p:embed/>
                  </p:oleObj>
                </mc:Choice>
                <mc:Fallback>
                  <p:oleObj name="Equation" r:id="rId2" imgW="2743200" imgH="33528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717" y="2321417"/>
                          <a:ext cx="295275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5"/>
            <p:cNvGraphicFramePr>
              <a:graphicFrameLocks noChangeAspect="1"/>
            </p:cNvGraphicFramePr>
            <p:nvPr/>
          </p:nvGraphicFramePr>
          <p:xfrm>
            <a:off x="3601243" y="1703388"/>
            <a:ext cx="3952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57600" imgH="3962400" progId="Equation.DSMT4">
                    <p:embed/>
                  </p:oleObj>
                </mc:Choice>
                <mc:Fallback>
                  <p:oleObj name="Equation" r:id="rId4" imgW="3657600" imgH="39624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1243" y="1703388"/>
                          <a:ext cx="395288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16"/>
            <p:cNvGraphicFramePr>
              <a:graphicFrameLocks noChangeAspect="1"/>
            </p:cNvGraphicFramePr>
            <p:nvPr/>
          </p:nvGraphicFramePr>
          <p:xfrm>
            <a:off x="3655754" y="2801144"/>
            <a:ext cx="3952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57600" imgH="3962400" progId="Equation.DSMT4">
                    <p:embed/>
                  </p:oleObj>
                </mc:Choice>
                <mc:Fallback>
                  <p:oleObj name="Equation" r:id="rId6" imgW="3657600" imgH="39624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5754" y="2801144"/>
                          <a:ext cx="395288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4915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6-21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一个连通无向图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边连通度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是使得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不连通或为平凡图所要删去的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最少的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边的数目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1822450" y="2276872"/>
          <a:ext cx="54991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901600" imgH="4876800" progId="Equation.DSMT4">
                  <p:embed/>
                </p:oleObj>
              </mc:Choice>
              <mc:Fallback>
                <p:oleObj name="Equation" r:id="rId2" imgW="50901600" imgH="4876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2276872"/>
                        <a:ext cx="54991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CA327901-8092-44B1-8CCD-DF429F88A832}" type="slidenum">
              <a:rPr lang="en-US" altLang="zh-CN" smtClean="0"/>
              <a:t>25</a:t>
            </a:fld>
            <a:endParaRPr lang="en-US" altLang="zh-CN"/>
          </a:p>
        </p:txBody>
      </p:sp>
      <p:sp>
        <p:nvSpPr>
          <p:cNvPr id="74756" name="Rectangle 4"/>
          <p:cNvSpPr>
            <a:spLocks noGrp="1" noRot="1" noChangeArrowheads="1"/>
          </p:cNvSpPr>
          <p:nvPr>
            <p:ph/>
          </p:nvPr>
        </p:nvSpPr>
        <p:spPr>
          <a:xfrm>
            <a:off x="215677" y="1298922"/>
            <a:ext cx="8712646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下面的定理是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H. Whitney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1932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年给出的关于点连通度、边连通度及最小度之间的联系的一个结论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6-6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是连通无向图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2908300" y="4220964"/>
          <a:ext cx="33274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84800" imgH="4876800" progId="Equation.DSMT4">
                  <p:embed/>
                </p:oleObj>
              </mc:Choice>
              <mc:Fallback>
                <p:oleObj name="Equation" r:id="rId2" imgW="307848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4220964"/>
                        <a:ext cx="33274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19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无向图的连通性</a:t>
              </a: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7153276" cy="631826"/>
            <a:chOff x="1135" y="1117"/>
            <a:chExt cx="4506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400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无向连通图的点连通度与边连通度</a:t>
              </a: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9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有向图的连通性</a:t>
              </a: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27</a:t>
            </a:fld>
            <a:endParaRPr lang="en-US" altLang="zh-CN"/>
          </a:p>
        </p:txBody>
      </p:sp>
      <p:sp>
        <p:nvSpPr>
          <p:cNvPr id="5120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有向图的连通性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无向图只有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连通与不连通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两种情况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而有向图存在多种连通特性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有向图的连通性分下述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种情形分别讨论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28</a:t>
            </a:fld>
            <a:endParaRPr lang="en-US" altLang="zh-CN"/>
          </a:p>
        </p:txBody>
      </p:sp>
      <p:sp>
        <p:nvSpPr>
          <p:cNvPr id="66564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强连通图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均相互可达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强连通图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(strongly connected digraph).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由定义易知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下图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(a)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是一个强连通图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特别地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平凡图是强连通图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29</a:t>
            </a:fld>
            <a:endParaRPr lang="en-US" altLang="zh-CN"/>
          </a:p>
        </p:txBody>
      </p:sp>
      <p:sp>
        <p:nvSpPr>
          <p:cNvPr id="5222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88415"/>
            <a:ext cx="8460105" cy="5164455"/>
          </a:xfrm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 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强连通图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49375" y="1628800"/>
            <a:ext cx="6408738" cy="2611438"/>
            <a:chOff x="971550" y="765175"/>
            <a:chExt cx="6408738" cy="2611438"/>
          </a:xfrm>
        </p:grpSpPr>
        <p:sp>
          <p:nvSpPr>
            <p:cNvPr id="52227" name="Oval 3"/>
            <p:cNvSpPr>
              <a:spLocks noChangeArrowheads="1"/>
            </p:cNvSpPr>
            <p:nvPr/>
          </p:nvSpPr>
          <p:spPr bwMode="auto">
            <a:xfrm>
              <a:off x="971550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28" name="Oval 4"/>
            <p:cNvSpPr>
              <a:spLocks noChangeArrowheads="1"/>
            </p:cNvSpPr>
            <p:nvPr/>
          </p:nvSpPr>
          <p:spPr bwMode="auto">
            <a:xfrm>
              <a:off x="2484438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29" name="Oval 5"/>
            <p:cNvSpPr>
              <a:spLocks noChangeArrowheads="1"/>
            </p:cNvSpPr>
            <p:nvPr/>
          </p:nvSpPr>
          <p:spPr bwMode="auto">
            <a:xfrm>
              <a:off x="971550" y="24923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0" name="Oval 6"/>
            <p:cNvSpPr>
              <a:spLocks noChangeArrowheads="1"/>
            </p:cNvSpPr>
            <p:nvPr/>
          </p:nvSpPr>
          <p:spPr bwMode="auto">
            <a:xfrm>
              <a:off x="2484438" y="24923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1" name="Oval 7"/>
            <p:cNvSpPr>
              <a:spLocks noChangeArrowheads="1"/>
            </p:cNvSpPr>
            <p:nvPr/>
          </p:nvSpPr>
          <p:spPr bwMode="auto">
            <a:xfrm>
              <a:off x="3276600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2" name="Oval 8"/>
            <p:cNvSpPr>
              <a:spLocks noChangeArrowheads="1"/>
            </p:cNvSpPr>
            <p:nvPr/>
          </p:nvSpPr>
          <p:spPr bwMode="auto">
            <a:xfrm>
              <a:off x="4643438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3" name="Oval 9"/>
            <p:cNvSpPr>
              <a:spLocks noChangeArrowheads="1"/>
            </p:cNvSpPr>
            <p:nvPr/>
          </p:nvSpPr>
          <p:spPr bwMode="auto">
            <a:xfrm>
              <a:off x="3275013" y="25638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4" name="Oval 10"/>
            <p:cNvSpPr>
              <a:spLocks noChangeArrowheads="1"/>
            </p:cNvSpPr>
            <p:nvPr/>
          </p:nvSpPr>
          <p:spPr bwMode="auto">
            <a:xfrm>
              <a:off x="4643438" y="25654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5" name="Oval 11"/>
            <p:cNvSpPr>
              <a:spLocks noChangeArrowheads="1"/>
            </p:cNvSpPr>
            <p:nvPr/>
          </p:nvSpPr>
          <p:spPr bwMode="auto">
            <a:xfrm>
              <a:off x="572452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6" name="Oval 12"/>
            <p:cNvSpPr>
              <a:spLocks noChangeArrowheads="1"/>
            </p:cNvSpPr>
            <p:nvPr/>
          </p:nvSpPr>
          <p:spPr bwMode="auto">
            <a:xfrm>
              <a:off x="723582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7" name="Oval 13"/>
            <p:cNvSpPr>
              <a:spLocks noChangeArrowheads="1"/>
            </p:cNvSpPr>
            <p:nvPr/>
          </p:nvSpPr>
          <p:spPr bwMode="auto">
            <a:xfrm>
              <a:off x="5795963" y="24923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8" name="Oval 14"/>
            <p:cNvSpPr>
              <a:spLocks noChangeArrowheads="1"/>
            </p:cNvSpPr>
            <p:nvPr/>
          </p:nvSpPr>
          <p:spPr bwMode="auto">
            <a:xfrm>
              <a:off x="7235825" y="24923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9" name="Line 15"/>
            <p:cNvSpPr>
              <a:spLocks noChangeShapeType="1"/>
            </p:cNvSpPr>
            <p:nvPr/>
          </p:nvSpPr>
          <p:spPr bwMode="auto">
            <a:xfrm>
              <a:off x="1042988" y="836613"/>
              <a:ext cx="1368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0" name="Line 16"/>
            <p:cNvSpPr>
              <a:spLocks noChangeShapeType="1"/>
            </p:cNvSpPr>
            <p:nvPr/>
          </p:nvSpPr>
          <p:spPr bwMode="auto">
            <a:xfrm>
              <a:off x="2555875" y="908050"/>
              <a:ext cx="0" cy="1441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1" name="Line 17"/>
            <p:cNvSpPr>
              <a:spLocks noChangeShapeType="1"/>
            </p:cNvSpPr>
            <p:nvPr/>
          </p:nvSpPr>
          <p:spPr bwMode="auto">
            <a:xfrm flipH="1">
              <a:off x="1187450" y="2565400"/>
              <a:ext cx="1223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2" name="Line 18"/>
            <p:cNvSpPr>
              <a:spLocks noChangeShapeType="1"/>
            </p:cNvSpPr>
            <p:nvPr/>
          </p:nvSpPr>
          <p:spPr bwMode="auto">
            <a:xfrm flipV="1">
              <a:off x="1042988" y="1052513"/>
              <a:ext cx="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44" name="Object 20"/>
            <p:cNvGraphicFramePr>
              <a:graphicFrameLocks noChangeAspect="1"/>
            </p:cNvGraphicFramePr>
            <p:nvPr/>
          </p:nvGraphicFramePr>
          <p:xfrm>
            <a:off x="1476375" y="2803525"/>
            <a:ext cx="593725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486400" imgH="4876800" progId="Equation.DSMT4">
                    <p:embed/>
                  </p:oleObj>
                </mc:Choice>
                <mc:Fallback>
                  <p:oleObj name="Equation" r:id="rId2" imgW="5486400" imgH="48768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375" y="2803525"/>
                          <a:ext cx="593725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5" name="Line 21"/>
            <p:cNvSpPr>
              <a:spLocks noChangeShapeType="1"/>
            </p:cNvSpPr>
            <p:nvPr/>
          </p:nvSpPr>
          <p:spPr bwMode="auto">
            <a:xfrm>
              <a:off x="3492500" y="836613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6" name="Line 22"/>
            <p:cNvSpPr>
              <a:spLocks noChangeShapeType="1"/>
            </p:cNvSpPr>
            <p:nvPr/>
          </p:nvSpPr>
          <p:spPr bwMode="auto">
            <a:xfrm>
              <a:off x="4716463" y="98107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7" name="Line 23"/>
            <p:cNvSpPr>
              <a:spLocks noChangeShapeType="1"/>
            </p:cNvSpPr>
            <p:nvPr/>
          </p:nvSpPr>
          <p:spPr bwMode="auto">
            <a:xfrm>
              <a:off x="3419475" y="2636838"/>
              <a:ext cx="1152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8" name="Line 24"/>
            <p:cNvSpPr>
              <a:spLocks noChangeShapeType="1"/>
            </p:cNvSpPr>
            <p:nvPr/>
          </p:nvSpPr>
          <p:spPr bwMode="auto">
            <a:xfrm flipV="1">
              <a:off x="3348038" y="1052513"/>
              <a:ext cx="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49" name="Object 25"/>
            <p:cNvGraphicFramePr>
              <a:graphicFrameLocks noChangeAspect="1"/>
            </p:cNvGraphicFramePr>
            <p:nvPr/>
          </p:nvGraphicFramePr>
          <p:xfrm>
            <a:off x="3779838" y="2852738"/>
            <a:ext cx="593725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486400" imgH="4876800" progId="Equation.DSMT4">
                    <p:embed/>
                  </p:oleObj>
                </mc:Choice>
                <mc:Fallback>
                  <p:oleObj name="Equation" r:id="rId4" imgW="5486400" imgH="48768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838" y="2852738"/>
                          <a:ext cx="593725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0" name="Line 26"/>
            <p:cNvSpPr>
              <a:spLocks noChangeShapeType="1"/>
            </p:cNvSpPr>
            <p:nvPr/>
          </p:nvSpPr>
          <p:spPr bwMode="auto">
            <a:xfrm>
              <a:off x="5867400" y="836613"/>
              <a:ext cx="1225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1" name="Line 27"/>
            <p:cNvSpPr>
              <a:spLocks noChangeShapeType="1"/>
            </p:cNvSpPr>
            <p:nvPr/>
          </p:nvSpPr>
          <p:spPr bwMode="auto">
            <a:xfrm flipV="1">
              <a:off x="7308850" y="1052513"/>
              <a:ext cx="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2" name="Line 28"/>
            <p:cNvSpPr>
              <a:spLocks noChangeShapeType="1"/>
            </p:cNvSpPr>
            <p:nvPr/>
          </p:nvSpPr>
          <p:spPr bwMode="auto">
            <a:xfrm flipH="1">
              <a:off x="6011863" y="2565400"/>
              <a:ext cx="10810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3" name="Line 29"/>
            <p:cNvSpPr>
              <a:spLocks noChangeShapeType="1"/>
            </p:cNvSpPr>
            <p:nvPr/>
          </p:nvSpPr>
          <p:spPr bwMode="auto">
            <a:xfrm>
              <a:off x="5795963" y="1052513"/>
              <a:ext cx="0" cy="1296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54" name="Object 30"/>
            <p:cNvGraphicFramePr>
              <a:graphicFrameLocks noChangeAspect="1"/>
            </p:cNvGraphicFramePr>
            <p:nvPr/>
          </p:nvGraphicFramePr>
          <p:xfrm>
            <a:off x="6316663" y="2852738"/>
            <a:ext cx="560387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181600" imgH="4876800" progId="Equation.DSMT4">
                    <p:embed/>
                  </p:oleObj>
                </mc:Choice>
                <mc:Fallback>
                  <p:oleObj name="Equation" r:id="rId6" imgW="5181600" imgH="48768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6663" y="2852738"/>
                          <a:ext cx="560387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30</a:t>
            </a:fld>
            <a:endParaRPr lang="en-US" altLang="zh-CN"/>
          </a:p>
        </p:txBody>
      </p:sp>
      <p:sp>
        <p:nvSpPr>
          <p:cNvPr id="5325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6-7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≥2)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强连通当且仅当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中存在一条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它通过所有节点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31</a:t>
            </a:fld>
            <a:endParaRPr lang="en-US" altLang="zh-CN"/>
          </a:p>
        </p:txBody>
      </p:sp>
      <p:sp>
        <p:nvSpPr>
          <p:cNvPr id="68612" name="Rectangle 4"/>
          <p:cNvSpPr>
            <a:spLocks noGrp="1" noRot="1" noChangeArrowheads="1"/>
          </p:cNvSpPr>
          <p:nvPr>
            <p:ph/>
          </p:nvPr>
        </p:nvSpPr>
        <p:spPr>
          <a:xfrm>
            <a:off x="287685" y="1287522"/>
            <a:ext cx="8568630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的极大的强连通子图称为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强连通分支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(strongly connected component).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</a:t>
            </a:r>
            <a:r>
              <a:rPr lang="en-US" altLang="zh-CN" dirty="0" err="1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子图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;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(ii)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强连通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;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(iii)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极大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32</a:t>
            </a:fld>
            <a:endParaRPr lang="en-US" altLang="zh-CN"/>
          </a:p>
        </p:txBody>
      </p:sp>
      <p:sp>
        <p:nvSpPr>
          <p:cNvPr id="5427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56666"/>
            <a:ext cx="8459788" cy="5196522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28002" y="1474398"/>
            <a:ext cx="4692651" cy="2274483"/>
            <a:chOff x="1074737" y="404813"/>
            <a:chExt cx="4692651" cy="2274483"/>
          </a:xfrm>
        </p:grpSpPr>
        <p:sp>
          <p:nvSpPr>
            <p:cNvPr id="54275" name="Oval 3"/>
            <p:cNvSpPr>
              <a:spLocks noChangeArrowheads="1"/>
            </p:cNvSpPr>
            <p:nvPr/>
          </p:nvSpPr>
          <p:spPr bwMode="auto">
            <a:xfrm>
              <a:off x="2051050" y="6921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76" name="Oval 4"/>
            <p:cNvSpPr>
              <a:spLocks noChangeArrowheads="1"/>
            </p:cNvSpPr>
            <p:nvPr/>
          </p:nvSpPr>
          <p:spPr bwMode="auto">
            <a:xfrm>
              <a:off x="1403350" y="22764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77" name="Oval 5"/>
            <p:cNvSpPr>
              <a:spLocks noChangeArrowheads="1"/>
            </p:cNvSpPr>
            <p:nvPr/>
          </p:nvSpPr>
          <p:spPr bwMode="auto">
            <a:xfrm>
              <a:off x="2627313" y="22764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78" name="Oval 6"/>
            <p:cNvSpPr>
              <a:spLocks noChangeArrowheads="1"/>
            </p:cNvSpPr>
            <p:nvPr/>
          </p:nvSpPr>
          <p:spPr bwMode="auto">
            <a:xfrm>
              <a:off x="3708400" y="6921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79" name="Oval 7"/>
            <p:cNvSpPr>
              <a:spLocks noChangeArrowheads="1"/>
            </p:cNvSpPr>
            <p:nvPr/>
          </p:nvSpPr>
          <p:spPr bwMode="auto">
            <a:xfrm>
              <a:off x="4427538" y="22050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0" name="Oval 8"/>
            <p:cNvSpPr>
              <a:spLocks noChangeArrowheads="1"/>
            </p:cNvSpPr>
            <p:nvPr/>
          </p:nvSpPr>
          <p:spPr bwMode="auto">
            <a:xfrm>
              <a:off x="529272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1" name="Line 9"/>
            <p:cNvSpPr>
              <a:spLocks noChangeShapeType="1"/>
            </p:cNvSpPr>
            <p:nvPr/>
          </p:nvSpPr>
          <p:spPr bwMode="auto">
            <a:xfrm flipH="1">
              <a:off x="1547813" y="908050"/>
              <a:ext cx="503237" cy="1225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2" name="Line 10"/>
            <p:cNvSpPr>
              <a:spLocks noChangeShapeType="1"/>
            </p:cNvSpPr>
            <p:nvPr/>
          </p:nvSpPr>
          <p:spPr bwMode="auto">
            <a:xfrm>
              <a:off x="1547813" y="2349500"/>
              <a:ext cx="10080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3" name="Line 11"/>
            <p:cNvSpPr>
              <a:spLocks noChangeShapeType="1"/>
            </p:cNvSpPr>
            <p:nvPr/>
          </p:nvSpPr>
          <p:spPr bwMode="auto">
            <a:xfrm flipH="1" flipV="1">
              <a:off x="2195513" y="908050"/>
              <a:ext cx="431800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4" name="Line 12"/>
            <p:cNvSpPr>
              <a:spLocks noChangeShapeType="1"/>
            </p:cNvSpPr>
            <p:nvPr/>
          </p:nvSpPr>
          <p:spPr bwMode="auto">
            <a:xfrm>
              <a:off x="2195513" y="765175"/>
              <a:ext cx="1368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5" name="Line 13"/>
            <p:cNvSpPr>
              <a:spLocks noChangeShapeType="1"/>
            </p:cNvSpPr>
            <p:nvPr/>
          </p:nvSpPr>
          <p:spPr bwMode="auto">
            <a:xfrm>
              <a:off x="3851275" y="908050"/>
              <a:ext cx="576263" cy="1152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6" name="Line 14"/>
            <p:cNvSpPr>
              <a:spLocks noChangeShapeType="1"/>
            </p:cNvSpPr>
            <p:nvPr/>
          </p:nvSpPr>
          <p:spPr bwMode="auto">
            <a:xfrm flipV="1">
              <a:off x="4572000" y="981075"/>
              <a:ext cx="720725" cy="1152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4287" name="Object 15"/>
            <p:cNvGraphicFramePr>
              <a:graphicFrameLocks noChangeAspect="1"/>
            </p:cNvGraphicFramePr>
            <p:nvPr/>
          </p:nvGraphicFramePr>
          <p:xfrm>
            <a:off x="1742281" y="482600"/>
            <a:ext cx="2301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33600" imgH="3962400" progId="Equation.DSMT4">
                    <p:embed/>
                  </p:oleObj>
                </mc:Choice>
                <mc:Fallback>
                  <p:oleObj name="Equation" r:id="rId2" imgW="2133600" imgH="39624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2281" y="482600"/>
                          <a:ext cx="230188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8" name="Object 16"/>
            <p:cNvGraphicFramePr>
              <a:graphicFrameLocks noChangeAspect="1"/>
            </p:cNvGraphicFramePr>
            <p:nvPr/>
          </p:nvGraphicFramePr>
          <p:xfrm>
            <a:off x="1074737" y="2149013"/>
            <a:ext cx="3286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048000" imgH="3962400" progId="Equation.DSMT4">
                    <p:embed/>
                  </p:oleObj>
                </mc:Choice>
                <mc:Fallback>
                  <p:oleObj name="Equation" r:id="rId4" imgW="3048000" imgH="39624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4737" y="2149013"/>
                          <a:ext cx="328613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9" name="Object 17"/>
            <p:cNvGraphicFramePr>
              <a:graphicFrameLocks noChangeAspect="1"/>
            </p:cNvGraphicFramePr>
            <p:nvPr/>
          </p:nvGraphicFramePr>
          <p:xfrm>
            <a:off x="2797970" y="2222096"/>
            <a:ext cx="2952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43200" imgH="4267200" progId="Equation.DSMT4">
                    <p:embed/>
                  </p:oleObj>
                </mc:Choice>
                <mc:Fallback>
                  <p:oleObj name="Equation" r:id="rId6" imgW="2743200" imgH="42672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970" y="2222096"/>
                          <a:ext cx="295275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0" name="Object 18"/>
            <p:cNvGraphicFramePr>
              <a:graphicFrameLocks noChangeAspect="1"/>
            </p:cNvGraphicFramePr>
            <p:nvPr/>
          </p:nvGraphicFramePr>
          <p:xfrm>
            <a:off x="3875088" y="404813"/>
            <a:ext cx="330200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048000" imgH="3962400" progId="Equation.DSMT4">
                    <p:embed/>
                  </p:oleObj>
                </mc:Choice>
                <mc:Fallback>
                  <p:oleObj name="Equation" r:id="rId8" imgW="3048000" imgH="39624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5088" y="404813"/>
                          <a:ext cx="330200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1" name="Object 19"/>
            <p:cNvGraphicFramePr>
              <a:graphicFrameLocks noChangeAspect="1"/>
            </p:cNvGraphicFramePr>
            <p:nvPr/>
          </p:nvGraphicFramePr>
          <p:xfrm>
            <a:off x="4511674" y="2205037"/>
            <a:ext cx="2952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43200" imgH="4267200" progId="Equation.DSMT4">
                    <p:embed/>
                  </p:oleObj>
                </mc:Choice>
                <mc:Fallback>
                  <p:oleObj name="Equation" r:id="rId10" imgW="2743200" imgH="42672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1674" y="2205037"/>
                          <a:ext cx="295275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2" name="Object 20"/>
            <p:cNvGraphicFramePr>
              <a:graphicFrameLocks noChangeAspect="1"/>
            </p:cNvGraphicFramePr>
            <p:nvPr/>
          </p:nvGraphicFramePr>
          <p:xfrm>
            <a:off x="5437188" y="449262"/>
            <a:ext cx="330200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048000" imgH="4267200" progId="Equation.DSMT4">
                    <p:embed/>
                  </p:oleObj>
                </mc:Choice>
                <mc:Fallback>
                  <p:oleObj name="Equation" r:id="rId12" imgW="3048000" imgH="42672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7188" y="449262"/>
                          <a:ext cx="330200" cy="458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293" name="Object 21"/>
          <p:cNvGraphicFramePr>
            <a:graphicFrameLocks noChangeAspect="1"/>
          </p:cNvGraphicFramePr>
          <p:nvPr/>
        </p:nvGraphicFramePr>
        <p:xfrm>
          <a:off x="1252193" y="4854819"/>
          <a:ext cx="14144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106400" imgH="4876800" progId="Equation.DSMT4">
                  <p:embed/>
                </p:oleObj>
              </mc:Choice>
              <mc:Fallback>
                <p:oleObj name="Equation" r:id="rId14" imgW="13106400" imgH="4876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193" y="4854819"/>
                        <a:ext cx="141446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4" name="Object 22"/>
          <p:cNvGraphicFramePr>
            <a:graphicFrameLocks noChangeAspect="1"/>
          </p:cNvGraphicFramePr>
          <p:nvPr/>
        </p:nvGraphicFramePr>
        <p:xfrm>
          <a:off x="3226606" y="4861314"/>
          <a:ext cx="85566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924800" imgH="4876800" progId="Equation.DSMT4">
                  <p:embed/>
                </p:oleObj>
              </mc:Choice>
              <mc:Fallback>
                <p:oleObj name="Equation" r:id="rId16" imgW="7924800" imgH="4876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6606" y="4861314"/>
                        <a:ext cx="855662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5" name="Object 23"/>
          <p:cNvGraphicFramePr>
            <a:graphicFrameLocks noChangeAspect="1"/>
          </p:cNvGraphicFramePr>
          <p:nvPr/>
        </p:nvGraphicFramePr>
        <p:xfrm>
          <a:off x="6142037" y="4861314"/>
          <a:ext cx="8223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20000" imgH="4876800" progId="Equation.DSMT4">
                  <p:embed/>
                </p:oleObj>
              </mc:Choice>
              <mc:Fallback>
                <p:oleObj name="Equation" r:id="rId18" imgW="7620000" imgH="4876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037" y="4861314"/>
                        <a:ext cx="8223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6" name="Object 24"/>
          <p:cNvGraphicFramePr>
            <a:graphicFrameLocks noChangeAspect="1"/>
          </p:cNvGraphicFramePr>
          <p:nvPr/>
        </p:nvGraphicFramePr>
        <p:xfrm>
          <a:off x="4690251" y="4861314"/>
          <a:ext cx="8223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20000" imgH="4876800" progId="Equation.DSMT4">
                  <p:embed/>
                </p:oleObj>
              </mc:Choice>
              <mc:Fallback>
                <p:oleObj name="Equation" r:id="rId20" imgW="7620000" imgH="48768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0251" y="4861314"/>
                        <a:ext cx="8223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33</a:t>
            </a:fld>
            <a:endParaRPr lang="en-US" altLang="zh-CN"/>
          </a:p>
        </p:txBody>
      </p:sp>
      <p:sp>
        <p:nvSpPr>
          <p:cNvPr id="70660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6-8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的任意节点都位于且仅位于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的一个强连通分支中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4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34</a:t>
            </a:fld>
            <a:endParaRPr lang="en-US" altLang="zh-CN"/>
          </a:p>
        </p:txBody>
      </p:sp>
      <p:sp>
        <p:nvSpPr>
          <p:cNvPr id="5529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单向连通图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对于任意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或者从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单向连通图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(unilateral connected digraph). </a:t>
            </a: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35</a:t>
            </a:fld>
            <a:endParaRPr lang="en-US" altLang="zh-CN"/>
          </a:p>
        </p:txBody>
      </p:sp>
      <p:sp>
        <p:nvSpPr>
          <p:cNvPr id="5222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88415"/>
            <a:ext cx="8460105" cy="5164455"/>
          </a:xfrm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                        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单向连通图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49375" y="1628800"/>
            <a:ext cx="6408738" cy="2611438"/>
            <a:chOff x="971550" y="765175"/>
            <a:chExt cx="6408738" cy="2611438"/>
          </a:xfrm>
        </p:grpSpPr>
        <p:sp>
          <p:nvSpPr>
            <p:cNvPr id="52227" name="Oval 3"/>
            <p:cNvSpPr>
              <a:spLocks noChangeArrowheads="1"/>
            </p:cNvSpPr>
            <p:nvPr/>
          </p:nvSpPr>
          <p:spPr bwMode="auto">
            <a:xfrm>
              <a:off x="971550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28" name="Oval 4"/>
            <p:cNvSpPr>
              <a:spLocks noChangeArrowheads="1"/>
            </p:cNvSpPr>
            <p:nvPr/>
          </p:nvSpPr>
          <p:spPr bwMode="auto">
            <a:xfrm>
              <a:off x="2484438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29" name="Oval 5"/>
            <p:cNvSpPr>
              <a:spLocks noChangeArrowheads="1"/>
            </p:cNvSpPr>
            <p:nvPr/>
          </p:nvSpPr>
          <p:spPr bwMode="auto">
            <a:xfrm>
              <a:off x="971550" y="24923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0" name="Oval 6"/>
            <p:cNvSpPr>
              <a:spLocks noChangeArrowheads="1"/>
            </p:cNvSpPr>
            <p:nvPr/>
          </p:nvSpPr>
          <p:spPr bwMode="auto">
            <a:xfrm>
              <a:off x="2484438" y="24923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1" name="Oval 7"/>
            <p:cNvSpPr>
              <a:spLocks noChangeArrowheads="1"/>
            </p:cNvSpPr>
            <p:nvPr/>
          </p:nvSpPr>
          <p:spPr bwMode="auto">
            <a:xfrm>
              <a:off x="3276600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2" name="Oval 8"/>
            <p:cNvSpPr>
              <a:spLocks noChangeArrowheads="1"/>
            </p:cNvSpPr>
            <p:nvPr/>
          </p:nvSpPr>
          <p:spPr bwMode="auto">
            <a:xfrm>
              <a:off x="4643438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3" name="Oval 9"/>
            <p:cNvSpPr>
              <a:spLocks noChangeArrowheads="1"/>
            </p:cNvSpPr>
            <p:nvPr/>
          </p:nvSpPr>
          <p:spPr bwMode="auto">
            <a:xfrm>
              <a:off x="3275013" y="25638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4" name="Oval 10"/>
            <p:cNvSpPr>
              <a:spLocks noChangeArrowheads="1"/>
            </p:cNvSpPr>
            <p:nvPr/>
          </p:nvSpPr>
          <p:spPr bwMode="auto">
            <a:xfrm>
              <a:off x="4643438" y="25654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5" name="Oval 11"/>
            <p:cNvSpPr>
              <a:spLocks noChangeArrowheads="1"/>
            </p:cNvSpPr>
            <p:nvPr/>
          </p:nvSpPr>
          <p:spPr bwMode="auto">
            <a:xfrm>
              <a:off x="572452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6" name="Oval 12"/>
            <p:cNvSpPr>
              <a:spLocks noChangeArrowheads="1"/>
            </p:cNvSpPr>
            <p:nvPr/>
          </p:nvSpPr>
          <p:spPr bwMode="auto">
            <a:xfrm>
              <a:off x="723582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7" name="Oval 13"/>
            <p:cNvSpPr>
              <a:spLocks noChangeArrowheads="1"/>
            </p:cNvSpPr>
            <p:nvPr/>
          </p:nvSpPr>
          <p:spPr bwMode="auto">
            <a:xfrm>
              <a:off x="5795963" y="24923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8" name="Oval 14"/>
            <p:cNvSpPr>
              <a:spLocks noChangeArrowheads="1"/>
            </p:cNvSpPr>
            <p:nvPr/>
          </p:nvSpPr>
          <p:spPr bwMode="auto">
            <a:xfrm>
              <a:off x="7235825" y="24923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9" name="Line 15"/>
            <p:cNvSpPr>
              <a:spLocks noChangeShapeType="1"/>
            </p:cNvSpPr>
            <p:nvPr/>
          </p:nvSpPr>
          <p:spPr bwMode="auto">
            <a:xfrm>
              <a:off x="1042988" y="836613"/>
              <a:ext cx="1368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0" name="Line 16"/>
            <p:cNvSpPr>
              <a:spLocks noChangeShapeType="1"/>
            </p:cNvSpPr>
            <p:nvPr/>
          </p:nvSpPr>
          <p:spPr bwMode="auto">
            <a:xfrm>
              <a:off x="2555875" y="908050"/>
              <a:ext cx="0" cy="1441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1" name="Line 17"/>
            <p:cNvSpPr>
              <a:spLocks noChangeShapeType="1"/>
            </p:cNvSpPr>
            <p:nvPr/>
          </p:nvSpPr>
          <p:spPr bwMode="auto">
            <a:xfrm flipH="1">
              <a:off x="1187450" y="2565400"/>
              <a:ext cx="1223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2" name="Line 18"/>
            <p:cNvSpPr>
              <a:spLocks noChangeShapeType="1"/>
            </p:cNvSpPr>
            <p:nvPr/>
          </p:nvSpPr>
          <p:spPr bwMode="auto">
            <a:xfrm flipV="1">
              <a:off x="1042988" y="1052513"/>
              <a:ext cx="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44" name="Object 20"/>
            <p:cNvGraphicFramePr>
              <a:graphicFrameLocks noChangeAspect="1"/>
            </p:cNvGraphicFramePr>
            <p:nvPr/>
          </p:nvGraphicFramePr>
          <p:xfrm>
            <a:off x="1476375" y="2803525"/>
            <a:ext cx="593725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486400" imgH="4876800" progId="Equation.DSMT4">
                    <p:embed/>
                  </p:oleObj>
                </mc:Choice>
                <mc:Fallback>
                  <p:oleObj name="Equation" r:id="rId2" imgW="5486400" imgH="4876800" progId="Equation.DSMT4">
                    <p:embed/>
                    <p:pic>
                      <p:nvPicPr>
                        <p:cNvPr id="52244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375" y="2803525"/>
                          <a:ext cx="593725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5" name="Line 21"/>
            <p:cNvSpPr>
              <a:spLocks noChangeShapeType="1"/>
            </p:cNvSpPr>
            <p:nvPr/>
          </p:nvSpPr>
          <p:spPr bwMode="auto">
            <a:xfrm>
              <a:off x="3492500" y="836613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6" name="Line 22"/>
            <p:cNvSpPr>
              <a:spLocks noChangeShapeType="1"/>
            </p:cNvSpPr>
            <p:nvPr/>
          </p:nvSpPr>
          <p:spPr bwMode="auto">
            <a:xfrm>
              <a:off x="4716463" y="98107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7" name="Line 23"/>
            <p:cNvSpPr>
              <a:spLocks noChangeShapeType="1"/>
            </p:cNvSpPr>
            <p:nvPr/>
          </p:nvSpPr>
          <p:spPr bwMode="auto">
            <a:xfrm>
              <a:off x="3419475" y="2636838"/>
              <a:ext cx="1152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8" name="Line 24"/>
            <p:cNvSpPr>
              <a:spLocks noChangeShapeType="1"/>
            </p:cNvSpPr>
            <p:nvPr/>
          </p:nvSpPr>
          <p:spPr bwMode="auto">
            <a:xfrm flipV="1">
              <a:off x="3348038" y="1052513"/>
              <a:ext cx="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49" name="Object 25"/>
            <p:cNvGraphicFramePr>
              <a:graphicFrameLocks noChangeAspect="1"/>
            </p:cNvGraphicFramePr>
            <p:nvPr/>
          </p:nvGraphicFramePr>
          <p:xfrm>
            <a:off x="3779838" y="2852738"/>
            <a:ext cx="593725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486400" imgH="4876800" progId="Equation.DSMT4">
                    <p:embed/>
                  </p:oleObj>
                </mc:Choice>
                <mc:Fallback>
                  <p:oleObj name="Equation" r:id="rId4" imgW="5486400" imgH="4876800" progId="Equation.DSMT4">
                    <p:embed/>
                    <p:pic>
                      <p:nvPicPr>
                        <p:cNvPr id="5224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838" y="2852738"/>
                          <a:ext cx="593725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50" name="Line 26"/>
            <p:cNvSpPr>
              <a:spLocks noChangeShapeType="1"/>
            </p:cNvSpPr>
            <p:nvPr/>
          </p:nvSpPr>
          <p:spPr bwMode="auto">
            <a:xfrm>
              <a:off x="5867400" y="836613"/>
              <a:ext cx="1225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1" name="Line 27"/>
            <p:cNvSpPr>
              <a:spLocks noChangeShapeType="1"/>
            </p:cNvSpPr>
            <p:nvPr/>
          </p:nvSpPr>
          <p:spPr bwMode="auto">
            <a:xfrm flipV="1">
              <a:off x="7308850" y="1052513"/>
              <a:ext cx="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2" name="Line 28"/>
            <p:cNvSpPr>
              <a:spLocks noChangeShapeType="1"/>
            </p:cNvSpPr>
            <p:nvPr/>
          </p:nvSpPr>
          <p:spPr bwMode="auto">
            <a:xfrm flipH="1">
              <a:off x="6011863" y="2565400"/>
              <a:ext cx="10810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3" name="Line 29"/>
            <p:cNvSpPr>
              <a:spLocks noChangeShapeType="1"/>
            </p:cNvSpPr>
            <p:nvPr/>
          </p:nvSpPr>
          <p:spPr bwMode="auto">
            <a:xfrm>
              <a:off x="5795963" y="1052513"/>
              <a:ext cx="0" cy="1296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54" name="Object 30"/>
            <p:cNvGraphicFramePr>
              <a:graphicFrameLocks noChangeAspect="1"/>
            </p:cNvGraphicFramePr>
            <p:nvPr/>
          </p:nvGraphicFramePr>
          <p:xfrm>
            <a:off x="6316663" y="2852738"/>
            <a:ext cx="560387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181600" imgH="4876800" progId="Equation.DSMT4">
                    <p:embed/>
                  </p:oleObj>
                </mc:Choice>
                <mc:Fallback>
                  <p:oleObj name="Equation" r:id="rId6" imgW="5181600" imgH="4876800" progId="Equation.DSMT4">
                    <p:embed/>
                    <p:pic>
                      <p:nvPicPr>
                        <p:cNvPr id="52254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6663" y="2852738"/>
                          <a:ext cx="560387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722200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36</a:t>
            </a:fld>
            <a:endParaRPr lang="en-US" altLang="zh-CN"/>
          </a:p>
        </p:txBody>
      </p:sp>
      <p:sp>
        <p:nvSpPr>
          <p:cNvPr id="72708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下述定理对确定有向图的单向连通分支是非常有用的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6-9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单向连通当且仅当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中存在一条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它通过所有节点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37</a:t>
            </a:fld>
            <a:endParaRPr lang="en-US" altLang="zh-CN"/>
          </a:p>
        </p:txBody>
      </p:sp>
      <p:sp>
        <p:nvSpPr>
          <p:cNvPr id="5632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6-26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的极大的单向连通子图称为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单向连通分支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下图有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个单向连通分支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[1, 2, 3, 4, 5];   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[5, 6].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38</a:t>
            </a:fld>
            <a:endParaRPr lang="en-US" altLang="zh-CN"/>
          </a:p>
        </p:txBody>
      </p:sp>
      <p:sp>
        <p:nvSpPr>
          <p:cNvPr id="7475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注意：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有向图的节点，可以位于不同的单向连通分支中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</p:txBody>
      </p:sp>
      <p:graphicFrame>
        <p:nvGraphicFramePr>
          <p:cNvPr id="74773" name="Object 21"/>
          <p:cNvGraphicFramePr>
            <a:graphicFrameLocks noChangeAspect="1"/>
          </p:cNvGraphicFramePr>
          <p:nvPr/>
        </p:nvGraphicFramePr>
        <p:xfrm>
          <a:off x="1905706" y="4028484"/>
          <a:ext cx="20732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202400" imgH="4876800" progId="Equation.DSMT4">
                  <p:embed/>
                </p:oleObj>
              </mc:Choice>
              <mc:Fallback>
                <p:oleObj name="Equation" r:id="rId2" imgW="19202400" imgH="4876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706" y="4028484"/>
                        <a:ext cx="20732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5" name="Object 23"/>
          <p:cNvGraphicFramePr>
            <a:graphicFrameLocks noChangeAspect="1"/>
          </p:cNvGraphicFramePr>
          <p:nvPr/>
        </p:nvGraphicFramePr>
        <p:xfrm>
          <a:off x="4902905" y="4038152"/>
          <a:ext cx="115093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000" imgH="4876800" progId="Equation.DSMT4">
                  <p:embed/>
                </p:oleObj>
              </mc:Choice>
              <mc:Fallback>
                <p:oleObj name="Equation" r:id="rId4" imgW="10668000" imgH="4876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905" y="4038152"/>
                        <a:ext cx="115093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" name="组合 62"/>
          <p:cNvGrpSpPr/>
          <p:nvPr/>
        </p:nvGrpSpPr>
        <p:grpSpPr>
          <a:xfrm>
            <a:off x="1893800" y="1370417"/>
            <a:ext cx="4692651" cy="2274483"/>
            <a:chOff x="1074737" y="404813"/>
            <a:chExt cx="4692651" cy="2274483"/>
          </a:xfrm>
        </p:grpSpPr>
        <p:sp>
          <p:nvSpPr>
            <p:cNvPr id="64" name="Oval 3"/>
            <p:cNvSpPr>
              <a:spLocks noChangeArrowheads="1"/>
            </p:cNvSpPr>
            <p:nvPr/>
          </p:nvSpPr>
          <p:spPr bwMode="auto">
            <a:xfrm>
              <a:off x="2051050" y="6921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Oval 4"/>
            <p:cNvSpPr>
              <a:spLocks noChangeArrowheads="1"/>
            </p:cNvSpPr>
            <p:nvPr/>
          </p:nvSpPr>
          <p:spPr bwMode="auto">
            <a:xfrm>
              <a:off x="1403350" y="22764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Oval 5"/>
            <p:cNvSpPr>
              <a:spLocks noChangeArrowheads="1"/>
            </p:cNvSpPr>
            <p:nvPr/>
          </p:nvSpPr>
          <p:spPr bwMode="auto">
            <a:xfrm>
              <a:off x="2627313" y="22764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Oval 6"/>
            <p:cNvSpPr>
              <a:spLocks noChangeArrowheads="1"/>
            </p:cNvSpPr>
            <p:nvPr/>
          </p:nvSpPr>
          <p:spPr bwMode="auto">
            <a:xfrm>
              <a:off x="3708400" y="6921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Oval 7"/>
            <p:cNvSpPr>
              <a:spLocks noChangeArrowheads="1"/>
            </p:cNvSpPr>
            <p:nvPr/>
          </p:nvSpPr>
          <p:spPr bwMode="auto">
            <a:xfrm>
              <a:off x="4427538" y="22050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Oval 8"/>
            <p:cNvSpPr>
              <a:spLocks noChangeArrowheads="1"/>
            </p:cNvSpPr>
            <p:nvPr/>
          </p:nvSpPr>
          <p:spPr bwMode="auto">
            <a:xfrm>
              <a:off x="529272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9"/>
            <p:cNvSpPr>
              <a:spLocks noChangeShapeType="1"/>
            </p:cNvSpPr>
            <p:nvPr/>
          </p:nvSpPr>
          <p:spPr bwMode="auto">
            <a:xfrm flipH="1">
              <a:off x="1547813" y="908050"/>
              <a:ext cx="503237" cy="1225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0"/>
            <p:cNvSpPr>
              <a:spLocks noChangeShapeType="1"/>
            </p:cNvSpPr>
            <p:nvPr/>
          </p:nvSpPr>
          <p:spPr bwMode="auto">
            <a:xfrm>
              <a:off x="1547813" y="2349500"/>
              <a:ext cx="10080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1"/>
            <p:cNvSpPr>
              <a:spLocks noChangeShapeType="1"/>
            </p:cNvSpPr>
            <p:nvPr/>
          </p:nvSpPr>
          <p:spPr bwMode="auto">
            <a:xfrm flipH="1" flipV="1">
              <a:off x="2195513" y="908050"/>
              <a:ext cx="431800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>
              <a:off x="2195513" y="765175"/>
              <a:ext cx="1368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13"/>
            <p:cNvSpPr>
              <a:spLocks noChangeShapeType="1"/>
            </p:cNvSpPr>
            <p:nvPr/>
          </p:nvSpPr>
          <p:spPr bwMode="auto">
            <a:xfrm>
              <a:off x="3851275" y="908050"/>
              <a:ext cx="576263" cy="1152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14"/>
            <p:cNvSpPr>
              <a:spLocks noChangeShapeType="1"/>
            </p:cNvSpPr>
            <p:nvPr/>
          </p:nvSpPr>
          <p:spPr bwMode="auto">
            <a:xfrm flipV="1">
              <a:off x="4572000" y="981075"/>
              <a:ext cx="720725" cy="1152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6" name="Object 15"/>
            <p:cNvGraphicFramePr>
              <a:graphicFrameLocks noChangeAspect="1"/>
            </p:cNvGraphicFramePr>
            <p:nvPr/>
          </p:nvGraphicFramePr>
          <p:xfrm>
            <a:off x="1742281" y="482600"/>
            <a:ext cx="2301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33600" imgH="3962400" progId="Equation.DSMT4">
                    <p:embed/>
                  </p:oleObj>
                </mc:Choice>
                <mc:Fallback>
                  <p:oleObj name="Equation" r:id="rId6" imgW="2133600" imgH="39624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2281" y="482600"/>
                          <a:ext cx="230188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16"/>
            <p:cNvGraphicFramePr>
              <a:graphicFrameLocks noChangeAspect="1"/>
            </p:cNvGraphicFramePr>
            <p:nvPr/>
          </p:nvGraphicFramePr>
          <p:xfrm>
            <a:off x="1074737" y="2149013"/>
            <a:ext cx="3286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048000" imgH="3962400" progId="Equation.DSMT4">
                    <p:embed/>
                  </p:oleObj>
                </mc:Choice>
                <mc:Fallback>
                  <p:oleObj name="Equation" r:id="rId8" imgW="3048000" imgH="39624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4737" y="2149013"/>
                          <a:ext cx="328613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17"/>
            <p:cNvGraphicFramePr>
              <a:graphicFrameLocks noChangeAspect="1"/>
            </p:cNvGraphicFramePr>
            <p:nvPr/>
          </p:nvGraphicFramePr>
          <p:xfrm>
            <a:off x="2797970" y="2222096"/>
            <a:ext cx="2952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43200" imgH="4267200" progId="Equation.DSMT4">
                    <p:embed/>
                  </p:oleObj>
                </mc:Choice>
                <mc:Fallback>
                  <p:oleObj name="Equation" r:id="rId10" imgW="2743200" imgH="42672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970" y="2222096"/>
                          <a:ext cx="295275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Object 18"/>
            <p:cNvGraphicFramePr>
              <a:graphicFrameLocks noChangeAspect="1"/>
            </p:cNvGraphicFramePr>
            <p:nvPr/>
          </p:nvGraphicFramePr>
          <p:xfrm>
            <a:off x="3875088" y="404813"/>
            <a:ext cx="330200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048000" imgH="3962400" progId="Equation.DSMT4">
                    <p:embed/>
                  </p:oleObj>
                </mc:Choice>
                <mc:Fallback>
                  <p:oleObj name="Equation" r:id="rId12" imgW="3048000" imgH="39624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5088" y="404813"/>
                          <a:ext cx="330200" cy="42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19"/>
            <p:cNvGraphicFramePr>
              <a:graphicFrameLocks noChangeAspect="1"/>
            </p:cNvGraphicFramePr>
            <p:nvPr/>
          </p:nvGraphicFramePr>
          <p:xfrm>
            <a:off x="4511674" y="2205037"/>
            <a:ext cx="2952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743200" imgH="4267200" progId="Equation.DSMT4">
                    <p:embed/>
                  </p:oleObj>
                </mc:Choice>
                <mc:Fallback>
                  <p:oleObj name="Equation" r:id="rId14" imgW="2743200" imgH="42672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1674" y="2205037"/>
                          <a:ext cx="295275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Object 20"/>
            <p:cNvGraphicFramePr>
              <a:graphicFrameLocks noChangeAspect="1"/>
            </p:cNvGraphicFramePr>
            <p:nvPr/>
          </p:nvGraphicFramePr>
          <p:xfrm>
            <a:off x="5437188" y="449262"/>
            <a:ext cx="330200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048000" imgH="4267200" progId="Equation.DSMT4">
                    <p:embed/>
                  </p:oleObj>
                </mc:Choice>
                <mc:Fallback>
                  <p:oleObj name="Equation" r:id="rId16" imgW="3048000" imgH="42672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7188" y="449262"/>
                          <a:ext cx="330200" cy="458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39</a:t>
            </a:fld>
            <a:endParaRPr lang="en-US" altLang="zh-CN"/>
          </a:p>
        </p:txBody>
      </p:sp>
      <p:sp>
        <p:nvSpPr>
          <p:cNvPr id="5734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弱连通图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6-27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是有向图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若不考虑边的方向是一个无向连通图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则称有向图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弱连通图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(weakly connected digraph),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简称有向图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连通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40</a:t>
            </a:fld>
            <a:endParaRPr lang="en-US" altLang="zh-CN"/>
          </a:p>
        </p:txBody>
      </p:sp>
      <p:sp>
        <p:nvSpPr>
          <p:cNvPr id="75780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例子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?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三者之间的关系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?</a:t>
            </a:r>
          </a:p>
          <a:p>
            <a:pPr>
              <a:lnSpc>
                <a:spcPct val="13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强连通图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单向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连通图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弱连通图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但反过来均不成立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!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77634" y="2204864"/>
            <a:ext cx="6588732" cy="2736304"/>
            <a:chOff x="971550" y="765175"/>
            <a:chExt cx="6408738" cy="2611438"/>
          </a:xfrm>
        </p:grpSpPr>
        <p:sp>
          <p:nvSpPr>
            <p:cNvPr id="6" name="Oval 3"/>
            <p:cNvSpPr>
              <a:spLocks noChangeArrowheads="1"/>
            </p:cNvSpPr>
            <p:nvPr/>
          </p:nvSpPr>
          <p:spPr bwMode="auto">
            <a:xfrm>
              <a:off x="971550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4"/>
            <p:cNvSpPr>
              <a:spLocks noChangeArrowheads="1"/>
            </p:cNvSpPr>
            <p:nvPr/>
          </p:nvSpPr>
          <p:spPr bwMode="auto">
            <a:xfrm>
              <a:off x="2484438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971550" y="24923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2484438" y="24923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3276600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4643438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3275013" y="25638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4643438" y="25654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1"/>
            <p:cNvSpPr>
              <a:spLocks noChangeArrowheads="1"/>
            </p:cNvSpPr>
            <p:nvPr/>
          </p:nvSpPr>
          <p:spPr bwMode="auto">
            <a:xfrm>
              <a:off x="572452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723582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3"/>
            <p:cNvSpPr>
              <a:spLocks noChangeArrowheads="1"/>
            </p:cNvSpPr>
            <p:nvPr/>
          </p:nvSpPr>
          <p:spPr bwMode="auto">
            <a:xfrm>
              <a:off x="5795963" y="24923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4"/>
            <p:cNvSpPr>
              <a:spLocks noChangeArrowheads="1"/>
            </p:cNvSpPr>
            <p:nvPr/>
          </p:nvSpPr>
          <p:spPr bwMode="auto">
            <a:xfrm>
              <a:off x="7235825" y="24923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1042988" y="836613"/>
              <a:ext cx="1368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2555875" y="908050"/>
              <a:ext cx="0" cy="1441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 flipH="1">
              <a:off x="1187450" y="2565400"/>
              <a:ext cx="1223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 flipV="1">
              <a:off x="1042988" y="1052513"/>
              <a:ext cx="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" name="Object 20"/>
            <p:cNvGraphicFramePr>
              <a:graphicFrameLocks noChangeAspect="1"/>
            </p:cNvGraphicFramePr>
            <p:nvPr/>
          </p:nvGraphicFramePr>
          <p:xfrm>
            <a:off x="1476375" y="2803525"/>
            <a:ext cx="593725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486400" imgH="4876800" progId="Equation.DSMT4">
                    <p:embed/>
                  </p:oleObj>
                </mc:Choice>
                <mc:Fallback>
                  <p:oleObj name="Equation" r:id="rId2" imgW="5486400" imgH="48768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375" y="2803525"/>
                          <a:ext cx="593725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3492500" y="836613"/>
              <a:ext cx="1079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4716463" y="981075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3419475" y="2636838"/>
              <a:ext cx="1152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 flipV="1">
              <a:off x="3348038" y="1052513"/>
              <a:ext cx="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" name="Object 25"/>
            <p:cNvGraphicFramePr>
              <a:graphicFrameLocks noChangeAspect="1"/>
            </p:cNvGraphicFramePr>
            <p:nvPr/>
          </p:nvGraphicFramePr>
          <p:xfrm>
            <a:off x="3779838" y="2852738"/>
            <a:ext cx="593725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486400" imgH="4876800" progId="Equation.DSMT4">
                    <p:embed/>
                  </p:oleObj>
                </mc:Choice>
                <mc:Fallback>
                  <p:oleObj name="Equation" r:id="rId4" imgW="5486400" imgH="48768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838" y="2852738"/>
                          <a:ext cx="593725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5867400" y="836613"/>
              <a:ext cx="1225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 flipV="1">
              <a:off x="7308850" y="1052513"/>
              <a:ext cx="0" cy="143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flipH="1">
              <a:off x="6011863" y="2565400"/>
              <a:ext cx="10810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>
              <a:off x="5795963" y="1052513"/>
              <a:ext cx="0" cy="1296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" name="Object 30"/>
            <p:cNvGraphicFramePr>
              <a:graphicFrameLocks noChangeAspect="1"/>
            </p:cNvGraphicFramePr>
            <p:nvPr/>
          </p:nvGraphicFramePr>
          <p:xfrm>
            <a:off x="6316663" y="2852738"/>
            <a:ext cx="560387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181600" imgH="4876800" progId="Equation.DSMT4">
                    <p:embed/>
                  </p:oleObj>
                </mc:Choice>
                <mc:Fallback>
                  <p:oleObj name="Equation" r:id="rId6" imgW="5181600" imgH="48768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6663" y="2852738"/>
                          <a:ext cx="560387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C0A0652-C0F8-45EF-A0C3-9083C6961174}" type="slidenum">
              <a:rPr lang="en-US" altLang="zh-CN" smtClean="0"/>
              <a:t>41</a:t>
            </a:fld>
            <a:endParaRPr lang="en-US" altLang="zh-CN"/>
          </a:p>
        </p:txBody>
      </p:sp>
      <p:sp>
        <p:nvSpPr>
          <p:cNvPr id="5222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3"/>
            <a:ext cx="8459788" cy="5184425"/>
          </a:xfrm>
        </p:spPr>
        <p:txBody>
          <a:bodyPr/>
          <a:lstStyle/>
          <a:p>
            <a:pPr lvl="0">
              <a:lnSpc>
                <a:spcPct val="13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6-28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是有向图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的极大的弱连通子图称为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弱连通分支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4ADB9389-3AFF-490D-81CD-792A5D5C91AD}" type="slidenum">
              <a:rPr lang="en-US" altLang="zh-CN" smtClean="0"/>
              <a:t>42</a:t>
            </a:fld>
            <a:endParaRPr lang="en-US" altLang="zh-CN"/>
          </a:p>
        </p:txBody>
      </p:sp>
      <p:sp>
        <p:nvSpPr>
          <p:cNvPr id="34818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6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0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-794" y="1252242"/>
            <a:ext cx="1561307" cy="838386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小结</a:t>
            </a:r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692275" y="2133600"/>
            <a:ext cx="5616575" cy="508000"/>
            <a:chOff x="1419" y="1480"/>
            <a:chExt cx="3575" cy="363"/>
          </a:xfrm>
        </p:grpSpPr>
        <p:grpSp>
          <p:nvGrpSpPr>
            <p:cNvPr id="34821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无向图的连通性</a:t>
                </a:r>
              </a:p>
            </p:txBody>
          </p:sp>
        </p:grpSp>
        <p:sp>
          <p:nvSpPr>
            <p:cNvPr id="3482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5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26" name="Group 10"/>
          <p:cNvGrpSpPr/>
          <p:nvPr/>
        </p:nvGrpSpPr>
        <p:grpSpPr bwMode="auto">
          <a:xfrm>
            <a:off x="2069502" y="3507564"/>
            <a:ext cx="5181600" cy="508000"/>
            <a:chOff x="1419" y="1480"/>
            <a:chExt cx="3575" cy="363"/>
          </a:xfrm>
        </p:grpSpPr>
        <p:grpSp>
          <p:nvGrpSpPr>
            <p:cNvPr id="34827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无向连通图的点连通度与边连通度</a:t>
                </a:r>
              </a:p>
            </p:txBody>
          </p:sp>
        </p:grpSp>
        <p:sp>
          <p:nvSpPr>
            <p:cNvPr id="348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44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sp>
        <p:nvSpPr>
          <p:cNvPr id="34845" name="AutoShape 29"/>
          <p:cNvSpPr>
            <a:spLocks noChangeArrowheads="1"/>
          </p:cNvSpPr>
          <p:nvPr/>
        </p:nvSpPr>
        <p:spPr bwMode="ltGray">
          <a:xfrm rot="5400000">
            <a:off x="935038" y="3178175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grpSp>
        <p:nvGrpSpPr>
          <p:cNvPr id="28" name="Group 10"/>
          <p:cNvGrpSpPr/>
          <p:nvPr/>
        </p:nvGrpSpPr>
        <p:grpSpPr bwMode="auto">
          <a:xfrm>
            <a:off x="1697823" y="4854938"/>
            <a:ext cx="5181600" cy="508000"/>
            <a:chOff x="1419" y="1480"/>
            <a:chExt cx="3575" cy="363"/>
          </a:xfrm>
        </p:grpSpPr>
        <p:grpSp>
          <p:nvGrpSpPr>
            <p:cNvPr id="29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2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有向图的连通性</a:t>
                </a:r>
              </a:p>
            </p:txBody>
          </p:sp>
        </p:grpSp>
        <p:sp>
          <p:nvSpPr>
            <p:cNvPr id="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M1NzcxMmUzMDg4OTU3OGMzMWUzNzM0ZWU4ZGJmYzAifQ=="/>
  <p:tag name="KSO_WPP_MARK_KEY" val="9e9b3c58-af4f-4b5b-9ad4-69bddf313336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29</TotalTime>
  <Words>1516</Words>
  <Application>Microsoft Office PowerPoint</Application>
  <PresentationFormat>全屏显示(4:3)</PresentationFormat>
  <Paragraphs>212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Gulim</vt:lpstr>
      <vt:lpstr>华文新魏</vt:lpstr>
      <vt:lpstr>宋体</vt:lpstr>
      <vt:lpstr>Arial</vt:lpstr>
      <vt:lpstr>Calibri</vt:lpstr>
      <vt:lpstr>Times New Roman</vt:lpstr>
      <vt:lpstr>Wingdings</vt:lpstr>
      <vt:lpstr>主题2</vt:lpstr>
      <vt:lpstr>自定义设计方案</vt:lpstr>
      <vt:lpstr>Equation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>swu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超 赵</cp:lastModifiedBy>
  <cp:revision>459</cp:revision>
  <dcterms:created xsi:type="dcterms:W3CDTF">2007-04-29T00:04:00Z</dcterms:created>
  <dcterms:modified xsi:type="dcterms:W3CDTF">2024-05-13T02:15:27Z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CF6AA7561FAC41BD9BFFE7D316EBB0DB</vt:lpwstr>
  </property>
  <property fmtid="{D5CDD505-2E9C-101B-9397-08002B2CF9AE}" pid="3" name="KSOProductBuildVer">
    <vt:lpwstr>2052-11.1.0.14309</vt:lpwstr>
  </property>
</Properties>
</file>