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26"/>
  </p:notesMasterIdLst>
  <p:sldIdLst>
    <p:sldId id="506" r:id="rId4"/>
    <p:sldId id="753" r:id="rId5"/>
    <p:sldId id="278" r:id="rId6"/>
    <p:sldId id="292" r:id="rId7"/>
    <p:sldId id="293" r:id="rId8"/>
    <p:sldId id="761" r:id="rId9"/>
    <p:sldId id="280" r:id="rId10"/>
    <p:sldId id="294" r:id="rId11"/>
    <p:sldId id="281" r:id="rId12"/>
    <p:sldId id="295" r:id="rId13"/>
    <p:sldId id="282" r:id="rId14"/>
    <p:sldId id="296" r:id="rId15"/>
    <p:sldId id="283" r:id="rId16"/>
    <p:sldId id="284" r:id="rId17"/>
    <p:sldId id="297" r:id="rId18"/>
    <p:sldId id="285" r:id="rId19"/>
    <p:sldId id="298" r:id="rId20"/>
    <p:sldId id="762" r:id="rId21"/>
    <p:sldId id="763" r:id="rId22"/>
    <p:sldId id="289" r:id="rId23"/>
    <p:sldId id="760" r:id="rId24"/>
    <p:sldId id="617" r:id="rId25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1" autoAdjust="0"/>
  </p:normalViewPr>
  <p:slideViewPr>
    <p:cSldViewPr>
      <p:cViewPr varScale="1">
        <p:scale>
          <a:sx n="77" d="100"/>
          <a:sy n="77" d="100"/>
        </p:scale>
        <p:origin x="9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gs" Target="tags/tag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9" Type="http://schemas.openxmlformats.org/officeDocument/2006/relationships/image" Target="../media/image27.wmf"/><Relationship Id="rId18" Type="http://schemas.openxmlformats.org/officeDocument/2006/relationships/image" Target="../media/image26.wmf"/><Relationship Id="rId17" Type="http://schemas.openxmlformats.org/officeDocument/2006/relationships/image" Target="../media/image25.wmf"/><Relationship Id="rId16" Type="http://schemas.openxmlformats.org/officeDocument/2006/relationships/image" Target="../media/image24.wmf"/><Relationship Id="rId15" Type="http://schemas.openxmlformats.org/officeDocument/2006/relationships/image" Target="../media/image23.wmf"/><Relationship Id="rId14" Type="http://schemas.openxmlformats.org/officeDocument/2006/relationships/image" Target="../media/image22.wmf"/><Relationship Id="rId13" Type="http://schemas.openxmlformats.org/officeDocument/2006/relationships/image" Target="../media/image21.wmf"/><Relationship Id="rId12" Type="http://schemas.openxmlformats.org/officeDocument/2006/relationships/image" Target="../media/image20.wmf"/><Relationship Id="rId11" Type="http://schemas.openxmlformats.org/officeDocument/2006/relationships/image" Target="../media/image19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3" Type="http://schemas.openxmlformats.org/officeDocument/2006/relationships/image" Target="../media/image27.wmf"/><Relationship Id="rId12" Type="http://schemas.openxmlformats.org/officeDocument/2006/relationships/image" Target="../media/image25.wmf"/><Relationship Id="rId11" Type="http://schemas.openxmlformats.org/officeDocument/2006/relationships/image" Target="../media/image24.wmf"/><Relationship Id="rId10" Type="http://schemas.openxmlformats.org/officeDocument/2006/relationships/image" Target="../media/image2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0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jpeg"/><Relationship Id="rId18" Type="http://schemas.openxmlformats.org/officeDocument/2006/relationships/image" Target="../media/image3.jpeg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oleObject" Target="../embeddings/oleObject1.bin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" r:id="rId15" imgW="12750800" imgH="2324100" progId="">
                  <p:embed/>
                </p:oleObj>
              </mc:Choice>
              <mc:Fallback>
                <p:oleObj name="" r:id="rId15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  <a:endParaRPr lang="zh-CN" altLang="en-US" sz="1800" i="1">
              <a:solidFill>
                <a:srgbClr val="CC99FF"/>
              </a:solidFill>
              <a:ea typeface="华文行楷" panose="02010800040101010101" charset="-122"/>
              <a:cs typeface="华文行楷" panose="02010800040101010101" charset="-122"/>
            </a:endParaRP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0" Type="http://schemas.openxmlformats.org/officeDocument/2006/relationships/vmlDrawing" Target="../drawings/vmlDrawing3.vml"/><Relationship Id="rId4" Type="http://schemas.openxmlformats.org/officeDocument/2006/relationships/image" Target="../media/image10.wmf"/><Relationship Id="rId39" Type="http://schemas.openxmlformats.org/officeDocument/2006/relationships/slideLayout" Target="../slideLayouts/slideLayout13.xml"/><Relationship Id="rId38" Type="http://schemas.openxmlformats.org/officeDocument/2006/relationships/image" Target="../media/image27.wmf"/><Relationship Id="rId37" Type="http://schemas.openxmlformats.org/officeDocument/2006/relationships/oleObject" Target="../embeddings/oleObject21.bin"/><Relationship Id="rId36" Type="http://schemas.openxmlformats.org/officeDocument/2006/relationships/image" Target="../media/image26.wmf"/><Relationship Id="rId35" Type="http://schemas.openxmlformats.org/officeDocument/2006/relationships/oleObject" Target="../embeddings/oleObject20.bin"/><Relationship Id="rId34" Type="http://schemas.openxmlformats.org/officeDocument/2006/relationships/image" Target="../media/image25.wmf"/><Relationship Id="rId33" Type="http://schemas.openxmlformats.org/officeDocument/2006/relationships/oleObject" Target="../embeddings/oleObject19.bin"/><Relationship Id="rId32" Type="http://schemas.openxmlformats.org/officeDocument/2006/relationships/image" Target="../media/image24.wmf"/><Relationship Id="rId31" Type="http://schemas.openxmlformats.org/officeDocument/2006/relationships/oleObject" Target="../embeddings/oleObject18.bin"/><Relationship Id="rId30" Type="http://schemas.openxmlformats.org/officeDocument/2006/relationships/image" Target="../media/image23.wmf"/><Relationship Id="rId3" Type="http://schemas.openxmlformats.org/officeDocument/2006/relationships/oleObject" Target="../embeddings/oleObject4.bin"/><Relationship Id="rId29" Type="http://schemas.openxmlformats.org/officeDocument/2006/relationships/oleObject" Target="../embeddings/oleObject17.bin"/><Relationship Id="rId28" Type="http://schemas.openxmlformats.org/officeDocument/2006/relationships/image" Target="../media/image22.wmf"/><Relationship Id="rId27" Type="http://schemas.openxmlformats.org/officeDocument/2006/relationships/oleObject" Target="../embeddings/oleObject16.bin"/><Relationship Id="rId26" Type="http://schemas.openxmlformats.org/officeDocument/2006/relationships/image" Target="../media/image21.wmf"/><Relationship Id="rId25" Type="http://schemas.openxmlformats.org/officeDocument/2006/relationships/oleObject" Target="../embeddings/oleObject15.bin"/><Relationship Id="rId24" Type="http://schemas.openxmlformats.org/officeDocument/2006/relationships/image" Target="../media/image20.wmf"/><Relationship Id="rId23" Type="http://schemas.openxmlformats.org/officeDocument/2006/relationships/oleObject" Target="../embeddings/oleObject14.bin"/><Relationship Id="rId22" Type="http://schemas.openxmlformats.org/officeDocument/2006/relationships/image" Target="../media/image19.wmf"/><Relationship Id="rId21" Type="http://schemas.openxmlformats.org/officeDocument/2006/relationships/oleObject" Target="../embeddings/oleObject13.bin"/><Relationship Id="rId20" Type="http://schemas.openxmlformats.org/officeDocument/2006/relationships/image" Target="../media/image18.wmf"/><Relationship Id="rId2" Type="http://schemas.openxmlformats.org/officeDocument/2006/relationships/image" Target="../media/image9.wmf"/><Relationship Id="rId19" Type="http://schemas.openxmlformats.org/officeDocument/2006/relationships/oleObject" Target="../embeddings/oleObject12.bin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9.png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4.bin"/><Relationship Id="rId28" Type="http://schemas.openxmlformats.org/officeDocument/2006/relationships/vmlDrawing" Target="../drawings/vmlDrawing5.vml"/><Relationship Id="rId27" Type="http://schemas.openxmlformats.org/officeDocument/2006/relationships/slideLayout" Target="../slideLayouts/slideLayout13.xml"/><Relationship Id="rId26" Type="http://schemas.openxmlformats.org/officeDocument/2006/relationships/image" Target="../media/image27.wmf"/><Relationship Id="rId25" Type="http://schemas.openxmlformats.org/officeDocument/2006/relationships/oleObject" Target="../embeddings/oleObject35.bin"/><Relationship Id="rId24" Type="http://schemas.openxmlformats.org/officeDocument/2006/relationships/image" Target="../media/image25.wmf"/><Relationship Id="rId23" Type="http://schemas.openxmlformats.org/officeDocument/2006/relationships/oleObject" Target="../embeddings/oleObject34.bin"/><Relationship Id="rId22" Type="http://schemas.openxmlformats.org/officeDocument/2006/relationships/image" Target="../media/image24.wmf"/><Relationship Id="rId21" Type="http://schemas.openxmlformats.org/officeDocument/2006/relationships/oleObject" Target="../embeddings/oleObject33.bin"/><Relationship Id="rId20" Type="http://schemas.openxmlformats.org/officeDocument/2006/relationships/image" Target="../media/image20.wmf"/><Relationship Id="rId2" Type="http://schemas.openxmlformats.org/officeDocument/2006/relationships/image" Target="../media/image9.wmf"/><Relationship Id="rId19" Type="http://schemas.openxmlformats.org/officeDocument/2006/relationships/oleObject" Target="../embeddings/oleObject32.bin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23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2.png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6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55676" y="2997200"/>
            <a:ext cx="5832648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6.7  </a:t>
            </a:r>
            <a:r>
              <a:rPr lang="zh-CN" altLang="en-US" sz="4400" dirty="0">
                <a:latin typeface="Times New Roman" panose="02020603050405020304" pitchFamily="18" charset="0"/>
              </a:rPr>
              <a:t>赋权图及最短路径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7826" y="2819760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赋权图</a:t>
              </a:r>
              <a:endParaRPr kumimoji="0"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46238" y="3789040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最短路径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9507B370-0AEF-4AAD-B4D7-3C551F8DBAA2}" type="slidenum">
              <a:rPr lang="en-US" altLang="zh-CN" smtClean="0"/>
            </a:fld>
            <a:endParaRPr lang="en-US" altLang="zh-CN"/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赋权图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在图的实际应用中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除建立图论模型外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有时还需要将一些附加信息赋予图的边或节点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这就是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赋权图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加权图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(weighted graph).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本节仅讨论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边赋权图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58372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是任意图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的每一条边上都赋予一个非负实数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边赋权图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33" y="2996952"/>
            <a:ext cx="6927934" cy="27970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6042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在边赋权图中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每条边上所赋的非负实数称为这条边上的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权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它可以理解为该边上的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流量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或通过该边的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时间、费用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还可以理解为该边的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长度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7826" y="2819760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赋权图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46238" y="3789040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最短路径</a:t>
              </a:r>
              <a:endParaRPr kumimoji="0"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最短路径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在边赋权图中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从一个节点到另一个节点的路上所有边上的权之和称为该路的“权”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例如图中路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2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5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6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7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的权为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 + 3 + 1 + 5 = 11.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9568" y="3825036"/>
            <a:ext cx="3168352" cy="26341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62468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在实际应用中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最短线路的铺设、运输网络的最少时间以及互联网上的最短路由问题等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都需要得出从一个节点到别的节点权最小的一条路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它必为路径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最短路径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4096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荷兰著名计算机专家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E. W. Dijkstra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1959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年提出的求一个节点到其他任意节点的最短路径算法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是至今为止被大家公认的有效算法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其时间复杂度为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为图的节点个数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《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数据结构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》, 《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算法分析与设计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》.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64516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阶边赋权图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用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表示节点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的边上的权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则令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= +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目标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求节点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到其他任意节点的最短路径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Dijkstra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算法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将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划分成两部分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表示永久性节点集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称为临时节点集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的每节点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进行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标号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，表示节点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的最短路径的权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;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中每节点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标号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，表示节点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的一条路上的权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66564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Dijkstra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算法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Step 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进行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标号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)=0,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-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中节点进行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标号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2, 3, …,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Step 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在所有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标号的节点中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选取最小标号节点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进入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Step 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重新按下列方式计算具有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标号的其他节点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标号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Step 4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重复上述步骤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(3),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直至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|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2483768" y="2852936"/>
          <a:ext cx="3853284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Equation" r:id="rId1" imgW="32308800" imgH="6705600" progId="Equation.DSMT4">
                  <p:embed/>
                </p:oleObj>
              </mc:Choice>
              <mc:Fallback>
                <p:oleObj name="Equation" r:id="rId1" imgW="32308800" imgH="670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852936"/>
                        <a:ext cx="3853284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6-10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6-39(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22019" y="2044440"/>
            <a:ext cx="4969688" cy="3633067"/>
            <a:chOff x="1554811" y="1123950"/>
            <a:chExt cx="4969688" cy="3633067"/>
          </a:xfrm>
        </p:grpSpPr>
        <p:sp>
          <p:nvSpPr>
            <p:cNvPr id="44035" name="Oval 3"/>
            <p:cNvSpPr>
              <a:spLocks noChangeArrowheads="1"/>
            </p:cNvSpPr>
            <p:nvPr/>
          </p:nvSpPr>
          <p:spPr bwMode="auto">
            <a:xfrm>
              <a:off x="1908175" y="27813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6" name="Oval 4"/>
            <p:cNvSpPr>
              <a:spLocks noChangeArrowheads="1"/>
            </p:cNvSpPr>
            <p:nvPr/>
          </p:nvSpPr>
          <p:spPr bwMode="auto">
            <a:xfrm>
              <a:off x="2987675" y="170021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7" name="Oval 5"/>
            <p:cNvSpPr>
              <a:spLocks noChangeArrowheads="1"/>
            </p:cNvSpPr>
            <p:nvPr/>
          </p:nvSpPr>
          <p:spPr bwMode="auto">
            <a:xfrm>
              <a:off x="3708400" y="28527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8" name="Oval 6"/>
            <p:cNvSpPr>
              <a:spLocks noChangeArrowheads="1"/>
            </p:cNvSpPr>
            <p:nvPr/>
          </p:nvSpPr>
          <p:spPr bwMode="auto">
            <a:xfrm>
              <a:off x="2987675" y="40052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9" name="Oval 7"/>
            <p:cNvSpPr>
              <a:spLocks noChangeArrowheads="1"/>
            </p:cNvSpPr>
            <p:nvPr/>
          </p:nvSpPr>
          <p:spPr bwMode="auto">
            <a:xfrm>
              <a:off x="5076825" y="170021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0" name="Oval 8"/>
            <p:cNvSpPr>
              <a:spLocks noChangeArrowheads="1"/>
            </p:cNvSpPr>
            <p:nvPr/>
          </p:nvSpPr>
          <p:spPr bwMode="auto">
            <a:xfrm>
              <a:off x="5003800" y="40767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1" name="Oval 9"/>
            <p:cNvSpPr>
              <a:spLocks noChangeArrowheads="1"/>
            </p:cNvSpPr>
            <p:nvPr/>
          </p:nvSpPr>
          <p:spPr bwMode="auto">
            <a:xfrm>
              <a:off x="6011863" y="28527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2" name="Line 10"/>
            <p:cNvSpPr>
              <a:spLocks noChangeShapeType="1"/>
            </p:cNvSpPr>
            <p:nvPr/>
          </p:nvSpPr>
          <p:spPr bwMode="auto">
            <a:xfrm flipV="1">
              <a:off x="2051050" y="1844675"/>
              <a:ext cx="936625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Line 11"/>
            <p:cNvSpPr>
              <a:spLocks noChangeShapeType="1"/>
            </p:cNvSpPr>
            <p:nvPr/>
          </p:nvSpPr>
          <p:spPr bwMode="auto">
            <a:xfrm>
              <a:off x="2101850" y="2995613"/>
              <a:ext cx="865188" cy="1009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Line 12"/>
            <p:cNvSpPr>
              <a:spLocks noChangeShapeType="1"/>
            </p:cNvSpPr>
            <p:nvPr/>
          </p:nvSpPr>
          <p:spPr bwMode="auto">
            <a:xfrm>
              <a:off x="2122488" y="2924175"/>
              <a:ext cx="15128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5" name="Line 13"/>
            <p:cNvSpPr>
              <a:spLocks noChangeShapeType="1"/>
            </p:cNvSpPr>
            <p:nvPr/>
          </p:nvSpPr>
          <p:spPr bwMode="auto">
            <a:xfrm>
              <a:off x="3132138" y="1844675"/>
              <a:ext cx="576262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14"/>
            <p:cNvSpPr>
              <a:spLocks noChangeShapeType="1"/>
            </p:cNvSpPr>
            <p:nvPr/>
          </p:nvSpPr>
          <p:spPr bwMode="auto">
            <a:xfrm flipH="1">
              <a:off x="3124980" y="3068637"/>
              <a:ext cx="583420" cy="935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Line 15"/>
            <p:cNvSpPr>
              <a:spLocks noChangeShapeType="1"/>
            </p:cNvSpPr>
            <p:nvPr/>
          </p:nvSpPr>
          <p:spPr bwMode="auto">
            <a:xfrm>
              <a:off x="3132138" y="1773238"/>
              <a:ext cx="18716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Line 16"/>
            <p:cNvSpPr>
              <a:spLocks noChangeShapeType="1"/>
            </p:cNvSpPr>
            <p:nvPr/>
          </p:nvSpPr>
          <p:spPr bwMode="auto">
            <a:xfrm flipV="1">
              <a:off x="3851275" y="1989138"/>
              <a:ext cx="1152525" cy="935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Line 17"/>
            <p:cNvSpPr>
              <a:spLocks noChangeShapeType="1"/>
            </p:cNvSpPr>
            <p:nvPr/>
          </p:nvSpPr>
          <p:spPr bwMode="auto">
            <a:xfrm>
              <a:off x="3132138" y="4149725"/>
              <a:ext cx="180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0" name="Line 18"/>
            <p:cNvSpPr>
              <a:spLocks noChangeShapeType="1"/>
            </p:cNvSpPr>
            <p:nvPr/>
          </p:nvSpPr>
          <p:spPr bwMode="auto">
            <a:xfrm>
              <a:off x="3851275" y="2997200"/>
              <a:ext cx="1081088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19"/>
            <p:cNvSpPr>
              <a:spLocks noChangeShapeType="1"/>
            </p:cNvSpPr>
            <p:nvPr/>
          </p:nvSpPr>
          <p:spPr bwMode="auto">
            <a:xfrm flipV="1">
              <a:off x="5076825" y="1989138"/>
              <a:ext cx="0" cy="201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2" name="Line 20"/>
            <p:cNvSpPr>
              <a:spLocks noChangeShapeType="1"/>
            </p:cNvSpPr>
            <p:nvPr/>
          </p:nvSpPr>
          <p:spPr bwMode="auto">
            <a:xfrm flipV="1">
              <a:off x="5148263" y="3068638"/>
              <a:ext cx="863600" cy="10810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3" name="Line 21"/>
            <p:cNvSpPr>
              <a:spLocks noChangeShapeType="1"/>
            </p:cNvSpPr>
            <p:nvPr/>
          </p:nvSpPr>
          <p:spPr bwMode="auto">
            <a:xfrm>
              <a:off x="5219700" y="1844675"/>
              <a:ext cx="792163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4054" name="Object 22"/>
            <p:cNvGraphicFramePr>
              <a:graphicFrameLocks noChangeAspect="1"/>
            </p:cNvGraphicFramePr>
            <p:nvPr/>
          </p:nvGraphicFramePr>
          <p:xfrm>
            <a:off x="1554811" y="2600123"/>
            <a:ext cx="36353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5" name="Equation" r:id="rId1" imgW="3352800" imgH="5486400" progId="Equation.DSMT4">
                    <p:embed/>
                  </p:oleObj>
                </mc:Choice>
                <mc:Fallback>
                  <p:oleObj name="Equation" r:id="rId1" imgW="3352800" imgH="54864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4811" y="2600123"/>
                          <a:ext cx="36353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5" name="Object 23"/>
            <p:cNvGraphicFramePr>
              <a:graphicFrameLocks noChangeAspect="1"/>
            </p:cNvGraphicFramePr>
            <p:nvPr/>
          </p:nvGraphicFramePr>
          <p:xfrm>
            <a:off x="2797449" y="1123950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3" imgW="3657600" imgH="5486400" progId="Equation.DSMT4">
                    <p:embed/>
                  </p:oleObj>
                </mc:Choice>
                <mc:Fallback>
                  <p:oleObj name="Equation" r:id="rId3" imgW="3657600" imgH="54864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449" y="1123950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6" name="Object 24"/>
            <p:cNvGraphicFramePr>
              <a:graphicFrameLocks noChangeAspect="1"/>
            </p:cNvGraphicFramePr>
            <p:nvPr/>
          </p:nvGraphicFramePr>
          <p:xfrm>
            <a:off x="3901136" y="2674058"/>
            <a:ext cx="396875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5" imgW="3657600" imgH="5486400" progId="Equation.DSMT4">
                    <p:embed/>
                  </p:oleObj>
                </mc:Choice>
                <mc:Fallback>
                  <p:oleObj name="Equation" r:id="rId5" imgW="3657600" imgH="5486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136" y="2674058"/>
                          <a:ext cx="396875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7" name="Object 25"/>
            <p:cNvGraphicFramePr>
              <a:graphicFrameLocks noChangeAspect="1"/>
            </p:cNvGraphicFramePr>
            <p:nvPr/>
          </p:nvGraphicFramePr>
          <p:xfrm>
            <a:off x="2829733" y="4098132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7" imgW="3657600" imgH="5486400" progId="Equation.DSMT4">
                    <p:embed/>
                  </p:oleObj>
                </mc:Choice>
                <mc:Fallback>
                  <p:oleObj name="Equation" r:id="rId7" imgW="3657600" imgH="54864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733" y="4098132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8" name="Object 26"/>
            <p:cNvGraphicFramePr>
              <a:graphicFrameLocks noChangeAspect="1"/>
            </p:cNvGraphicFramePr>
            <p:nvPr/>
          </p:nvGraphicFramePr>
          <p:xfrm>
            <a:off x="4932363" y="4168054"/>
            <a:ext cx="395287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9" imgW="3657600" imgH="5486400" progId="Equation.DSMT4">
                    <p:embed/>
                  </p:oleObj>
                </mc:Choice>
                <mc:Fallback>
                  <p:oleObj name="Equation" r:id="rId9" imgW="3657600" imgH="548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363" y="4168054"/>
                          <a:ext cx="395287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9" name="Object 27"/>
            <p:cNvGraphicFramePr>
              <a:graphicFrameLocks noChangeAspect="1"/>
            </p:cNvGraphicFramePr>
            <p:nvPr/>
          </p:nvGraphicFramePr>
          <p:xfrm>
            <a:off x="5003800" y="1126160"/>
            <a:ext cx="395288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11" imgW="3657600" imgH="5486400" progId="Equation.DSMT4">
                    <p:embed/>
                  </p:oleObj>
                </mc:Choice>
                <mc:Fallback>
                  <p:oleObj name="Equation" r:id="rId11" imgW="3657600" imgH="54864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3800" y="1126160"/>
                          <a:ext cx="395288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0" name="Object 28"/>
            <p:cNvGraphicFramePr>
              <a:graphicFrameLocks noChangeAspect="1"/>
            </p:cNvGraphicFramePr>
            <p:nvPr/>
          </p:nvGraphicFramePr>
          <p:xfrm>
            <a:off x="6130799" y="2629693"/>
            <a:ext cx="393700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3" imgW="3657600" imgH="5486400" progId="Equation.DSMT4">
                    <p:embed/>
                  </p:oleObj>
                </mc:Choice>
                <mc:Fallback>
                  <p:oleObj name="Equation" r:id="rId13" imgW="3657600" imgH="54864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0799" y="2629693"/>
                          <a:ext cx="393700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1" name="Object 29"/>
            <p:cNvGraphicFramePr>
              <a:graphicFrameLocks noChangeAspect="1"/>
            </p:cNvGraphicFramePr>
            <p:nvPr/>
          </p:nvGraphicFramePr>
          <p:xfrm>
            <a:off x="2182018" y="2022185"/>
            <a:ext cx="32861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15" imgW="3048000" imgH="3962400" progId="Equation.DSMT4">
                    <p:embed/>
                  </p:oleObj>
                </mc:Choice>
                <mc:Fallback>
                  <p:oleObj name="Equation" r:id="rId15" imgW="3048000" imgH="39624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2018" y="2022185"/>
                          <a:ext cx="328612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2" name="Object 30"/>
            <p:cNvGraphicFramePr>
              <a:graphicFrameLocks noChangeAspect="1"/>
            </p:cNvGraphicFramePr>
            <p:nvPr/>
          </p:nvGraphicFramePr>
          <p:xfrm>
            <a:off x="2197893" y="3402012"/>
            <a:ext cx="296863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Equation" r:id="rId17" imgW="2743200" imgH="4267200" progId="Equation.DSMT4">
                    <p:embed/>
                  </p:oleObj>
                </mc:Choice>
                <mc:Fallback>
                  <p:oleObj name="Equation" r:id="rId17" imgW="2743200" imgH="42672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7893" y="3402012"/>
                          <a:ext cx="296863" cy="45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3" name="Object 31"/>
            <p:cNvGraphicFramePr>
              <a:graphicFrameLocks noChangeAspect="1"/>
            </p:cNvGraphicFramePr>
            <p:nvPr/>
          </p:nvGraphicFramePr>
          <p:xfrm>
            <a:off x="2780505" y="2509752"/>
            <a:ext cx="296863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Equation" r:id="rId19" imgW="2743200" imgH="4267200" progId="Equation.DSMT4">
                    <p:embed/>
                  </p:oleObj>
                </mc:Choice>
                <mc:Fallback>
                  <p:oleObj name="Equation" r:id="rId19" imgW="2743200" imgH="42672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0505" y="2509752"/>
                          <a:ext cx="296863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4" name="Object 32"/>
            <p:cNvGraphicFramePr>
              <a:graphicFrameLocks noChangeAspect="1"/>
            </p:cNvGraphicFramePr>
            <p:nvPr/>
          </p:nvGraphicFramePr>
          <p:xfrm>
            <a:off x="3167610" y="3167979"/>
            <a:ext cx="230188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Equation" r:id="rId21" imgW="2133600" imgH="3962400" progId="Equation.DSMT4">
                    <p:embed/>
                  </p:oleObj>
                </mc:Choice>
                <mc:Fallback>
                  <p:oleObj name="Equation" r:id="rId21" imgW="2133600" imgH="39624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7610" y="3167979"/>
                          <a:ext cx="230188" cy="427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5" name="Object 33"/>
            <p:cNvGraphicFramePr>
              <a:graphicFrameLocks noChangeAspect="1"/>
            </p:cNvGraphicFramePr>
            <p:nvPr/>
          </p:nvGraphicFramePr>
          <p:xfrm>
            <a:off x="3441145" y="2011780"/>
            <a:ext cx="328612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Equation" r:id="rId23" imgW="3048000" imgH="3962400" progId="Equation.DSMT4">
                    <p:embed/>
                  </p:oleObj>
                </mc:Choice>
                <mc:Fallback>
                  <p:oleObj name="Equation" r:id="rId23" imgW="3048000" imgH="39624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1145" y="2011780"/>
                          <a:ext cx="328612" cy="427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6" name="Object 34"/>
            <p:cNvGraphicFramePr>
              <a:graphicFrameLocks noChangeAspect="1"/>
            </p:cNvGraphicFramePr>
            <p:nvPr/>
          </p:nvGraphicFramePr>
          <p:xfrm>
            <a:off x="3904550" y="1331092"/>
            <a:ext cx="328612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Equation" r:id="rId25" imgW="3048000" imgH="4267200" progId="Equation.DSMT4">
                    <p:embed/>
                  </p:oleObj>
                </mc:Choice>
                <mc:Fallback>
                  <p:oleObj name="Equation" r:id="rId25" imgW="3048000" imgH="426720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4550" y="1331092"/>
                          <a:ext cx="328612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7" name="Object 35"/>
            <p:cNvGraphicFramePr>
              <a:graphicFrameLocks noChangeAspect="1"/>
            </p:cNvGraphicFramePr>
            <p:nvPr/>
          </p:nvGraphicFramePr>
          <p:xfrm>
            <a:off x="4203700" y="2059754"/>
            <a:ext cx="295275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27" imgW="2743200" imgH="4267200" progId="Equation.DSMT4">
                    <p:embed/>
                  </p:oleObj>
                </mc:Choice>
                <mc:Fallback>
                  <p:oleObj name="Equation" r:id="rId27" imgW="2743200" imgH="42672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3700" y="2059754"/>
                          <a:ext cx="295275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8" name="Object 36"/>
            <p:cNvGraphicFramePr>
              <a:graphicFrameLocks noChangeAspect="1"/>
            </p:cNvGraphicFramePr>
            <p:nvPr/>
          </p:nvGraphicFramePr>
          <p:xfrm>
            <a:off x="3884612" y="4159435"/>
            <a:ext cx="295275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Equation" r:id="rId29" imgW="2743200" imgH="4267200" progId="Equation.DSMT4">
                    <p:embed/>
                  </p:oleObj>
                </mc:Choice>
                <mc:Fallback>
                  <p:oleObj name="Equation" r:id="rId29" imgW="2743200" imgH="42672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4612" y="4159435"/>
                          <a:ext cx="295275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9" name="Object 37"/>
            <p:cNvGraphicFramePr>
              <a:graphicFrameLocks noChangeAspect="1"/>
            </p:cNvGraphicFramePr>
            <p:nvPr/>
          </p:nvGraphicFramePr>
          <p:xfrm>
            <a:off x="4056063" y="3378909"/>
            <a:ext cx="296862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Equation" r:id="rId31" imgW="2743200" imgH="4267200" progId="Equation.DSMT4">
                    <p:embed/>
                  </p:oleObj>
                </mc:Choice>
                <mc:Fallback>
                  <p:oleObj name="Equation" r:id="rId31" imgW="2743200" imgH="42672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6063" y="3378909"/>
                          <a:ext cx="296862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0" name="Object 38"/>
            <p:cNvGraphicFramePr>
              <a:graphicFrameLocks noChangeAspect="1"/>
            </p:cNvGraphicFramePr>
            <p:nvPr/>
          </p:nvGraphicFramePr>
          <p:xfrm>
            <a:off x="5593874" y="1903412"/>
            <a:ext cx="295275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" name="Equation" r:id="rId33" imgW="2743200" imgH="4267200" progId="Equation.DSMT4">
                    <p:embed/>
                  </p:oleObj>
                </mc:Choice>
                <mc:Fallback>
                  <p:oleObj name="Equation" r:id="rId33" imgW="2743200" imgH="42672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3874" y="1903412"/>
                          <a:ext cx="295275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1" name="Object 39"/>
            <p:cNvGraphicFramePr>
              <a:graphicFrameLocks noChangeAspect="1"/>
            </p:cNvGraphicFramePr>
            <p:nvPr/>
          </p:nvGraphicFramePr>
          <p:xfrm>
            <a:off x="5657504" y="3492500"/>
            <a:ext cx="328613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Equation" r:id="rId35" imgW="3048000" imgH="4267200" progId="Equation.DSMT4">
                    <p:embed/>
                  </p:oleObj>
                </mc:Choice>
                <mc:Fallback>
                  <p:oleObj name="Equation" r:id="rId35" imgW="3048000" imgH="42672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7504" y="3492500"/>
                          <a:ext cx="328613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2" name="Object 40"/>
            <p:cNvGraphicFramePr>
              <a:graphicFrameLocks noChangeAspect="1"/>
            </p:cNvGraphicFramePr>
            <p:nvPr/>
          </p:nvGraphicFramePr>
          <p:xfrm>
            <a:off x="5142029" y="2781300"/>
            <a:ext cx="230187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Equation" r:id="rId37" imgW="2133600" imgH="3962400" progId="Equation.DSMT4">
                    <p:embed/>
                  </p:oleObj>
                </mc:Choice>
                <mc:Fallback>
                  <p:oleObj name="Equation" r:id="rId37" imgW="2133600" imgH="39624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2029" y="2781300"/>
                          <a:ext cx="230187" cy="427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68612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解：以表格形式简化算法求解过程，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所在列</a:t>
            </a:r>
            <a:r>
              <a:rPr lang="en-US" altLang="zh-CN" u="sng" dirty="0">
                <a:latin typeface="Times New Roman" panose="02020603050405020304" pitchFamily="18" charset="0"/>
                <a:ea typeface="华文新魏" panose="02010800040101010101" charset="-122"/>
              </a:rPr>
              <a:t>7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/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表示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的最短路径上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并且与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邻接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依此类推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ea typeface="华文新魏" panose="02010800040101010101" charset="-122"/>
            </a:endParaRPr>
          </a:p>
        </p:txBody>
      </p:sp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2930885" y="5874011"/>
          <a:ext cx="3245718" cy="60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Equation" r:id="rId1" imgW="31699200" imgH="6705600" progId="Equation.DSMT4">
                  <p:embed/>
                </p:oleObj>
              </mc:Choice>
              <mc:Fallback>
                <p:oleObj name="Equation" r:id="rId1" imgW="31699200" imgH="6705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885" y="5874011"/>
                        <a:ext cx="3245718" cy="609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1" y="3024481"/>
            <a:ext cx="8754778" cy="28495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4505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grpSp>
        <p:nvGrpSpPr>
          <p:cNvPr id="82" name="组合 81"/>
          <p:cNvGrpSpPr/>
          <p:nvPr/>
        </p:nvGrpSpPr>
        <p:grpSpPr>
          <a:xfrm>
            <a:off x="2022019" y="1772816"/>
            <a:ext cx="5063449" cy="3633067"/>
            <a:chOff x="1554811" y="1123950"/>
            <a:chExt cx="5063449" cy="3633067"/>
          </a:xfrm>
        </p:grpSpPr>
        <p:sp>
          <p:nvSpPr>
            <p:cNvPr id="83" name="Oval 3"/>
            <p:cNvSpPr>
              <a:spLocks noChangeArrowheads="1"/>
            </p:cNvSpPr>
            <p:nvPr/>
          </p:nvSpPr>
          <p:spPr bwMode="auto">
            <a:xfrm>
              <a:off x="1908175" y="27813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Oval 4"/>
            <p:cNvSpPr>
              <a:spLocks noChangeArrowheads="1"/>
            </p:cNvSpPr>
            <p:nvPr/>
          </p:nvSpPr>
          <p:spPr bwMode="auto">
            <a:xfrm>
              <a:off x="2987675" y="170021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Oval 5"/>
            <p:cNvSpPr>
              <a:spLocks noChangeArrowheads="1"/>
            </p:cNvSpPr>
            <p:nvPr/>
          </p:nvSpPr>
          <p:spPr bwMode="auto">
            <a:xfrm>
              <a:off x="3708400" y="28527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Oval 6"/>
            <p:cNvSpPr>
              <a:spLocks noChangeArrowheads="1"/>
            </p:cNvSpPr>
            <p:nvPr/>
          </p:nvSpPr>
          <p:spPr bwMode="auto">
            <a:xfrm>
              <a:off x="2987675" y="40052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Oval 7"/>
            <p:cNvSpPr>
              <a:spLocks noChangeArrowheads="1"/>
            </p:cNvSpPr>
            <p:nvPr/>
          </p:nvSpPr>
          <p:spPr bwMode="auto">
            <a:xfrm>
              <a:off x="5076825" y="170021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Oval 8"/>
            <p:cNvSpPr>
              <a:spLocks noChangeArrowheads="1"/>
            </p:cNvSpPr>
            <p:nvPr/>
          </p:nvSpPr>
          <p:spPr bwMode="auto">
            <a:xfrm>
              <a:off x="5003800" y="40767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Oval 9"/>
            <p:cNvSpPr>
              <a:spLocks noChangeArrowheads="1"/>
            </p:cNvSpPr>
            <p:nvPr/>
          </p:nvSpPr>
          <p:spPr bwMode="auto">
            <a:xfrm>
              <a:off x="6011863" y="28527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10"/>
            <p:cNvSpPr>
              <a:spLocks noChangeShapeType="1"/>
            </p:cNvSpPr>
            <p:nvPr/>
          </p:nvSpPr>
          <p:spPr bwMode="auto">
            <a:xfrm flipV="1">
              <a:off x="2051050" y="1844675"/>
              <a:ext cx="936625" cy="9366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11"/>
            <p:cNvSpPr>
              <a:spLocks noChangeShapeType="1"/>
            </p:cNvSpPr>
            <p:nvPr/>
          </p:nvSpPr>
          <p:spPr bwMode="auto">
            <a:xfrm>
              <a:off x="2101850" y="2995613"/>
              <a:ext cx="865188" cy="10096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13"/>
            <p:cNvSpPr>
              <a:spLocks noChangeShapeType="1"/>
            </p:cNvSpPr>
            <p:nvPr/>
          </p:nvSpPr>
          <p:spPr bwMode="auto">
            <a:xfrm>
              <a:off x="3132138" y="1844675"/>
              <a:ext cx="576262" cy="9366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18"/>
            <p:cNvSpPr>
              <a:spLocks noChangeShapeType="1"/>
            </p:cNvSpPr>
            <p:nvPr/>
          </p:nvSpPr>
          <p:spPr bwMode="auto">
            <a:xfrm>
              <a:off x="3851275" y="2997200"/>
              <a:ext cx="1081088" cy="10080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9"/>
            <p:cNvSpPr>
              <a:spLocks noChangeShapeType="1"/>
            </p:cNvSpPr>
            <p:nvPr/>
          </p:nvSpPr>
          <p:spPr bwMode="auto">
            <a:xfrm flipV="1">
              <a:off x="5076825" y="1989138"/>
              <a:ext cx="0" cy="20161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1"/>
            <p:cNvSpPr>
              <a:spLocks noChangeShapeType="1"/>
            </p:cNvSpPr>
            <p:nvPr/>
          </p:nvSpPr>
          <p:spPr bwMode="auto">
            <a:xfrm>
              <a:off x="5219700" y="1844675"/>
              <a:ext cx="792163" cy="863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" name="Object 22"/>
            <p:cNvGraphicFramePr>
              <a:graphicFrameLocks noChangeAspect="1"/>
            </p:cNvGraphicFramePr>
            <p:nvPr/>
          </p:nvGraphicFramePr>
          <p:xfrm>
            <a:off x="1554811" y="2600123"/>
            <a:ext cx="36353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5" name="Equation" r:id="rId1" imgW="3352800" imgH="5486400" progId="Equation.DSMT4">
                    <p:embed/>
                  </p:oleObj>
                </mc:Choice>
                <mc:Fallback>
                  <p:oleObj name="Equation" r:id="rId1" imgW="3352800" imgH="54864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4811" y="2600123"/>
                          <a:ext cx="36353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Object 23"/>
            <p:cNvGraphicFramePr>
              <a:graphicFrameLocks noChangeAspect="1"/>
            </p:cNvGraphicFramePr>
            <p:nvPr/>
          </p:nvGraphicFramePr>
          <p:xfrm>
            <a:off x="2797449" y="1123950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3657600" imgH="5486400" progId="Equation.DSMT4">
                    <p:embed/>
                  </p:oleObj>
                </mc:Choice>
                <mc:Fallback>
                  <p:oleObj name="Equation" r:id="rId3" imgW="3657600" imgH="54864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449" y="1123950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" name="Object 24"/>
            <p:cNvGraphicFramePr>
              <a:graphicFrameLocks noChangeAspect="1"/>
            </p:cNvGraphicFramePr>
            <p:nvPr/>
          </p:nvGraphicFramePr>
          <p:xfrm>
            <a:off x="4032250" y="2681287"/>
            <a:ext cx="396875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3657600" imgH="5486400" progId="Equation.DSMT4">
                    <p:embed/>
                  </p:oleObj>
                </mc:Choice>
                <mc:Fallback>
                  <p:oleObj name="Equation" r:id="rId5" imgW="3657600" imgH="5486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250" y="2681287"/>
                          <a:ext cx="396875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Object 25"/>
            <p:cNvGraphicFramePr>
              <a:graphicFrameLocks noChangeAspect="1"/>
            </p:cNvGraphicFramePr>
            <p:nvPr/>
          </p:nvGraphicFramePr>
          <p:xfrm>
            <a:off x="2829733" y="4098132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3657600" imgH="5486400" progId="Equation.DSMT4">
                    <p:embed/>
                  </p:oleObj>
                </mc:Choice>
                <mc:Fallback>
                  <p:oleObj name="Equation" r:id="rId7" imgW="3657600" imgH="54864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733" y="4098132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" name="Object 26"/>
            <p:cNvGraphicFramePr>
              <a:graphicFrameLocks noChangeAspect="1"/>
            </p:cNvGraphicFramePr>
            <p:nvPr/>
          </p:nvGraphicFramePr>
          <p:xfrm>
            <a:off x="4932363" y="4168054"/>
            <a:ext cx="395287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9" imgW="3657600" imgH="5486400" progId="Equation.DSMT4">
                    <p:embed/>
                  </p:oleObj>
                </mc:Choice>
                <mc:Fallback>
                  <p:oleObj name="Equation" r:id="rId9" imgW="3657600" imgH="548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363" y="4168054"/>
                          <a:ext cx="395287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" name="Object 27"/>
            <p:cNvGraphicFramePr>
              <a:graphicFrameLocks noChangeAspect="1"/>
            </p:cNvGraphicFramePr>
            <p:nvPr/>
          </p:nvGraphicFramePr>
          <p:xfrm>
            <a:off x="5003800" y="1126160"/>
            <a:ext cx="395288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11" imgW="3657600" imgH="5486400" progId="Equation.DSMT4">
                    <p:embed/>
                  </p:oleObj>
                </mc:Choice>
                <mc:Fallback>
                  <p:oleObj name="Equation" r:id="rId11" imgW="3657600" imgH="54864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3800" y="1126160"/>
                          <a:ext cx="395288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" name="Object 28"/>
            <p:cNvGraphicFramePr>
              <a:graphicFrameLocks noChangeAspect="1"/>
            </p:cNvGraphicFramePr>
            <p:nvPr/>
          </p:nvGraphicFramePr>
          <p:xfrm>
            <a:off x="6224560" y="2690784"/>
            <a:ext cx="393700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13" imgW="3657600" imgH="5486400" progId="Equation.DSMT4">
                    <p:embed/>
                  </p:oleObj>
                </mc:Choice>
                <mc:Fallback>
                  <p:oleObj name="Equation" r:id="rId13" imgW="3657600" imgH="54864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4560" y="2690784"/>
                          <a:ext cx="393700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" name="Object 29"/>
            <p:cNvGraphicFramePr>
              <a:graphicFrameLocks noChangeAspect="1"/>
            </p:cNvGraphicFramePr>
            <p:nvPr/>
          </p:nvGraphicFramePr>
          <p:xfrm>
            <a:off x="2182018" y="2022185"/>
            <a:ext cx="32861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5" imgW="3048000" imgH="3962400" progId="Equation.DSMT4">
                    <p:embed/>
                  </p:oleObj>
                </mc:Choice>
                <mc:Fallback>
                  <p:oleObj name="Equation" r:id="rId15" imgW="3048000" imgH="39624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2018" y="2022185"/>
                          <a:ext cx="328612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" name="Object 30"/>
            <p:cNvGraphicFramePr>
              <a:graphicFrameLocks noChangeAspect="1"/>
            </p:cNvGraphicFramePr>
            <p:nvPr/>
          </p:nvGraphicFramePr>
          <p:xfrm>
            <a:off x="2197893" y="3402012"/>
            <a:ext cx="296863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17" imgW="2743200" imgH="4267200" progId="Equation.DSMT4">
                    <p:embed/>
                  </p:oleObj>
                </mc:Choice>
                <mc:Fallback>
                  <p:oleObj name="Equation" r:id="rId17" imgW="2743200" imgH="42672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7893" y="3402012"/>
                          <a:ext cx="296863" cy="45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" name="Object 33"/>
            <p:cNvGraphicFramePr>
              <a:graphicFrameLocks noChangeAspect="1"/>
            </p:cNvGraphicFramePr>
            <p:nvPr/>
          </p:nvGraphicFramePr>
          <p:xfrm>
            <a:off x="3441145" y="2011780"/>
            <a:ext cx="328612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Equation" r:id="rId19" imgW="3048000" imgH="3962400" progId="Equation.DSMT4">
                    <p:embed/>
                  </p:oleObj>
                </mc:Choice>
                <mc:Fallback>
                  <p:oleObj name="Equation" r:id="rId19" imgW="3048000" imgH="39624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1145" y="2011780"/>
                          <a:ext cx="328612" cy="427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" name="Object 37"/>
            <p:cNvGraphicFramePr>
              <a:graphicFrameLocks noChangeAspect="1"/>
            </p:cNvGraphicFramePr>
            <p:nvPr/>
          </p:nvGraphicFramePr>
          <p:xfrm>
            <a:off x="4056063" y="3378909"/>
            <a:ext cx="296862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Equation" r:id="rId21" imgW="2743200" imgH="4267200" progId="Equation.DSMT4">
                    <p:embed/>
                  </p:oleObj>
                </mc:Choice>
                <mc:Fallback>
                  <p:oleObj name="Equation" r:id="rId21" imgW="2743200" imgH="42672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6063" y="3378909"/>
                          <a:ext cx="296862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8" name="Object 38"/>
            <p:cNvGraphicFramePr>
              <a:graphicFrameLocks noChangeAspect="1"/>
            </p:cNvGraphicFramePr>
            <p:nvPr/>
          </p:nvGraphicFramePr>
          <p:xfrm>
            <a:off x="5593874" y="1903412"/>
            <a:ext cx="295275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Equation" r:id="rId23" imgW="2743200" imgH="4267200" progId="Equation.DSMT4">
                    <p:embed/>
                  </p:oleObj>
                </mc:Choice>
                <mc:Fallback>
                  <p:oleObj name="Equation" r:id="rId23" imgW="2743200" imgH="42672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3874" y="1903412"/>
                          <a:ext cx="295275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0" name="Object 40"/>
            <p:cNvGraphicFramePr>
              <a:graphicFrameLocks noChangeAspect="1"/>
            </p:cNvGraphicFramePr>
            <p:nvPr/>
          </p:nvGraphicFramePr>
          <p:xfrm>
            <a:off x="5142029" y="2781300"/>
            <a:ext cx="230187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Equation" r:id="rId25" imgW="2133600" imgH="3962400" progId="Equation.DSMT4">
                    <p:embed/>
                  </p:oleObj>
                </mc:Choice>
                <mc:Fallback>
                  <p:oleObj name="Equation" r:id="rId25" imgW="2133600" imgH="39624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2029" y="2781300"/>
                          <a:ext cx="230187" cy="427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7066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6-39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(b)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Dijkstra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算法既适合于有向图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也适合于无向图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6440" y="2492896"/>
            <a:ext cx="4071120" cy="33123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 noChangeAspect="1"/>
          </p:cNvGraphicFramePr>
          <p:nvPr>
            <p:ph/>
          </p:nvPr>
        </p:nvGraphicFramePr>
        <p:xfrm>
          <a:off x="2627784" y="4653136"/>
          <a:ext cx="3888432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Equation" r:id="rId1" imgW="31699200" imgH="6705600" progId="Equation.DSMT4">
                  <p:embed/>
                </p:oleObj>
              </mc:Choice>
              <mc:Fallback>
                <p:oleObj name="Equation" r:id="rId1" imgW="31699200" imgH="6705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653136"/>
                        <a:ext cx="3888432" cy="7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6" y="1772816"/>
            <a:ext cx="8965808" cy="25922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/>
          </p:nvPr>
        </p:nvPicPr>
        <p:blipFill>
          <a:blip r:embed="rId1"/>
          <a:stretch>
            <a:fillRect/>
          </a:stretch>
        </p:blipFill>
        <p:spPr>
          <a:xfrm>
            <a:off x="2483768" y="1700808"/>
            <a:ext cx="4176464" cy="34563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87D61EF2-000A-4337-B709-F703280D33CE}" type="slidenum">
              <a:rPr lang="en-US" altLang="zh-CN" smtClean="0"/>
            </a:fld>
            <a:endParaRPr lang="en-US" altLang="zh-CN"/>
          </a:p>
        </p:txBody>
      </p:sp>
      <p:sp>
        <p:nvSpPr>
          <p:cNvPr id="4915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 err="1">
                <a:latin typeface="Times New Roman" panose="02020603050405020304" pitchFamily="18" charset="0"/>
                <a:ea typeface="华文新魏" panose="02010800040101010101" charset="-122"/>
              </a:rPr>
              <a:t>Warshall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算法，并由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R. W. Floyd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改进，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它可求出任意两个点之间的最短路径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关键路径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(critical path)?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最长路径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4ADB9389-3AFF-490D-81CD-792A5D5C91AD}" type="slidenum">
              <a:rPr lang="en-US" altLang="zh-CN" smtClean="0"/>
            </a:fld>
            <a:endParaRPr lang="en-US" altLang="zh-CN"/>
          </a:p>
        </p:txBody>
      </p:sp>
      <p:sp>
        <p:nvSpPr>
          <p:cNvPr id="3481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6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0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-794" y="1252242"/>
            <a:ext cx="1561307" cy="838386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899623" y="2463547"/>
            <a:ext cx="5616575" cy="647132"/>
            <a:chOff x="1419" y="1480"/>
            <a:chExt cx="3575" cy="363"/>
          </a:xfrm>
        </p:grpSpPr>
        <p:grpSp>
          <p:nvGrpSpPr>
            <p:cNvPr id="3482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赋权图</a:t>
                </a:r>
                <a:endParaRPr lang="zh-CN" altLang="en-US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48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5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4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34845" name="AutoShape 29"/>
          <p:cNvSpPr>
            <a:spLocks noChangeArrowheads="1"/>
          </p:cNvSpPr>
          <p:nvPr/>
        </p:nvSpPr>
        <p:spPr bwMode="ltGray">
          <a:xfrm rot="5400000">
            <a:off x="935038" y="3178175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grpSp>
        <p:nvGrpSpPr>
          <p:cNvPr id="28" name="Group 10"/>
          <p:cNvGrpSpPr/>
          <p:nvPr/>
        </p:nvGrpSpPr>
        <p:grpSpPr bwMode="auto">
          <a:xfrm>
            <a:off x="1881810" y="4078010"/>
            <a:ext cx="5181600" cy="647133"/>
            <a:chOff x="1419" y="1480"/>
            <a:chExt cx="3575" cy="363"/>
          </a:xfrm>
        </p:grpSpPr>
        <p:grpSp>
          <p:nvGrpSpPr>
            <p:cNvPr id="29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2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最短路径</a:t>
                </a:r>
                <a:endParaRPr lang="zh-CN" altLang="en-US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Y2M1NzcxMmUzMDg4OTU3OGMzMWUzNzM0ZWU4ZGJmYzAifQ=="/>
  <p:tag name="KSO_WPP_MARK_KEY" val="76ad7fe4-f354-4819-a101-6fc537fb0266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0</TotalTime>
  <Words>1158</Words>
  <Application>WPS 演示</Application>
  <PresentationFormat>全屏显示(4:3)</PresentationFormat>
  <Paragraphs>132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35</vt:i4>
      </vt:variant>
      <vt:variant>
        <vt:lpstr>幻灯片标题</vt:lpstr>
      </vt:variant>
      <vt:variant>
        <vt:i4>22</vt:i4>
      </vt:variant>
    </vt:vector>
  </HeadingPairs>
  <TitlesOfParts>
    <vt:vector size="74" baseType="lpstr">
      <vt:lpstr>Arial</vt:lpstr>
      <vt:lpstr>宋体</vt:lpstr>
      <vt:lpstr>Wingdings</vt:lpstr>
      <vt:lpstr>华文新魏</vt:lpstr>
      <vt:lpstr>华文彩云</vt:lpstr>
      <vt:lpstr>华文行楷</vt:lpstr>
      <vt:lpstr>Times New Roman</vt:lpstr>
      <vt:lpstr>楷体_GB2312</vt:lpstr>
      <vt:lpstr>新宋体</vt:lpstr>
      <vt:lpstr>Symbol</vt:lpstr>
      <vt:lpstr>微软雅黑</vt:lpstr>
      <vt:lpstr>Arial Unicode MS</vt:lpstr>
      <vt:lpstr>Calibri</vt:lpstr>
      <vt:lpstr>Gulim</vt:lpstr>
      <vt:lpstr>Malgun Gothic</vt:lpstr>
      <vt:lpstr>主题2</vt:lpstr>
      <vt:lpstr>自定义设计方案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本讲内容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swu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赵超</cp:lastModifiedBy>
  <cp:revision>454</cp:revision>
  <dcterms:created xsi:type="dcterms:W3CDTF">2007-04-29T00:04:00Z</dcterms:created>
  <dcterms:modified xsi:type="dcterms:W3CDTF">2023-05-09T01:45:12Z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CBEB797B51EF4CF083434064FAC90038</vt:lpwstr>
  </property>
  <property fmtid="{D5CDD505-2E9C-101B-9397-08002B2CF9AE}" pid="3" name="KSOProductBuildVer">
    <vt:lpwstr>2052-11.1.0.14309</vt:lpwstr>
  </property>
</Properties>
</file>