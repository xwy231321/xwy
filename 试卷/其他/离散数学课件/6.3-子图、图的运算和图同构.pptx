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25"/>
  </p:notesMasterIdLst>
  <p:sldIdLst>
    <p:sldId id="506" r:id="rId3"/>
    <p:sldId id="753" r:id="rId4"/>
    <p:sldId id="278" r:id="rId5"/>
    <p:sldId id="294" r:id="rId6"/>
    <p:sldId id="279" r:id="rId7"/>
    <p:sldId id="761" r:id="rId8"/>
    <p:sldId id="282" r:id="rId9"/>
    <p:sldId id="283" r:id="rId10"/>
    <p:sldId id="284" r:id="rId11"/>
    <p:sldId id="285" r:id="rId12"/>
    <p:sldId id="759" r:id="rId13"/>
    <p:sldId id="286" r:id="rId14"/>
    <p:sldId id="287" r:id="rId15"/>
    <p:sldId id="758" r:id="rId16"/>
    <p:sldId id="288" r:id="rId17"/>
    <p:sldId id="777" r:id="rId18"/>
    <p:sldId id="289" r:id="rId19"/>
    <p:sldId id="290" r:id="rId20"/>
    <p:sldId id="763" r:id="rId21"/>
    <p:sldId id="762" r:id="rId22"/>
    <p:sldId id="760" r:id="rId23"/>
    <p:sldId id="617" r:id="rId24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0100" autoAdjust="0"/>
  </p:normalViewPr>
  <p:slideViewPr>
    <p:cSldViewPr>
      <p:cViewPr varScale="1">
        <p:scale>
          <a:sx n="73" d="100"/>
          <a:sy n="73" d="100"/>
        </p:scale>
        <p:origin x="10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  <a:t>2024/5/13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3109E0-5DAF-4820-9E3E-6785A71E8368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0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63588" y="3068960"/>
            <a:ext cx="7416824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6.3  </a:t>
            </a:r>
            <a:r>
              <a:rPr lang="zh-CN" altLang="en-US" sz="4400" dirty="0">
                <a:latin typeface="Times New Roman" panose="02020603050405020304" pitchFamily="18" charset="0"/>
              </a:rPr>
              <a:t>子图、图的运算和图同构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927725" cy="608012"/>
            <a:chOff x="1136" y="1132"/>
            <a:chExt cx="373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323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子图及产生子图的常见方式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图的运算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图同构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ADB9389-3AFF-490D-81CD-792A5D5C91AD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15677" y="1287175"/>
            <a:ext cx="8712646" cy="5184775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子图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可以通过一个图的子图去考察原图的有关性质以及原图的局部结构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(subgraph).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6042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的子图且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生成子图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(spanning subgraph).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568630" cy="518442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6-4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求出有向图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的所有子图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一个图的子图较多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3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388" y="2564904"/>
            <a:ext cx="545732" cy="18377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671" y="2564904"/>
            <a:ext cx="3221258" cy="177693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620" y="5022070"/>
            <a:ext cx="2058362" cy="146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解：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95" y="1434925"/>
            <a:ext cx="6555409" cy="48520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常见的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种产生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的子图的方式如下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(1)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[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]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为节点集合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以两端点均属于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的所有边为边集合构成的子图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称为由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导出的子图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(induced subgraph by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].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2004" name="Object 20"/>
          <p:cNvGraphicFramePr>
            <a:graphicFrameLocks noChangeAspect="1"/>
          </p:cNvGraphicFramePr>
          <p:nvPr/>
        </p:nvGraphicFramePr>
        <p:xfrm>
          <a:off x="5074746" y="4725144"/>
          <a:ext cx="20399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897600" imgH="5486400" progId="Equation.DSMT4">
                  <p:embed/>
                </p:oleObj>
              </mc:Choice>
              <mc:Fallback>
                <p:oleObj name="Equation" r:id="rId2" imgW="18897600" imgH="5486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4746" y="4725144"/>
                        <a:ext cx="20399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189" y="4035051"/>
            <a:ext cx="2039938" cy="22093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340768"/>
            <a:ext cx="8459788" cy="511242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– 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导出子图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–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–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中去掉所有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中的节点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同时也要去掉与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中节点关联的所有边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通常将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–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(3)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[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]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为边集合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中边的所有端点为节点集合构成的子图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称为由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导出的子图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(induced subgraph by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].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5" name="Object 21"/>
          <p:cNvGraphicFramePr>
            <a:graphicFrameLocks noChangeAspect="1"/>
          </p:cNvGraphicFramePr>
          <p:nvPr/>
        </p:nvGraphicFramePr>
        <p:xfrm>
          <a:off x="5286645" y="3308015"/>
          <a:ext cx="24352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555200" imgH="5486400" progId="Equation.DSMT4">
                  <p:embed/>
                </p:oleObj>
              </mc:Choice>
              <mc:Fallback>
                <p:oleObj name="Equation" r:id="rId2" imgW="22555200" imgH="5486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645" y="3308015"/>
                        <a:ext cx="243522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(4)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– 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中去掉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中的所有边得到的生成子图记为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–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69" y="1628800"/>
            <a:ext cx="6639261" cy="2376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4505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简单图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的补图</a:t>
            </a:r>
          </a:p>
          <a:p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i="1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i="1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i="1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+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,e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,…,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Wingdings" panose="05000000000000000000" pitchFamily="2" charset="2"/>
              </a:rPr>
              <a:t>: 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Wingdings" panose="05000000000000000000" pitchFamily="2" charset="2"/>
              </a:rPr>
              <a:t>可通过增加新边，得到一个更大的图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Wingdings" panose="05000000000000000000" pitchFamily="2" charset="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ea typeface="华文新魏" panose="02010800040101010101" charset="-122"/>
              </a:rPr>
              <a:t>            或</a:t>
            </a:r>
            <a:endParaRPr lang="en-US" altLang="zh-CN" dirty="0">
              <a:ea typeface="华文新魏" panose="02010800040101010101" charset="-122"/>
            </a:endParaRPr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5004048" y="1284329"/>
          <a:ext cx="1874838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73600" imgH="6096000" progId="Equation.DSMT4">
                  <p:embed/>
                </p:oleObj>
              </mc:Choice>
              <mc:Fallback>
                <p:oleObj name="Equation" r:id="rId2" imgW="17373600" imgH="6096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284329"/>
                        <a:ext cx="1874838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2387397" y="5394976"/>
          <a:ext cx="28289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12800" imgH="4876800" progId="Equation.DSMT4">
                  <p:embed/>
                </p:oleObj>
              </mc:Choice>
              <mc:Fallback>
                <p:oleObj name="Equation" r:id="rId4" imgW="26212800" imgH="487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397" y="5394976"/>
                        <a:ext cx="28289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/>
        </p:nvGraphicFramePr>
        <p:xfrm>
          <a:off x="2400895" y="5967228"/>
          <a:ext cx="37147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442400" imgH="4876800" progId="Equation.DSMT4">
                  <p:embed/>
                </p:oleObj>
              </mc:Choice>
              <mc:Fallback>
                <p:oleObj name="Equation" r:id="rId6" imgW="344424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895" y="5967228"/>
                        <a:ext cx="37147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347864" y="1986757"/>
            <a:ext cx="2089150" cy="2017713"/>
            <a:chOff x="3059113" y="908050"/>
            <a:chExt cx="2089150" cy="2017713"/>
          </a:xfrm>
        </p:grpSpPr>
        <p:sp>
          <p:nvSpPr>
            <p:cNvPr id="45062" name="Oval 6"/>
            <p:cNvSpPr>
              <a:spLocks noChangeArrowheads="1"/>
            </p:cNvSpPr>
            <p:nvPr/>
          </p:nvSpPr>
          <p:spPr bwMode="auto">
            <a:xfrm>
              <a:off x="4067175" y="9080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3" name="Oval 7"/>
            <p:cNvSpPr>
              <a:spLocks noChangeArrowheads="1"/>
            </p:cNvSpPr>
            <p:nvPr/>
          </p:nvSpPr>
          <p:spPr bwMode="auto">
            <a:xfrm>
              <a:off x="3059113" y="17732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4" name="Oval 8"/>
            <p:cNvSpPr>
              <a:spLocks noChangeArrowheads="1"/>
            </p:cNvSpPr>
            <p:nvPr/>
          </p:nvSpPr>
          <p:spPr bwMode="auto">
            <a:xfrm>
              <a:off x="5003800" y="16287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5" name="Oval 9"/>
            <p:cNvSpPr>
              <a:spLocks noChangeArrowheads="1"/>
            </p:cNvSpPr>
            <p:nvPr/>
          </p:nvSpPr>
          <p:spPr bwMode="auto">
            <a:xfrm>
              <a:off x="3635375" y="27813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6" name="Oval 10"/>
            <p:cNvSpPr>
              <a:spLocks noChangeArrowheads="1"/>
            </p:cNvSpPr>
            <p:nvPr/>
          </p:nvSpPr>
          <p:spPr bwMode="auto">
            <a:xfrm>
              <a:off x="4500563" y="27813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7" name="Line 11"/>
            <p:cNvSpPr>
              <a:spLocks noChangeShapeType="1"/>
            </p:cNvSpPr>
            <p:nvPr/>
          </p:nvSpPr>
          <p:spPr bwMode="auto">
            <a:xfrm flipH="1">
              <a:off x="3203575" y="981075"/>
              <a:ext cx="9366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Line 12"/>
            <p:cNvSpPr>
              <a:spLocks noChangeShapeType="1"/>
            </p:cNvSpPr>
            <p:nvPr/>
          </p:nvSpPr>
          <p:spPr bwMode="auto">
            <a:xfrm>
              <a:off x="4140200" y="981075"/>
              <a:ext cx="936625" cy="719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Line 13"/>
            <p:cNvSpPr>
              <a:spLocks noChangeShapeType="1"/>
            </p:cNvSpPr>
            <p:nvPr/>
          </p:nvSpPr>
          <p:spPr bwMode="auto">
            <a:xfrm>
              <a:off x="3132138" y="1844675"/>
              <a:ext cx="576262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Line 14"/>
            <p:cNvSpPr>
              <a:spLocks noChangeShapeType="1"/>
            </p:cNvSpPr>
            <p:nvPr/>
          </p:nvSpPr>
          <p:spPr bwMode="auto">
            <a:xfrm flipH="1">
              <a:off x="4572000" y="1700213"/>
              <a:ext cx="504825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Line 15"/>
            <p:cNvSpPr>
              <a:spLocks noChangeShapeType="1"/>
            </p:cNvSpPr>
            <p:nvPr/>
          </p:nvSpPr>
          <p:spPr bwMode="auto">
            <a:xfrm>
              <a:off x="3708400" y="2852738"/>
              <a:ext cx="86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Line 16"/>
            <p:cNvSpPr>
              <a:spLocks noChangeShapeType="1"/>
            </p:cNvSpPr>
            <p:nvPr/>
          </p:nvSpPr>
          <p:spPr bwMode="auto">
            <a:xfrm flipH="1">
              <a:off x="3708400" y="981075"/>
              <a:ext cx="431800" cy="1871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Line 17"/>
            <p:cNvSpPr>
              <a:spLocks noChangeShapeType="1"/>
            </p:cNvSpPr>
            <p:nvPr/>
          </p:nvSpPr>
          <p:spPr bwMode="auto">
            <a:xfrm>
              <a:off x="4140200" y="981075"/>
              <a:ext cx="431800" cy="1871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4" name="Line 18"/>
            <p:cNvSpPr>
              <a:spLocks noChangeShapeType="1"/>
            </p:cNvSpPr>
            <p:nvPr/>
          </p:nvSpPr>
          <p:spPr bwMode="auto">
            <a:xfrm flipV="1">
              <a:off x="3132138" y="1700213"/>
              <a:ext cx="1944687" cy="14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Line 19"/>
            <p:cNvSpPr>
              <a:spLocks noChangeShapeType="1"/>
            </p:cNvSpPr>
            <p:nvPr/>
          </p:nvSpPr>
          <p:spPr bwMode="auto">
            <a:xfrm flipH="1">
              <a:off x="3708400" y="1628775"/>
              <a:ext cx="1368425" cy="1223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Line 20"/>
            <p:cNvSpPr>
              <a:spLocks noChangeShapeType="1"/>
            </p:cNvSpPr>
            <p:nvPr/>
          </p:nvSpPr>
          <p:spPr bwMode="auto">
            <a:xfrm>
              <a:off x="3132138" y="1844675"/>
              <a:ext cx="1368425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927725" cy="608012"/>
            <a:chOff x="1136" y="1132"/>
            <a:chExt cx="373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323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子图及产生子图的常见方式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图的运算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图同构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4608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568630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图的运算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图的运算就是通过一定的操作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产生“新”的图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前面的子图的产生实际上就是图的运算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但它们都是在一个图中进行讨论的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在有些问题的讨论中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还会出现两个图之间的一些运算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(1)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(2) </a:t>
            </a: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691680" y="4491184"/>
          <a:ext cx="413226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100000" imgH="5486400" progId="Equation.DSMT4">
                  <p:embed/>
                </p:oleObj>
              </mc:Choice>
              <mc:Fallback>
                <p:oleObj name="Equation" r:id="rId2" imgW="38100000" imgH="548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491184"/>
                        <a:ext cx="413226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1438275" y="5199063"/>
          <a:ext cx="40322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185600" imgH="5791200" progId="Equation.DSMT4">
                  <p:embed/>
                </p:oleObj>
              </mc:Choice>
              <mc:Fallback>
                <p:oleObj name="Equation" r:id="rId4" imgW="37185600" imgH="579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5199063"/>
                        <a:ext cx="403225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427904" y="5847599"/>
          <a:ext cx="40322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185600" imgH="5791200" progId="Equation.DSMT4">
                  <p:embed/>
                </p:oleObj>
              </mc:Choice>
              <mc:Fallback>
                <p:oleObj name="Equation" r:id="rId6" imgW="37185600" imgH="579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904" y="5847599"/>
                        <a:ext cx="403225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4710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(3)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(4)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1410280" y="1327869"/>
          <a:ext cx="574833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035200" imgH="5486400" progId="Equation.DSMT4">
                  <p:embed/>
                </p:oleObj>
              </mc:Choice>
              <mc:Fallback>
                <p:oleObj name="Equation" r:id="rId2" imgW="530352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280" y="1327869"/>
                        <a:ext cx="574833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1410280" y="1975941"/>
          <a:ext cx="50228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329600" imgH="5486400" progId="Equation.DSMT4">
                  <p:embed/>
                </p:oleObj>
              </mc:Choice>
              <mc:Fallback>
                <p:oleObj name="Equation" r:id="rId4" imgW="463296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280" y="1975941"/>
                        <a:ext cx="50228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21547" y="2628383"/>
          <a:ext cx="386097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966400" imgH="5486400" progId="Equation.DSMT4">
                  <p:embed/>
                </p:oleObj>
              </mc:Choice>
              <mc:Fallback>
                <p:oleObj name="Equation" r:id="rId6" imgW="35966400" imgH="54864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21547" y="2628383"/>
                        <a:ext cx="3860973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927725" cy="608012"/>
            <a:chOff x="1136" y="1132"/>
            <a:chExt cx="373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323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子图及产生子图的常见方式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图的运算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图同构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图同构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由于图的拓扑性质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有可能两个表面上看起来不同的图本质上是同一个图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这就是图同构的问题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560" y="3932555"/>
            <a:ext cx="9039225" cy="1205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由定义知，两个图同构的充要条件是两个图的节点与边分别一一对应，且保持节点与边的关联关系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zh-CN" altLang="en-US" dirty="0">
              <a:solidFill>
                <a:srgbClr val="0033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直观理解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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是指其中一个图仅经过下列两种变换可以变为另一个图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(a)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挪动节点的位置；   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(b)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伸缩边的长短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662931" y="6235482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196752"/>
            <a:ext cx="8459788" cy="5256436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不同构的例子：右图没有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sz="1800" i="1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子图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90692" y="1895412"/>
            <a:ext cx="1871663" cy="1511300"/>
            <a:chOff x="2124075" y="1125538"/>
            <a:chExt cx="1871663" cy="1511300"/>
          </a:xfrm>
        </p:grpSpPr>
        <p:sp>
          <p:nvSpPr>
            <p:cNvPr id="49155" name="Oval 3"/>
            <p:cNvSpPr>
              <a:spLocks noChangeArrowheads="1"/>
            </p:cNvSpPr>
            <p:nvPr/>
          </p:nvSpPr>
          <p:spPr bwMode="auto">
            <a:xfrm>
              <a:off x="2987675" y="11255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6" name="Oval 4"/>
            <p:cNvSpPr>
              <a:spLocks noChangeArrowheads="1"/>
            </p:cNvSpPr>
            <p:nvPr/>
          </p:nvSpPr>
          <p:spPr bwMode="auto">
            <a:xfrm>
              <a:off x="2124075" y="15573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7" name="Oval 5"/>
            <p:cNvSpPr>
              <a:spLocks noChangeArrowheads="1"/>
            </p:cNvSpPr>
            <p:nvPr/>
          </p:nvSpPr>
          <p:spPr bwMode="auto">
            <a:xfrm>
              <a:off x="3851275" y="15573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8" name="Oval 6"/>
            <p:cNvSpPr>
              <a:spLocks noChangeArrowheads="1"/>
            </p:cNvSpPr>
            <p:nvPr/>
          </p:nvSpPr>
          <p:spPr bwMode="auto">
            <a:xfrm>
              <a:off x="2700338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9" name="Oval 7"/>
            <p:cNvSpPr>
              <a:spLocks noChangeArrowheads="1"/>
            </p:cNvSpPr>
            <p:nvPr/>
          </p:nvSpPr>
          <p:spPr bwMode="auto">
            <a:xfrm>
              <a:off x="3419475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5" name="Line 13"/>
            <p:cNvSpPr>
              <a:spLocks noChangeShapeType="1"/>
            </p:cNvSpPr>
            <p:nvPr/>
          </p:nvSpPr>
          <p:spPr bwMode="auto">
            <a:xfrm flipH="1">
              <a:off x="2195513" y="1196975"/>
              <a:ext cx="86360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6" name="Line 14"/>
            <p:cNvSpPr>
              <a:spLocks noChangeShapeType="1"/>
            </p:cNvSpPr>
            <p:nvPr/>
          </p:nvSpPr>
          <p:spPr bwMode="auto">
            <a:xfrm>
              <a:off x="2195513" y="1628775"/>
              <a:ext cx="576262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7" name="Line 15"/>
            <p:cNvSpPr>
              <a:spLocks noChangeShapeType="1"/>
            </p:cNvSpPr>
            <p:nvPr/>
          </p:nvSpPr>
          <p:spPr bwMode="auto">
            <a:xfrm>
              <a:off x="3132138" y="1196975"/>
              <a:ext cx="719137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8" name="Line 16"/>
            <p:cNvSpPr>
              <a:spLocks noChangeShapeType="1"/>
            </p:cNvSpPr>
            <p:nvPr/>
          </p:nvSpPr>
          <p:spPr bwMode="auto">
            <a:xfrm flipH="1">
              <a:off x="3492500" y="1628775"/>
              <a:ext cx="43180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9" name="Line 17"/>
            <p:cNvSpPr>
              <a:spLocks noChangeShapeType="1"/>
            </p:cNvSpPr>
            <p:nvPr/>
          </p:nvSpPr>
          <p:spPr bwMode="auto">
            <a:xfrm>
              <a:off x="2771775" y="2565400"/>
              <a:ext cx="647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64934" y="1886681"/>
            <a:ext cx="1584325" cy="1584325"/>
            <a:chOff x="5219700" y="1052513"/>
            <a:chExt cx="1584325" cy="1584325"/>
          </a:xfrm>
        </p:grpSpPr>
        <p:sp>
          <p:nvSpPr>
            <p:cNvPr id="49160" name="Oval 8"/>
            <p:cNvSpPr>
              <a:spLocks noChangeArrowheads="1"/>
            </p:cNvSpPr>
            <p:nvPr/>
          </p:nvSpPr>
          <p:spPr bwMode="auto">
            <a:xfrm>
              <a:off x="5940425" y="10525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1" name="Oval 9"/>
            <p:cNvSpPr>
              <a:spLocks noChangeArrowheads="1"/>
            </p:cNvSpPr>
            <p:nvPr/>
          </p:nvSpPr>
          <p:spPr bwMode="auto">
            <a:xfrm>
              <a:off x="5219700" y="16287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2" name="Oval 10"/>
            <p:cNvSpPr>
              <a:spLocks noChangeArrowheads="1"/>
            </p:cNvSpPr>
            <p:nvPr/>
          </p:nvSpPr>
          <p:spPr bwMode="auto">
            <a:xfrm>
              <a:off x="6659563" y="16287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3" name="Oval 11"/>
            <p:cNvSpPr>
              <a:spLocks noChangeArrowheads="1"/>
            </p:cNvSpPr>
            <p:nvPr/>
          </p:nvSpPr>
          <p:spPr bwMode="auto">
            <a:xfrm>
              <a:off x="5651500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4" name="Oval 12"/>
            <p:cNvSpPr>
              <a:spLocks noChangeArrowheads="1"/>
            </p:cNvSpPr>
            <p:nvPr/>
          </p:nvSpPr>
          <p:spPr bwMode="auto">
            <a:xfrm>
              <a:off x="6372225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0" name="Line 18"/>
            <p:cNvSpPr>
              <a:spLocks noChangeShapeType="1"/>
            </p:cNvSpPr>
            <p:nvPr/>
          </p:nvSpPr>
          <p:spPr bwMode="auto">
            <a:xfrm flipH="1">
              <a:off x="5705201" y="1139826"/>
              <a:ext cx="287338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Line 19"/>
            <p:cNvSpPr>
              <a:spLocks noChangeShapeType="1"/>
            </p:cNvSpPr>
            <p:nvPr/>
          </p:nvSpPr>
          <p:spPr bwMode="auto">
            <a:xfrm>
              <a:off x="6011863" y="1125538"/>
              <a:ext cx="43180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2" name="Line 20"/>
            <p:cNvSpPr>
              <a:spLocks noChangeShapeType="1"/>
            </p:cNvSpPr>
            <p:nvPr/>
          </p:nvSpPr>
          <p:spPr bwMode="auto">
            <a:xfrm>
              <a:off x="5292725" y="1700213"/>
              <a:ext cx="13668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Line 21"/>
            <p:cNvSpPr>
              <a:spLocks noChangeShapeType="1"/>
            </p:cNvSpPr>
            <p:nvPr/>
          </p:nvSpPr>
          <p:spPr bwMode="auto">
            <a:xfrm flipH="1">
              <a:off x="5724525" y="1700213"/>
              <a:ext cx="935038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4" name="Line 22"/>
            <p:cNvSpPr>
              <a:spLocks noChangeShapeType="1"/>
            </p:cNvSpPr>
            <p:nvPr/>
          </p:nvSpPr>
          <p:spPr bwMode="auto">
            <a:xfrm>
              <a:off x="5327651" y="1707357"/>
              <a:ext cx="1079500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672430" y="4363819"/>
            <a:ext cx="1728788" cy="1871663"/>
            <a:chOff x="1187450" y="4149725"/>
            <a:chExt cx="1728788" cy="1871663"/>
          </a:xfrm>
        </p:grpSpPr>
        <p:sp>
          <p:nvSpPr>
            <p:cNvPr id="49175" name="Oval 23"/>
            <p:cNvSpPr>
              <a:spLocks noChangeArrowheads="1"/>
            </p:cNvSpPr>
            <p:nvPr/>
          </p:nvSpPr>
          <p:spPr bwMode="auto">
            <a:xfrm>
              <a:off x="2051050" y="41497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6" name="Oval 24"/>
            <p:cNvSpPr>
              <a:spLocks noChangeArrowheads="1"/>
            </p:cNvSpPr>
            <p:nvPr/>
          </p:nvSpPr>
          <p:spPr bwMode="auto">
            <a:xfrm>
              <a:off x="1187450" y="58769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7" name="Oval 25"/>
            <p:cNvSpPr>
              <a:spLocks noChangeArrowheads="1"/>
            </p:cNvSpPr>
            <p:nvPr/>
          </p:nvSpPr>
          <p:spPr bwMode="auto">
            <a:xfrm>
              <a:off x="2051050" y="48688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8" name="Oval 26"/>
            <p:cNvSpPr>
              <a:spLocks noChangeArrowheads="1"/>
            </p:cNvSpPr>
            <p:nvPr/>
          </p:nvSpPr>
          <p:spPr bwMode="auto">
            <a:xfrm>
              <a:off x="2771775" y="58769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9" name="Oval 27"/>
            <p:cNvSpPr>
              <a:spLocks noChangeArrowheads="1"/>
            </p:cNvSpPr>
            <p:nvPr/>
          </p:nvSpPr>
          <p:spPr bwMode="auto">
            <a:xfrm>
              <a:off x="2339975" y="54451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0" name="Oval 28"/>
            <p:cNvSpPr>
              <a:spLocks noChangeArrowheads="1"/>
            </p:cNvSpPr>
            <p:nvPr/>
          </p:nvSpPr>
          <p:spPr bwMode="auto">
            <a:xfrm>
              <a:off x="1763713" y="54451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7" name="Line 35"/>
            <p:cNvSpPr>
              <a:spLocks noChangeShapeType="1"/>
            </p:cNvSpPr>
            <p:nvPr/>
          </p:nvSpPr>
          <p:spPr bwMode="auto">
            <a:xfrm>
              <a:off x="2124075" y="4221163"/>
              <a:ext cx="719138" cy="1655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8" name="Line 36"/>
            <p:cNvSpPr>
              <a:spLocks noChangeShapeType="1"/>
            </p:cNvSpPr>
            <p:nvPr/>
          </p:nvSpPr>
          <p:spPr bwMode="auto">
            <a:xfrm>
              <a:off x="2124075" y="4941888"/>
              <a:ext cx="287338" cy="574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9" name="Line 37"/>
            <p:cNvSpPr>
              <a:spLocks noChangeShapeType="1"/>
            </p:cNvSpPr>
            <p:nvPr/>
          </p:nvSpPr>
          <p:spPr bwMode="auto">
            <a:xfrm>
              <a:off x="1258888" y="5949950"/>
              <a:ext cx="15128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0" name="Line 38"/>
            <p:cNvSpPr>
              <a:spLocks noChangeShapeType="1"/>
            </p:cNvSpPr>
            <p:nvPr/>
          </p:nvSpPr>
          <p:spPr bwMode="auto">
            <a:xfrm>
              <a:off x="1835150" y="5516563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1" name="Line 39"/>
            <p:cNvSpPr>
              <a:spLocks noChangeShapeType="1"/>
            </p:cNvSpPr>
            <p:nvPr/>
          </p:nvSpPr>
          <p:spPr bwMode="auto">
            <a:xfrm flipH="1">
              <a:off x="1835150" y="4941888"/>
              <a:ext cx="288925" cy="574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2" name="Line 40"/>
            <p:cNvSpPr>
              <a:spLocks noChangeShapeType="1"/>
            </p:cNvSpPr>
            <p:nvPr/>
          </p:nvSpPr>
          <p:spPr bwMode="auto">
            <a:xfrm flipH="1">
              <a:off x="1331913" y="4221163"/>
              <a:ext cx="792162" cy="1655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3" name="Line 41"/>
            <p:cNvSpPr>
              <a:spLocks noChangeShapeType="1"/>
            </p:cNvSpPr>
            <p:nvPr/>
          </p:nvSpPr>
          <p:spPr bwMode="auto">
            <a:xfrm>
              <a:off x="2411413" y="5516563"/>
              <a:ext cx="360362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4" name="Line 42"/>
            <p:cNvSpPr>
              <a:spLocks noChangeShapeType="1"/>
            </p:cNvSpPr>
            <p:nvPr/>
          </p:nvSpPr>
          <p:spPr bwMode="auto">
            <a:xfrm>
              <a:off x="2124075" y="4221163"/>
              <a:ext cx="0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5" name="Line 43"/>
            <p:cNvSpPr>
              <a:spLocks noChangeShapeType="1"/>
            </p:cNvSpPr>
            <p:nvPr/>
          </p:nvSpPr>
          <p:spPr bwMode="auto">
            <a:xfrm flipH="1">
              <a:off x="1258888" y="5516563"/>
              <a:ext cx="576262" cy="433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021265" y="4493784"/>
            <a:ext cx="2232025" cy="1657350"/>
            <a:chOff x="4572000" y="4292600"/>
            <a:chExt cx="2232025" cy="1657350"/>
          </a:xfrm>
        </p:grpSpPr>
        <p:sp>
          <p:nvSpPr>
            <p:cNvPr id="49181" name="Oval 29"/>
            <p:cNvSpPr>
              <a:spLocks noChangeArrowheads="1"/>
            </p:cNvSpPr>
            <p:nvPr/>
          </p:nvSpPr>
          <p:spPr bwMode="auto">
            <a:xfrm>
              <a:off x="4572000" y="42926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2" name="Oval 30"/>
            <p:cNvSpPr>
              <a:spLocks noChangeArrowheads="1"/>
            </p:cNvSpPr>
            <p:nvPr/>
          </p:nvSpPr>
          <p:spPr bwMode="auto">
            <a:xfrm>
              <a:off x="5580063" y="42926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3" name="Oval 31"/>
            <p:cNvSpPr>
              <a:spLocks noChangeArrowheads="1"/>
            </p:cNvSpPr>
            <p:nvPr/>
          </p:nvSpPr>
          <p:spPr bwMode="auto">
            <a:xfrm>
              <a:off x="6659563" y="42926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4" name="Oval 32"/>
            <p:cNvSpPr>
              <a:spLocks noChangeArrowheads="1"/>
            </p:cNvSpPr>
            <p:nvPr/>
          </p:nvSpPr>
          <p:spPr bwMode="auto">
            <a:xfrm>
              <a:off x="4572000" y="580548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5" name="Oval 33"/>
            <p:cNvSpPr>
              <a:spLocks noChangeArrowheads="1"/>
            </p:cNvSpPr>
            <p:nvPr/>
          </p:nvSpPr>
          <p:spPr bwMode="auto">
            <a:xfrm>
              <a:off x="5651500" y="580548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6" name="Oval 34"/>
            <p:cNvSpPr>
              <a:spLocks noChangeArrowheads="1"/>
            </p:cNvSpPr>
            <p:nvPr/>
          </p:nvSpPr>
          <p:spPr bwMode="auto">
            <a:xfrm>
              <a:off x="6659563" y="580548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6" name="Line 44"/>
            <p:cNvSpPr>
              <a:spLocks noChangeShapeType="1"/>
            </p:cNvSpPr>
            <p:nvPr/>
          </p:nvSpPr>
          <p:spPr bwMode="auto">
            <a:xfrm>
              <a:off x="4643438" y="436562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7" name="Line 45"/>
            <p:cNvSpPr>
              <a:spLocks noChangeShapeType="1"/>
            </p:cNvSpPr>
            <p:nvPr/>
          </p:nvSpPr>
          <p:spPr bwMode="auto">
            <a:xfrm>
              <a:off x="4643438" y="4437063"/>
              <a:ext cx="208915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8" name="Line 46"/>
            <p:cNvSpPr>
              <a:spLocks noChangeShapeType="1"/>
            </p:cNvSpPr>
            <p:nvPr/>
          </p:nvSpPr>
          <p:spPr bwMode="auto">
            <a:xfrm>
              <a:off x="4643438" y="4437063"/>
              <a:ext cx="1081087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9" name="Line 47"/>
            <p:cNvSpPr>
              <a:spLocks noChangeShapeType="1"/>
            </p:cNvSpPr>
            <p:nvPr/>
          </p:nvSpPr>
          <p:spPr bwMode="auto">
            <a:xfrm flipH="1">
              <a:off x="4643438" y="4365625"/>
              <a:ext cx="1008062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0" name="Line 48"/>
            <p:cNvSpPr>
              <a:spLocks noChangeShapeType="1"/>
            </p:cNvSpPr>
            <p:nvPr/>
          </p:nvSpPr>
          <p:spPr bwMode="auto">
            <a:xfrm>
              <a:off x="5651500" y="4365625"/>
              <a:ext cx="73025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1" name="Line 49"/>
            <p:cNvSpPr>
              <a:spLocks noChangeShapeType="1"/>
            </p:cNvSpPr>
            <p:nvPr/>
          </p:nvSpPr>
          <p:spPr bwMode="auto">
            <a:xfrm>
              <a:off x="5651500" y="4365625"/>
              <a:ext cx="1081088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2" name="Line 50"/>
            <p:cNvSpPr>
              <a:spLocks noChangeShapeType="1"/>
            </p:cNvSpPr>
            <p:nvPr/>
          </p:nvSpPr>
          <p:spPr bwMode="auto">
            <a:xfrm flipH="1">
              <a:off x="4643438" y="4365625"/>
              <a:ext cx="2016125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3" name="Line 51"/>
            <p:cNvSpPr>
              <a:spLocks noChangeShapeType="1"/>
            </p:cNvSpPr>
            <p:nvPr/>
          </p:nvSpPr>
          <p:spPr bwMode="auto">
            <a:xfrm flipH="1">
              <a:off x="5651500" y="4365625"/>
              <a:ext cx="1081088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4" name="Line 52"/>
            <p:cNvSpPr>
              <a:spLocks noChangeShapeType="1"/>
            </p:cNvSpPr>
            <p:nvPr/>
          </p:nvSpPr>
          <p:spPr bwMode="auto">
            <a:xfrm>
              <a:off x="6732588" y="436562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FC6E3D0-914E-4159-85D0-E37F58F4C196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5017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对于两个有向图同构的判断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特别要注意边的方向的一致性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solidFill>
                <a:srgbClr val="0033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72382" y="2621977"/>
            <a:ext cx="4362724" cy="2822428"/>
            <a:chOff x="1762024" y="1610519"/>
            <a:chExt cx="4362724" cy="2822428"/>
          </a:xfrm>
        </p:grpSpPr>
        <p:sp>
          <p:nvSpPr>
            <p:cNvPr id="50179" name="Oval 3"/>
            <p:cNvSpPr>
              <a:spLocks noChangeArrowheads="1"/>
            </p:cNvSpPr>
            <p:nvPr/>
          </p:nvSpPr>
          <p:spPr bwMode="auto">
            <a:xfrm>
              <a:off x="1908175" y="16287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0" name="Oval 4"/>
            <p:cNvSpPr>
              <a:spLocks noChangeArrowheads="1"/>
            </p:cNvSpPr>
            <p:nvPr/>
          </p:nvSpPr>
          <p:spPr bwMode="auto">
            <a:xfrm>
              <a:off x="1907381" y="256341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1" name="Oval 5"/>
            <p:cNvSpPr>
              <a:spLocks noChangeArrowheads="1"/>
            </p:cNvSpPr>
            <p:nvPr/>
          </p:nvSpPr>
          <p:spPr bwMode="auto">
            <a:xfrm>
              <a:off x="1908175" y="3644901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2" name="Oval 6"/>
            <p:cNvSpPr>
              <a:spLocks noChangeArrowheads="1"/>
            </p:cNvSpPr>
            <p:nvPr/>
          </p:nvSpPr>
          <p:spPr bwMode="auto">
            <a:xfrm>
              <a:off x="3923506" y="1610519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3" name="Oval 7"/>
            <p:cNvSpPr>
              <a:spLocks noChangeArrowheads="1"/>
            </p:cNvSpPr>
            <p:nvPr/>
          </p:nvSpPr>
          <p:spPr bwMode="auto">
            <a:xfrm>
              <a:off x="3924300" y="25654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4" name="Oval 8"/>
            <p:cNvSpPr>
              <a:spLocks noChangeArrowheads="1"/>
            </p:cNvSpPr>
            <p:nvPr/>
          </p:nvSpPr>
          <p:spPr bwMode="auto">
            <a:xfrm>
              <a:off x="3924300" y="36449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5" name="Oval 9"/>
            <p:cNvSpPr>
              <a:spLocks noChangeArrowheads="1"/>
            </p:cNvSpPr>
            <p:nvPr/>
          </p:nvSpPr>
          <p:spPr bwMode="auto">
            <a:xfrm>
              <a:off x="5795963" y="1643770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6" name="Oval 10"/>
            <p:cNvSpPr>
              <a:spLocks noChangeArrowheads="1"/>
            </p:cNvSpPr>
            <p:nvPr/>
          </p:nvSpPr>
          <p:spPr bwMode="auto">
            <a:xfrm>
              <a:off x="5795963" y="2600324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7" name="Oval 11"/>
            <p:cNvSpPr>
              <a:spLocks noChangeArrowheads="1"/>
            </p:cNvSpPr>
            <p:nvPr/>
          </p:nvSpPr>
          <p:spPr bwMode="auto">
            <a:xfrm>
              <a:off x="5795963" y="36449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8" name="Line 12"/>
            <p:cNvSpPr>
              <a:spLocks noChangeShapeType="1"/>
            </p:cNvSpPr>
            <p:nvPr/>
          </p:nvSpPr>
          <p:spPr bwMode="auto">
            <a:xfrm flipH="1">
              <a:off x="1979611" y="1773237"/>
              <a:ext cx="2" cy="789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9" name="Line 13"/>
            <p:cNvSpPr>
              <a:spLocks noChangeShapeType="1"/>
            </p:cNvSpPr>
            <p:nvPr/>
          </p:nvSpPr>
          <p:spPr bwMode="auto">
            <a:xfrm>
              <a:off x="1979612" y="2707877"/>
              <a:ext cx="1" cy="936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Line 14"/>
            <p:cNvSpPr>
              <a:spLocks noChangeShapeType="1"/>
            </p:cNvSpPr>
            <p:nvPr/>
          </p:nvSpPr>
          <p:spPr bwMode="auto">
            <a:xfrm flipV="1">
              <a:off x="3995738" y="1773238"/>
              <a:ext cx="0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1" name="Line 15"/>
            <p:cNvSpPr>
              <a:spLocks noChangeShapeType="1"/>
            </p:cNvSpPr>
            <p:nvPr/>
          </p:nvSpPr>
          <p:spPr bwMode="auto">
            <a:xfrm flipV="1">
              <a:off x="3995738" y="2707877"/>
              <a:ext cx="0" cy="937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2" name="Line 16"/>
            <p:cNvSpPr>
              <a:spLocks noChangeShapeType="1"/>
            </p:cNvSpPr>
            <p:nvPr/>
          </p:nvSpPr>
          <p:spPr bwMode="auto">
            <a:xfrm>
              <a:off x="5867400" y="1788233"/>
              <a:ext cx="9698" cy="780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Line 17"/>
            <p:cNvSpPr>
              <a:spLocks noChangeShapeType="1"/>
            </p:cNvSpPr>
            <p:nvPr/>
          </p:nvSpPr>
          <p:spPr bwMode="auto">
            <a:xfrm flipV="1">
              <a:off x="5867400" y="2744786"/>
              <a:ext cx="0" cy="900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0194" name="Object 18"/>
            <p:cNvGraphicFramePr>
              <a:graphicFrameLocks noChangeAspect="1"/>
            </p:cNvGraphicFramePr>
            <p:nvPr/>
          </p:nvGraphicFramePr>
          <p:xfrm>
            <a:off x="1762024" y="3817546"/>
            <a:ext cx="461963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67200" imgH="5486400" progId="Equation.DSMT4">
                    <p:embed/>
                  </p:oleObj>
                </mc:Choice>
                <mc:Fallback>
                  <p:oleObj name="Equation" r:id="rId2" imgW="4267200" imgH="5486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2024" y="3817546"/>
                          <a:ext cx="461963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5" name="Object 19"/>
            <p:cNvGraphicFramePr>
              <a:graphicFrameLocks noChangeAspect="1"/>
            </p:cNvGraphicFramePr>
            <p:nvPr/>
          </p:nvGraphicFramePr>
          <p:xfrm>
            <a:off x="3748087" y="3817546"/>
            <a:ext cx="49530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572000" imgH="5486400" progId="Equation.DSMT4">
                    <p:embed/>
                  </p:oleObj>
                </mc:Choice>
                <mc:Fallback>
                  <p:oleObj name="Equation" r:id="rId4" imgW="4572000" imgH="54864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087" y="3817546"/>
                          <a:ext cx="49530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6" name="Object 20"/>
            <p:cNvGraphicFramePr>
              <a:graphicFrameLocks noChangeAspect="1"/>
            </p:cNvGraphicFramePr>
            <p:nvPr/>
          </p:nvGraphicFramePr>
          <p:xfrm>
            <a:off x="5629448" y="3842397"/>
            <a:ext cx="49530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572000" imgH="5486400" progId="Equation.DSMT4">
                    <p:embed/>
                  </p:oleObj>
                </mc:Choice>
                <mc:Fallback>
                  <p:oleObj name="Equation" r:id="rId6" imgW="4572000" imgH="5486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9448" y="3842397"/>
                          <a:ext cx="49530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显然，图的同构关系是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等价关系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，即有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自反性   对于任意图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，有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(2)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对称性   若            ，则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(3)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传递性   若             且             ，则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796135" y="2537123"/>
          <a:ext cx="1094137" cy="450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363200" imgH="4267200" progId="Equation.DSMT4">
                  <p:embed/>
                </p:oleObj>
              </mc:Choice>
              <mc:Fallback>
                <p:oleObj name="Equation" r:id="rId2" imgW="10363200" imgH="42672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6135" y="2537123"/>
                        <a:ext cx="1094137" cy="450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59832" y="3638840"/>
          <a:ext cx="1257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87200" imgH="5486400" progId="Equation.DSMT4">
                  <p:embed/>
                </p:oleObj>
              </mc:Choice>
              <mc:Fallback>
                <p:oleObj name="Equation" r:id="rId4" imgW="11887200" imgH="5486400" progId="Equation.DSMT4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59832" y="3638840"/>
                        <a:ext cx="125730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085904" y="3638840"/>
          <a:ext cx="1257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87200" imgH="5486400" progId="Equation.DSMT4">
                  <p:embed/>
                </p:oleObj>
              </mc:Choice>
              <mc:Fallback>
                <p:oleObj name="Equation" r:id="rId6" imgW="11887200" imgH="54864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85904" y="3638840"/>
                        <a:ext cx="125730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059832" y="4822627"/>
          <a:ext cx="1257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87200" imgH="5486400" progId="Equation.DSMT4">
                  <p:embed/>
                </p:oleObj>
              </mc:Choice>
              <mc:Fallback>
                <p:oleObj name="Equation" r:id="rId8" imgW="11887200" imgH="54864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59832" y="4822627"/>
                        <a:ext cx="125730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826870" y="4822627"/>
          <a:ext cx="12890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92000" imgH="5486400" progId="Equation.DSMT4">
                  <p:embed/>
                </p:oleObj>
              </mc:Choice>
              <mc:Fallback>
                <p:oleObj name="Equation" r:id="rId10" imgW="12192000" imgH="54864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26870" y="4822627"/>
                        <a:ext cx="128905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890273" y="4822627"/>
          <a:ext cx="1257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87200" imgH="5486400" progId="Equation.DSMT4">
                  <p:embed/>
                </p:oleObj>
              </mc:Choice>
              <mc:Fallback>
                <p:oleObj name="Equation" r:id="rId12" imgW="11887200" imgH="54864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90273" y="4822627"/>
                        <a:ext cx="125730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1988840"/>
            <a:ext cx="9108504" cy="25922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ADB9389-3AFF-490D-81CD-792A5D5C91AD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6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0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-794" y="1252242"/>
            <a:ext cx="1561307" cy="838386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小结</a:t>
            </a: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692275" y="2133600"/>
            <a:ext cx="5616575" cy="508000"/>
            <a:chOff x="1419" y="1480"/>
            <a:chExt cx="3575" cy="363"/>
          </a:xfrm>
        </p:grpSpPr>
        <p:grpSp>
          <p:nvGrpSpPr>
            <p:cNvPr id="3482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rgbClr val="003300"/>
                    </a:solidFill>
                  </a:rPr>
                  <a:t>子图及产生子图的常见方式</a:t>
                </a: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26" name="Group 10"/>
          <p:cNvGrpSpPr/>
          <p:nvPr/>
        </p:nvGrpSpPr>
        <p:grpSpPr bwMode="auto">
          <a:xfrm>
            <a:off x="2069502" y="3507564"/>
            <a:ext cx="5181600" cy="508000"/>
            <a:chOff x="1419" y="1480"/>
            <a:chExt cx="3575" cy="363"/>
          </a:xfrm>
        </p:grpSpPr>
        <p:grpSp>
          <p:nvGrpSpPr>
            <p:cNvPr id="34827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03300"/>
                    </a:solidFill>
                  </a:rPr>
                  <a:t>图的运算</a:t>
                </a: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34845" name="AutoShape 29"/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pSp>
        <p:nvGrpSpPr>
          <p:cNvPr id="28" name="Group 10"/>
          <p:cNvGrpSpPr/>
          <p:nvPr/>
        </p:nvGrpSpPr>
        <p:grpSpPr bwMode="auto">
          <a:xfrm>
            <a:off x="1697823" y="4854938"/>
            <a:ext cx="5181600" cy="508000"/>
            <a:chOff x="1419" y="1480"/>
            <a:chExt cx="3575" cy="363"/>
          </a:xfrm>
        </p:grpSpPr>
        <p:grpSp>
          <p:nvGrpSpPr>
            <p:cNvPr id="29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03300"/>
                    </a:solidFill>
                  </a:rPr>
                  <a:t>图同构</a:t>
                </a:r>
              </a:p>
            </p:txBody>
          </p:sp>
        </p:grpSp>
        <p:sp>
          <p:nvSpPr>
            <p:cNvPr id="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M1NzcxMmUzMDg4OTU3OGMzMWUzNzM0ZWU4ZGJmYzAifQ=="/>
  <p:tag name="KSO_WPP_MARK_KEY" val="daf242c2-5146-42d0-9cec-250a327327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10</TotalTime>
  <Words>743</Words>
  <Application>Microsoft Office PowerPoint</Application>
  <PresentationFormat>全屏显示(4:3)</PresentationFormat>
  <Paragraphs>107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Gulim</vt:lpstr>
      <vt:lpstr>华文新魏</vt:lpstr>
      <vt:lpstr>宋体</vt:lpstr>
      <vt:lpstr>Arial</vt:lpstr>
      <vt:lpstr>Calibri</vt:lpstr>
      <vt:lpstr>Times New Roman</vt:lpstr>
      <vt:lpstr>Wingdings</vt:lpstr>
      <vt:lpstr>Wingdings 2</vt:lpstr>
      <vt:lpstr>主题2</vt:lpstr>
      <vt:lpstr>自定义设计方案</vt:lpstr>
      <vt:lpstr>Equation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swu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超 赵</cp:lastModifiedBy>
  <cp:revision>408</cp:revision>
  <dcterms:created xsi:type="dcterms:W3CDTF">2007-04-29T00:04:00Z</dcterms:created>
  <dcterms:modified xsi:type="dcterms:W3CDTF">2024-05-13T01:22:03Z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A8A4BB94F484482E9F46A95FB952493F</vt:lpwstr>
  </property>
  <property fmtid="{D5CDD505-2E9C-101B-9397-08002B2CF9AE}" pid="3" name="KSOProductBuildVer">
    <vt:lpwstr>2052-11.1.0.14036</vt:lpwstr>
  </property>
</Properties>
</file>