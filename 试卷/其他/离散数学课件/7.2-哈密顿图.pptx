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  <p:sldMasterId id="2147483675" r:id="rId4"/>
  </p:sldMasterIdLst>
  <p:notesMasterIdLst>
    <p:notesMasterId r:id="rId28"/>
  </p:notesMasterIdLst>
  <p:sldIdLst>
    <p:sldId id="506" r:id="rId5"/>
    <p:sldId id="265" r:id="rId6"/>
    <p:sldId id="753" r:id="rId7"/>
    <p:sldId id="266" r:id="rId8"/>
    <p:sldId id="267" r:id="rId9"/>
    <p:sldId id="268" r:id="rId10"/>
    <p:sldId id="281" r:id="rId11"/>
    <p:sldId id="269" r:id="rId12"/>
    <p:sldId id="270" r:id="rId13"/>
    <p:sldId id="756" r:id="rId14"/>
    <p:sldId id="271" r:id="rId15"/>
    <p:sldId id="279" r:id="rId16"/>
    <p:sldId id="755" r:id="rId17"/>
    <p:sldId id="272" r:id="rId18"/>
    <p:sldId id="274" r:id="rId19"/>
    <p:sldId id="282" r:id="rId20"/>
    <p:sldId id="280" r:id="rId21"/>
    <p:sldId id="754" r:id="rId22"/>
    <p:sldId id="276" r:id="rId23"/>
    <p:sldId id="278" r:id="rId24"/>
    <p:sldId id="277" r:id="rId25"/>
    <p:sldId id="757" r:id="rId26"/>
    <p:sldId id="617" r:id="rId27"/>
  </p:sldIdLst>
  <p:sldSz cx="9144000" cy="6858000" type="screen4x3"/>
  <p:notesSz cx="6858000" cy="9144000"/>
  <p:custDataLst>
    <p:tags r:id="rId32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1" autoAdjust="0"/>
  </p:normalViewPr>
  <p:slideViewPr>
    <p:cSldViewPr>
      <p:cViewPr varScale="1">
        <p:scale>
          <a:sx n="77" d="100"/>
          <a:sy n="77" d="100"/>
        </p:scale>
        <p:origin x="9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gs" Target="tags/tag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.emf"/><Relationship Id="rId4" Type="http://schemas.openxmlformats.org/officeDocument/2006/relationships/image" Target="../media/image9.emf"/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.emf"/><Relationship Id="rId4" Type="http://schemas.openxmlformats.org/officeDocument/2006/relationships/image" Target="../media/image14.emf"/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emf"/><Relationship Id="rId8" Type="http://schemas.openxmlformats.org/officeDocument/2006/relationships/image" Target="../media/image23.emf"/><Relationship Id="rId7" Type="http://schemas.openxmlformats.org/officeDocument/2006/relationships/image" Target="../media/image22.emf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2" Type="http://schemas.openxmlformats.org/officeDocument/2006/relationships/image" Target="../media/image27.emf"/><Relationship Id="rId11" Type="http://schemas.openxmlformats.org/officeDocument/2006/relationships/image" Target="../media/image26.emf"/><Relationship Id="rId10" Type="http://schemas.openxmlformats.org/officeDocument/2006/relationships/image" Target="../media/image25.emf"/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505FF7-E130-4293-9A3B-C36394E38DF8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13109E0-5DAF-4820-9E3E-6785A71E8368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9088" y="0"/>
            <a:ext cx="2114550" cy="64531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92838" cy="64531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0"/>
            <a:ext cx="8459788" cy="6453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23850" y="1268413"/>
            <a:ext cx="4152900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268413"/>
            <a:ext cx="4154488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23850" y="3937000"/>
            <a:ext cx="4152900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3937000"/>
            <a:ext cx="4154488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EDB1F-B615-4FA4-9589-ECC4971F846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A24C9-AC68-4F6D-9FEA-E6C241625FF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D541F-F17C-46A4-B775-589380DB36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94494-B8BA-4446-8863-7AF2C18936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88AEA-AFCC-4030-A601-349A0A5DC20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B275E-4F88-4EF4-889E-853FA6A13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4528A-1906-409E-8994-8C3616DF78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39DE6-E6B8-45A2-A78D-F35CF4601FB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5A64C-451E-410D-AE22-6547DD6D52E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2127A-09F7-458D-BE1D-F730474DD69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F5BFA-77F0-4330-9546-213A7F5C86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9088" y="0"/>
            <a:ext cx="2114550" cy="64531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92838" cy="64531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0"/>
            <a:ext cx="8459788" cy="6453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23850" y="1268413"/>
            <a:ext cx="4152900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268413"/>
            <a:ext cx="4154488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23850" y="3937000"/>
            <a:ext cx="4152900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3937000"/>
            <a:ext cx="4154488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vmlDrawing" Target="../drawings/vmlDrawing1.vml"/><Relationship Id="rId20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4.jpeg"/><Relationship Id="rId18" Type="http://schemas.openxmlformats.org/officeDocument/2006/relationships/image" Target="../media/image3.jpeg"/><Relationship Id="rId17" Type="http://schemas.openxmlformats.org/officeDocument/2006/relationships/image" Target="../media/image2.jpeg"/><Relationship Id="rId16" Type="http://schemas.openxmlformats.org/officeDocument/2006/relationships/image" Target="../media/image1.png"/><Relationship Id="rId15" Type="http://schemas.openxmlformats.org/officeDocument/2006/relationships/oleObject" Target="../embeddings/oleObject1.bin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2" Type="http://schemas.openxmlformats.org/officeDocument/2006/relationships/theme" Target="../theme/theme3.xml"/><Relationship Id="rId21" Type="http://schemas.openxmlformats.org/officeDocument/2006/relationships/vmlDrawing" Target="../drawings/vmlDrawing2.vml"/><Relationship Id="rId20" Type="http://schemas.openxmlformats.org/officeDocument/2006/relationships/image" Target="../media/image5.jpeg"/><Relationship Id="rId2" Type="http://schemas.openxmlformats.org/officeDocument/2006/relationships/slideLayout" Target="../slideLayouts/slideLayout27.xml"/><Relationship Id="rId19" Type="http://schemas.openxmlformats.org/officeDocument/2006/relationships/image" Target="../media/image4.jpeg"/><Relationship Id="rId18" Type="http://schemas.openxmlformats.org/officeDocument/2006/relationships/image" Target="../media/image3.jpeg"/><Relationship Id="rId17" Type="http://schemas.openxmlformats.org/officeDocument/2006/relationships/image" Target="../media/image2.jpeg"/><Relationship Id="rId16" Type="http://schemas.openxmlformats.org/officeDocument/2006/relationships/image" Target="../media/image1.png"/><Relationship Id="rId15" Type="http://schemas.openxmlformats.org/officeDocument/2006/relationships/oleObject" Target="../embeddings/oleObject2.bin"/><Relationship Id="rId14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5"/>
          <p:cNvGraphicFramePr>
            <a:graphicFrameLocks noChangeAspect="1"/>
          </p:cNvGraphicFramePr>
          <p:nvPr/>
        </p:nvGraphicFramePr>
        <p:xfrm>
          <a:off x="0" y="0"/>
          <a:ext cx="9144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5" imgW="12750800" imgH="2324100" progId="">
                  <p:embed/>
                </p:oleObj>
              </mc:Choice>
              <mc:Fallback>
                <p:oleObj name="" r:id="rId15" imgW="12750800" imgH="2324100" progId="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0"/>
            <a:ext cx="84597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323850" y="1268413"/>
            <a:ext cx="8459788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6875463" y="0"/>
            <a:ext cx="2268537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1pPr>
            <a:lvl2pPr marL="742950" indent="-28575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marL="11430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marL="16002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marL="20574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成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于大气    </a:t>
            </a: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信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达天下</a:t>
            </a:r>
            <a:endParaRPr lang="zh-CN" altLang="en-US" sz="1800" i="1">
              <a:solidFill>
                <a:srgbClr val="CC99FF"/>
              </a:solidFill>
              <a:ea typeface="华文行楷" panose="02010800040101010101" charset="-122"/>
              <a:cs typeface="华文行楷" panose="02010800040101010101" charset="-122"/>
            </a:endParaRPr>
          </a:p>
        </p:txBody>
      </p:sp>
      <p:pic>
        <p:nvPicPr>
          <p:cNvPr id="1030" name="Picture 25" descr="底部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25"/>
            <a:ext cx="914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6" descr="信息与电气工程学院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9" descr="河北工程大学背景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0" descr="底部-河北工程大学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10338"/>
            <a:ext cx="91440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+mj-lt"/>
          <a:ea typeface="+mj-ea"/>
          <a:cs typeface="华文新魏" panose="020108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32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8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83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F54C75E0-2E59-4159-8858-67A1F145963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5"/>
          <p:cNvGraphicFramePr>
            <a:graphicFrameLocks noChangeAspect="1"/>
          </p:cNvGraphicFramePr>
          <p:nvPr/>
        </p:nvGraphicFramePr>
        <p:xfrm>
          <a:off x="0" y="0"/>
          <a:ext cx="9144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5" imgW="12750800" imgH="2324100" progId="">
                  <p:embed/>
                </p:oleObj>
              </mc:Choice>
              <mc:Fallback>
                <p:oleObj name="" r:id="rId15" imgW="12750800" imgH="2324100" progId="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0"/>
            <a:ext cx="84597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323850" y="1268413"/>
            <a:ext cx="8459788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6875463" y="0"/>
            <a:ext cx="2268537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1pPr>
            <a:lvl2pPr marL="742950" indent="-28575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marL="11430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marL="16002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marL="20574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成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于大气    </a:t>
            </a: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信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达天下</a:t>
            </a:r>
            <a:endParaRPr lang="zh-CN" altLang="en-US" sz="1800" i="1">
              <a:solidFill>
                <a:srgbClr val="CC99FF"/>
              </a:solidFill>
              <a:ea typeface="华文行楷" panose="02010800040101010101" charset="-122"/>
              <a:cs typeface="华文行楷" panose="02010800040101010101" charset="-122"/>
            </a:endParaRPr>
          </a:p>
        </p:txBody>
      </p:sp>
      <p:pic>
        <p:nvPicPr>
          <p:cNvPr id="1030" name="Picture 25" descr="底部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25"/>
            <a:ext cx="914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6" descr="信息与电气工程学院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9" descr="河北工程大学背景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0" descr="底部-河北工程大学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10338"/>
            <a:ext cx="91440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+mj-lt"/>
          <a:ea typeface="+mj-ea"/>
          <a:cs typeface="华文新魏" panose="020108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32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8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9.e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6.emf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10.emf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14.e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1.emf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15.emf"/><Relationship Id="rId1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image" Target="../media/image19.e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7.emf"/><Relationship Id="rId3" Type="http://schemas.openxmlformats.org/officeDocument/2006/relationships/oleObject" Target="../embeddings/oleObject14.bin"/><Relationship Id="rId26" Type="http://schemas.openxmlformats.org/officeDocument/2006/relationships/vmlDrawing" Target="../drawings/vmlDrawing5.vml"/><Relationship Id="rId25" Type="http://schemas.openxmlformats.org/officeDocument/2006/relationships/slideLayout" Target="../slideLayouts/slideLayout13.xml"/><Relationship Id="rId24" Type="http://schemas.openxmlformats.org/officeDocument/2006/relationships/image" Target="../media/image27.emf"/><Relationship Id="rId23" Type="http://schemas.openxmlformats.org/officeDocument/2006/relationships/oleObject" Target="../embeddings/oleObject24.bin"/><Relationship Id="rId22" Type="http://schemas.openxmlformats.org/officeDocument/2006/relationships/image" Target="../media/image26.emf"/><Relationship Id="rId21" Type="http://schemas.openxmlformats.org/officeDocument/2006/relationships/oleObject" Target="../embeddings/oleObject23.bin"/><Relationship Id="rId20" Type="http://schemas.openxmlformats.org/officeDocument/2006/relationships/image" Target="../media/image25.emf"/><Relationship Id="rId2" Type="http://schemas.openxmlformats.org/officeDocument/2006/relationships/image" Target="../media/image16.emf"/><Relationship Id="rId19" Type="http://schemas.openxmlformats.org/officeDocument/2006/relationships/oleObject" Target="../embeddings/oleObject22.bin"/><Relationship Id="rId18" Type="http://schemas.openxmlformats.org/officeDocument/2006/relationships/image" Target="../media/image24.emf"/><Relationship Id="rId17" Type="http://schemas.openxmlformats.org/officeDocument/2006/relationships/oleObject" Target="../embeddings/oleObject21.bin"/><Relationship Id="rId16" Type="http://schemas.openxmlformats.org/officeDocument/2006/relationships/image" Target="../media/image23.emf"/><Relationship Id="rId15" Type="http://schemas.openxmlformats.org/officeDocument/2006/relationships/oleObject" Target="../embeddings/oleObject20.bin"/><Relationship Id="rId14" Type="http://schemas.openxmlformats.org/officeDocument/2006/relationships/image" Target="../media/image22.emf"/><Relationship Id="rId13" Type="http://schemas.openxmlformats.org/officeDocument/2006/relationships/oleObject" Target="../embeddings/oleObject19.bin"/><Relationship Id="rId12" Type="http://schemas.openxmlformats.org/officeDocument/2006/relationships/image" Target="../media/image21.emf"/><Relationship Id="rId11" Type="http://schemas.openxmlformats.org/officeDocument/2006/relationships/oleObject" Target="../embeddings/oleObject18.bin"/><Relationship Id="rId10" Type="http://schemas.openxmlformats.org/officeDocument/2006/relationships/image" Target="../media/image20.emf"/><Relationship Id="rId1" Type="http://schemas.openxmlformats.org/officeDocument/2006/relationships/oleObject" Target="../embeddings/oleObject13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67236" y="2997200"/>
            <a:ext cx="3609528" cy="863600"/>
          </a:xfrm>
        </p:spPr>
        <p:txBody>
          <a:bodyPr/>
          <a:lstStyle/>
          <a:p>
            <a:pPr eaLnBrk="1" hangingPunct="1"/>
            <a:r>
              <a:rPr lang="en-US" altLang="zh-CN" sz="4400" dirty="0">
                <a:latin typeface="Times New Roman" panose="02020603050405020304" pitchFamily="18" charset="0"/>
              </a:rPr>
              <a:t>7.2   </a:t>
            </a:r>
            <a:r>
              <a:rPr lang="zh-CN" altLang="en-US" sz="4400" dirty="0">
                <a:latin typeface="Times New Roman" panose="02020603050405020304" pitchFamily="18" charset="0"/>
              </a:rPr>
              <a:t>哈密顿图</a:t>
            </a:r>
            <a:endParaRPr lang="zh-CN" altLang="en-US" sz="4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1859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年爱尔兰数学家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W. R. Hamilton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发明了一个周游世界游戏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(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参考教材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从这个游戏抽象出图论中一种非常重要的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Hamilton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且派生出至今为止仍具研究价值的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TSP (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raveling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alesman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roblem).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55763" y="2508250"/>
            <a:ext cx="5435600" cy="685007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543" y="1132"/>
              <a:ext cx="245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哈密顿图的有关概念</a:t>
              </a:r>
              <a:endParaRPr kumimoji="0" lang="zh-CN" altLang="en-US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29000"/>
            <a:ext cx="5437187" cy="681038"/>
            <a:chOff x="1135" y="1086"/>
            <a:chExt cx="3425" cy="429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536" y="1086"/>
              <a:ext cx="245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哈密顿图的必要条件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376738"/>
            <a:ext cx="5437187" cy="741362"/>
            <a:chOff x="1135" y="1048"/>
            <a:chExt cx="3425" cy="467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542" y="1048"/>
              <a:ext cx="245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哈密顿图的充分条件</a:t>
              </a:r>
              <a:endPara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8" name="Group 4"/>
          <p:cNvGrpSpPr/>
          <p:nvPr/>
        </p:nvGrpSpPr>
        <p:grpSpPr bwMode="auto">
          <a:xfrm>
            <a:off x="1655763" y="5360987"/>
            <a:ext cx="5437187" cy="673100"/>
            <a:chOff x="1135" y="1091"/>
            <a:chExt cx="3425" cy="424"/>
          </a:xfrm>
        </p:grpSpPr>
        <p:sp>
          <p:nvSpPr>
            <p:cNvPr id="819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0" name="Text Box 10"/>
            <p:cNvSpPr txBox="1">
              <a:spLocks noChangeArrowheads="1"/>
            </p:cNvSpPr>
            <p:nvPr/>
          </p:nvSpPr>
          <p:spPr bwMode="auto">
            <a:xfrm>
              <a:off x="1582" y="1091"/>
              <a:ext cx="141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旅行商问题</a:t>
              </a:r>
              <a:endPara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1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/>
          </p:nvPr>
        </p:nvSpPr>
        <p:spPr>
          <a:xfrm>
            <a:off x="35496" y="1268760"/>
            <a:ext cx="907300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1. Hamilton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图的有关概念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7-2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是任意图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中经过所有节点一次且仅一次的路径称为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哈密顿路径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(Hamiltonian path).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中经过所有节点一次且仅一次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除起点重复一次外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的圈称为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哈密顿回路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圈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(Hamiltonian cycle).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存在哈密顿回路的图称为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哈密顿图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或简称为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H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ea typeface="华文新魏" panose="02010800040101010101" charset="-122"/>
              </a:rPr>
              <a:t>例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charset="-122"/>
              </a:rPr>
              <a:t>7-2  </a:t>
            </a:r>
            <a:r>
              <a:rPr lang="zh-CN" altLang="en-US">
                <a:latin typeface="Times New Roman" panose="02020603050405020304" pitchFamily="18" charset="0"/>
                <a:ea typeface="华文新魏" panose="02010800040101010101" charset="-122"/>
              </a:rPr>
              <a:t>周游世界问题</a:t>
            </a:r>
            <a:endParaRPr lang="en-US" altLang="zh-CN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411889" y="2060590"/>
            <a:ext cx="4392612" cy="4033837"/>
            <a:chOff x="2268538" y="1052513"/>
            <a:chExt cx="4392612" cy="4033837"/>
          </a:xfrm>
        </p:grpSpPr>
        <p:sp>
          <p:nvSpPr>
            <p:cNvPr id="16387" name="Oval 3"/>
            <p:cNvSpPr>
              <a:spLocks noChangeArrowheads="1"/>
            </p:cNvSpPr>
            <p:nvPr/>
          </p:nvSpPr>
          <p:spPr bwMode="auto">
            <a:xfrm>
              <a:off x="3059113" y="14128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88" name="Oval 4"/>
            <p:cNvSpPr>
              <a:spLocks noChangeArrowheads="1"/>
            </p:cNvSpPr>
            <p:nvPr/>
          </p:nvSpPr>
          <p:spPr bwMode="auto">
            <a:xfrm>
              <a:off x="4284663" y="105251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89" name="Oval 5"/>
            <p:cNvSpPr>
              <a:spLocks noChangeArrowheads="1"/>
            </p:cNvSpPr>
            <p:nvPr/>
          </p:nvSpPr>
          <p:spPr bwMode="auto">
            <a:xfrm>
              <a:off x="2268538" y="23495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0" name="Oval 6"/>
            <p:cNvSpPr>
              <a:spLocks noChangeArrowheads="1"/>
            </p:cNvSpPr>
            <p:nvPr/>
          </p:nvSpPr>
          <p:spPr bwMode="auto">
            <a:xfrm>
              <a:off x="2484438" y="34290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1" name="Oval 7"/>
            <p:cNvSpPr>
              <a:spLocks noChangeArrowheads="1"/>
            </p:cNvSpPr>
            <p:nvPr/>
          </p:nvSpPr>
          <p:spPr bwMode="auto">
            <a:xfrm>
              <a:off x="3132138" y="465296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2" name="Oval 8"/>
            <p:cNvSpPr>
              <a:spLocks noChangeArrowheads="1"/>
            </p:cNvSpPr>
            <p:nvPr/>
          </p:nvSpPr>
          <p:spPr bwMode="auto">
            <a:xfrm>
              <a:off x="4500563" y="494188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3" name="Oval 9"/>
            <p:cNvSpPr>
              <a:spLocks noChangeArrowheads="1"/>
            </p:cNvSpPr>
            <p:nvPr/>
          </p:nvSpPr>
          <p:spPr bwMode="auto">
            <a:xfrm>
              <a:off x="5508625" y="126841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4" name="Oval 10"/>
            <p:cNvSpPr>
              <a:spLocks noChangeArrowheads="1"/>
            </p:cNvSpPr>
            <p:nvPr/>
          </p:nvSpPr>
          <p:spPr bwMode="auto">
            <a:xfrm>
              <a:off x="6372225" y="22050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5" name="Oval 11"/>
            <p:cNvSpPr>
              <a:spLocks noChangeArrowheads="1"/>
            </p:cNvSpPr>
            <p:nvPr/>
          </p:nvSpPr>
          <p:spPr bwMode="auto">
            <a:xfrm>
              <a:off x="6516688" y="357346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6" name="Oval 12"/>
            <p:cNvSpPr>
              <a:spLocks noChangeArrowheads="1"/>
            </p:cNvSpPr>
            <p:nvPr/>
          </p:nvSpPr>
          <p:spPr bwMode="auto">
            <a:xfrm>
              <a:off x="5867400" y="458152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7" name="Oval 13"/>
            <p:cNvSpPr>
              <a:spLocks noChangeArrowheads="1"/>
            </p:cNvSpPr>
            <p:nvPr/>
          </p:nvSpPr>
          <p:spPr bwMode="auto">
            <a:xfrm>
              <a:off x="3492500" y="25654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8" name="Oval 14"/>
            <p:cNvSpPr>
              <a:spLocks noChangeArrowheads="1"/>
            </p:cNvSpPr>
            <p:nvPr/>
          </p:nvSpPr>
          <p:spPr bwMode="auto">
            <a:xfrm>
              <a:off x="4427538" y="191611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9" name="Oval 15"/>
            <p:cNvSpPr>
              <a:spLocks noChangeArrowheads="1"/>
            </p:cNvSpPr>
            <p:nvPr/>
          </p:nvSpPr>
          <p:spPr bwMode="auto">
            <a:xfrm>
              <a:off x="3851275" y="37163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0" name="Oval 16"/>
            <p:cNvSpPr>
              <a:spLocks noChangeArrowheads="1"/>
            </p:cNvSpPr>
            <p:nvPr/>
          </p:nvSpPr>
          <p:spPr bwMode="auto">
            <a:xfrm>
              <a:off x="5292725" y="38608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1" name="Oval 17"/>
            <p:cNvSpPr>
              <a:spLocks noChangeArrowheads="1"/>
            </p:cNvSpPr>
            <p:nvPr/>
          </p:nvSpPr>
          <p:spPr bwMode="auto">
            <a:xfrm>
              <a:off x="3851275" y="20605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2" name="Oval 18"/>
            <p:cNvSpPr>
              <a:spLocks noChangeArrowheads="1"/>
            </p:cNvSpPr>
            <p:nvPr/>
          </p:nvSpPr>
          <p:spPr bwMode="auto">
            <a:xfrm>
              <a:off x="4427538" y="40767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3" name="Oval 19"/>
            <p:cNvSpPr>
              <a:spLocks noChangeArrowheads="1"/>
            </p:cNvSpPr>
            <p:nvPr/>
          </p:nvSpPr>
          <p:spPr bwMode="auto">
            <a:xfrm>
              <a:off x="3563938" y="30686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4" name="Oval 20"/>
            <p:cNvSpPr>
              <a:spLocks noChangeArrowheads="1"/>
            </p:cNvSpPr>
            <p:nvPr/>
          </p:nvSpPr>
          <p:spPr bwMode="auto">
            <a:xfrm>
              <a:off x="5003800" y="22764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5" name="Oval 21"/>
            <p:cNvSpPr>
              <a:spLocks noChangeArrowheads="1"/>
            </p:cNvSpPr>
            <p:nvPr/>
          </p:nvSpPr>
          <p:spPr bwMode="auto">
            <a:xfrm>
              <a:off x="5508625" y="335756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6" name="Oval 22"/>
            <p:cNvSpPr>
              <a:spLocks noChangeArrowheads="1"/>
            </p:cNvSpPr>
            <p:nvPr/>
          </p:nvSpPr>
          <p:spPr bwMode="auto">
            <a:xfrm>
              <a:off x="5508625" y="27082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7" name="Line 23"/>
            <p:cNvSpPr>
              <a:spLocks noChangeShapeType="1"/>
            </p:cNvSpPr>
            <p:nvPr/>
          </p:nvSpPr>
          <p:spPr bwMode="auto">
            <a:xfrm flipH="1">
              <a:off x="3132138" y="1125538"/>
              <a:ext cx="1223962" cy="358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8" name="Line 24"/>
            <p:cNvSpPr>
              <a:spLocks noChangeShapeType="1"/>
            </p:cNvSpPr>
            <p:nvPr/>
          </p:nvSpPr>
          <p:spPr bwMode="auto">
            <a:xfrm flipH="1">
              <a:off x="2339975" y="1484313"/>
              <a:ext cx="792163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9" name="Line 25"/>
            <p:cNvSpPr>
              <a:spLocks noChangeShapeType="1"/>
            </p:cNvSpPr>
            <p:nvPr/>
          </p:nvSpPr>
          <p:spPr bwMode="auto">
            <a:xfrm>
              <a:off x="2339975" y="2420938"/>
              <a:ext cx="215900" cy="1079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0" name="Line 26"/>
            <p:cNvSpPr>
              <a:spLocks noChangeShapeType="1"/>
            </p:cNvSpPr>
            <p:nvPr/>
          </p:nvSpPr>
          <p:spPr bwMode="auto">
            <a:xfrm>
              <a:off x="2555875" y="3500438"/>
              <a:ext cx="647700" cy="12239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1" name="Line 27"/>
            <p:cNvSpPr>
              <a:spLocks noChangeShapeType="1"/>
            </p:cNvSpPr>
            <p:nvPr/>
          </p:nvSpPr>
          <p:spPr bwMode="auto">
            <a:xfrm>
              <a:off x="3203575" y="4724400"/>
              <a:ext cx="1439863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2" name="Line 28"/>
            <p:cNvSpPr>
              <a:spLocks noChangeShapeType="1"/>
            </p:cNvSpPr>
            <p:nvPr/>
          </p:nvSpPr>
          <p:spPr bwMode="auto">
            <a:xfrm flipV="1">
              <a:off x="4572000" y="4724400"/>
              <a:ext cx="13684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3" name="Line 29"/>
            <p:cNvSpPr>
              <a:spLocks noChangeShapeType="1"/>
            </p:cNvSpPr>
            <p:nvPr/>
          </p:nvSpPr>
          <p:spPr bwMode="auto">
            <a:xfrm flipV="1">
              <a:off x="5940425" y="3644900"/>
              <a:ext cx="647700" cy="1079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4" name="Line 30"/>
            <p:cNvSpPr>
              <a:spLocks noChangeShapeType="1"/>
            </p:cNvSpPr>
            <p:nvPr/>
          </p:nvSpPr>
          <p:spPr bwMode="auto">
            <a:xfrm flipH="1" flipV="1">
              <a:off x="6443663" y="2349500"/>
              <a:ext cx="144462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5" name="Line 31"/>
            <p:cNvSpPr>
              <a:spLocks noChangeShapeType="1"/>
            </p:cNvSpPr>
            <p:nvPr/>
          </p:nvSpPr>
          <p:spPr bwMode="auto">
            <a:xfrm flipH="1" flipV="1">
              <a:off x="5580063" y="1412875"/>
              <a:ext cx="86360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6" name="Line 32"/>
            <p:cNvSpPr>
              <a:spLocks noChangeShapeType="1"/>
            </p:cNvSpPr>
            <p:nvPr/>
          </p:nvSpPr>
          <p:spPr bwMode="auto">
            <a:xfrm>
              <a:off x="4356100" y="1125538"/>
              <a:ext cx="1223963" cy="215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7" name="Line 33"/>
            <p:cNvSpPr>
              <a:spLocks noChangeShapeType="1"/>
            </p:cNvSpPr>
            <p:nvPr/>
          </p:nvSpPr>
          <p:spPr bwMode="auto">
            <a:xfrm>
              <a:off x="3132138" y="1484313"/>
              <a:ext cx="792162" cy="649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8" name="Line 34"/>
            <p:cNvSpPr>
              <a:spLocks noChangeShapeType="1"/>
            </p:cNvSpPr>
            <p:nvPr/>
          </p:nvSpPr>
          <p:spPr bwMode="auto">
            <a:xfrm flipV="1">
              <a:off x="2555875" y="3141663"/>
              <a:ext cx="1079500" cy="358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9" name="Line 35"/>
            <p:cNvSpPr>
              <a:spLocks noChangeShapeType="1"/>
            </p:cNvSpPr>
            <p:nvPr/>
          </p:nvSpPr>
          <p:spPr bwMode="auto">
            <a:xfrm flipH="1" flipV="1">
              <a:off x="4500563" y="4149725"/>
              <a:ext cx="71437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0" name="Line 36"/>
            <p:cNvSpPr>
              <a:spLocks noChangeShapeType="1"/>
            </p:cNvSpPr>
            <p:nvPr/>
          </p:nvSpPr>
          <p:spPr bwMode="auto">
            <a:xfrm>
              <a:off x="5580063" y="3429000"/>
              <a:ext cx="1008062" cy="215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1" name="Line 37"/>
            <p:cNvSpPr>
              <a:spLocks noChangeShapeType="1"/>
            </p:cNvSpPr>
            <p:nvPr/>
          </p:nvSpPr>
          <p:spPr bwMode="auto">
            <a:xfrm flipH="1">
              <a:off x="5076825" y="1341438"/>
              <a:ext cx="503238" cy="1008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2" name="Line 38"/>
            <p:cNvSpPr>
              <a:spLocks noChangeShapeType="1"/>
            </p:cNvSpPr>
            <p:nvPr/>
          </p:nvSpPr>
          <p:spPr bwMode="auto">
            <a:xfrm flipH="1">
              <a:off x="3635375" y="2133600"/>
              <a:ext cx="288925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3" name="Line 39"/>
            <p:cNvSpPr>
              <a:spLocks noChangeShapeType="1"/>
            </p:cNvSpPr>
            <p:nvPr/>
          </p:nvSpPr>
          <p:spPr bwMode="auto">
            <a:xfrm>
              <a:off x="3635375" y="3141663"/>
              <a:ext cx="865188" cy="1008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4" name="Line 40"/>
            <p:cNvSpPr>
              <a:spLocks noChangeShapeType="1"/>
            </p:cNvSpPr>
            <p:nvPr/>
          </p:nvSpPr>
          <p:spPr bwMode="auto">
            <a:xfrm>
              <a:off x="3924300" y="2133600"/>
              <a:ext cx="1152525" cy="215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5" name="Line 41"/>
            <p:cNvSpPr>
              <a:spLocks noChangeShapeType="1"/>
            </p:cNvSpPr>
            <p:nvPr/>
          </p:nvSpPr>
          <p:spPr bwMode="auto">
            <a:xfrm>
              <a:off x="5076825" y="2349500"/>
              <a:ext cx="503238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6" name="Line 42"/>
            <p:cNvSpPr>
              <a:spLocks noChangeShapeType="1"/>
            </p:cNvSpPr>
            <p:nvPr/>
          </p:nvSpPr>
          <p:spPr bwMode="auto">
            <a:xfrm flipV="1">
              <a:off x="4500563" y="3429000"/>
              <a:ext cx="1079500" cy="720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7" name="Line 43"/>
            <p:cNvSpPr>
              <a:spLocks noChangeShapeType="1"/>
            </p:cNvSpPr>
            <p:nvPr/>
          </p:nvSpPr>
          <p:spPr bwMode="auto">
            <a:xfrm>
              <a:off x="4356100" y="1125538"/>
              <a:ext cx="144463" cy="8636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8" name="Line 44"/>
            <p:cNvSpPr>
              <a:spLocks noChangeShapeType="1"/>
            </p:cNvSpPr>
            <p:nvPr/>
          </p:nvSpPr>
          <p:spPr bwMode="auto">
            <a:xfrm flipH="1">
              <a:off x="3563938" y="1989138"/>
              <a:ext cx="936625" cy="6477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9" name="Line 45"/>
            <p:cNvSpPr>
              <a:spLocks noChangeShapeType="1"/>
            </p:cNvSpPr>
            <p:nvPr/>
          </p:nvSpPr>
          <p:spPr bwMode="auto">
            <a:xfrm>
              <a:off x="3563938" y="2636838"/>
              <a:ext cx="360362" cy="115252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0" name="Line 46"/>
            <p:cNvSpPr>
              <a:spLocks noChangeShapeType="1"/>
            </p:cNvSpPr>
            <p:nvPr/>
          </p:nvSpPr>
          <p:spPr bwMode="auto">
            <a:xfrm>
              <a:off x="3924300" y="3789363"/>
              <a:ext cx="1439863" cy="14446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1" name="Line 47"/>
            <p:cNvSpPr>
              <a:spLocks noChangeShapeType="1"/>
            </p:cNvSpPr>
            <p:nvPr/>
          </p:nvSpPr>
          <p:spPr bwMode="auto">
            <a:xfrm flipH="1">
              <a:off x="5364163" y="2781300"/>
              <a:ext cx="215900" cy="115252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2" name="Line 48"/>
            <p:cNvSpPr>
              <a:spLocks noChangeShapeType="1"/>
            </p:cNvSpPr>
            <p:nvPr/>
          </p:nvSpPr>
          <p:spPr bwMode="auto">
            <a:xfrm>
              <a:off x="4500563" y="1989138"/>
              <a:ext cx="1079500" cy="79216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3" name="Line 49"/>
            <p:cNvSpPr>
              <a:spLocks noChangeShapeType="1"/>
            </p:cNvSpPr>
            <p:nvPr/>
          </p:nvSpPr>
          <p:spPr bwMode="auto">
            <a:xfrm flipV="1">
              <a:off x="5580063" y="2276475"/>
              <a:ext cx="863600" cy="50482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4" name="Line 50"/>
            <p:cNvSpPr>
              <a:spLocks noChangeShapeType="1"/>
            </p:cNvSpPr>
            <p:nvPr/>
          </p:nvSpPr>
          <p:spPr bwMode="auto">
            <a:xfrm>
              <a:off x="5364163" y="3933825"/>
              <a:ext cx="576262" cy="71913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5" name="Line 51"/>
            <p:cNvSpPr>
              <a:spLocks noChangeShapeType="1"/>
            </p:cNvSpPr>
            <p:nvPr/>
          </p:nvSpPr>
          <p:spPr bwMode="auto">
            <a:xfrm flipH="1">
              <a:off x="3132138" y="3789363"/>
              <a:ext cx="792162" cy="93503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6" name="Line 52"/>
            <p:cNvSpPr>
              <a:spLocks noChangeShapeType="1"/>
            </p:cNvSpPr>
            <p:nvPr/>
          </p:nvSpPr>
          <p:spPr bwMode="auto">
            <a:xfrm>
              <a:off x="2339975" y="2420938"/>
              <a:ext cx="1223963" cy="2159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grpSp>
        <p:nvGrpSpPr>
          <p:cNvPr id="2" name="组合 1"/>
          <p:cNvGrpSpPr/>
          <p:nvPr/>
        </p:nvGrpSpPr>
        <p:grpSpPr>
          <a:xfrm>
            <a:off x="1635125" y="1772285"/>
            <a:ext cx="5594350" cy="4617085"/>
            <a:chOff x="1547813" y="476250"/>
            <a:chExt cx="5837237" cy="4968875"/>
          </a:xfrm>
        </p:grpSpPr>
        <p:sp>
          <p:nvSpPr>
            <p:cNvPr id="17411" name="Oval 3"/>
            <p:cNvSpPr>
              <a:spLocks noChangeArrowheads="1"/>
            </p:cNvSpPr>
            <p:nvPr/>
          </p:nvSpPr>
          <p:spPr bwMode="auto">
            <a:xfrm>
              <a:off x="4211638" y="90805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2" name="Oval 4"/>
            <p:cNvSpPr>
              <a:spLocks noChangeArrowheads="1"/>
            </p:cNvSpPr>
            <p:nvPr/>
          </p:nvSpPr>
          <p:spPr bwMode="auto">
            <a:xfrm>
              <a:off x="1908175" y="22764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3" name="Oval 5"/>
            <p:cNvSpPr>
              <a:spLocks noChangeArrowheads="1"/>
            </p:cNvSpPr>
            <p:nvPr/>
          </p:nvSpPr>
          <p:spPr bwMode="auto">
            <a:xfrm>
              <a:off x="6948488" y="22764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4" name="Oval 6"/>
            <p:cNvSpPr>
              <a:spLocks noChangeArrowheads="1"/>
            </p:cNvSpPr>
            <p:nvPr/>
          </p:nvSpPr>
          <p:spPr bwMode="auto">
            <a:xfrm>
              <a:off x="3563938" y="530066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5" name="Oval 7"/>
            <p:cNvSpPr>
              <a:spLocks noChangeArrowheads="1"/>
            </p:cNvSpPr>
            <p:nvPr/>
          </p:nvSpPr>
          <p:spPr bwMode="auto">
            <a:xfrm>
              <a:off x="5724525" y="530066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6" name="Oval 8"/>
            <p:cNvSpPr>
              <a:spLocks noChangeArrowheads="1"/>
            </p:cNvSpPr>
            <p:nvPr/>
          </p:nvSpPr>
          <p:spPr bwMode="auto">
            <a:xfrm>
              <a:off x="4211638" y="17732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7" name="Oval 9"/>
            <p:cNvSpPr>
              <a:spLocks noChangeArrowheads="1"/>
            </p:cNvSpPr>
            <p:nvPr/>
          </p:nvSpPr>
          <p:spPr bwMode="auto">
            <a:xfrm>
              <a:off x="2916238" y="24923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8" name="Oval 10"/>
            <p:cNvSpPr>
              <a:spLocks noChangeArrowheads="1"/>
            </p:cNvSpPr>
            <p:nvPr/>
          </p:nvSpPr>
          <p:spPr bwMode="auto">
            <a:xfrm>
              <a:off x="6011863" y="24923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9" name="Oval 11"/>
            <p:cNvSpPr>
              <a:spLocks noChangeArrowheads="1"/>
            </p:cNvSpPr>
            <p:nvPr/>
          </p:nvSpPr>
          <p:spPr bwMode="auto">
            <a:xfrm>
              <a:off x="3924300" y="436562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0" name="Oval 12"/>
            <p:cNvSpPr>
              <a:spLocks noChangeArrowheads="1"/>
            </p:cNvSpPr>
            <p:nvPr/>
          </p:nvSpPr>
          <p:spPr bwMode="auto">
            <a:xfrm>
              <a:off x="5435600" y="443706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1" name="Oval 13"/>
            <p:cNvSpPr>
              <a:spLocks noChangeArrowheads="1"/>
            </p:cNvSpPr>
            <p:nvPr/>
          </p:nvSpPr>
          <p:spPr bwMode="auto">
            <a:xfrm>
              <a:off x="4211638" y="27082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2" name="Oval 14"/>
            <p:cNvSpPr>
              <a:spLocks noChangeArrowheads="1"/>
            </p:cNvSpPr>
            <p:nvPr/>
          </p:nvSpPr>
          <p:spPr bwMode="auto">
            <a:xfrm>
              <a:off x="5003800" y="23495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3" name="Oval 15"/>
            <p:cNvSpPr>
              <a:spLocks noChangeArrowheads="1"/>
            </p:cNvSpPr>
            <p:nvPr/>
          </p:nvSpPr>
          <p:spPr bwMode="auto">
            <a:xfrm>
              <a:off x="3563938" y="32131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4" name="Oval 16"/>
            <p:cNvSpPr>
              <a:spLocks noChangeArrowheads="1"/>
            </p:cNvSpPr>
            <p:nvPr/>
          </p:nvSpPr>
          <p:spPr bwMode="auto">
            <a:xfrm>
              <a:off x="5508625" y="32131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5" name="Oval 17"/>
            <p:cNvSpPr>
              <a:spLocks noChangeArrowheads="1"/>
            </p:cNvSpPr>
            <p:nvPr/>
          </p:nvSpPr>
          <p:spPr bwMode="auto">
            <a:xfrm>
              <a:off x="3779838" y="23495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6" name="Oval 18"/>
            <p:cNvSpPr>
              <a:spLocks noChangeArrowheads="1"/>
            </p:cNvSpPr>
            <p:nvPr/>
          </p:nvSpPr>
          <p:spPr bwMode="auto">
            <a:xfrm>
              <a:off x="4716463" y="414972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7" name="Oval 19"/>
            <p:cNvSpPr>
              <a:spLocks noChangeArrowheads="1"/>
            </p:cNvSpPr>
            <p:nvPr/>
          </p:nvSpPr>
          <p:spPr bwMode="auto">
            <a:xfrm>
              <a:off x="4716463" y="357346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8" name="Oval 20"/>
            <p:cNvSpPr>
              <a:spLocks noChangeArrowheads="1"/>
            </p:cNvSpPr>
            <p:nvPr/>
          </p:nvSpPr>
          <p:spPr bwMode="auto">
            <a:xfrm>
              <a:off x="4284663" y="32131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9" name="Oval 21"/>
            <p:cNvSpPr>
              <a:spLocks noChangeArrowheads="1"/>
            </p:cNvSpPr>
            <p:nvPr/>
          </p:nvSpPr>
          <p:spPr bwMode="auto">
            <a:xfrm>
              <a:off x="4787900" y="27082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0" name="Oval 22"/>
            <p:cNvSpPr>
              <a:spLocks noChangeArrowheads="1"/>
            </p:cNvSpPr>
            <p:nvPr/>
          </p:nvSpPr>
          <p:spPr bwMode="auto">
            <a:xfrm>
              <a:off x="4932363" y="32131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1" name="Line 23"/>
            <p:cNvSpPr>
              <a:spLocks noChangeShapeType="1"/>
            </p:cNvSpPr>
            <p:nvPr/>
          </p:nvSpPr>
          <p:spPr bwMode="auto">
            <a:xfrm flipH="1">
              <a:off x="1979613" y="981075"/>
              <a:ext cx="2305050" cy="136842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2" name="Line 24"/>
            <p:cNvSpPr>
              <a:spLocks noChangeShapeType="1"/>
            </p:cNvSpPr>
            <p:nvPr/>
          </p:nvSpPr>
          <p:spPr bwMode="auto">
            <a:xfrm>
              <a:off x="4284663" y="981075"/>
              <a:ext cx="2808287" cy="136842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3" name="Line 25"/>
            <p:cNvSpPr>
              <a:spLocks noChangeShapeType="1"/>
            </p:cNvSpPr>
            <p:nvPr/>
          </p:nvSpPr>
          <p:spPr bwMode="auto">
            <a:xfrm>
              <a:off x="1979613" y="2349500"/>
              <a:ext cx="1584325" cy="3024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4" name="Line 26"/>
            <p:cNvSpPr>
              <a:spLocks noChangeShapeType="1"/>
            </p:cNvSpPr>
            <p:nvPr/>
          </p:nvSpPr>
          <p:spPr bwMode="auto">
            <a:xfrm>
              <a:off x="3708400" y="5373688"/>
              <a:ext cx="208756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5" name="Line 27"/>
            <p:cNvSpPr>
              <a:spLocks noChangeShapeType="1"/>
            </p:cNvSpPr>
            <p:nvPr/>
          </p:nvSpPr>
          <p:spPr bwMode="auto">
            <a:xfrm flipH="1">
              <a:off x="5795963" y="2349500"/>
              <a:ext cx="1296987" cy="3024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6" name="Line 28"/>
            <p:cNvSpPr>
              <a:spLocks noChangeShapeType="1"/>
            </p:cNvSpPr>
            <p:nvPr/>
          </p:nvSpPr>
          <p:spPr bwMode="auto">
            <a:xfrm>
              <a:off x="4284663" y="981075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7" name="Line 29"/>
            <p:cNvSpPr>
              <a:spLocks noChangeShapeType="1"/>
            </p:cNvSpPr>
            <p:nvPr/>
          </p:nvSpPr>
          <p:spPr bwMode="auto">
            <a:xfrm flipH="1">
              <a:off x="6084888" y="2349500"/>
              <a:ext cx="935037" cy="2159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8" name="Line 30"/>
            <p:cNvSpPr>
              <a:spLocks noChangeShapeType="1"/>
            </p:cNvSpPr>
            <p:nvPr/>
          </p:nvSpPr>
          <p:spPr bwMode="auto">
            <a:xfrm>
              <a:off x="5508625" y="4508500"/>
              <a:ext cx="287338" cy="8651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9" name="Line 31"/>
            <p:cNvSpPr>
              <a:spLocks noChangeShapeType="1"/>
            </p:cNvSpPr>
            <p:nvPr/>
          </p:nvSpPr>
          <p:spPr bwMode="auto">
            <a:xfrm flipH="1">
              <a:off x="3635375" y="4437063"/>
              <a:ext cx="358775" cy="93662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0" name="Line 32"/>
            <p:cNvSpPr>
              <a:spLocks noChangeShapeType="1"/>
            </p:cNvSpPr>
            <p:nvPr/>
          </p:nvSpPr>
          <p:spPr bwMode="auto">
            <a:xfrm>
              <a:off x="1979613" y="2349500"/>
              <a:ext cx="1008062" cy="2159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1" name="Line 33"/>
            <p:cNvSpPr>
              <a:spLocks noChangeShapeType="1"/>
            </p:cNvSpPr>
            <p:nvPr/>
          </p:nvSpPr>
          <p:spPr bwMode="auto">
            <a:xfrm flipH="1">
              <a:off x="5508625" y="3284538"/>
              <a:ext cx="71438" cy="122396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2" name="Line 34"/>
            <p:cNvSpPr>
              <a:spLocks noChangeShapeType="1"/>
            </p:cNvSpPr>
            <p:nvPr/>
          </p:nvSpPr>
          <p:spPr bwMode="auto">
            <a:xfrm flipH="1">
              <a:off x="5580063" y="2565400"/>
              <a:ext cx="504825" cy="71913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3" name="Line 35"/>
            <p:cNvSpPr>
              <a:spLocks noChangeShapeType="1"/>
            </p:cNvSpPr>
            <p:nvPr/>
          </p:nvSpPr>
          <p:spPr bwMode="auto">
            <a:xfrm>
              <a:off x="3635375" y="3284538"/>
              <a:ext cx="431800" cy="12239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4" name="Line 36"/>
            <p:cNvSpPr>
              <a:spLocks noChangeShapeType="1"/>
            </p:cNvSpPr>
            <p:nvPr/>
          </p:nvSpPr>
          <p:spPr bwMode="auto">
            <a:xfrm>
              <a:off x="2987675" y="2565400"/>
              <a:ext cx="720725" cy="71913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5" name="Line 37"/>
            <p:cNvSpPr>
              <a:spLocks noChangeShapeType="1"/>
            </p:cNvSpPr>
            <p:nvPr/>
          </p:nvSpPr>
          <p:spPr bwMode="auto">
            <a:xfrm>
              <a:off x="4787900" y="4221163"/>
              <a:ext cx="7207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6" name="Line 38"/>
            <p:cNvSpPr>
              <a:spLocks noChangeShapeType="1"/>
            </p:cNvSpPr>
            <p:nvPr/>
          </p:nvSpPr>
          <p:spPr bwMode="auto">
            <a:xfrm flipH="1">
              <a:off x="3995738" y="4221163"/>
              <a:ext cx="792162" cy="28733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7" name="Line 39"/>
            <p:cNvSpPr>
              <a:spLocks noChangeShapeType="1"/>
            </p:cNvSpPr>
            <p:nvPr/>
          </p:nvSpPr>
          <p:spPr bwMode="auto">
            <a:xfrm flipH="1">
              <a:off x="3924300" y="1844675"/>
              <a:ext cx="360363" cy="5762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8" name="Line 40"/>
            <p:cNvSpPr>
              <a:spLocks noChangeShapeType="1"/>
            </p:cNvSpPr>
            <p:nvPr/>
          </p:nvSpPr>
          <p:spPr bwMode="auto">
            <a:xfrm flipV="1">
              <a:off x="2987675" y="2420938"/>
              <a:ext cx="863600" cy="144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9" name="Line 41"/>
            <p:cNvSpPr>
              <a:spLocks noChangeShapeType="1"/>
            </p:cNvSpPr>
            <p:nvPr/>
          </p:nvSpPr>
          <p:spPr bwMode="auto">
            <a:xfrm>
              <a:off x="4356100" y="1844675"/>
              <a:ext cx="720725" cy="5762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0" name="Line 42"/>
            <p:cNvSpPr>
              <a:spLocks noChangeShapeType="1"/>
            </p:cNvSpPr>
            <p:nvPr/>
          </p:nvSpPr>
          <p:spPr bwMode="auto">
            <a:xfrm>
              <a:off x="5076825" y="2420938"/>
              <a:ext cx="1008063" cy="144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1" name="Line 43"/>
            <p:cNvSpPr>
              <a:spLocks noChangeShapeType="1"/>
            </p:cNvSpPr>
            <p:nvPr/>
          </p:nvSpPr>
          <p:spPr bwMode="auto">
            <a:xfrm>
              <a:off x="4284663" y="2781300"/>
              <a:ext cx="6477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2" name="Line 44"/>
            <p:cNvSpPr>
              <a:spLocks noChangeShapeType="1"/>
            </p:cNvSpPr>
            <p:nvPr/>
          </p:nvSpPr>
          <p:spPr bwMode="auto">
            <a:xfrm flipH="1">
              <a:off x="4859338" y="2420938"/>
              <a:ext cx="217487" cy="431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3" name="Line 45"/>
            <p:cNvSpPr>
              <a:spLocks noChangeShapeType="1"/>
            </p:cNvSpPr>
            <p:nvPr/>
          </p:nvSpPr>
          <p:spPr bwMode="auto">
            <a:xfrm>
              <a:off x="3851275" y="2420938"/>
              <a:ext cx="433388" cy="36036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4" name="Line 46"/>
            <p:cNvSpPr>
              <a:spLocks noChangeShapeType="1"/>
            </p:cNvSpPr>
            <p:nvPr/>
          </p:nvSpPr>
          <p:spPr bwMode="auto">
            <a:xfrm>
              <a:off x="3635375" y="3284538"/>
              <a:ext cx="720725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5" name="Line 47"/>
            <p:cNvSpPr>
              <a:spLocks noChangeShapeType="1"/>
            </p:cNvSpPr>
            <p:nvPr/>
          </p:nvSpPr>
          <p:spPr bwMode="auto">
            <a:xfrm>
              <a:off x="5003800" y="3284538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6" name="Line 48"/>
            <p:cNvSpPr>
              <a:spLocks noChangeShapeType="1"/>
            </p:cNvSpPr>
            <p:nvPr/>
          </p:nvSpPr>
          <p:spPr bwMode="auto">
            <a:xfrm>
              <a:off x="4787900" y="3644900"/>
              <a:ext cx="0" cy="5762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7" name="Line 49"/>
            <p:cNvSpPr>
              <a:spLocks noChangeShapeType="1"/>
            </p:cNvSpPr>
            <p:nvPr/>
          </p:nvSpPr>
          <p:spPr bwMode="auto">
            <a:xfrm>
              <a:off x="4859338" y="2781300"/>
              <a:ext cx="144462" cy="431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8" name="Line 50"/>
            <p:cNvSpPr>
              <a:spLocks noChangeShapeType="1"/>
            </p:cNvSpPr>
            <p:nvPr/>
          </p:nvSpPr>
          <p:spPr bwMode="auto">
            <a:xfrm>
              <a:off x="4284663" y="2781300"/>
              <a:ext cx="71437" cy="50323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9" name="Line 51"/>
            <p:cNvSpPr>
              <a:spLocks noChangeShapeType="1"/>
            </p:cNvSpPr>
            <p:nvPr/>
          </p:nvSpPr>
          <p:spPr bwMode="auto">
            <a:xfrm>
              <a:off x="4356100" y="3284538"/>
              <a:ext cx="431800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0" name="Line 52"/>
            <p:cNvSpPr>
              <a:spLocks noChangeShapeType="1"/>
            </p:cNvSpPr>
            <p:nvPr/>
          </p:nvSpPr>
          <p:spPr bwMode="auto">
            <a:xfrm flipH="1">
              <a:off x="4787900" y="3213100"/>
              <a:ext cx="288925" cy="431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61" name="Object 53"/>
            <p:cNvGraphicFramePr>
              <a:graphicFrameLocks noChangeAspect="1"/>
            </p:cNvGraphicFramePr>
            <p:nvPr/>
          </p:nvGraphicFramePr>
          <p:xfrm>
            <a:off x="1547813" y="2133600"/>
            <a:ext cx="215900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1" imgW="81280" imgH="150495" progId="Equation.3">
                    <p:embed/>
                  </p:oleObj>
                </mc:Choice>
                <mc:Fallback>
                  <p:oleObj name="Equation" r:id="rId1" imgW="81280" imgH="150495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7813" y="2133600"/>
                          <a:ext cx="215900" cy="401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2" name="Object 54"/>
            <p:cNvGraphicFramePr>
              <a:graphicFrameLocks noChangeAspect="1"/>
            </p:cNvGraphicFramePr>
            <p:nvPr/>
          </p:nvGraphicFramePr>
          <p:xfrm>
            <a:off x="4165600" y="476250"/>
            <a:ext cx="307975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公式" r:id="rId3" imgW="115570" imgH="150495" progId="Equation.3">
                    <p:embed/>
                  </p:oleObj>
                </mc:Choice>
                <mc:Fallback>
                  <p:oleObj name="公式" r:id="rId3" imgW="115570" imgH="150495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5600" y="476250"/>
                          <a:ext cx="307975" cy="401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3" name="Object 55"/>
            <p:cNvGraphicFramePr>
              <a:graphicFrameLocks noChangeAspect="1"/>
            </p:cNvGraphicFramePr>
            <p:nvPr/>
          </p:nvGraphicFramePr>
          <p:xfrm>
            <a:off x="7107238" y="2046288"/>
            <a:ext cx="277812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公式" r:id="rId5" imgW="104140" imgH="161925" progId="Equation.3">
                    <p:embed/>
                  </p:oleObj>
                </mc:Choice>
                <mc:Fallback>
                  <p:oleObj name="公式" r:id="rId5" imgW="104140" imgH="161925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07238" y="2046288"/>
                          <a:ext cx="277812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4" name="Object 56"/>
            <p:cNvGraphicFramePr>
              <a:graphicFrameLocks noChangeAspect="1"/>
            </p:cNvGraphicFramePr>
            <p:nvPr/>
          </p:nvGraphicFramePr>
          <p:xfrm>
            <a:off x="6084888" y="2492375"/>
            <a:ext cx="307975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公式" r:id="rId7" imgW="115570" imgH="150495" progId="Equation.3">
                    <p:embed/>
                  </p:oleObj>
                </mc:Choice>
                <mc:Fallback>
                  <p:oleObj name="公式" r:id="rId7" imgW="115570" imgH="150495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4888" y="2492375"/>
                          <a:ext cx="307975" cy="401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5" name="Object 57"/>
            <p:cNvGraphicFramePr>
              <a:graphicFrameLocks noChangeAspect="1"/>
            </p:cNvGraphicFramePr>
            <p:nvPr/>
          </p:nvGraphicFramePr>
          <p:xfrm>
            <a:off x="5665788" y="3125788"/>
            <a:ext cx="277812" cy="433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公式" r:id="rId9" imgW="104140" imgH="161925" progId="Equation.3">
                    <p:embed/>
                  </p:oleObj>
                </mc:Choice>
                <mc:Fallback>
                  <p:oleObj name="公式" r:id="rId9" imgW="104140" imgH="161925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5788" y="3125788"/>
                          <a:ext cx="277812" cy="433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文本框 7"/>
          <p:cNvSpPr txBox="1"/>
          <p:nvPr/>
        </p:nvSpPr>
        <p:spPr>
          <a:xfrm>
            <a:off x="219075" y="1261745"/>
            <a:ext cx="6702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Times New Roman" panose="02020603050405020304" pitchFamily="18" charset="0"/>
                <a:ea typeface="华文新魏" panose="02010800040101010101" charset="-122"/>
                <a:sym typeface="+mn-ea"/>
              </a:rPr>
              <a:t>将正十二面体平面投影得到无向图</a:t>
            </a:r>
            <a:r>
              <a:rPr lang="en-US" altLang="zh-CN" sz="3200">
                <a:latin typeface="Times New Roman" panose="02020603050405020304" pitchFamily="18" charset="0"/>
                <a:ea typeface="华文新魏" panose="02010800040101010101" charset="-122"/>
                <a:sym typeface="+mn-ea"/>
              </a:rPr>
              <a:t>.</a:t>
            </a:r>
            <a:endParaRPr lang="en-US" altLang="zh-CN" sz="3200">
              <a:latin typeface="Times New Roman" panose="02020603050405020304" pitchFamily="18" charset="0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2771" name="Oval 3"/>
          <p:cNvSpPr>
            <a:spLocks noChangeArrowheads="1"/>
          </p:cNvSpPr>
          <p:nvPr/>
        </p:nvSpPr>
        <p:spPr bwMode="auto">
          <a:xfrm>
            <a:off x="4211638" y="90805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1908175" y="22764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3" name="Oval 5"/>
          <p:cNvSpPr>
            <a:spLocks noChangeArrowheads="1"/>
          </p:cNvSpPr>
          <p:nvPr/>
        </p:nvSpPr>
        <p:spPr bwMode="auto">
          <a:xfrm>
            <a:off x="6948488" y="22764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4" name="Oval 6"/>
          <p:cNvSpPr>
            <a:spLocks noChangeArrowheads="1"/>
          </p:cNvSpPr>
          <p:nvPr/>
        </p:nvSpPr>
        <p:spPr bwMode="auto">
          <a:xfrm>
            <a:off x="3563938" y="53006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5" name="Oval 7"/>
          <p:cNvSpPr>
            <a:spLocks noChangeArrowheads="1"/>
          </p:cNvSpPr>
          <p:nvPr/>
        </p:nvSpPr>
        <p:spPr bwMode="auto">
          <a:xfrm>
            <a:off x="5724525" y="53006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6" name="Oval 8"/>
          <p:cNvSpPr>
            <a:spLocks noChangeArrowheads="1"/>
          </p:cNvSpPr>
          <p:nvPr/>
        </p:nvSpPr>
        <p:spPr bwMode="auto">
          <a:xfrm>
            <a:off x="4211638" y="17732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7" name="Oval 9"/>
          <p:cNvSpPr>
            <a:spLocks noChangeArrowheads="1"/>
          </p:cNvSpPr>
          <p:nvPr/>
        </p:nvSpPr>
        <p:spPr bwMode="auto">
          <a:xfrm>
            <a:off x="2916238" y="24923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8" name="Oval 10"/>
          <p:cNvSpPr>
            <a:spLocks noChangeArrowheads="1"/>
          </p:cNvSpPr>
          <p:nvPr/>
        </p:nvSpPr>
        <p:spPr bwMode="auto">
          <a:xfrm>
            <a:off x="6011863" y="24923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9" name="Oval 11"/>
          <p:cNvSpPr>
            <a:spLocks noChangeArrowheads="1"/>
          </p:cNvSpPr>
          <p:nvPr/>
        </p:nvSpPr>
        <p:spPr bwMode="auto">
          <a:xfrm>
            <a:off x="3924300" y="43656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0" name="Oval 12"/>
          <p:cNvSpPr>
            <a:spLocks noChangeArrowheads="1"/>
          </p:cNvSpPr>
          <p:nvPr/>
        </p:nvSpPr>
        <p:spPr bwMode="auto">
          <a:xfrm>
            <a:off x="5435600" y="44370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1" name="Oval 13"/>
          <p:cNvSpPr>
            <a:spLocks noChangeArrowheads="1"/>
          </p:cNvSpPr>
          <p:nvPr/>
        </p:nvSpPr>
        <p:spPr bwMode="auto">
          <a:xfrm>
            <a:off x="4211638" y="27082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2" name="Oval 14"/>
          <p:cNvSpPr>
            <a:spLocks noChangeArrowheads="1"/>
          </p:cNvSpPr>
          <p:nvPr/>
        </p:nvSpPr>
        <p:spPr bwMode="auto">
          <a:xfrm>
            <a:off x="5003800" y="23495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3" name="Oval 15"/>
          <p:cNvSpPr>
            <a:spLocks noChangeArrowheads="1"/>
          </p:cNvSpPr>
          <p:nvPr/>
        </p:nvSpPr>
        <p:spPr bwMode="auto">
          <a:xfrm>
            <a:off x="3563938" y="32131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4" name="Oval 16"/>
          <p:cNvSpPr>
            <a:spLocks noChangeArrowheads="1"/>
          </p:cNvSpPr>
          <p:nvPr/>
        </p:nvSpPr>
        <p:spPr bwMode="auto">
          <a:xfrm>
            <a:off x="5508625" y="32131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5" name="Oval 17"/>
          <p:cNvSpPr>
            <a:spLocks noChangeArrowheads="1"/>
          </p:cNvSpPr>
          <p:nvPr/>
        </p:nvSpPr>
        <p:spPr bwMode="auto">
          <a:xfrm>
            <a:off x="3779838" y="23495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6" name="Oval 18"/>
          <p:cNvSpPr>
            <a:spLocks noChangeArrowheads="1"/>
          </p:cNvSpPr>
          <p:nvPr/>
        </p:nvSpPr>
        <p:spPr bwMode="auto">
          <a:xfrm>
            <a:off x="4716463" y="41497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7" name="Oval 19"/>
          <p:cNvSpPr>
            <a:spLocks noChangeArrowheads="1"/>
          </p:cNvSpPr>
          <p:nvPr/>
        </p:nvSpPr>
        <p:spPr bwMode="auto">
          <a:xfrm>
            <a:off x="4716463" y="35734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8" name="Oval 20"/>
          <p:cNvSpPr>
            <a:spLocks noChangeArrowheads="1"/>
          </p:cNvSpPr>
          <p:nvPr/>
        </p:nvSpPr>
        <p:spPr bwMode="auto">
          <a:xfrm>
            <a:off x="4284663" y="32131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9" name="Oval 21"/>
          <p:cNvSpPr>
            <a:spLocks noChangeArrowheads="1"/>
          </p:cNvSpPr>
          <p:nvPr/>
        </p:nvSpPr>
        <p:spPr bwMode="auto">
          <a:xfrm>
            <a:off x="4787900" y="27082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90" name="Oval 22"/>
          <p:cNvSpPr>
            <a:spLocks noChangeArrowheads="1"/>
          </p:cNvSpPr>
          <p:nvPr/>
        </p:nvSpPr>
        <p:spPr bwMode="auto">
          <a:xfrm>
            <a:off x="4932363" y="32131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91" name="Line 23"/>
          <p:cNvSpPr>
            <a:spLocks noChangeShapeType="1"/>
          </p:cNvSpPr>
          <p:nvPr/>
        </p:nvSpPr>
        <p:spPr bwMode="auto">
          <a:xfrm flipH="1">
            <a:off x="1979613" y="981075"/>
            <a:ext cx="2305050" cy="13684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2" name="Line 24"/>
          <p:cNvSpPr>
            <a:spLocks noChangeShapeType="1"/>
          </p:cNvSpPr>
          <p:nvPr/>
        </p:nvSpPr>
        <p:spPr bwMode="auto">
          <a:xfrm>
            <a:off x="4284663" y="981075"/>
            <a:ext cx="2808287" cy="13684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3" name="Line 25"/>
          <p:cNvSpPr>
            <a:spLocks noChangeShapeType="1"/>
          </p:cNvSpPr>
          <p:nvPr/>
        </p:nvSpPr>
        <p:spPr bwMode="auto">
          <a:xfrm>
            <a:off x="1979613" y="2349500"/>
            <a:ext cx="1584325" cy="3024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4" name="Line 26"/>
          <p:cNvSpPr>
            <a:spLocks noChangeShapeType="1"/>
          </p:cNvSpPr>
          <p:nvPr/>
        </p:nvSpPr>
        <p:spPr bwMode="auto">
          <a:xfrm>
            <a:off x="3708400" y="5373688"/>
            <a:ext cx="208756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5" name="Line 27"/>
          <p:cNvSpPr>
            <a:spLocks noChangeShapeType="1"/>
          </p:cNvSpPr>
          <p:nvPr/>
        </p:nvSpPr>
        <p:spPr bwMode="auto">
          <a:xfrm flipH="1">
            <a:off x="5795963" y="2349500"/>
            <a:ext cx="1296987" cy="3024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6" name="Line 28"/>
          <p:cNvSpPr>
            <a:spLocks noChangeShapeType="1"/>
          </p:cNvSpPr>
          <p:nvPr/>
        </p:nvSpPr>
        <p:spPr bwMode="auto">
          <a:xfrm>
            <a:off x="4284663" y="981075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7" name="Line 29"/>
          <p:cNvSpPr>
            <a:spLocks noChangeShapeType="1"/>
          </p:cNvSpPr>
          <p:nvPr/>
        </p:nvSpPr>
        <p:spPr bwMode="auto">
          <a:xfrm flipH="1">
            <a:off x="6084888" y="2349500"/>
            <a:ext cx="935037" cy="2159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8" name="Line 30"/>
          <p:cNvSpPr>
            <a:spLocks noChangeShapeType="1"/>
          </p:cNvSpPr>
          <p:nvPr/>
        </p:nvSpPr>
        <p:spPr bwMode="auto">
          <a:xfrm>
            <a:off x="5508625" y="4508500"/>
            <a:ext cx="287338" cy="8651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9" name="Line 31"/>
          <p:cNvSpPr>
            <a:spLocks noChangeShapeType="1"/>
          </p:cNvSpPr>
          <p:nvPr/>
        </p:nvSpPr>
        <p:spPr bwMode="auto">
          <a:xfrm flipH="1">
            <a:off x="3635375" y="4437063"/>
            <a:ext cx="358775" cy="9366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0" name="Line 32"/>
          <p:cNvSpPr>
            <a:spLocks noChangeShapeType="1"/>
          </p:cNvSpPr>
          <p:nvPr/>
        </p:nvSpPr>
        <p:spPr bwMode="auto">
          <a:xfrm>
            <a:off x="1979613" y="2349500"/>
            <a:ext cx="1008062" cy="2159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1" name="Line 33"/>
          <p:cNvSpPr>
            <a:spLocks noChangeShapeType="1"/>
          </p:cNvSpPr>
          <p:nvPr/>
        </p:nvSpPr>
        <p:spPr bwMode="auto">
          <a:xfrm flipH="1">
            <a:off x="5508625" y="3284538"/>
            <a:ext cx="71438" cy="12239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2" name="Line 34"/>
          <p:cNvSpPr>
            <a:spLocks noChangeShapeType="1"/>
          </p:cNvSpPr>
          <p:nvPr/>
        </p:nvSpPr>
        <p:spPr bwMode="auto">
          <a:xfrm flipH="1">
            <a:off x="5580063" y="2565400"/>
            <a:ext cx="504825" cy="7191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3" name="Line 35"/>
          <p:cNvSpPr>
            <a:spLocks noChangeShapeType="1"/>
          </p:cNvSpPr>
          <p:nvPr/>
        </p:nvSpPr>
        <p:spPr bwMode="auto">
          <a:xfrm>
            <a:off x="3635375" y="3284538"/>
            <a:ext cx="4318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4" name="Line 36"/>
          <p:cNvSpPr>
            <a:spLocks noChangeShapeType="1"/>
          </p:cNvSpPr>
          <p:nvPr/>
        </p:nvSpPr>
        <p:spPr bwMode="auto">
          <a:xfrm>
            <a:off x="2987675" y="2565400"/>
            <a:ext cx="720725" cy="7191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5" name="Line 37"/>
          <p:cNvSpPr>
            <a:spLocks noChangeShapeType="1"/>
          </p:cNvSpPr>
          <p:nvPr/>
        </p:nvSpPr>
        <p:spPr bwMode="auto">
          <a:xfrm>
            <a:off x="4787900" y="4221163"/>
            <a:ext cx="720725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6" name="Line 38"/>
          <p:cNvSpPr>
            <a:spLocks noChangeShapeType="1"/>
          </p:cNvSpPr>
          <p:nvPr/>
        </p:nvSpPr>
        <p:spPr bwMode="auto">
          <a:xfrm flipH="1">
            <a:off x="3995738" y="4221163"/>
            <a:ext cx="792162" cy="2873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7" name="Line 39"/>
          <p:cNvSpPr>
            <a:spLocks noChangeShapeType="1"/>
          </p:cNvSpPr>
          <p:nvPr/>
        </p:nvSpPr>
        <p:spPr bwMode="auto">
          <a:xfrm flipH="1">
            <a:off x="3924300" y="1844675"/>
            <a:ext cx="360363" cy="5762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8" name="Line 40"/>
          <p:cNvSpPr>
            <a:spLocks noChangeShapeType="1"/>
          </p:cNvSpPr>
          <p:nvPr/>
        </p:nvSpPr>
        <p:spPr bwMode="auto">
          <a:xfrm flipV="1">
            <a:off x="2987675" y="2420938"/>
            <a:ext cx="8636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9" name="Line 41"/>
          <p:cNvSpPr>
            <a:spLocks noChangeShapeType="1"/>
          </p:cNvSpPr>
          <p:nvPr/>
        </p:nvSpPr>
        <p:spPr bwMode="auto">
          <a:xfrm>
            <a:off x="4356100" y="1844675"/>
            <a:ext cx="720725" cy="5762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0" name="Line 42"/>
          <p:cNvSpPr>
            <a:spLocks noChangeShapeType="1"/>
          </p:cNvSpPr>
          <p:nvPr/>
        </p:nvSpPr>
        <p:spPr bwMode="auto">
          <a:xfrm>
            <a:off x="5076825" y="2420938"/>
            <a:ext cx="1008063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1" name="Line 43"/>
          <p:cNvSpPr>
            <a:spLocks noChangeShapeType="1"/>
          </p:cNvSpPr>
          <p:nvPr/>
        </p:nvSpPr>
        <p:spPr bwMode="auto">
          <a:xfrm>
            <a:off x="4284663" y="27813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2" name="Line 44"/>
          <p:cNvSpPr>
            <a:spLocks noChangeShapeType="1"/>
          </p:cNvSpPr>
          <p:nvPr/>
        </p:nvSpPr>
        <p:spPr bwMode="auto">
          <a:xfrm flipH="1">
            <a:off x="4859338" y="2420938"/>
            <a:ext cx="217487" cy="431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3" name="Line 45"/>
          <p:cNvSpPr>
            <a:spLocks noChangeShapeType="1"/>
          </p:cNvSpPr>
          <p:nvPr/>
        </p:nvSpPr>
        <p:spPr bwMode="auto">
          <a:xfrm>
            <a:off x="3851275" y="2420938"/>
            <a:ext cx="433388" cy="3603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4" name="Line 46"/>
          <p:cNvSpPr>
            <a:spLocks noChangeShapeType="1"/>
          </p:cNvSpPr>
          <p:nvPr/>
        </p:nvSpPr>
        <p:spPr bwMode="auto">
          <a:xfrm>
            <a:off x="3635375" y="3284538"/>
            <a:ext cx="72072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5" name="Line 47"/>
          <p:cNvSpPr>
            <a:spLocks noChangeShapeType="1"/>
          </p:cNvSpPr>
          <p:nvPr/>
        </p:nvSpPr>
        <p:spPr bwMode="auto">
          <a:xfrm>
            <a:off x="5003800" y="3284538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6" name="Line 48"/>
          <p:cNvSpPr>
            <a:spLocks noChangeShapeType="1"/>
          </p:cNvSpPr>
          <p:nvPr/>
        </p:nvSpPr>
        <p:spPr bwMode="auto">
          <a:xfrm>
            <a:off x="4787900" y="3644900"/>
            <a:ext cx="0" cy="5762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7" name="Line 49"/>
          <p:cNvSpPr>
            <a:spLocks noChangeShapeType="1"/>
          </p:cNvSpPr>
          <p:nvPr/>
        </p:nvSpPr>
        <p:spPr bwMode="auto">
          <a:xfrm>
            <a:off x="4859338" y="2781300"/>
            <a:ext cx="144462" cy="431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8" name="Line 50"/>
          <p:cNvSpPr>
            <a:spLocks noChangeShapeType="1"/>
          </p:cNvSpPr>
          <p:nvPr/>
        </p:nvSpPr>
        <p:spPr bwMode="auto">
          <a:xfrm>
            <a:off x="4284663" y="2781300"/>
            <a:ext cx="71437" cy="5032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9" name="Line 51"/>
          <p:cNvSpPr>
            <a:spLocks noChangeShapeType="1"/>
          </p:cNvSpPr>
          <p:nvPr/>
        </p:nvSpPr>
        <p:spPr bwMode="auto">
          <a:xfrm>
            <a:off x="4356100" y="3284538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20" name="Line 52"/>
          <p:cNvSpPr>
            <a:spLocks noChangeShapeType="1"/>
          </p:cNvSpPr>
          <p:nvPr/>
        </p:nvSpPr>
        <p:spPr bwMode="auto">
          <a:xfrm flipH="1">
            <a:off x="4787900" y="3213100"/>
            <a:ext cx="288925" cy="431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2821" name="Object 53"/>
          <p:cNvGraphicFramePr>
            <a:graphicFrameLocks noChangeAspect="1"/>
          </p:cNvGraphicFramePr>
          <p:nvPr/>
        </p:nvGraphicFramePr>
        <p:xfrm>
          <a:off x="1547813" y="2133600"/>
          <a:ext cx="2159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81280" imgH="150495" progId="Equation.3">
                  <p:embed/>
                </p:oleObj>
              </mc:Choice>
              <mc:Fallback>
                <p:oleObj name="Equation" r:id="rId1" imgW="81280" imgH="150495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133600"/>
                        <a:ext cx="215900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22" name="Object 54"/>
          <p:cNvGraphicFramePr>
            <a:graphicFrameLocks noChangeAspect="1"/>
          </p:cNvGraphicFramePr>
          <p:nvPr/>
        </p:nvGraphicFramePr>
        <p:xfrm>
          <a:off x="4165600" y="476250"/>
          <a:ext cx="30797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115570" imgH="150495" progId="Equation.3">
                  <p:embed/>
                </p:oleObj>
              </mc:Choice>
              <mc:Fallback>
                <p:oleObj name="公式" r:id="rId3" imgW="115570" imgH="150495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476250"/>
                        <a:ext cx="307975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23" name="Object 55"/>
          <p:cNvGraphicFramePr>
            <a:graphicFrameLocks noChangeAspect="1"/>
          </p:cNvGraphicFramePr>
          <p:nvPr/>
        </p:nvGraphicFramePr>
        <p:xfrm>
          <a:off x="7107238" y="2046288"/>
          <a:ext cx="2778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5" imgW="104140" imgH="161925" progId="Equation.3">
                  <p:embed/>
                </p:oleObj>
              </mc:Choice>
              <mc:Fallback>
                <p:oleObj name="公式" r:id="rId5" imgW="104140" imgH="161925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7238" y="2046288"/>
                        <a:ext cx="2778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24" name="Object 56"/>
          <p:cNvGraphicFramePr>
            <a:graphicFrameLocks noChangeAspect="1"/>
          </p:cNvGraphicFramePr>
          <p:nvPr/>
        </p:nvGraphicFramePr>
        <p:xfrm>
          <a:off x="6084888" y="2492375"/>
          <a:ext cx="30797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公式" r:id="rId7" imgW="115570" imgH="150495" progId="Equation.3">
                  <p:embed/>
                </p:oleObj>
              </mc:Choice>
              <mc:Fallback>
                <p:oleObj name="公式" r:id="rId7" imgW="115570" imgH="150495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492375"/>
                        <a:ext cx="307975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25" name="Object 57"/>
          <p:cNvGraphicFramePr>
            <a:graphicFrameLocks noChangeAspect="1"/>
          </p:cNvGraphicFramePr>
          <p:nvPr/>
        </p:nvGraphicFramePr>
        <p:xfrm>
          <a:off x="5665788" y="3125788"/>
          <a:ext cx="27781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公式" r:id="rId9" imgW="104140" imgH="161925" progId="Equation.3">
                  <p:embed/>
                </p:oleObj>
              </mc:Choice>
              <mc:Fallback>
                <p:oleObj name="公式" r:id="rId9" imgW="104140" imgH="161925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5788" y="3125788"/>
                        <a:ext cx="277812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2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回路可得到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存在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路不一定存在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回路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 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存在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H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路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bcaed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       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存在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H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回路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154321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18059" y="2237755"/>
            <a:ext cx="5907881" cy="3246437"/>
            <a:chOff x="1206500" y="2303463"/>
            <a:chExt cx="5907881" cy="3246437"/>
          </a:xfrm>
        </p:grpSpPr>
        <p:sp>
          <p:nvSpPr>
            <p:cNvPr id="18435" name="Oval 3"/>
            <p:cNvSpPr>
              <a:spLocks noChangeArrowheads="1"/>
            </p:cNvSpPr>
            <p:nvPr/>
          </p:nvSpPr>
          <p:spPr bwMode="auto">
            <a:xfrm>
              <a:off x="1547813" y="29972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6" name="Oval 4"/>
            <p:cNvSpPr>
              <a:spLocks noChangeArrowheads="1"/>
            </p:cNvSpPr>
            <p:nvPr/>
          </p:nvSpPr>
          <p:spPr bwMode="auto">
            <a:xfrm>
              <a:off x="2627313" y="29972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7" name="Oval 5"/>
            <p:cNvSpPr>
              <a:spLocks noChangeArrowheads="1"/>
            </p:cNvSpPr>
            <p:nvPr/>
          </p:nvSpPr>
          <p:spPr bwMode="auto">
            <a:xfrm>
              <a:off x="2071688" y="389096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8" name="Oval 6"/>
            <p:cNvSpPr>
              <a:spLocks noChangeArrowheads="1"/>
            </p:cNvSpPr>
            <p:nvPr/>
          </p:nvSpPr>
          <p:spPr bwMode="auto">
            <a:xfrm>
              <a:off x="1547813" y="479742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9" name="Oval 7"/>
            <p:cNvSpPr>
              <a:spLocks noChangeArrowheads="1"/>
            </p:cNvSpPr>
            <p:nvPr/>
          </p:nvSpPr>
          <p:spPr bwMode="auto">
            <a:xfrm>
              <a:off x="2627313" y="479742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0" name="Line 8"/>
            <p:cNvSpPr>
              <a:spLocks noChangeShapeType="1"/>
            </p:cNvSpPr>
            <p:nvPr/>
          </p:nvSpPr>
          <p:spPr bwMode="auto">
            <a:xfrm>
              <a:off x="1619250" y="3068638"/>
              <a:ext cx="108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1" name="Line 9"/>
            <p:cNvSpPr>
              <a:spLocks noChangeShapeType="1"/>
            </p:cNvSpPr>
            <p:nvPr/>
          </p:nvSpPr>
          <p:spPr bwMode="auto">
            <a:xfrm>
              <a:off x="1692275" y="4868863"/>
              <a:ext cx="935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2" name="Line 10"/>
            <p:cNvSpPr>
              <a:spLocks noChangeShapeType="1"/>
            </p:cNvSpPr>
            <p:nvPr/>
          </p:nvSpPr>
          <p:spPr bwMode="auto">
            <a:xfrm>
              <a:off x="1619250" y="3068638"/>
              <a:ext cx="1081088" cy="180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3" name="Line 11"/>
            <p:cNvSpPr>
              <a:spLocks noChangeShapeType="1"/>
            </p:cNvSpPr>
            <p:nvPr/>
          </p:nvSpPr>
          <p:spPr bwMode="auto">
            <a:xfrm flipH="1">
              <a:off x="1619250" y="3068638"/>
              <a:ext cx="1081088" cy="180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4" name="Oval 12"/>
            <p:cNvSpPr>
              <a:spLocks noChangeArrowheads="1"/>
            </p:cNvSpPr>
            <p:nvPr/>
          </p:nvSpPr>
          <p:spPr bwMode="auto">
            <a:xfrm>
              <a:off x="5580063" y="28527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5" name="Oval 13"/>
            <p:cNvSpPr>
              <a:spLocks noChangeArrowheads="1"/>
            </p:cNvSpPr>
            <p:nvPr/>
          </p:nvSpPr>
          <p:spPr bwMode="auto">
            <a:xfrm>
              <a:off x="4787900" y="35004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6" name="Oval 14"/>
            <p:cNvSpPr>
              <a:spLocks noChangeArrowheads="1"/>
            </p:cNvSpPr>
            <p:nvPr/>
          </p:nvSpPr>
          <p:spPr bwMode="auto">
            <a:xfrm>
              <a:off x="6588125" y="34290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7" name="Oval 15"/>
            <p:cNvSpPr>
              <a:spLocks noChangeArrowheads="1"/>
            </p:cNvSpPr>
            <p:nvPr/>
          </p:nvSpPr>
          <p:spPr bwMode="auto">
            <a:xfrm>
              <a:off x="5292725" y="458152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8" name="Oval 16"/>
            <p:cNvSpPr>
              <a:spLocks noChangeArrowheads="1"/>
            </p:cNvSpPr>
            <p:nvPr/>
          </p:nvSpPr>
          <p:spPr bwMode="auto">
            <a:xfrm>
              <a:off x="6156325" y="458152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9" name="Line 17"/>
            <p:cNvSpPr>
              <a:spLocks noChangeShapeType="1"/>
            </p:cNvSpPr>
            <p:nvPr/>
          </p:nvSpPr>
          <p:spPr bwMode="auto">
            <a:xfrm flipV="1">
              <a:off x="4932363" y="2997200"/>
              <a:ext cx="576262" cy="503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0" name="Line 18"/>
            <p:cNvSpPr>
              <a:spLocks noChangeShapeType="1"/>
            </p:cNvSpPr>
            <p:nvPr/>
          </p:nvSpPr>
          <p:spPr bwMode="auto">
            <a:xfrm>
              <a:off x="5724525" y="2997200"/>
              <a:ext cx="792163" cy="503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1" name="Line 19"/>
            <p:cNvSpPr>
              <a:spLocks noChangeShapeType="1"/>
            </p:cNvSpPr>
            <p:nvPr/>
          </p:nvSpPr>
          <p:spPr bwMode="auto">
            <a:xfrm flipH="1">
              <a:off x="6372225" y="3644900"/>
              <a:ext cx="21590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2" name="Line 20"/>
            <p:cNvSpPr>
              <a:spLocks noChangeShapeType="1"/>
            </p:cNvSpPr>
            <p:nvPr/>
          </p:nvSpPr>
          <p:spPr bwMode="auto">
            <a:xfrm flipH="1">
              <a:off x="5508625" y="4652963"/>
              <a:ext cx="6477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3" name="Line 21"/>
            <p:cNvSpPr>
              <a:spLocks noChangeShapeType="1"/>
            </p:cNvSpPr>
            <p:nvPr/>
          </p:nvSpPr>
          <p:spPr bwMode="auto">
            <a:xfrm flipH="1" flipV="1">
              <a:off x="4859338" y="3789363"/>
              <a:ext cx="433387" cy="79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Line 22"/>
            <p:cNvSpPr>
              <a:spLocks noChangeShapeType="1"/>
            </p:cNvSpPr>
            <p:nvPr/>
          </p:nvSpPr>
          <p:spPr bwMode="auto">
            <a:xfrm flipH="1">
              <a:off x="5364163" y="3068638"/>
              <a:ext cx="287337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5" name="Line 23"/>
            <p:cNvSpPr>
              <a:spLocks noChangeShapeType="1"/>
            </p:cNvSpPr>
            <p:nvPr/>
          </p:nvSpPr>
          <p:spPr bwMode="auto">
            <a:xfrm flipH="1">
              <a:off x="5003800" y="3573463"/>
              <a:ext cx="1439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Line 24"/>
            <p:cNvSpPr>
              <a:spLocks noChangeShapeType="1"/>
            </p:cNvSpPr>
            <p:nvPr/>
          </p:nvSpPr>
          <p:spPr bwMode="auto">
            <a:xfrm flipH="1" flipV="1">
              <a:off x="5076825" y="3716338"/>
              <a:ext cx="1150938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Line 25"/>
            <p:cNvSpPr>
              <a:spLocks noChangeShapeType="1"/>
            </p:cNvSpPr>
            <p:nvPr/>
          </p:nvSpPr>
          <p:spPr bwMode="auto">
            <a:xfrm flipV="1">
              <a:off x="5435600" y="3716338"/>
              <a:ext cx="1008063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8" name="Line 26"/>
            <p:cNvSpPr>
              <a:spLocks noChangeShapeType="1"/>
            </p:cNvSpPr>
            <p:nvPr/>
          </p:nvSpPr>
          <p:spPr bwMode="auto">
            <a:xfrm>
              <a:off x="5724525" y="3141663"/>
              <a:ext cx="503238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59" name="Object 27"/>
            <p:cNvGraphicFramePr>
              <a:graphicFrameLocks noChangeAspect="1"/>
            </p:cNvGraphicFramePr>
            <p:nvPr/>
          </p:nvGraphicFramePr>
          <p:xfrm>
            <a:off x="1887538" y="5054600"/>
            <a:ext cx="554037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1" imgW="208280" imgH="185420" progId="Equation.3">
                    <p:embed/>
                  </p:oleObj>
                </mc:Choice>
                <mc:Fallback>
                  <p:oleObj name="Equation" r:id="rId1" imgW="208280" imgH="18542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7538" y="5054600"/>
                          <a:ext cx="554037" cy="495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0" name="Object 28"/>
            <p:cNvGraphicFramePr>
              <a:graphicFrameLocks noChangeAspect="1"/>
            </p:cNvGraphicFramePr>
            <p:nvPr/>
          </p:nvGraphicFramePr>
          <p:xfrm>
            <a:off x="5508625" y="5013325"/>
            <a:ext cx="554038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3" imgW="208280" imgH="185420" progId="Equation.3">
                    <p:embed/>
                  </p:oleObj>
                </mc:Choice>
                <mc:Fallback>
                  <p:oleObj name="Equation" r:id="rId3" imgW="208280" imgH="18542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8625" y="5013325"/>
                          <a:ext cx="554038" cy="495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1" name="Object 29"/>
            <p:cNvGraphicFramePr>
              <a:graphicFrameLocks noChangeAspect="1"/>
            </p:cNvGraphicFramePr>
            <p:nvPr/>
          </p:nvGraphicFramePr>
          <p:xfrm>
            <a:off x="1238250" y="2844080"/>
            <a:ext cx="307975" cy="433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5" imgW="115570" imgH="161925" progId="Equation.3">
                    <p:embed/>
                  </p:oleObj>
                </mc:Choice>
                <mc:Fallback>
                  <p:oleObj name="Equation" r:id="rId5" imgW="115570" imgH="161925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8250" y="2844080"/>
                          <a:ext cx="307975" cy="433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2" name="Object 30"/>
            <p:cNvGraphicFramePr>
              <a:graphicFrameLocks noChangeAspect="1"/>
            </p:cNvGraphicFramePr>
            <p:nvPr/>
          </p:nvGraphicFramePr>
          <p:xfrm>
            <a:off x="2843213" y="2861816"/>
            <a:ext cx="276225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7" imgW="104140" imgH="127635" progId="Equation.3">
                    <p:embed/>
                  </p:oleObj>
                </mc:Choice>
                <mc:Fallback>
                  <p:oleObj name="Equation" r:id="rId7" imgW="104140" imgH="127635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3213" y="2861816"/>
                          <a:ext cx="276225" cy="341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3" name="Object 31"/>
            <p:cNvGraphicFramePr>
              <a:graphicFrameLocks noChangeAspect="1"/>
            </p:cNvGraphicFramePr>
            <p:nvPr/>
          </p:nvGraphicFramePr>
          <p:xfrm>
            <a:off x="2293938" y="3819323"/>
            <a:ext cx="307975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Equation" r:id="rId9" imgW="115570" imgH="127635" progId="Equation.3">
                    <p:embed/>
                  </p:oleObj>
                </mc:Choice>
                <mc:Fallback>
                  <p:oleObj name="Equation" r:id="rId9" imgW="115570" imgH="127635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3938" y="3819323"/>
                          <a:ext cx="307975" cy="339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4" name="Object 32"/>
            <p:cNvGraphicFramePr>
              <a:graphicFrameLocks noChangeAspect="1"/>
            </p:cNvGraphicFramePr>
            <p:nvPr/>
          </p:nvGraphicFramePr>
          <p:xfrm>
            <a:off x="1206500" y="4652169"/>
            <a:ext cx="339725" cy="433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Equation" r:id="rId11" imgW="127635" imgH="161925" progId="Equation.3">
                    <p:embed/>
                  </p:oleObj>
                </mc:Choice>
                <mc:Fallback>
                  <p:oleObj name="Equation" r:id="rId11" imgW="127635" imgH="161925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6500" y="4652169"/>
                          <a:ext cx="339725" cy="433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5" name="Object 33"/>
            <p:cNvGraphicFramePr>
              <a:graphicFrameLocks noChangeAspect="1"/>
            </p:cNvGraphicFramePr>
            <p:nvPr/>
          </p:nvGraphicFramePr>
          <p:xfrm>
            <a:off x="2841063" y="4710690"/>
            <a:ext cx="277813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Equation" r:id="rId13" imgW="104140" imgH="127635" progId="Equation.3">
                    <p:embed/>
                  </p:oleObj>
                </mc:Choice>
                <mc:Fallback>
                  <p:oleObj name="Equation" r:id="rId13" imgW="104140" imgH="127635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1063" y="4710690"/>
                          <a:ext cx="277813" cy="339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6" name="Object 34"/>
            <p:cNvGraphicFramePr>
              <a:graphicFrameLocks noChangeAspect="1"/>
            </p:cNvGraphicFramePr>
            <p:nvPr/>
          </p:nvGraphicFramePr>
          <p:xfrm>
            <a:off x="5419725" y="2303463"/>
            <a:ext cx="339725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Equation" r:id="rId15" imgW="127635" imgH="196850" progId="Equation.3">
                    <p:embed/>
                  </p:oleObj>
                </mc:Choice>
                <mc:Fallback>
                  <p:oleObj name="Equation" r:id="rId15" imgW="127635" imgH="19685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9725" y="2303463"/>
                          <a:ext cx="339725" cy="527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7" name="Object 35"/>
            <p:cNvGraphicFramePr>
              <a:graphicFrameLocks noChangeAspect="1"/>
            </p:cNvGraphicFramePr>
            <p:nvPr/>
          </p:nvGraphicFramePr>
          <p:xfrm>
            <a:off x="4473575" y="3307008"/>
            <a:ext cx="401638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Equation" r:id="rId17" imgW="150495" imgH="196850" progId="Equation.3">
                    <p:embed/>
                  </p:oleObj>
                </mc:Choice>
                <mc:Fallback>
                  <p:oleObj name="Equation" r:id="rId17" imgW="150495" imgH="19685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3575" y="3307008"/>
                          <a:ext cx="401638" cy="527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8" name="Object 36"/>
            <p:cNvGraphicFramePr>
              <a:graphicFrameLocks noChangeAspect="1"/>
            </p:cNvGraphicFramePr>
            <p:nvPr/>
          </p:nvGraphicFramePr>
          <p:xfrm>
            <a:off x="4911725" y="4437063"/>
            <a:ext cx="371475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Equation" r:id="rId19" imgW="139065" imgH="208280" progId="Equation.3">
                    <p:embed/>
                  </p:oleObj>
                </mc:Choice>
                <mc:Fallback>
                  <p:oleObj name="Equation" r:id="rId19" imgW="139065" imgH="20828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1725" y="4437063"/>
                          <a:ext cx="371475" cy="558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9" name="Object 37"/>
            <p:cNvGraphicFramePr>
              <a:graphicFrameLocks noChangeAspect="1"/>
            </p:cNvGraphicFramePr>
            <p:nvPr/>
          </p:nvGraphicFramePr>
          <p:xfrm>
            <a:off x="6361720" y="4460874"/>
            <a:ext cx="401638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Equation" r:id="rId21" imgW="150495" imgH="196850" progId="Equation.3">
                    <p:embed/>
                  </p:oleObj>
                </mc:Choice>
                <mc:Fallback>
                  <p:oleObj name="Equation" r:id="rId21" imgW="150495" imgH="19685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1720" y="4460874"/>
                          <a:ext cx="401638" cy="527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70" name="Object 38"/>
            <p:cNvGraphicFramePr>
              <a:graphicFrameLocks noChangeAspect="1"/>
            </p:cNvGraphicFramePr>
            <p:nvPr/>
          </p:nvGraphicFramePr>
          <p:xfrm>
            <a:off x="6744493" y="3157538"/>
            <a:ext cx="369888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" name="Equation" r:id="rId23" imgW="139065" imgH="208280" progId="Equation.3">
                    <p:embed/>
                  </p:oleObj>
                </mc:Choice>
                <mc:Fallback>
                  <p:oleObj name="Equation" r:id="rId23" imgW="139065" imgH="20828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44493" y="3157538"/>
                          <a:ext cx="369888" cy="558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判断一个图是否是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Hamilton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图是非常困难的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 NP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难问题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下面分别介绍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Hamilton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图的必要条件和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Hamilton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图的充分条件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543" y="1132"/>
              <a:ext cx="245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哈密顿图的有关概念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29000"/>
            <a:ext cx="5437187" cy="681038"/>
            <a:chOff x="1135" y="1086"/>
            <a:chExt cx="3425" cy="429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536" y="1086"/>
              <a:ext cx="245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哈密顿图的必要条件</a:t>
              </a:r>
              <a:endParaRPr kumimoji="0" lang="zh-CN" altLang="en-US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376738"/>
            <a:ext cx="5437187" cy="741362"/>
            <a:chOff x="1135" y="1048"/>
            <a:chExt cx="3425" cy="467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542" y="1048"/>
              <a:ext cx="245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哈密顿图的充分条件</a:t>
              </a:r>
              <a:endPara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8" name="Group 4"/>
          <p:cNvGrpSpPr/>
          <p:nvPr/>
        </p:nvGrpSpPr>
        <p:grpSpPr bwMode="auto">
          <a:xfrm>
            <a:off x="1655763" y="5360987"/>
            <a:ext cx="5437187" cy="673100"/>
            <a:chOff x="1135" y="1091"/>
            <a:chExt cx="3425" cy="424"/>
          </a:xfrm>
        </p:grpSpPr>
        <p:sp>
          <p:nvSpPr>
            <p:cNvPr id="819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0" name="Text Box 10"/>
            <p:cNvSpPr txBox="1">
              <a:spLocks noChangeArrowheads="1"/>
            </p:cNvSpPr>
            <p:nvPr/>
          </p:nvSpPr>
          <p:spPr bwMode="auto">
            <a:xfrm>
              <a:off x="1582" y="1091"/>
              <a:ext cx="141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旅行商问题</a:t>
              </a:r>
              <a:endPara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1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2. Hamilton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图的必要条件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7-5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Hamilton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则对于任意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 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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均有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-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 ≤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|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|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4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7-3  Petersen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图满足上述定理的条件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但不是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Hamilton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627784" y="2132856"/>
            <a:ext cx="4103687" cy="3978275"/>
            <a:chOff x="2268538" y="1412875"/>
            <a:chExt cx="4103687" cy="3978275"/>
          </a:xfrm>
        </p:grpSpPr>
        <p:sp>
          <p:nvSpPr>
            <p:cNvPr id="28677" name="Oval 5"/>
            <p:cNvSpPr>
              <a:spLocks noChangeArrowheads="1"/>
            </p:cNvSpPr>
            <p:nvPr/>
          </p:nvSpPr>
          <p:spPr bwMode="auto">
            <a:xfrm>
              <a:off x="4211638" y="22050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78" name="Oval 6"/>
            <p:cNvSpPr>
              <a:spLocks noChangeArrowheads="1"/>
            </p:cNvSpPr>
            <p:nvPr/>
          </p:nvSpPr>
          <p:spPr bwMode="auto">
            <a:xfrm>
              <a:off x="3132138" y="314166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79" name="Oval 7"/>
            <p:cNvSpPr>
              <a:spLocks noChangeArrowheads="1"/>
            </p:cNvSpPr>
            <p:nvPr/>
          </p:nvSpPr>
          <p:spPr bwMode="auto">
            <a:xfrm>
              <a:off x="5219700" y="314166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0" name="Oval 8"/>
            <p:cNvSpPr>
              <a:spLocks noChangeArrowheads="1"/>
            </p:cNvSpPr>
            <p:nvPr/>
          </p:nvSpPr>
          <p:spPr bwMode="auto">
            <a:xfrm>
              <a:off x="3779838" y="414972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1" name="Oval 9"/>
            <p:cNvSpPr>
              <a:spLocks noChangeArrowheads="1"/>
            </p:cNvSpPr>
            <p:nvPr/>
          </p:nvSpPr>
          <p:spPr bwMode="auto">
            <a:xfrm>
              <a:off x="4787900" y="414972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2" name="Line 10"/>
            <p:cNvSpPr>
              <a:spLocks noChangeShapeType="1"/>
            </p:cNvSpPr>
            <p:nvPr/>
          </p:nvSpPr>
          <p:spPr bwMode="auto">
            <a:xfrm flipH="1">
              <a:off x="3851275" y="2276475"/>
              <a:ext cx="433388" cy="1944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3" name="Line 11"/>
            <p:cNvSpPr>
              <a:spLocks noChangeShapeType="1"/>
            </p:cNvSpPr>
            <p:nvPr/>
          </p:nvSpPr>
          <p:spPr bwMode="auto">
            <a:xfrm>
              <a:off x="4284663" y="2276475"/>
              <a:ext cx="574675" cy="1944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4" name="Line 12"/>
            <p:cNvSpPr>
              <a:spLocks noChangeShapeType="1"/>
            </p:cNvSpPr>
            <p:nvPr/>
          </p:nvSpPr>
          <p:spPr bwMode="auto">
            <a:xfrm>
              <a:off x="3203575" y="3213100"/>
              <a:ext cx="2089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5" name="Line 13"/>
            <p:cNvSpPr>
              <a:spLocks noChangeShapeType="1"/>
            </p:cNvSpPr>
            <p:nvPr/>
          </p:nvSpPr>
          <p:spPr bwMode="auto">
            <a:xfrm flipH="1">
              <a:off x="3779838" y="3213100"/>
              <a:ext cx="1512887" cy="1079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6" name="Line 14"/>
            <p:cNvSpPr>
              <a:spLocks noChangeShapeType="1"/>
            </p:cNvSpPr>
            <p:nvPr/>
          </p:nvSpPr>
          <p:spPr bwMode="auto">
            <a:xfrm>
              <a:off x="3203575" y="3213100"/>
              <a:ext cx="1655763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7" name="Line 15"/>
            <p:cNvSpPr>
              <a:spLocks noChangeShapeType="1"/>
            </p:cNvSpPr>
            <p:nvPr/>
          </p:nvSpPr>
          <p:spPr bwMode="auto">
            <a:xfrm flipV="1">
              <a:off x="4284663" y="1484313"/>
              <a:ext cx="0" cy="79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8" name="Line 16"/>
            <p:cNvSpPr>
              <a:spLocks noChangeShapeType="1"/>
            </p:cNvSpPr>
            <p:nvPr/>
          </p:nvSpPr>
          <p:spPr bwMode="auto">
            <a:xfrm>
              <a:off x="5292725" y="3213100"/>
              <a:ext cx="1008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9" name="Line 17"/>
            <p:cNvSpPr>
              <a:spLocks noChangeShapeType="1"/>
            </p:cNvSpPr>
            <p:nvPr/>
          </p:nvSpPr>
          <p:spPr bwMode="auto">
            <a:xfrm flipH="1">
              <a:off x="2339975" y="3213100"/>
              <a:ext cx="86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0" name="Line 18"/>
            <p:cNvSpPr>
              <a:spLocks noChangeShapeType="1"/>
            </p:cNvSpPr>
            <p:nvPr/>
          </p:nvSpPr>
          <p:spPr bwMode="auto">
            <a:xfrm flipH="1">
              <a:off x="2987675" y="4254500"/>
              <a:ext cx="844550" cy="1046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1" name="Line 19"/>
            <p:cNvSpPr>
              <a:spLocks noChangeShapeType="1"/>
            </p:cNvSpPr>
            <p:nvPr/>
          </p:nvSpPr>
          <p:spPr bwMode="auto">
            <a:xfrm>
              <a:off x="4859338" y="4221163"/>
              <a:ext cx="649287" cy="1008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2" name="Oval 20"/>
            <p:cNvSpPr>
              <a:spLocks noChangeArrowheads="1"/>
            </p:cNvSpPr>
            <p:nvPr/>
          </p:nvSpPr>
          <p:spPr bwMode="auto">
            <a:xfrm>
              <a:off x="2268538" y="3141663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3" name="Oval 21"/>
            <p:cNvSpPr>
              <a:spLocks noChangeArrowheads="1"/>
            </p:cNvSpPr>
            <p:nvPr/>
          </p:nvSpPr>
          <p:spPr bwMode="auto">
            <a:xfrm>
              <a:off x="4211638" y="1412875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4" name="Oval 22"/>
            <p:cNvSpPr>
              <a:spLocks noChangeArrowheads="1"/>
            </p:cNvSpPr>
            <p:nvPr/>
          </p:nvSpPr>
          <p:spPr bwMode="auto">
            <a:xfrm>
              <a:off x="2916238" y="5229225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5" name="Oval 23"/>
            <p:cNvSpPr>
              <a:spLocks noChangeArrowheads="1"/>
            </p:cNvSpPr>
            <p:nvPr/>
          </p:nvSpPr>
          <p:spPr bwMode="auto">
            <a:xfrm>
              <a:off x="5492750" y="5248275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6" name="Oval 24"/>
            <p:cNvSpPr>
              <a:spLocks noChangeArrowheads="1"/>
            </p:cNvSpPr>
            <p:nvPr/>
          </p:nvSpPr>
          <p:spPr bwMode="auto">
            <a:xfrm>
              <a:off x="6208713" y="3122613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7" name="Line 25"/>
            <p:cNvSpPr>
              <a:spLocks noChangeShapeType="1"/>
            </p:cNvSpPr>
            <p:nvPr/>
          </p:nvSpPr>
          <p:spPr bwMode="auto">
            <a:xfrm flipH="1">
              <a:off x="2339975" y="1484313"/>
              <a:ext cx="1944688" cy="17287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8" name="Line 26"/>
            <p:cNvSpPr>
              <a:spLocks noChangeShapeType="1"/>
            </p:cNvSpPr>
            <p:nvPr/>
          </p:nvSpPr>
          <p:spPr bwMode="auto">
            <a:xfrm>
              <a:off x="4284663" y="1484313"/>
              <a:ext cx="2087562" cy="17287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9" name="Line 27"/>
            <p:cNvSpPr>
              <a:spLocks noChangeShapeType="1"/>
            </p:cNvSpPr>
            <p:nvPr/>
          </p:nvSpPr>
          <p:spPr bwMode="auto">
            <a:xfrm>
              <a:off x="2339975" y="3284538"/>
              <a:ext cx="647700" cy="2016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0" name="Line 28"/>
            <p:cNvSpPr>
              <a:spLocks noChangeShapeType="1"/>
            </p:cNvSpPr>
            <p:nvPr/>
          </p:nvSpPr>
          <p:spPr bwMode="auto">
            <a:xfrm>
              <a:off x="2987675" y="5300663"/>
              <a:ext cx="259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1" name="Line 29"/>
            <p:cNvSpPr>
              <a:spLocks noChangeShapeType="1"/>
            </p:cNvSpPr>
            <p:nvPr/>
          </p:nvSpPr>
          <p:spPr bwMode="auto">
            <a:xfrm flipV="1">
              <a:off x="5508625" y="3141663"/>
              <a:ext cx="792163" cy="2159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543" y="1132"/>
              <a:ext cx="245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哈密顿图的有关概念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29000"/>
            <a:ext cx="5437187" cy="681038"/>
            <a:chOff x="1135" y="1086"/>
            <a:chExt cx="3425" cy="429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536" y="1086"/>
              <a:ext cx="245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哈密顿图的必要条件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376738"/>
            <a:ext cx="5437187" cy="741362"/>
            <a:chOff x="1135" y="1048"/>
            <a:chExt cx="3425" cy="467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542" y="1048"/>
              <a:ext cx="245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哈密顿图的充分条件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8" name="Group 4"/>
          <p:cNvGrpSpPr/>
          <p:nvPr/>
        </p:nvGrpSpPr>
        <p:grpSpPr bwMode="auto">
          <a:xfrm>
            <a:off x="1655763" y="5360987"/>
            <a:ext cx="5437187" cy="673100"/>
            <a:chOff x="1135" y="1091"/>
            <a:chExt cx="3425" cy="424"/>
          </a:xfrm>
        </p:grpSpPr>
        <p:sp>
          <p:nvSpPr>
            <p:cNvPr id="819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0" name="Text Box 10"/>
            <p:cNvSpPr txBox="1">
              <a:spLocks noChangeArrowheads="1"/>
            </p:cNvSpPr>
            <p:nvPr/>
          </p:nvSpPr>
          <p:spPr bwMode="auto">
            <a:xfrm>
              <a:off x="1582" y="1091"/>
              <a:ext cx="141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旅行商问题</a:t>
              </a:r>
              <a:endPara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1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3. Hamilton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图的充分条件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7-6(Ore, 1960)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阶简单无向图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若对于任意的不相邻节点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deg(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 + deg(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 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Hamilton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注意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Ore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定理的条件不是必要的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185319" y="2492896"/>
            <a:ext cx="2736850" cy="2522538"/>
            <a:chOff x="3203575" y="1628775"/>
            <a:chExt cx="2736850" cy="2522538"/>
          </a:xfrm>
        </p:grpSpPr>
        <p:sp>
          <p:nvSpPr>
            <p:cNvPr id="23555" name="AutoShape 3"/>
            <p:cNvSpPr>
              <a:spLocks noChangeArrowheads="1"/>
            </p:cNvSpPr>
            <p:nvPr/>
          </p:nvSpPr>
          <p:spPr bwMode="auto">
            <a:xfrm>
              <a:off x="3348038" y="1773238"/>
              <a:ext cx="2519362" cy="2232025"/>
            </a:xfrm>
            <a:prstGeom prst="hexagon">
              <a:avLst>
                <a:gd name="adj" fmla="val 28218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56" name="Oval 4"/>
            <p:cNvSpPr>
              <a:spLocks noChangeArrowheads="1"/>
            </p:cNvSpPr>
            <p:nvPr/>
          </p:nvSpPr>
          <p:spPr bwMode="auto">
            <a:xfrm>
              <a:off x="3851275" y="1628775"/>
              <a:ext cx="215900" cy="2174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57" name="Oval 5"/>
            <p:cNvSpPr>
              <a:spLocks noChangeArrowheads="1"/>
            </p:cNvSpPr>
            <p:nvPr/>
          </p:nvSpPr>
          <p:spPr bwMode="auto">
            <a:xfrm>
              <a:off x="5148263" y="1628775"/>
              <a:ext cx="215900" cy="2174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58" name="Oval 6"/>
            <p:cNvSpPr>
              <a:spLocks noChangeArrowheads="1"/>
            </p:cNvSpPr>
            <p:nvPr/>
          </p:nvSpPr>
          <p:spPr bwMode="auto">
            <a:xfrm>
              <a:off x="3203575" y="2781300"/>
              <a:ext cx="215900" cy="2174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59" name="Oval 7"/>
            <p:cNvSpPr>
              <a:spLocks noChangeArrowheads="1"/>
            </p:cNvSpPr>
            <p:nvPr/>
          </p:nvSpPr>
          <p:spPr bwMode="auto">
            <a:xfrm>
              <a:off x="3851275" y="3933825"/>
              <a:ext cx="215900" cy="2174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0" name="Oval 8"/>
            <p:cNvSpPr>
              <a:spLocks noChangeArrowheads="1"/>
            </p:cNvSpPr>
            <p:nvPr/>
          </p:nvSpPr>
          <p:spPr bwMode="auto">
            <a:xfrm>
              <a:off x="5148263" y="3860800"/>
              <a:ext cx="215900" cy="2174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1" name="Oval 9"/>
            <p:cNvSpPr>
              <a:spLocks noChangeArrowheads="1"/>
            </p:cNvSpPr>
            <p:nvPr/>
          </p:nvSpPr>
          <p:spPr bwMode="auto">
            <a:xfrm>
              <a:off x="5724525" y="2781300"/>
              <a:ext cx="215900" cy="2174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4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Ore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的上述结果推广了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1952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年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Dirac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的结果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推论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(Dirac, 1952)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阶简单无向图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若对于任意节点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deg(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 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/2,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Hamilton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类似于定理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7-6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有：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7-7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3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阶简单无向图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若对于任意的不相邻节点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deg(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 + deg(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 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-1,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中存在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55763" y="2549526"/>
            <a:ext cx="5318125" cy="617537"/>
            <a:chOff x="1210" y="1126"/>
            <a:chExt cx="3350" cy="389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11" y="1132"/>
              <a:ext cx="245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哈密顿图的有关概念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210" y="1126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29000"/>
            <a:ext cx="5437187" cy="681038"/>
            <a:chOff x="1135" y="1086"/>
            <a:chExt cx="3425" cy="429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536" y="1086"/>
              <a:ext cx="245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哈密顿图的必要条件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376738"/>
            <a:ext cx="5437187" cy="741362"/>
            <a:chOff x="1135" y="1048"/>
            <a:chExt cx="3425" cy="467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542" y="1048"/>
              <a:ext cx="245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哈密顿图的充分条件</a:t>
              </a:r>
              <a:endPara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8" name="Group 4"/>
          <p:cNvGrpSpPr/>
          <p:nvPr/>
        </p:nvGrpSpPr>
        <p:grpSpPr bwMode="auto">
          <a:xfrm>
            <a:off x="1655763" y="5360987"/>
            <a:ext cx="5437187" cy="673100"/>
            <a:chOff x="1135" y="1091"/>
            <a:chExt cx="3425" cy="424"/>
          </a:xfrm>
        </p:grpSpPr>
        <p:sp>
          <p:nvSpPr>
            <p:cNvPr id="819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0" name="Text Box 10"/>
            <p:cNvSpPr txBox="1">
              <a:spLocks noChangeArrowheads="1"/>
            </p:cNvSpPr>
            <p:nvPr/>
          </p:nvSpPr>
          <p:spPr bwMode="auto">
            <a:xfrm>
              <a:off x="1582" y="1091"/>
              <a:ext cx="141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旅行商问题</a:t>
              </a:r>
              <a:endPara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1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/>
          </p:nvPr>
        </p:nvSpPr>
        <p:spPr>
          <a:xfrm>
            <a:off x="161925" y="1196752"/>
            <a:ext cx="8820150" cy="5328592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4.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旅行商问题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(TSP)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 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个城镇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其中任意两个城镇间都有道路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若没有，则规定该边上的权为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+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一个售货员要去这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个城镇售货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从某城镇出发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依次访问其余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- 1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个城镇且每个城镇只能访问一次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最后又回到原出发地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问售货员要如何安排经过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个城镇的行走路线才能使他所走的路程最短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这就是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旅行商问题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(Traveling Salesman Problem,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TSP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求解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TSP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就是要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在一个赋权图中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找出一条权最小的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Hamilton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回路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这是一个比判断一个图是否是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Hamilton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图更困难的问题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求解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TSP,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可以先将所有的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Hamilton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回路找出来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再比较其权的大小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求出权最小的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回路即可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但对于阶数较大的赋权图这样计算的工作量太大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/>
          </p:nvPr>
        </p:nvSpPr>
        <p:spPr>
          <a:xfrm>
            <a:off x="323850" y="1340768"/>
            <a:ext cx="8459788" cy="5112420"/>
          </a:xfrm>
        </p:spPr>
        <p:txBody>
          <a:bodyPr/>
          <a:lstStyle/>
          <a:p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charset="-122"/>
              </a:rPr>
              <a:t>求解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charset="-122"/>
              </a:rPr>
              <a:t>TSP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charset="-122"/>
              </a:rPr>
              <a:t>的近似解有“近邻法”和“交换法”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charset="-122"/>
              </a:rPr>
              <a:t>目前人们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还在研究利用遗传算法、模拟退火算法、神经网络、蚁群算法及粒子群算法等求旅行商问题的近似解的一些智能算法。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667625" y="6473825"/>
            <a:ext cx="1008063" cy="33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</a:t>
            </a:r>
            <a:fld id="{7E51F110-2D54-427C-B5D9-CB965D279546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页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820" name="Group 4"/>
          <p:cNvGrpSpPr/>
          <p:nvPr/>
        </p:nvGrpSpPr>
        <p:grpSpPr bwMode="auto">
          <a:xfrm>
            <a:off x="1819789" y="1884164"/>
            <a:ext cx="5181600" cy="508000"/>
            <a:chOff x="1419" y="1480"/>
            <a:chExt cx="3575" cy="363"/>
          </a:xfrm>
        </p:grpSpPr>
        <p:grpSp>
          <p:nvGrpSpPr>
            <p:cNvPr id="34841" name="Group 5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2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  <a:p>
                <a:pPr eaLnBrk="1" hangingPunct="1">
                  <a:defRPr/>
                </a:pPr>
                <a:r>
                  <a:rPr lang="zh-CN" altLang="en-US" sz="2400" b="1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哈密顿图的有关概念</a:t>
                </a:r>
                <a:endParaRPr lang="zh-CN" altLang="en-US" sz="2400" b="1" dirty="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3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821" name="Group 10"/>
          <p:cNvGrpSpPr/>
          <p:nvPr/>
        </p:nvGrpSpPr>
        <p:grpSpPr bwMode="auto">
          <a:xfrm>
            <a:off x="2113799" y="2941783"/>
            <a:ext cx="5367995" cy="508000"/>
            <a:chOff x="1419" y="1490"/>
            <a:chExt cx="3601" cy="363"/>
          </a:xfrm>
        </p:grpSpPr>
        <p:grpSp>
          <p:nvGrpSpPr>
            <p:cNvPr id="34836" name="Group 11"/>
            <p:cNvGrpSpPr/>
            <p:nvPr/>
          </p:nvGrpSpPr>
          <p:grpSpPr bwMode="auto">
            <a:xfrm>
              <a:off x="1419" y="1490"/>
              <a:ext cx="3601" cy="363"/>
              <a:chOff x="1419" y="1490"/>
              <a:chExt cx="3601" cy="363"/>
            </a:xfrm>
          </p:grpSpPr>
          <p:sp>
            <p:nvSpPr>
              <p:cNvPr id="5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29" name="AutoShape 13"/>
              <p:cNvSpPr>
                <a:spLocks noChangeArrowheads="1"/>
              </p:cNvSpPr>
              <p:nvPr/>
            </p:nvSpPr>
            <p:spPr bwMode="gray">
              <a:xfrm>
                <a:off x="1709" y="149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lvl="0" eaLnBrk="1" hangingPunct="1">
                  <a:defRPr/>
                </a:pPr>
                <a:r>
                  <a:rPr lang="zh-CN" altLang="en-US" sz="2400" b="1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哈密顿图的必要条件</a:t>
                </a:r>
                <a:endParaRPr lang="zh-CN" altLang="en-US" sz="2400" b="1" dirty="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483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8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4822" name="AutoShape 29"/>
          <p:cNvSpPr>
            <a:spLocks noChangeArrowheads="1"/>
          </p:cNvSpPr>
          <p:nvPr/>
        </p:nvSpPr>
        <p:spPr bwMode="ltGray">
          <a:xfrm rot="5400000">
            <a:off x="931863" y="3524250"/>
            <a:ext cx="301625" cy="949325"/>
          </a:xfrm>
          <a:prstGeom prst="moon">
            <a:avLst>
              <a:gd name="adj" fmla="val 1459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161925" y="1071563"/>
            <a:ext cx="8459788" cy="1143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+mj-lt"/>
                <a:ea typeface="+mj-ea"/>
                <a:cs typeface="华文新魏" panose="02010800040101010101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</a:rPr>
              <a:t>小结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华文新魏" panose="02010800040101010101" charset="-122"/>
            </a:endParaRPr>
          </a:p>
        </p:txBody>
      </p:sp>
      <p:grpSp>
        <p:nvGrpSpPr>
          <p:cNvPr id="34824" name="Group 10"/>
          <p:cNvGrpSpPr/>
          <p:nvPr/>
        </p:nvGrpSpPr>
        <p:grpSpPr bwMode="auto">
          <a:xfrm>
            <a:off x="2024879" y="4005293"/>
            <a:ext cx="5329238" cy="508000"/>
            <a:chOff x="1419" y="1480"/>
            <a:chExt cx="3575" cy="363"/>
          </a:xfrm>
        </p:grpSpPr>
        <p:grpSp>
          <p:nvGrpSpPr>
            <p:cNvPr id="34831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8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lvl="0" eaLnBrk="1" hangingPunct="1">
                  <a:defRPr/>
                </a:pPr>
                <a:r>
                  <a:rPr lang="zh-CN" altLang="en-US" sz="2400" b="1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哈密顿图的充分条件</a:t>
                </a:r>
                <a:endParaRPr lang="zh-CN" altLang="en-US" sz="2400" b="1" dirty="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6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3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825" name="Group 10"/>
          <p:cNvGrpSpPr/>
          <p:nvPr/>
        </p:nvGrpSpPr>
        <p:grpSpPr bwMode="auto">
          <a:xfrm>
            <a:off x="1696221" y="5042781"/>
            <a:ext cx="5329237" cy="508000"/>
            <a:chOff x="1419" y="1480"/>
            <a:chExt cx="3575" cy="363"/>
          </a:xfrm>
        </p:grpSpPr>
        <p:grpSp>
          <p:nvGrpSpPr>
            <p:cNvPr id="34826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1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lvl="0" eaLnBrk="1" hangingPunct="1">
                  <a:defRPr/>
                </a:pPr>
                <a:r>
                  <a:rPr lang="zh-CN" altLang="en-US" sz="2400" b="1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旅行商问题</a:t>
                </a:r>
                <a:endParaRPr lang="zh-CN" altLang="en-US" sz="2400" b="1" dirty="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7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28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1"/>
          <p:cNvSpPr>
            <a:spLocks noGrp="1" noChangeArrowheads="1"/>
          </p:cNvSpPr>
          <p:nvPr>
            <p:ph/>
          </p:nvPr>
        </p:nvSpPr>
        <p:spPr>
          <a:xfrm>
            <a:off x="323850" y="1268413"/>
            <a:ext cx="8459788" cy="518477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zh-CN" altLang="en-US"/>
              <a:t>ＨＥ　ＥＮＤ</a:t>
            </a:r>
            <a:endParaRPr lang="zh-CN" altLang="en-US"/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COMMONDATA" val="eyJoZGlkIjoiY2M1NzcxMmUzMDg4OTU3OGMzMWUzNzM0ZWU4ZGJmYzAifQ=="/>
  <p:tag name="KSO_WPP_MARK_KEY" val="ded3eccc-c850-4ff2-860d-f174d91743d2"/>
</p:tagLst>
</file>

<file path=ppt/theme/theme1.xml><?xml version="1.0" encoding="utf-8"?>
<a:theme xmlns:a="http://schemas.openxmlformats.org/drawingml/2006/main" name="主题2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C0C0C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主题2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C0C0C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0</TotalTime>
  <Words>1567</Words>
  <Application>WPS 演示</Application>
  <PresentationFormat>全屏显示(4:3)</PresentationFormat>
  <Paragraphs>169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22</vt:i4>
      </vt:variant>
      <vt:variant>
        <vt:lpstr>幻灯片标题</vt:lpstr>
      </vt:variant>
      <vt:variant>
        <vt:i4>23</vt:i4>
      </vt:variant>
    </vt:vector>
  </HeadingPairs>
  <TitlesOfParts>
    <vt:vector size="62" baseType="lpstr">
      <vt:lpstr>Arial</vt:lpstr>
      <vt:lpstr>宋体</vt:lpstr>
      <vt:lpstr>Wingdings</vt:lpstr>
      <vt:lpstr>华文新魏</vt:lpstr>
      <vt:lpstr>华文彩云</vt:lpstr>
      <vt:lpstr>华文行楷</vt:lpstr>
      <vt:lpstr>Times New Roman</vt:lpstr>
      <vt:lpstr>Symbol</vt:lpstr>
      <vt:lpstr>微软雅黑</vt:lpstr>
      <vt:lpstr>Arial Unicode MS</vt:lpstr>
      <vt:lpstr>Calibri</vt:lpstr>
      <vt:lpstr>Gulim</vt:lpstr>
      <vt:lpstr>Arial</vt:lpstr>
      <vt:lpstr>Malgun Gothic</vt:lpstr>
      <vt:lpstr>主题2</vt:lpstr>
      <vt:lpstr>自定义设计方案</vt:lpstr>
      <vt:lpstr>1_主题2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swu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前言</dc:title>
  <dc:creator>邓辉文</dc:creator>
  <cp:lastModifiedBy>赵超</cp:lastModifiedBy>
  <cp:revision>352</cp:revision>
  <dcterms:created xsi:type="dcterms:W3CDTF">2007-04-29T00:04:00Z</dcterms:created>
  <dcterms:modified xsi:type="dcterms:W3CDTF">2023-05-11T03:23:08Z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1ACFA2BA11ED4BB2824B2CF2FB251396</vt:lpwstr>
  </property>
  <property fmtid="{D5CDD505-2E9C-101B-9397-08002B2CF9AE}" pid="3" name="KSOProductBuildVer">
    <vt:lpwstr>2052-11.1.0.14309</vt:lpwstr>
  </property>
</Properties>
</file>