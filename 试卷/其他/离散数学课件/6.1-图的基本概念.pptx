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32"/>
  </p:notesMasterIdLst>
  <p:sldIdLst>
    <p:sldId id="503" r:id="rId4"/>
    <p:sldId id="279" r:id="rId5"/>
    <p:sldId id="296" r:id="rId6"/>
    <p:sldId id="506" r:id="rId7"/>
    <p:sldId id="753" r:id="rId8"/>
    <p:sldId id="757" r:id="rId9"/>
    <p:sldId id="758" r:id="rId10"/>
    <p:sldId id="298" r:id="rId11"/>
    <p:sldId id="282" r:id="rId12"/>
    <p:sldId id="283" r:id="rId13"/>
    <p:sldId id="299" r:id="rId14"/>
    <p:sldId id="284" r:id="rId15"/>
    <p:sldId id="285" r:id="rId16"/>
    <p:sldId id="754" r:id="rId17"/>
    <p:sldId id="760" r:id="rId18"/>
    <p:sldId id="762" r:id="rId19"/>
    <p:sldId id="756" r:id="rId20"/>
    <p:sldId id="763" r:id="rId21"/>
    <p:sldId id="297" r:id="rId22"/>
    <p:sldId id="764" r:id="rId23"/>
    <p:sldId id="755" r:id="rId24"/>
    <p:sldId id="289" r:id="rId25"/>
    <p:sldId id="291" r:id="rId26"/>
    <p:sldId id="292" r:id="rId27"/>
    <p:sldId id="765" r:id="rId28"/>
    <p:sldId id="293" r:id="rId29"/>
    <p:sldId id="750" r:id="rId30"/>
    <p:sldId id="617" r:id="rId31"/>
  </p:sldIdLst>
  <p:sldSz cx="9144000" cy="6858000" type="screen4x3"/>
  <p:notesSz cx="6858000" cy="9144000"/>
  <p:custDataLst>
    <p:tags r:id="rId3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1" autoAdjust="0"/>
  </p:normalViewPr>
  <p:slideViewPr>
    <p:cSldViewPr>
      <p:cViewPr varScale="1">
        <p:scale>
          <a:sx n="77" d="100"/>
          <a:sy n="77" d="100"/>
        </p:scale>
        <p:origin x="9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505FF7-E130-4293-9A3B-C36394E38DF8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3109E0-5DAF-4820-9E3E-6785A71E836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DB1F-B615-4FA4-9589-ECC4971F84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A24C9-AC68-4F6D-9FEA-E6C241625FF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D541F-F17C-46A4-B775-589380DB36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94494-B8BA-4446-8863-7AF2C18936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8AEA-AFCC-4030-A601-349A0A5DC20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B275E-4F88-4EF4-889E-853FA6A13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4528A-1906-409E-8994-8C3616DF78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9DE6-E6B8-45A2-A78D-F35CF4601FB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5A64C-451E-410D-AE22-6547DD6D52E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2127A-09F7-458D-BE1D-F730474DD6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F5BFA-77F0-4330-9546-213A7F5C86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vmlDrawing" Target="../drawings/vmlDrawing1.vml"/><Relationship Id="rId20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4.jpeg"/><Relationship Id="rId18" Type="http://schemas.openxmlformats.org/officeDocument/2006/relationships/image" Target="../media/image3.jpeg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oleObject" Target="../embeddings/oleObject1.bin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5" imgW="12750800" imgH="2324100" progId="">
                  <p:embed/>
                </p:oleObj>
              </mc:Choice>
              <mc:Fallback>
                <p:oleObj name="" r:id="rId15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  <a:endParaRPr lang="zh-CN" altLang="en-US" sz="1800" i="1">
              <a:solidFill>
                <a:srgbClr val="CC99FF"/>
              </a:solidFill>
              <a:ea typeface="华文行楷" panose="02010800040101010101" charset="-122"/>
              <a:cs typeface="华文行楷" panose="02010800040101010101" charset="-122"/>
            </a:endParaRP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F54C75E0-2E59-4159-8858-67A1F145963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3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9.wmf"/><Relationship Id="rId6" Type="http://schemas.openxmlformats.org/officeDocument/2006/relationships/oleObject" Target="../embeddings/oleObject6.bin"/><Relationship Id="rId5" Type="http://schemas.openxmlformats.org/officeDocument/2006/relationships/image" Target="../media/image22.png"/><Relationship Id="rId4" Type="http://schemas.openxmlformats.org/officeDocument/2006/relationships/image" Target="../media/image21.e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20.emf"/><Relationship Id="rId1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 noChangeArrowheads="1"/>
          </p:cNvSpPr>
          <p:nvPr>
            <p:ph type="ctrTitle"/>
          </p:nvPr>
        </p:nvSpPr>
        <p:spPr>
          <a:xfrm>
            <a:off x="2592388" y="2349500"/>
            <a:ext cx="3671887" cy="1470025"/>
          </a:xfrm>
        </p:spPr>
        <p:txBody>
          <a:bodyPr/>
          <a:lstStyle/>
          <a:p>
            <a:pPr algn="ctr" eaLnBrk="1" hangingPunct="1"/>
            <a:r>
              <a:rPr lang="zh-CN" altLang="en-US" sz="6000" dirty="0">
                <a:solidFill>
                  <a:schemeClr val="tx1"/>
                </a:solidFill>
              </a:rPr>
              <a:t>离散数学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4099" name="矩形 3"/>
          <p:cNvSpPr>
            <a:spLocks noChangeArrowheads="1"/>
          </p:cNvSpPr>
          <p:nvPr/>
        </p:nvSpPr>
        <p:spPr bwMode="auto">
          <a:xfrm>
            <a:off x="4139883" y="4076700"/>
            <a:ext cx="431673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3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——</a:t>
            </a:r>
            <a:r>
              <a:rPr kumimoji="0" lang="zh-CN" altLang="en-US" sz="3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kumimoji="0" lang="en-US" altLang="zh-CN" sz="3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kumimoji="0" lang="zh-CN" altLang="en-US" sz="3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章 图论基础</a:t>
            </a:r>
            <a:endParaRPr kumimoji="0" lang="zh-CN" altLang="en-US" sz="3600" b="1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23850" y="1265238"/>
            <a:ext cx="8518525" cy="5184775"/>
          </a:xfrm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图论的创始人是瑞士数学家</a:t>
            </a:r>
            <a:r>
              <a:rPr lang="en-US" altLang="zh-CN" sz="3600" dirty="0" err="1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L.Euler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，他于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1736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年首次建立“图”数学模型解决了</a:t>
            </a:r>
            <a:r>
              <a:rPr lang="en-US" altLang="zh-CN" sz="3600" dirty="0" err="1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Köningsberg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七桥问题。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</a:t>
            </a:r>
            <a:endParaRPr lang="en-US" altLang="zh-CN" sz="3600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algn="just">
              <a:lnSpc>
                <a:spcPct val="120000"/>
              </a:lnSpc>
            </a:pPr>
            <a:endParaRPr lang="en-US" altLang="zh-CN" sz="3600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将集合间的关系画图表示出来就是图。</a:t>
            </a:r>
            <a:endParaRPr lang="en-US" altLang="zh-CN" sz="3600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rrowheads="1"/>
          </p:cNvSpPr>
          <p:nvPr>
            <p:ph/>
          </p:nvPr>
        </p:nvSpPr>
        <p:spPr>
          <a:xfrm>
            <a:off x="215900" y="1341438"/>
            <a:ext cx="8712200" cy="5183187"/>
          </a:xfrm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+mn-ea"/>
                <a:cs typeface="楷体_GB2312"/>
              </a:rPr>
              <a:t>图论应用领域非常广泛，特别是在计算机科学中的</a:t>
            </a:r>
            <a:r>
              <a:rPr lang="zh-CN" altLang="en-US" dirty="0">
                <a:solidFill>
                  <a:schemeClr val="tx2"/>
                </a:solidFill>
                <a:latin typeface="+mn-ea"/>
                <a:cs typeface="楷体_GB2312"/>
              </a:rPr>
              <a:t>数据结构、计算机网络、计算机软件、算法理论、操作系统、分布式系统、编译程序以及数据挖掘</a:t>
            </a:r>
            <a:r>
              <a:rPr lang="zh-CN" altLang="en-US" dirty="0">
                <a:latin typeface="+mn-ea"/>
                <a:cs typeface="楷体_GB2312"/>
              </a:rPr>
              <a:t>等方面都扮演着重要角色。</a:t>
            </a:r>
            <a:endParaRPr lang="en-US" altLang="zh-CN" dirty="0">
              <a:latin typeface="+mn-ea"/>
              <a:cs typeface="楷体_GB2312"/>
            </a:endParaRPr>
          </a:p>
          <a:p>
            <a:pPr algn="just">
              <a:lnSpc>
                <a:spcPct val="120000"/>
              </a:lnSpc>
            </a:pPr>
            <a:endParaRPr lang="en-US" altLang="zh-CN" dirty="0">
              <a:latin typeface="+mn-ea"/>
              <a:cs typeface="楷体_GB231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>
                <a:latin typeface="+mn-ea"/>
                <a:cs typeface="楷体_GB2312"/>
              </a:rPr>
              <a:t>计算机算法很多都是归结到图论算法进行研究的。</a:t>
            </a:r>
            <a:endParaRPr lang="en-US" altLang="zh-CN" dirty="0">
              <a:latin typeface="+mn-ea"/>
              <a:cs typeface="楷体_GB231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14600" y="2997200"/>
            <a:ext cx="4914800" cy="863600"/>
          </a:xfrm>
        </p:spPr>
        <p:txBody>
          <a:bodyPr/>
          <a:lstStyle/>
          <a:p>
            <a:pPr eaLnBrk="1" hangingPunct="1"/>
            <a:r>
              <a:rPr lang="en-US" altLang="zh-CN" sz="4400" dirty="0">
                <a:latin typeface="Times New Roman" panose="02020603050405020304" pitchFamily="18" charset="0"/>
              </a:rPr>
              <a:t>6.1   </a:t>
            </a:r>
            <a:r>
              <a:rPr lang="zh-CN" altLang="en-US" sz="4400" dirty="0">
                <a:latin typeface="Times New Roman" panose="02020603050405020304" pitchFamily="18" charset="0"/>
              </a:rPr>
              <a:t>图的基本概念</a:t>
            </a:r>
            <a:endParaRPr lang="zh-CN" altLang="en-US" sz="4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543" y="1143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>
                  <a:solidFill>
                    <a:srgbClr val="FF0000"/>
                  </a:solidFill>
                  <a:ea typeface="宋体" panose="02010600030101010101" pitchFamily="2" charset="-122"/>
                </a:rPr>
                <a:t>图的定义</a:t>
              </a:r>
              <a:endParaRPr kumimoji="0" lang="zh-CN" altLang="en-US" b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63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0" lang="zh-CN" altLang="en-US" b="1">
                  <a:ea typeface="宋体" panose="02010600030101010101" pitchFamily="2" charset="-122"/>
                </a:rPr>
                <a:t>邻接</a:t>
              </a:r>
              <a:endParaRPr kumimoji="0"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63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关联</a:t>
              </a:r>
              <a:endPara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445125"/>
            <a:ext cx="5437187" cy="681038"/>
            <a:chOff x="1135" y="1086"/>
            <a:chExt cx="3425" cy="429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简单图</a:t>
              </a:r>
              <a:endPara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内容占位符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7600" y="2254250"/>
            <a:ext cx="6908800" cy="2678113"/>
          </a:xfrm>
        </p:spPr>
      </p:pic>
      <p:sp>
        <p:nvSpPr>
          <p:cNvPr id="5" name="矩形 4"/>
          <p:cNvSpPr/>
          <p:nvPr/>
        </p:nvSpPr>
        <p:spPr>
          <a:xfrm>
            <a:off x="250825" y="1341438"/>
            <a:ext cx="6678613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/>
            </a:pPr>
            <a:r>
              <a:rPr kumimoji="1" lang="zh-CN" altLang="en-US" sz="32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哥尼斯堡</a:t>
            </a:r>
            <a:r>
              <a:rPr kumimoji="1" lang="en-US" altLang="zh-CN" sz="32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</a:t>
            </a:r>
            <a:r>
              <a:rPr kumimoji="1" lang="en-US" altLang="zh-CN" sz="3200" b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Köningsberg</a:t>
            </a:r>
            <a:r>
              <a:rPr kumimoji="1" lang="en-US" altLang="zh-CN" sz="32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)</a:t>
            </a:r>
            <a:r>
              <a:rPr kumimoji="1" lang="zh-CN" altLang="en-US" sz="32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七桥问题</a:t>
            </a:r>
            <a:r>
              <a:rPr kumimoji="1" lang="en-US" altLang="zh-CN" sz="32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: </a:t>
            </a:r>
            <a:endParaRPr kumimoji="1" lang="en-US" altLang="zh-CN" sz="3200" b="1" i="1" kern="0" dirty="0">
              <a:solidFill>
                <a:srgbClr val="000000"/>
              </a:solidFill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7813" y="5330825"/>
            <a:ext cx="8615362" cy="10779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/>
            </a:pPr>
            <a:r>
              <a:rPr kumimoji="1" lang="zh-CN" altLang="en-US" sz="3200" b="1" kern="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问题</a:t>
            </a:r>
            <a:r>
              <a:rPr kumimoji="1" lang="en-US" altLang="zh-CN" sz="3200" b="1" kern="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: </a:t>
            </a:r>
            <a:r>
              <a:rPr kumimoji="1" lang="zh-CN" altLang="en-US" sz="3200" b="1" kern="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是否可从某一个地方出发，经过七座桥，每座桥只经过一次，然后又回到原出发点</a:t>
            </a:r>
            <a:r>
              <a:rPr kumimoji="1" lang="en-US" altLang="zh-CN" sz="3200" b="1" kern="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.</a:t>
            </a:r>
            <a:endParaRPr kumimoji="1" lang="en-US" altLang="zh-CN" sz="3200" b="1" kern="0" dirty="0">
              <a:solidFill>
                <a:srgbClr val="000000"/>
              </a:solidFill>
              <a:latin typeface="+mn-ea"/>
              <a:ea typeface="+mn-ea"/>
              <a:cs typeface="楷体_GB231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C1D6DE1-3B16-442F-9BBB-EAAC4C954CB3}" type="slidenum">
              <a:rPr kumimoji="0" lang="en-US" altLang="zh-CN" sz="1400"/>
            </a:fld>
            <a:endParaRPr kumimoji="0" lang="en-US" altLang="zh-CN" sz="1400"/>
          </a:p>
        </p:txBody>
      </p:sp>
      <p:sp>
        <p:nvSpPr>
          <p:cNvPr id="14339" name="Rectangle 2"/>
          <p:cNvSpPr>
            <a:spLocks noGrp="1" noRot="1" noChangeArrowheads="1"/>
          </p:cNvSpPr>
          <p:nvPr>
            <p:ph/>
          </p:nvPr>
        </p:nvSpPr>
        <p:spPr>
          <a:xfrm>
            <a:off x="301625" y="1268760"/>
            <a:ext cx="8459788" cy="5256212"/>
          </a:xfrm>
        </p:spPr>
        <p:txBody>
          <a:bodyPr/>
          <a:lstStyle/>
          <a:p>
            <a:r>
              <a:rPr lang="zh-CN" altLang="en-US" b="1" dirty="0">
                <a:latin typeface="+mn-ea"/>
                <a:cs typeface="楷体_GB2312"/>
              </a:rPr>
              <a:t>程序调用的图论模型</a:t>
            </a:r>
            <a:r>
              <a:rPr lang="en-US" altLang="zh-CN" b="1" dirty="0">
                <a:latin typeface="+mn-ea"/>
                <a:cs typeface="楷体_GB2312"/>
              </a:rPr>
              <a:t>:</a:t>
            </a:r>
            <a:endParaRPr lang="en-US" altLang="zh-CN" b="1" dirty="0">
              <a:latin typeface="+mn-ea"/>
              <a:cs typeface="楷体_GB2312"/>
            </a:endParaRPr>
          </a:p>
          <a:p>
            <a:endParaRPr lang="en-US" altLang="zh-CN" b="1" dirty="0"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e</a:t>
            </a:r>
            <a:r>
              <a:rPr lang="en-US" altLang="zh-CN" b="1" baseline="-250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可调用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;      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e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8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: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v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可调用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v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; </a:t>
            </a:r>
            <a:endParaRPr lang="en-US" altLang="zh-CN" b="1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  e</a:t>
            </a:r>
            <a:r>
              <a:rPr lang="en-US" altLang="zh-CN" b="1" baseline="-250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可调用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自身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.</a:t>
            </a:r>
            <a:endParaRPr lang="en-US" altLang="zh-CN" b="1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</p:txBody>
      </p:sp>
      <p:pic>
        <p:nvPicPr>
          <p:cNvPr id="10244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143125"/>
            <a:ext cx="5251450" cy="311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341438"/>
            <a:ext cx="8459788" cy="5111750"/>
          </a:xfrm>
        </p:spPr>
        <p:txBody>
          <a:bodyPr/>
          <a:lstStyle/>
          <a:p>
            <a:r>
              <a:rPr lang="en-US" altLang="zh-CN" b="1">
                <a:latin typeface="Times New Roman" panose="02020603050405020304" pitchFamily="18" charset="0"/>
              </a:rPr>
              <a:t>Social Network, Internet, WWW,…</a:t>
            </a:r>
            <a:endParaRPr lang="en-US" altLang="zh-CN" b="1">
              <a:latin typeface="Times New Roman" panose="02020603050405020304" pitchFamily="18" charset="0"/>
            </a:endParaRPr>
          </a:p>
          <a:p>
            <a:endParaRPr lang="en-US" altLang="zh-CN" b="1">
              <a:latin typeface="Times New Roman" panose="02020603050405020304" pitchFamily="18" charset="0"/>
            </a:endParaRPr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1844675"/>
            <a:ext cx="5680075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7BE63812-C400-4E58-9281-2E42DF80041C}" type="slidenum">
              <a:rPr kumimoji="0" lang="en-US" altLang="zh-CN" sz="1400"/>
            </a:fld>
            <a:endParaRPr kumimoji="0" lang="en-US" altLang="zh-CN" sz="1400"/>
          </a:p>
        </p:txBody>
      </p:sp>
      <p:sp>
        <p:nvSpPr>
          <p:cNvPr id="12291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图的定义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  由前面的几个例子可以得出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(graph)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主要由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部分组成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: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   (1)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节点集合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其中的元素称为节点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(vertex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或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node).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   (2)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边集合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其中的元素称为边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(edge).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通常将图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记为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G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= (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V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E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5E936E3-14D3-45C6-8B03-C6BCE3105B46}" type="slidenum">
              <a:rPr kumimoji="0" lang="en-US" altLang="zh-CN" sz="1400"/>
            </a:fld>
            <a:endParaRPr kumimoji="0" lang="en-US" altLang="zh-CN" sz="1400"/>
          </a:p>
        </p:txBody>
      </p:sp>
      <p:sp>
        <p:nvSpPr>
          <p:cNvPr id="13315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几点说明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: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(a)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节点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又可以称为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点、顶点或结点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常用一个实心点或空心点表示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但在实际应用中还可以用诸如方形、圆形、菱形等符号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为了方便可以在这些符号的旁边或内部写上表意名称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. 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计算机学科中常称节点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E3592C2-7B1E-4CE8-B1E6-CC75F80B8EFC}" type="slidenum">
              <a:rPr kumimoji="0" lang="en-US" altLang="zh-CN" sz="1400"/>
            </a:fld>
            <a:endParaRPr kumimoji="0" lang="en-US" altLang="zh-CN" sz="1400"/>
          </a:p>
        </p:txBody>
      </p:sp>
      <p:sp>
        <p:nvSpPr>
          <p:cNvPr id="14339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412875"/>
            <a:ext cx="8459788" cy="5040313"/>
          </a:xfrm>
        </p:spPr>
        <p:txBody>
          <a:bodyPr/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(b)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边及其的表示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457200" lvl="1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  无向边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?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AB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BA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={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}.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457200" lvl="1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  有向边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弧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)?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所有边都是无向边的图称为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(graph,  undirected graph),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所有边都是有向边的图称为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(digraph, directed graph).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</p:txBody>
      </p:sp>
      <p:graphicFrame>
        <p:nvGraphicFramePr>
          <p:cNvPr id="14340" name="Object 5"/>
          <p:cNvGraphicFramePr>
            <a:graphicFrameLocks noChangeAspect="1"/>
          </p:cNvGraphicFramePr>
          <p:nvPr/>
        </p:nvGraphicFramePr>
        <p:xfrm>
          <a:off x="3195638" y="2781300"/>
          <a:ext cx="374491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250315" imgH="139065" progId="Equation.DSMT4">
                  <p:embed/>
                </p:oleObj>
              </mc:Choice>
              <mc:Fallback>
                <p:oleObj name="Equation" r:id="rId1" imgW="1250315" imgH="13906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2781300"/>
                        <a:ext cx="3744912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9A3AD17-2ECC-46BE-A04A-782F2E1287C9}" type="slidenum">
              <a:rPr kumimoji="0" lang="en-US" altLang="zh-CN" sz="1400"/>
            </a:fld>
            <a:endParaRPr kumimoji="0" lang="en-US" altLang="zh-CN" sz="1400"/>
          </a:p>
        </p:txBody>
      </p:sp>
      <p:sp>
        <p:nvSpPr>
          <p:cNvPr id="15363" name="Rectangle 2"/>
          <p:cNvSpPr>
            <a:spLocks noGrp="1" noRot="1" noChangeArrowheads="1"/>
          </p:cNvSpPr>
          <p:nvPr>
            <p:ph/>
          </p:nvPr>
        </p:nvSpPr>
        <p:spPr>
          <a:xfrm>
            <a:off x="312738" y="1271588"/>
            <a:ext cx="8518525" cy="5183187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(c)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图的拓扑不变性质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   需要注意的是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本章讨论的图不但与节点位置无关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而且与边的形状和长短也无关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个节点的图称为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阶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(order)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个节点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条边的图称为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m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在图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=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  <a:sym typeface="Symbol" panose="05050102010706020507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的图为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空图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>
              <a:lnSpc>
                <a:spcPct val="12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(empty graph),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记为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pPr marL="0" indent="0"/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241765A-77B6-42C1-ABE0-2F2517E9EDA1}" type="slidenum">
              <a:rPr kumimoji="0" lang="en-US" altLang="zh-CN" sz="1400"/>
            </a:fld>
            <a:endParaRPr kumimoji="0" lang="en-US" altLang="zh-CN" sz="1400"/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340569"/>
            <a:ext cx="8459788" cy="5184775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若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  <a:sym typeface="Symbol" panose="05050102010706020507" pitchFamily="18" charset="2"/>
              </a:rPr>
              <a:t> ,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但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 =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  <a:sym typeface="Symbol" panose="05050102010706020507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的图称为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零图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(discrete graph),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阶零图可记为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N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仅一个节点的零图称为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平凡图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楷体_GB2312"/>
              </a:rPr>
              <a:t>(trivial graph).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楷体_GB231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16388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888" y="2568575"/>
            <a:ext cx="1101725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988" y="5445125"/>
            <a:ext cx="590550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17411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17424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5" name="Text Box 10"/>
            <p:cNvSpPr txBox="1">
              <a:spLocks noChangeArrowheads="1"/>
            </p:cNvSpPr>
            <p:nvPr/>
          </p:nvSpPr>
          <p:spPr bwMode="auto">
            <a:xfrm>
              <a:off x="1543" y="1143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>
                  <a:ea typeface="宋体" panose="02010600030101010101" pitchFamily="2" charset="-122"/>
                </a:rPr>
                <a:t>图的定义</a:t>
              </a:r>
              <a:endParaRPr kumimoji="0"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7426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12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17421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2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63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0" lang="zh-CN" altLang="en-US" b="1">
                  <a:solidFill>
                    <a:srgbClr val="FF0000"/>
                  </a:solidFill>
                  <a:ea typeface="宋体" panose="02010600030101010101" pitchFamily="2" charset="-122"/>
                </a:rPr>
                <a:t>邻接</a:t>
              </a:r>
              <a:endParaRPr kumimoji="0" lang="zh-CN" altLang="en-US" b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423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13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1741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9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63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关联</a:t>
              </a:r>
              <a:endPara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420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14" name="Group 4"/>
          <p:cNvGrpSpPr/>
          <p:nvPr/>
        </p:nvGrpSpPr>
        <p:grpSpPr bwMode="auto">
          <a:xfrm>
            <a:off x="1655763" y="5445125"/>
            <a:ext cx="5437187" cy="681038"/>
            <a:chOff x="1135" y="1086"/>
            <a:chExt cx="3425" cy="429"/>
          </a:xfrm>
        </p:grpSpPr>
        <p:sp>
          <p:nvSpPr>
            <p:cNvPr id="1741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6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简单图</a:t>
              </a:r>
              <a:endPara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41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邻接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对于任意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若从节点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邻接到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(adjacent to)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或称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是邻接的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(adjacent).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无向图？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边邻接？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     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dirty="0">
              <a:ea typeface="华文新魏" panose="020108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8997" y="4077072"/>
            <a:ext cx="1945888" cy="46992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997" y="4808382"/>
            <a:ext cx="1989362" cy="14446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有向图？                    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先驱元素？后继元素？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     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dirty="0">
              <a:ea typeface="华文新魏" panose="020108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00" y="2348880"/>
            <a:ext cx="3174863" cy="19442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1843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1844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9" name="Text Box 10"/>
            <p:cNvSpPr txBox="1">
              <a:spLocks noChangeArrowheads="1"/>
            </p:cNvSpPr>
            <p:nvPr/>
          </p:nvSpPr>
          <p:spPr bwMode="auto">
            <a:xfrm>
              <a:off x="1543" y="1143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>
                  <a:ea typeface="宋体" panose="02010600030101010101" pitchFamily="2" charset="-122"/>
                </a:rPr>
                <a:t>图的定义</a:t>
              </a:r>
              <a:endParaRPr kumimoji="0"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845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436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1844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6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63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0" lang="zh-CN" altLang="en-US" b="1">
                  <a:solidFill>
                    <a:srgbClr val="000000"/>
                  </a:solidFill>
                  <a:ea typeface="宋体" panose="02010600030101010101" pitchFamily="2" charset="-122"/>
                </a:rPr>
                <a:t>邻接</a:t>
              </a:r>
              <a:endParaRPr kumimoji="0" lang="zh-CN" altLang="en-US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43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1844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3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63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关联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844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438" name="Group 4"/>
          <p:cNvGrpSpPr/>
          <p:nvPr/>
        </p:nvGrpSpPr>
        <p:grpSpPr bwMode="auto">
          <a:xfrm>
            <a:off x="1655763" y="5445125"/>
            <a:ext cx="5437187" cy="681038"/>
            <a:chOff x="1135" y="1086"/>
            <a:chExt cx="3425" cy="429"/>
          </a:xfrm>
        </p:grpSpPr>
        <p:sp>
          <p:nvSpPr>
            <p:cNvPr id="1843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0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简单图</a:t>
              </a:r>
              <a:endPara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44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关联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的两个端点分别为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与节点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以及边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与节点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是关联的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(incident).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     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dirty="0"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36EC86E-BCF9-4C1C-9FE9-FC97D941F6AD}" type="slidenum">
              <a:rPr lang="en-US" altLang="zh-CN" smtClean="0"/>
            </a:fld>
            <a:endParaRPr lang="en-US" altLang="zh-CN"/>
          </a:p>
        </p:txBody>
      </p:sp>
      <p:sp>
        <p:nvSpPr>
          <p:cNvPr id="103428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显然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图的任意一条边都关联两个节点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关联相同两个节点的边称为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吊环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或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自环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可简称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(loop) 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关联的起点相同、终点也相同的边称为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多重边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(multiple edges)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或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平行边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其边数称为边的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重数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(multiplicity).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1340768"/>
            <a:ext cx="8459788" cy="5112420"/>
          </a:xfrm>
        </p:spPr>
        <p:txBody>
          <a:bodyPr/>
          <a:lstStyle/>
          <a:p>
            <a:r>
              <a:rPr lang="zh-CN" altLang="en-US" dirty="0"/>
              <a:t>例：</a:t>
            </a:r>
            <a:endParaRPr lang="zh-CN" altLang="en-US" dirty="0"/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094" y="1736738"/>
            <a:ext cx="6337300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19459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1947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3" name="Text Box 10"/>
            <p:cNvSpPr txBox="1">
              <a:spLocks noChangeArrowheads="1"/>
            </p:cNvSpPr>
            <p:nvPr/>
          </p:nvSpPr>
          <p:spPr bwMode="auto">
            <a:xfrm>
              <a:off x="1543" y="1143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>
                  <a:ea typeface="宋体" panose="02010600030101010101" pitchFamily="2" charset="-122"/>
                </a:rPr>
                <a:t>图的定义</a:t>
              </a:r>
              <a:endParaRPr kumimoji="0"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9474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0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1946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0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63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kumimoji="0" lang="zh-CN" altLang="en-US" b="1">
                  <a:solidFill>
                    <a:srgbClr val="000000"/>
                  </a:solidFill>
                  <a:ea typeface="宋体" panose="02010600030101010101" pitchFamily="2" charset="-122"/>
                </a:rPr>
                <a:t>邻接</a:t>
              </a:r>
              <a:endParaRPr kumimoji="0" lang="zh-CN" altLang="en-US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47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1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19466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7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63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关联</a:t>
              </a:r>
              <a:endPara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9468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2" name="Group 4"/>
          <p:cNvGrpSpPr/>
          <p:nvPr/>
        </p:nvGrpSpPr>
        <p:grpSpPr bwMode="auto">
          <a:xfrm>
            <a:off x="1655763" y="5445125"/>
            <a:ext cx="5437187" cy="681038"/>
            <a:chOff x="1135" y="1086"/>
            <a:chExt cx="3425" cy="429"/>
          </a:xfrm>
        </p:grpSpPr>
        <p:sp>
          <p:nvSpPr>
            <p:cNvPr id="19463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4" name="Text Box 10"/>
            <p:cNvSpPr txBox="1">
              <a:spLocks noChangeArrowheads="1"/>
            </p:cNvSpPr>
            <p:nvPr/>
          </p:nvSpPr>
          <p:spPr bwMode="auto">
            <a:xfrm>
              <a:off x="1582" y="1086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简单图</a:t>
              </a:r>
              <a:endPara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465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36EC86E-BCF9-4C1C-9FE9-FC97D941F6AD}" type="slidenum">
              <a:rPr lang="en-US" altLang="zh-CN" smtClean="0"/>
            </a:fld>
            <a:endParaRPr lang="en-US" altLang="zh-CN"/>
          </a:p>
        </p:txBody>
      </p:sp>
      <p:sp>
        <p:nvSpPr>
          <p:cNvPr id="4915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4.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简单图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(1)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简单图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中既无吊环又无多重边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简单图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(simple graph).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彼得森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(Petersen, 1831~1910)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它是一个有着特殊性质的简单图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1134" y="4683820"/>
            <a:ext cx="1673329" cy="17281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36EC86E-BCF9-4C1C-9FE9-FC97D941F6AD}" type="slidenum">
              <a:rPr lang="en-US" altLang="zh-CN" smtClean="0"/>
            </a:fld>
            <a:endParaRPr lang="en-US" altLang="zh-CN"/>
          </a:p>
        </p:txBody>
      </p:sp>
      <p:sp>
        <p:nvSpPr>
          <p:cNvPr id="5120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完全无向图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定义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阶简单无向图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中任意节点都与其余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个节点邻接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阶完全无向图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(complete graph),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                     K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                  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4   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                        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5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边数？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736" y="4493301"/>
            <a:ext cx="5849263" cy="17281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36EC86E-BCF9-4C1C-9FE9-FC97D941F6AD}" type="slidenum">
              <a:rPr lang="en-US" altLang="zh-CN" smtClean="0"/>
            </a:fld>
            <a:endParaRPr lang="en-US" altLang="zh-CN"/>
          </a:p>
        </p:txBody>
      </p:sp>
      <p:sp>
        <p:nvSpPr>
          <p:cNvPr id="5222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将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阶完全无向图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的边任意加一个方向所得到的有向图称为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阶竞赛图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阶简单有向图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中任意节点都与其余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个节点邻接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阶完全有向图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 (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任意两顶点其边是成对出现的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solidFill>
                <a:srgbClr val="66FF66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7904" y="4349197"/>
            <a:ext cx="1971902" cy="21039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36EC86E-BCF9-4C1C-9FE9-FC97D941F6AD}" type="slidenum">
              <a:rPr lang="en-US" altLang="zh-CN" smtClean="0"/>
            </a:fld>
            <a:endParaRPr lang="en-US" altLang="zh-CN"/>
          </a:p>
        </p:txBody>
      </p:sp>
      <p:sp>
        <p:nvSpPr>
          <p:cNvPr id="107524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补图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阶简单无向图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的所有节点以及由能使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成为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需要添加的边构成的图称为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补图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记为  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ea typeface="华文新魏" panose="02010800040101010101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292080" y="3212976"/>
          <a:ext cx="442590" cy="54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3962400" imgH="4876800" progId="Equation.DSMT4">
                  <p:embed/>
                </p:oleObj>
              </mc:Choice>
              <mc:Fallback>
                <p:oleObj name="Equation" r:id="rId1" imgW="3962400" imgH="48768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92080" y="3212976"/>
                        <a:ext cx="442590" cy="54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36EC86E-BCF9-4C1C-9FE9-FC97D941F6AD}" type="slidenum">
              <a:rPr lang="en-US" altLang="zh-CN" smtClean="0"/>
            </a:fld>
            <a:endParaRPr lang="en-US" altLang="zh-CN"/>
          </a:p>
        </p:txBody>
      </p:sp>
      <p:sp>
        <p:nvSpPr>
          <p:cNvPr id="5325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阶简单无向图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的边数加上其补图的边数等于多少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?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如下两个图互为补图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显然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 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中不邻接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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    中邻接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53262" name="Object 14"/>
          <p:cNvGraphicFramePr>
            <a:graphicFrameLocks noChangeAspect="1"/>
          </p:cNvGraphicFramePr>
          <p:nvPr/>
        </p:nvGraphicFramePr>
        <p:xfrm>
          <a:off x="5940425" y="4797425"/>
          <a:ext cx="4270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50495" imgH="196850" progId="Equation.3">
                  <p:embed/>
                </p:oleObj>
              </mc:Choice>
              <mc:Fallback>
                <p:oleObj name="Equation" r:id="rId1" imgW="150495" imgH="19685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4797425"/>
                        <a:ext cx="4270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3" name="Object 15"/>
          <p:cNvGraphicFramePr>
            <a:graphicFrameLocks noChangeAspect="1"/>
          </p:cNvGraphicFramePr>
          <p:nvPr/>
        </p:nvGraphicFramePr>
        <p:xfrm>
          <a:off x="2571750" y="4846638"/>
          <a:ext cx="42703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50495" imgH="161925" progId="Equation.3">
                  <p:embed/>
                </p:oleObj>
              </mc:Choice>
              <mc:Fallback>
                <p:oleObj name="Equation" r:id="rId3" imgW="150495" imgH="16192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4846638"/>
                        <a:ext cx="42703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311" y="3921419"/>
            <a:ext cx="5395378" cy="1850438"/>
          </a:xfrm>
          <a:prstGeom prst="rect">
            <a:avLst/>
          </a:prstGeom>
        </p:spPr>
      </p:pic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2936324" y="3224469"/>
          <a:ext cx="442590" cy="54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6" imgW="3962400" imgH="4876800" progId="Equation.DSMT4">
                  <p:embed/>
                </p:oleObj>
              </mc:Choice>
              <mc:Fallback>
                <p:oleObj name="Equation" r:id="rId6" imgW="3962400" imgH="48768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36324" y="3224469"/>
                        <a:ext cx="442590" cy="54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667625" y="6473825"/>
            <a:ext cx="1008063" cy="33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>
                <a:ea typeface="宋体" panose="02010600030101010101" pitchFamily="2" charset="-122"/>
              </a:rPr>
              <a:t>第</a:t>
            </a:r>
            <a:fld id="{E36F9AA7-D6EC-49D4-9724-B202379B0CB7}" type="slidenum">
              <a:rPr kumimoji="0" lang="zh-CN" altLang="en-US" sz="1800">
                <a:ea typeface="宋体" panose="02010600030101010101" pitchFamily="2" charset="-122"/>
              </a:rPr>
            </a:fld>
            <a:r>
              <a:rPr kumimoji="0" lang="zh-CN" altLang="en-US" sz="1800">
                <a:ea typeface="宋体" panose="02010600030101010101" pitchFamily="2" charset="-122"/>
              </a:rPr>
              <a:t>页</a:t>
            </a:r>
            <a:endParaRPr kumimoji="0" lang="zh-CN" altLang="en-US" sz="1800">
              <a:ea typeface="宋体" panose="02010600030101010101" pitchFamily="2" charset="-122"/>
            </a:endParaRPr>
          </a:p>
        </p:txBody>
      </p:sp>
      <p:sp>
        <p:nvSpPr>
          <p:cNvPr id="34818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21508" name="Group 4"/>
          <p:cNvGrpSpPr/>
          <p:nvPr/>
        </p:nvGrpSpPr>
        <p:grpSpPr bwMode="auto">
          <a:xfrm>
            <a:off x="2076450" y="2689225"/>
            <a:ext cx="5181600" cy="508000"/>
            <a:chOff x="1419" y="1480"/>
            <a:chExt cx="3575" cy="363"/>
          </a:xfrm>
        </p:grpSpPr>
        <p:grpSp>
          <p:nvGrpSpPr>
            <p:cNvPr id="21517" name="Group 5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82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图的定义、概念</a:t>
                </a:r>
                <a:endPara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482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19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 b="1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1509" name="Group 10"/>
          <p:cNvGrpSpPr/>
          <p:nvPr/>
        </p:nvGrpSpPr>
        <p:grpSpPr bwMode="auto">
          <a:xfrm>
            <a:off x="1979613" y="4216400"/>
            <a:ext cx="5329237" cy="508000"/>
            <a:chOff x="1419" y="1480"/>
            <a:chExt cx="3575" cy="363"/>
          </a:xfrm>
        </p:grpSpPr>
        <p:grpSp>
          <p:nvGrpSpPr>
            <p:cNvPr id="21512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82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学会建立图论模型</a:t>
                </a:r>
                <a:endPara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48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14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 b="1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1510" name="AutoShape 29"/>
          <p:cNvSpPr>
            <a:spLocks noChangeArrowheads="1"/>
          </p:cNvSpPr>
          <p:nvPr/>
        </p:nvSpPr>
        <p:spPr bwMode="ltGray">
          <a:xfrm rot="5400000">
            <a:off x="931863" y="3524250"/>
            <a:ext cx="301625" cy="949325"/>
          </a:xfrm>
          <a:prstGeom prst="moon">
            <a:avLst>
              <a:gd name="adj" fmla="val 145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kumimoji="0" lang="en-US" altLang="zh-CN" sz="1800">
              <a:solidFill>
                <a:schemeClr val="tx2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161925" y="1071563"/>
            <a:ext cx="8459788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+mj-lt"/>
                <a:ea typeface="+mj-ea"/>
                <a:cs typeface="华文新魏" panose="02010800040101010101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eaLnBrk="1" hangingPunct="1">
              <a:defRPr/>
            </a:pPr>
            <a:r>
              <a:rPr lang="zh-CN" altLang="en-US" sz="4000" b="1" kern="0" dirty="0">
                <a:solidFill>
                  <a:schemeClr val="tx1"/>
                </a:solidFill>
              </a:rPr>
              <a:t>小结</a:t>
            </a:r>
            <a:endParaRPr lang="zh-CN" altLang="en-US" sz="4000" b="1" kern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zh-CN" altLang="en-US"/>
              <a:t>ＨＥ　ＥＮＤ</a:t>
            </a:r>
            <a:endParaRPr lang="zh-CN" altLang="en-US"/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Y2M1NzcxMmUzMDg4OTU3OGMzMWUzNzM0ZWU4ZGJmYzAifQ=="/>
  <p:tag name="KSO_WPP_MARK_KEY" val="c3f000fb-9637-4e2b-b26e-2a4f7d5c8438"/>
</p:tagLst>
</file>

<file path=ppt/theme/theme1.xml><?xml version="1.0" encoding="utf-8"?>
<a:theme xmlns:a="http://schemas.openxmlformats.org/drawingml/2006/main" name="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0</TotalTime>
  <Words>1986</Words>
  <Application>WPS 演示</Application>
  <PresentationFormat>全屏显示(4:3)</PresentationFormat>
  <Paragraphs>229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28</vt:i4>
      </vt:variant>
    </vt:vector>
  </HeadingPairs>
  <TitlesOfParts>
    <vt:vector size="53" baseType="lpstr">
      <vt:lpstr>Arial</vt:lpstr>
      <vt:lpstr>宋体</vt:lpstr>
      <vt:lpstr>Wingdings</vt:lpstr>
      <vt:lpstr>华文新魏</vt:lpstr>
      <vt:lpstr>华文彩云</vt:lpstr>
      <vt:lpstr>华文行楷</vt:lpstr>
      <vt:lpstr>仿宋</vt:lpstr>
      <vt:lpstr>Times New Roman</vt:lpstr>
      <vt:lpstr>楷体_GB2312</vt:lpstr>
      <vt:lpstr>新宋体</vt:lpstr>
      <vt:lpstr>Symbol</vt:lpstr>
      <vt:lpstr>Wingdings 2</vt:lpstr>
      <vt:lpstr>微软雅黑</vt:lpstr>
      <vt:lpstr>Arial Unicode MS</vt:lpstr>
      <vt:lpstr>Calibri</vt:lpstr>
      <vt:lpstr>楷体_GB2312</vt:lpstr>
      <vt:lpstr>Gulim</vt:lpstr>
      <vt:lpstr>Malgun Gothic</vt:lpstr>
      <vt:lpstr>主题2</vt:lpstr>
      <vt:lpstr>自定义设计方案</vt:lpstr>
      <vt:lpstr>Equation.DSMT4</vt:lpstr>
      <vt:lpstr>Equation.DSMT4</vt:lpstr>
      <vt:lpstr>Equation.3</vt:lpstr>
      <vt:lpstr>Equation.3</vt:lpstr>
      <vt:lpstr>Equation.DSMT4</vt:lpstr>
      <vt:lpstr>离散数学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swu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邓辉文</dc:creator>
  <cp:lastModifiedBy>赵超</cp:lastModifiedBy>
  <cp:revision>329</cp:revision>
  <dcterms:created xsi:type="dcterms:W3CDTF">2007-04-29T00:04:00Z</dcterms:created>
  <dcterms:modified xsi:type="dcterms:W3CDTF">2023-05-05T01:03:56Z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A7839B381EE94871BD9DF9260D93313F</vt:lpwstr>
  </property>
  <property fmtid="{D5CDD505-2E9C-101B-9397-08002B2CF9AE}" pid="3" name="KSOProductBuildVer">
    <vt:lpwstr>2052-11.1.0.14036</vt:lpwstr>
  </property>
</Properties>
</file>